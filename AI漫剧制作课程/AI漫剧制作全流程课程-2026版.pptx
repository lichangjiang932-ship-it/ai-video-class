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6C5C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00D4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362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13716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0" b="0">
                <a:solidFill>
                  <a:srgbClr val="F0F0F5"/>
                </a:solidFill>
                <a:latin typeface="Microsoft YaHei"/>
              </a:defRPr>
            </a:pPr>
            <a: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AI漫剧制作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00D4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53" name="Oval 52"/>
          <p:cNvSpPr/>
          <p:nvPr/>
        </p:nvSpPr>
        <p:spPr>
          <a:xfrm>
            <a:off x="731520" y="3664712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422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56" name="Oval 55"/>
          <p:cNvSpPr/>
          <p:nvPr/>
        </p:nvSpPr>
        <p:spPr>
          <a:xfrm>
            <a:off x="731520" y="423164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4220" y="423164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59" name="Oval 58"/>
          <p:cNvSpPr/>
          <p:nvPr/>
        </p:nvSpPr>
        <p:spPr>
          <a:xfrm>
            <a:off x="731520" y="479856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4220" y="479856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" y="4773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62" name="Oval 61"/>
          <p:cNvSpPr/>
          <p:nvPr/>
        </p:nvSpPr>
        <p:spPr>
          <a:xfrm>
            <a:off x="731520" y="536549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4220" y="536549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65" name="Oval 64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68" name="Oval 67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71" name="Oval 70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74" name="Oval 73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ComfyUI工作流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664712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1350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工业化生产与团队协作</a:t>
            </a:r>
          </a:p>
        </p:txBody>
      </p:sp>
      <p:sp>
        <p:nvSpPr>
          <p:cNvPr id="80" name="Oval 79"/>
          <p:cNvSpPr/>
          <p:nvPr/>
        </p:nvSpPr>
        <p:spPr>
          <a:xfrm>
            <a:off x="6400800" y="423164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13500" y="423164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6656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平台分发与商业变现</a:t>
            </a:r>
          </a:p>
        </p:txBody>
      </p:sp>
      <p:sp>
        <p:nvSpPr>
          <p:cNvPr id="83" name="Oval 82"/>
          <p:cNvSpPr/>
          <p:nvPr/>
        </p:nvSpPr>
        <p:spPr>
          <a:xfrm>
            <a:off x="6400800" y="479856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3500" y="479856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0" y="4773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合规要求与行业规范</a:t>
            </a:r>
          </a:p>
        </p:txBody>
      </p:sp>
      <p:sp>
        <p:nvSpPr>
          <p:cNvPr id="86" name="Oval 85"/>
          <p:cNvSpPr/>
          <p:nvPr/>
        </p:nvSpPr>
        <p:spPr>
          <a:xfrm>
            <a:off x="6400800" y="536549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3500" y="536549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6656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综合实战项目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7AFF"/>
                </a:solidFill>
                <a:latin typeface="Microsoft YaHei"/>
              </a:defRPr>
            </a:pPr>
            <a:r>
              <a:t>A️ 零基础速成（8周）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快速上手出作品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重点模块：1,2,3,4,6,10,11,12,17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适合：想快速入行变现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5C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D7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3D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2E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1E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0F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FF"/>
                </a:solidFill>
                <a:latin typeface="Microsoft YaHei"/>
              </a:defRPr>
            </a:pPr>
            <a:r>
              <a:t>B️ 专业进阶（16周）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5C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D7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3D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2E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1E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0F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全面掌握全链路</a:t>
            </a:r>
          </a:p>
        </p:txBody>
      </p:sp>
      <p:sp>
        <p:nvSpPr>
          <p:cNvPr id="85" name="Oval 84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全部17个模块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适合：追求专业深度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C5C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00D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6C5C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387AFF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3F7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46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4E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556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5D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64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6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9F1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6B35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D93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93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D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C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C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A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A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2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93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F1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D93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F9F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93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1A"/>
                </a:solidFill>
                <a:latin typeface="Microsoft YaHei"/>
              </a:defRPr>
            </a:pPr>
            <a:r>
              <a:t>◐ 个人创作者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月入1-10万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日产1集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月成本~5000元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适合：副业/自由职业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8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9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A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C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◑ 小团队（3-5人）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8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9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A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C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月入10-50万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日产4集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月成本~7万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适合：创业团队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6B3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93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9F1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9F1A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9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9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9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8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81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7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7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00C97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00E696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38FFB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007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8FFB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38FF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30F7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28E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20E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18E0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10D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08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8FFB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38FFB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◉ 五大AI模型速览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" y="128016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7270" y="128016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0180" y="128016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63090" y="128016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86000" y="128016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08910" y="128016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31820" y="128016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4730" y="128016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97680" y="128016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0590" y="128016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43500" y="128016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66410" y="128016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128016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12230" y="128016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835140" y="128016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258050" y="128016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6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01000" y="128016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23910" y="128016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46820" y="128016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69730" y="128016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92640" y="128016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115550" y="128016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538460" y="128016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61370" y="128016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838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4360" y="342900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17270" y="342900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0180" y="342900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63090" y="342900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286000" y="342900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08910" y="342900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31820" y="342900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554730" y="342900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97680" y="342900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720590" y="342900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143500" y="342900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66410" y="342900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89320" y="342900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12230" y="342900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835140" y="342900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8050" y="342900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8056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8056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7B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热点分析 → DeepSeek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世界观构建 → 文心5.0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角色设定 → GLM-4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剧情架构 → DeepSeek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剧本初稿 → DeepSeek / 文心5.0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07E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10ED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18F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20F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28F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30F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38FF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96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07E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10ED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18F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20F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28F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30F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38FF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节奏优化 → 文心5.0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对白打磨 → 豆包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整体审校 → 通义千问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角色检查 → GLM-4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创意发散 → 通义千问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C9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C9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C97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00C97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00E696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97B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6B35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8C42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B34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4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B347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A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8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7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B347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B34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53" name="Oval 52"/>
          <p:cNvSpPr/>
          <p:nvPr/>
        </p:nvSpPr>
        <p:spPr>
          <a:xfrm>
            <a:off x="731520" y="3664712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422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65" name="Oval 64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68" name="Oval 67"/>
          <p:cNvSpPr/>
          <p:nvPr/>
        </p:nvSpPr>
        <p:spPr>
          <a:xfrm>
            <a:off x="6400800" y="3664712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350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F6B35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F8C42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low quality, worst quality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blurry, out of focus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deformed, disfigured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extra limbs, missing fingers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text, watermark, signature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9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9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9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A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A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42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9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9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9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A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A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动作场景：bad anatomy, static pose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情感场景：stiff pose, robotic expression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特写场景：plastic skin, uncanny valley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场景展示：flat lighting, cluttered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! 不要堆砌过多，限制AI创作空间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6B35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A855F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C084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542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084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B87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B07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A86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A16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995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915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2A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08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A4EF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C084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53" name="Oval 52"/>
          <p:cNvSpPr/>
          <p:nvPr/>
        </p:nvSpPr>
        <p:spPr>
          <a:xfrm>
            <a:off x="731520" y="3664712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422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65" name="Oval 64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68" name="Oval 67"/>
          <p:cNvSpPr/>
          <p:nvPr/>
        </p:nvSpPr>
        <p:spPr>
          <a:xfrm>
            <a:off x="6400800" y="3664712"/>
            <a:ext cx="274320" cy="274320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350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▤  ▤ 即梦AI核心数据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A4EF0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8A4EF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A855F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8A4E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084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A855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08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8A4EF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8A4EF0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8E4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925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965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9B5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9F5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A35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5C8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7BA3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A0B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3D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A0B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A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9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8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8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79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6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6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A0B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A0B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C8A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开源免费，模型权重完全开放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中文原生支持，理解能力出色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图像质量媲美商业模型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支持LoRA、ControlNet扩展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可本地部署，无审核限制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8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8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8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9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9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A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BA3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8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8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8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9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9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A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在线体验：kolors.kuaishou.com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本地部署：ComfyUI集成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批量生成：读取提示词列表自动出图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角色一致性：IP-Adapter / 固定种子 / LoRA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推荐显存：NVIDIA 8GB+ GPU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F5C8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F7BA3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5C8A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38B6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4D2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C5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D2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55C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47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39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2AA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1C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0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D2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4D2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▤  ◆ 可灵AI 3.0 核心参数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29200"/>
            <a:ext cx="2263140" cy="320040"/>
          </a:xfrm>
          <a:prstGeom prst="roundRect">
            <a:avLst/>
          </a:prstGeom>
          <a:solidFill>
            <a:srgbClr val="1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029200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497580" y="5029200"/>
            <a:ext cx="2263140" cy="320040"/>
          </a:xfrm>
          <a:prstGeom prst="roundRect">
            <a:avLst/>
          </a:prstGeom>
          <a:solidFill>
            <a:srgbClr val="1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97580" y="5029200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212580" y="5029200"/>
            <a:ext cx="2263140" cy="320040"/>
          </a:xfrm>
          <a:prstGeom prst="roundRect">
            <a:avLst/>
          </a:prstGeom>
          <a:solidFill>
            <a:srgbClr val="1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12580" y="5029200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输入：静态图片 + 文本描述（可选）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画面受原图约束，一致性更好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适合已有角色设定图的动态化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推荐分辨率：≥1024×1024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运动幅度：低/中/高可调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3E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4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4A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51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7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5DC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6FF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3E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4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4A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51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7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5DC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输入：纯文本提示词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创意自由度高，完全由提示词决定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适合全新概念探索与灵感激发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核心公式：主体+运动+场景+镜头+光影+氛围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细粒度提示词（100-200字）效果最佳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38B6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96FF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7C3AED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9F67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C4B5F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4F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4B5F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B9A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AF9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A58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9A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905D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864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2A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4B5F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C4B5F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核心：参考驱动 + 角色档案 + Draft模式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适合：漫剧批量生产、角色一致性要求高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生态：即梦AI + 剪映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抽卡率：70-90%（使用Draft后）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特色：所见即所得的参考视频驱动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A47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A97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AE8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B49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B99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BEA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F67FF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A47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A97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AE8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B49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B99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BEA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核心：文生视频质量高、创意发挥强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适合：创意短片、单镜头精品视频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生态：快影 + 快手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抽卡率：40-50%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特色：物理仿真、深度运动控制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7C3AED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9F67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7C3AED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06B6D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22D3EE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7E8F9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169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7E8F9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59E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4BD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3DD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2FC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21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13B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7E8F9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7E8F9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核心：物理仿真引擎 + 高难度动作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强项：布料/头发/流体物理效果行业领先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适合：打斗、舞蹈、极限运动场景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定位："动作指导之选"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性价比高，免费额度充足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2B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35D9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3F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49D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3E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5D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2B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35D9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3F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49D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3E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5D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核心：16秒音画同步直出（行业首创）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强项：口型同步 + 多角色对话 + 叙事理解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适合：对话场景、叙事类漫剧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定位："对话场景首选"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三大主体库：叙事/画面/音频模板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06B6D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22D3EE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6B6D4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43F5E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B7185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DA4A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D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DA4A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D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B9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A87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9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76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65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5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DA4A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DA4A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◎ 六大一致性方案速览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" y="128016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7270" y="128016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0180" y="128016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63090" y="128016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86000" y="128016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08910" y="128016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31820" y="128016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4730" y="128016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◆️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97680" y="128016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0590" y="128016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43500" y="128016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66410" y="128016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128016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12230" y="128016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835140" y="128016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258050" y="128016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6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01000" y="128016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23910" y="128016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46820" y="128016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69730" y="128016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92640" y="128016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115550" y="128016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538460" y="128016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61370" y="128016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838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◇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4360" y="342900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17270" y="342900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0180" y="342900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63090" y="342900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286000" y="342900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08910" y="342900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31820" y="342900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554730" y="342900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97680" y="342900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720590" y="342900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143500" y="342900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66410" y="342900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89320" y="342900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12230" y="342900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835140" y="342900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8050" y="342900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8056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8056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00100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01000" y="3429000"/>
            <a:ext cx="42291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423910" y="3429000"/>
            <a:ext cx="42291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6820" y="3429000"/>
            <a:ext cx="42291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69730" y="3429000"/>
            <a:ext cx="42291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692640" y="3429000"/>
            <a:ext cx="42291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115550" y="3429000"/>
            <a:ext cx="42291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38460" y="3429000"/>
            <a:ext cx="42291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961370" y="3429000"/>
            <a:ext cx="42291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18388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43F5E"/>
                </a:solidFill>
                <a:latin typeface="Microsoft YaHei"/>
              </a:defRPr>
            </a:pPr>
            <a:r>
              <a:t>■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8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43F5E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B7185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A4A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B7185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A4A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43F5E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43F5E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54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64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75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85B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96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A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ABB3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DE04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D5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DE047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DE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BD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AC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9C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8B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7B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6A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3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DE047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DE04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▤  ◓ AI音频工具核心参数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中文适配最好，发音准确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SSML精细控制语速/语调/停顿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支持批量文本转语音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适合：中文漫剧批量配音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AC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AC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BC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BD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CD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CD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DE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BB31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AC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AC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BC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BD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CD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CD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DE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表情标签精准控制情感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[开心][愤怒][悲伤] 标签嵌套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30秒音频即可克隆音色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适合：情感丰富的角色配音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59E0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ABB3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DE0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ABB3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DE0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59E0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59E0B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5A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6A6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7A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7A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8B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9B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AB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10B981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34D399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EE7B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A6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E7B7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60E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53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45D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38C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2AC6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1DB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EE7B7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EE7B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10B981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34D399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动作场景：镜头1-3秒，快切/闪白转场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搞笑场景：镜头1-2秒，快切/定格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悬疑场景：镜头2-4秒，黑场/闪回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追逐场景：镜头1-2秒，快速剪辑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3CD5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4D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4CD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55D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DE1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65E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3CD5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4D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4CD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55D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DE1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65E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对话场景：镜头3-5秒，硬切/淡入淡出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情感场景：镜头4-6秒，慢dissolve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回忆场景：镜头3-5秒，柔焦/慢动作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日常场景：镜头3-4秒，自然过渡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0B981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60A5FA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93C5F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305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3C5F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86B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79A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6CA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5F9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528F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458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3C5F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93C5F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7A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全链路自动化，分钟级出片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操作简单，零基础可用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适合快速原型和批量生产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角色一致性和画质中等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单集成本低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67A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6EA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75B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7DB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84B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8BC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67A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6EA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75B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7DB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84B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8BC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角色一致性95%+，100集不崩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数字人技术，真人级表情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适合品质级和长篇连载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需要一定创作基础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单集成本较高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60A5FA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387AFF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A855F7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C08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DDD6FE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6042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DD6FE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DDD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D5C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CDB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C69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BE8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B7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AF6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2A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DD6F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855F7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DDD6FE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A855F7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C08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DDD6FE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C08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DDD6F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A855F7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AB5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AE6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B26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B56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B97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BC7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C0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64748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94A3B8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CBD5E1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4A5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BCC7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AD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9EAB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909D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81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72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CBD5E1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§️  §️ AI漫剧工业化流水线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200400"/>
            <a:ext cx="129159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05990" y="3200400"/>
            <a:ext cx="129159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7580" y="3200400"/>
            <a:ext cx="129159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89170" y="3200400"/>
            <a:ext cx="129159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0760" y="3200400"/>
            <a:ext cx="129159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72350" y="3200400"/>
            <a:ext cx="129159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63940" y="3200400"/>
            <a:ext cx="129159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55530" y="3200400"/>
            <a:ext cx="129159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34440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261872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8680" y="146304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68680" y="146304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0130" y="146304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1580" y="146304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83030" y="146304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554480" y="146304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25930" y="146304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7380" y="146304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068830" y="146304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0120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62" name="Oval 61"/>
          <p:cNvSpPr/>
          <p:nvPr/>
        </p:nvSpPr>
        <p:spPr>
          <a:xfrm>
            <a:off x="3300984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28416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80944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935224" y="365760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935224" y="365760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06674" y="365760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78124" y="365760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49574" y="365760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21024" y="365760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792474" y="365760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963924" y="365760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35374" y="365760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26664" y="379476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75" name="Oval 74"/>
          <p:cNvSpPr/>
          <p:nvPr/>
        </p:nvSpPr>
        <p:spPr>
          <a:xfrm>
            <a:off x="5367528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94960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47488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01768" y="146304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001768" y="146304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173218" y="146304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344668" y="146304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516118" y="146304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87568" y="146304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859018" y="146304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30468" y="146304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01918" y="146304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93208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88" name="Oval 87"/>
          <p:cNvSpPr/>
          <p:nvPr/>
        </p:nvSpPr>
        <p:spPr>
          <a:xfrm>
            <a:off x="7434072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461504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14032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068312" y="365760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068312" y="365760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239762" y="365760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11212" y="365760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2662" y="365760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54112" y="365760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925562" y="365760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097012" y="365760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68462" y="365760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59752" y="379476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101" name="Oval 100"/>
          <p:cNvSpPr/>
          <p:nvPr/>
        </p:nvSpPr>
        <p:spPr>
          <a:xfrm>
            <a:off x="9500616" y="3108960"/>
            <a:ext cx="201168" cy="201168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528048" y="3136392"/>
            <a:ext cx="146304" cy="146304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0576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134856" y="1463040"/>
            <a:ext cx="1371600" cy="10972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134856" y="1463040"/>
            <a:ext cx="17145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06306" y="1463040"/>
            <a:ext cx="17145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77756" y="1463040"/>
            <a:ext cx="17145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649206" y="1463040"/>
            <a:ext cx="17145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820656" y="1463040"/>
            <a:ext cx="17145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992106" y="1463040"/>
            <a:ext cx="17145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163556" y="1463040"/>
            <a:ext cx="17145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35006" y="1463040"/>
            <a:ext cx="17145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26296" y="1600200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8BAC8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4748B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适用：热点追踪、日更、测试市场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模板化分镜（8镜头固定模板）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批量生成+快速筛选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单人作战，成本低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品质中等，竞争激烈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9BA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A3B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ABB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B3B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BBC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C3C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4A3B8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9BA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A3B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ABB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B3B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BBC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C3C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适用：IP连载、品质优先、商业项目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LoRA训练+场景资产深度制作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 &gt;95%，画面质量 &gt;8/10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团队协作，成本高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品质高，差异化竞争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64748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64748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94A3B8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BD5E1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4A3B8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BD5E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64748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64748B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6A7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7181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78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7F8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869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8D9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8717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CA5A5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C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CA5A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A97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8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6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46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2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05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CA5A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CA5A5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▤  ¥ 变现阶梯与收入预期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15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515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116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716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316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17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517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90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8490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90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691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1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891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492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092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465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65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665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266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866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466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67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667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040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5640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8240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0841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441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6041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8642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242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抖音/快手/B站/红果/火龙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中文内容，本地用户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流量分账+广告+付费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竞争激烈，审核严格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9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9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A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A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B9D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9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9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A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A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B9D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TikTok/YouTube/Instagram Reels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多语言本地化（AI翻译+AI配音+AI换口型）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东南亚推荐度最高，竞争低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欧美CPM更高但竞争激烈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8717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EF4444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1E40A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385EE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0A5FA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C2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A5FA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569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4D8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437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3A6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305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274E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A5F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0A5FA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47" name="Oval 46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15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515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116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716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316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17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517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90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8490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90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691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1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891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492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092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465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65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665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266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866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466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67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667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040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5640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8240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0841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441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6041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8642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242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所有AI生成或辅助生成的内容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视觉标识：水印、角标、片头文字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音频标识：语音声明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文字标识：简介说明、字幕标注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3D68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37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497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4E8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49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5A9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5EE0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3D68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37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497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4E8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49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5A9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抖音：右下角自动"AI生成"水印+简介注明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快手：可灵AI自动标识，其他需手动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B站：简介注明+标签#AI生成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红果：片头"本内容由AI辅助制作"+备案号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1E40A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385EE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 不受保护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◆ 可获保护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! 视情况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E40AF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B80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8C0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D7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4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C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C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3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D7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§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15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515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116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716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316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17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517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90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8490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90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691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1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891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492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092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465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65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665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266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866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466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67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667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040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5640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8240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0841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441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6041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8642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242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对话镜头（40%）→ Vidu Q3（音画同步）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动作镜头（30%）→ 可灵AI/海螺AI（物理仿真）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参考驱动（20%）→ Seedance 2.0（角色档案驱动）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环境镜头（10%）→ 任意工具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A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C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A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C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为每个镜头选择最优工具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Draft模式480P预览 → 确认后1080P渲染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检查质量，不满意则重新生成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统一命名：集数_镜头编号_类型_工具.mp4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FB80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F8C0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◆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B800"/>
                </a:solidFill>
                <a:latin typeface="Microsoft YaHei"/>
              </a:defRPr>
            </a:pPr>
            <a: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