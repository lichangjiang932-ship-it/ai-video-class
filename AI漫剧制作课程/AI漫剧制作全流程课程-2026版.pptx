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</p:sldIdLst>
  <p:sldSz cx="12192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theme" Target="theme/theme1.xml"/>
  <Relationship Id="rId3" Type="http://schemas.openxmlformats.org/officeDocument/2006/relationships/slide" Target="slides/slide1.xml"/>
  <Relationship Id="rId4" Type="http://schemas.openxmlformats.org/officeDocument/2006/relationships/slide" Target="slides/slide2.xml"/>
  <Relationship Id="rId5" Type="http://schemas.openxmlformats.org/officeDocument/2006/relationships/slide" Target="slides/slide3.xml"/>
  <Relationship Id="rId6" Type="http://schemas.openxmlformats.org/officeDocument/2006/relationships/slide" Target="slides/slide4.xml"/>
  <Relationship Id="rId7" Type="http://schemas.openxmlformats.org/officeDocument/2006/relationships/slide" Target="slides/slide5.xml"/>
  <Relationship Id="rId8" Type="http://schemas.openxmlformats.org/officeDocument/2006/relationships/slide" Target="slides/slide6.xml"/>
  <Relationship Id="rId9" Type="http://schemas.openxmlformats.org/officeDocument/2006/relationships/slide" Target="slides/slide7.xml"/>
  <Relationship Id="rId10" Type="http://schemas.openxmlformats.org/officeDocument/2006/relationships/slide" Target="slides/slide8.xml"/>
  <Relationship Id="rId11" Type="http://schemas.openxmlformats.org/officeDocument/2006/relationships/slide" Target="slides/slide9.xml"/>
  <Relationship Id="rId12" Type="http://schemas.openxmlformats.org/officeDocument/2006/relationships/slide" Target="slides/slide10.xml"/>
  <Relationship Id="rId13" Type="http://schemas.openxmlformats.org/officeDocument/2006/relationships/slide" Target="slides/slide11.xml"/>
  <Relationship Id="rId14" Type="http://schemas.openxmlformats.org/officeDocument/2006/relationships/slide" Target="slides/slide12.xml"/>
  <Relationship Id="rId15" Type="http://schemas.openxmlformats.org/officeDocument/2006/relationships/slide" Target="slides/slide13.xml"/>
  <Relationship Id="rId16" Type="http://schemas.openxmlformats.org/officeDocument/2006/relationships/slide" Target="slides/slide14.xml"/>
  <Relationship Id="rId17" Type="http://schemas.openxmlformats.org/officeDocument/2006/relationships/slide" Target="slides/slide15.xml"/>
  <Relationship Id="rId18" Type="http://schemas.openxmlformats.org/officeDocument/2006/relationships/slide" Target="slides/slide16.xml"/>
  <Relationship Id="rId19" Type="http://schemas.openxmlformats.org/officeDocument/2006/relationships/slide" Target="slides/slide17.xml"/>
  <Relationship Id="rId20" Type="http://schemas.openxmlformats.org/officeDocument/2006/relationships/slide" Target="slides/slide18.xml"/>
  <Relationship Id="rId21" Type="http://schemas.openxmlformats.org/officeDocument/2006/relationships/slide" Target="slides/slide19.xml"/>
  <Relationship Id="rId22" Type="http://schemas.openxmlformats.org/officeDocument/2006/relationships/slide" Target="slides/slide20.xml"/>
  <Relationship Id="rId23" Type="http://schemas.openxmlformats.org/officeDocument/2006/relationships/slide" Target="slides/slide21.xml"/>
  <Relationship Id="rId24" Type="http://schemas.openxmlformats.org/officeDocument/2006/relationships/slide" Target="slides/slide22.xml"/>
  <Relationship Id="rId25" Type="http://schemas.openxmlformats.org/officeDocument/2006/relationships/slide" Target="slides/slide23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685800" y="1714500"/>
            <a:ext cx="10820400" cy="2057400"/>
          </a:xfrm>
        </p:spPr>
        <p:txBody>
          <a:bodyPr wrap="square" lIns="91440" tIns="45720" rIns="91440" bIns="45720" anchor="ctr"/>
          <a:lstStyle/>
          <a:p>
            <a:r>
              <a:rPr lang="zh-CN" sz="4400" b="1" dirty="0">
                <a:solidFill>
                  <a:srgbClr val="FFFFFF"/>
                </a:solidFill>
                <a:latin typeface="Microsoft YaHei"/>
                <a:ea typeface="Microsoft YaHei"/>
              </a:rPr>
              <a:t>AI漫剧制作全流程课程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685800" y="3886200"/>
            <a:ext cx="10820400" cy="1143000"/>
          </a:xfrm>
        </p:spPr>
        <p:txBody>
          <a:bodyPr wrap="square" lIns="91440" tIns="45720" rIns="91440" bIns="45720" anchor="ctr"/>
          <a:lstStyle/>
          <a:p>
            <a:r>
              <a:rPr lang="zh-CN" sz="2000" dirty="0">
                <a:solidFill>
                  <a:srgbClr val="FF6B35"/>
                </a:solidFill>
                <a:latin typeface="Microsoft YaHei"/>
                <a:ea typeface="Microsoft YaHei"/>
              </a:rPr>
              <a:t>2026版 · 124课时 · 17个模块 · 从零基础到独立制作</a:t>
            </a:r>
          </a:p>
        </p:txBody>
      </p:sp>
      <p:sp>
        <p:nvSpPr>
          <p:cNvPr id="4" name="AccentLine"/>
          <p:cNvSpPr>
            <a:spLocks noGrp="1"/>
          </p:cNvSpPr>
          <p:nvPr/>
        </p:nvSpPr>
        <p:spPr>
          <a:xfrm>
            <a:off x="5000000" y="3700000"/>
            <a:ext cx="2192000" cy="50000"/>
          </a:xfrm>
          <a:solidFill>
            <a:srgbClr val="FF6B35"/>
          </a:solidFill>
        </p:spPr>
        <p:txBody>
          <a:bodyPr/>
          <a:lstStyle/>
          <a:p>
            <a:endParaRPr lang="zh-CN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7600" cy="1143000"/>
          </a:xfrm>
        </p:spPr>
        <p:txBody>
          <a:bodyPr wrap="square" lIns="91440" tIns="45720" rIns="91440" bIns="45720" anchor="ctr"/>
          <a:lstStyle/>
          <a:p>
            <a:r>
              <a:rPr lang="zh-CN" sz="3200" b="1" dirty="0">
                <a:solidFill>
                  <a:srgbClr val="FFFFFF"/>
                </a:solidFill>
                <a:latin typeface="Microsoft YaHei"/>
                <a:ea typeface="Microsoft YaHei"/>
              </a:rPr>
              <a:t>📋 课程目录</a:t>
            </a:r>
          </a:p>
        </p:txBody>
      </p:sp>
      <p:sp>
        <p:nvSpPr>
          <p:cNvPr id="3" name="AccentBar"/>
          <p:cNvSpPr>
            <a:spLocks noGrp="1"/>
          </p:cNvSpPr>
          <p:nvPr/>
        </p:nvSpPr>
        <p:spPr>
          <a:xfrm>
            <a:off x="457200" y="1417320"/>
            <a:ext cx="1800000" cy="50000"/>
          </a:xfrm>
          <a:solidFill>
            <a:srgbClr val="FF6B35"/>
          </a:solidFill>
        </p:spPr>
        <p:txBody>
          <a:bodyPr/>
          <a:lstStyle/>
          <a:p>
            <a:endParaRPr lang="zh-CN"/>
          </a:p>
        </p:txBody>
      </p:sp>
      <p:sp>
        <p:nvSpPr>
          <p:cNvPr id="4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11277600" cy="4800600"/>
          </a:xfrm>
        </p:spPr>
        <p:txBody>
          <a:bodyPr wrap="square" lIns="91440" tIns="45720" rIns="91440" bIns="45720"/>
          <a:lstStyle/>
          <a:p>
            <a:pPr>
              <a:buChar val="●"/>
              <a:spcBef>
                <a:spcPts val="600"/>
              </a:spcBef>
            </a:pPr>
            <a:r>
              <a:rPr lang="zh-CN" sz="1800" dirty="0">
                <a:solidFill>
                  <a:srgbClr val="E8EDF5"/>
                </a:solidFill>
                <a:latin typeface="Microsoft YaHei"/>
                <a:ea typeface="Microsoft YaHei"/>
              </a:rPr>
              <a:t>模块1-3：行业认知 + 剧本创作 + 分镜设计（24课时）</a:t>
            </a:r>
          </a:p>
          <a:p>
            <a:pPr>
              <a:buChar val="●"/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模块4-5：图像生成——即梦AI + 其他工具（16课时）</a:t>
            </a:r>
          </a:p>
          <a:p>
            <a:pPr>
              <a:buChar val="●"/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模块6-8：视频生成——可灵AI + Seedance + 海螺/Vidu（22课时）</a:t>
            </a:r>
          </a:p>
          <a:p>
            <a:pPr>
              <a:buChar val="●"/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模块9：角色一致性——核心技术攻克（6课时）</a:t>
            </a:r>
          </a:p>
          <a:p>
            <a:pPr>
              <a:buChar val="●"/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模块10-11：音频制作 + 剪辑后期（14课时）</a:t>
            </a:r>
          </a:p>
          <a:p>
            <a:pPr>
              <a:buChar val="●"/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模块12-13：一站式平台 + ComfyUI工作流（16课时）</a:t>
            </a:r>
          </a:p>
          <a:p>
            <a:pPr>
              <a:buChar val="●"/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模块14-16：工业化生产 + 分发变现 + 合规（18课时）</a:t>
            </a:r>
          </a:p>
          <a:p>
            <a:pPr>
              <a:buChar val="●"/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模块17：综合实战——完整漫剧项目（8课时）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7600" cy="1143000"/>
          </a:xfrm>
        </p:spPr>
        <p:txBody>
          <a:bodyPr wrap="square" lIns="91440" tIns="45720" rIns="91440" bIns="45720" anchor="ctr"/>
          <a:lstStyle/>
          <a:p>
            <a:r>
              <a:rPr lang="zh-CN" sz="3200" b="1" dirty="0">
                <a:solidFill>
                  <a:srgbClr val="FFFFFF"/>
                </a:solidFill>
                <a:latin typeface="Microsoft YaHei"/>
                <a:ea typeface="Microsoft YaHei"/>
              </a:rPr>
              <a:t>模块一：AI漫剧行业认知与趋势</a:t>
            </a:r>
          </a:p>
        </p:txBody>
      </p:sp>
      <p:sp>
        <p:nvSpPr>
          <p:cNvPr id="3" name="AccentBar"/>
          <p:cNvSpPr>
            <a:spLocks noGrp="1"/>
          </p:cNvSpPr>
          <p:nvPr/>
        </p:nvSpPr>
        <p:spPr>
          <a:xfrm>
            <a:off x="457200" y="1417320"/>
            <a:ext cx="1800000" cy="50000"/>
          </a:xfrm>
          <a:solidFill>
            <a:srgbClr val="FF6B35"/>
          </a:solidFill>
        </p:spPr>
        <p:txBody>
          <a:bodyPr/>
          <a:lstStyle/>
          <a:p>
            <a:endParaRPr lang="zh-CN"/>
          </a:p>
        </p:txBody>
      </p:sp>
      <p:sp>
        <p:nvSpPr>
          <p:cNvPr id="4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11277600" cy="4800600"/>
          </a:xfrm>
        </p:spPr>
        <p:txBody>
          <a:bodyPr wrap="square" lIns="91440" tIns="45720" rIns="91440" bIns="45720"/>
          <a:lstStyle/>
          <a:p>
            <a:pPr>
              <a:buChar val="●"/>
              <a:spcBef>
                <a:spcPts val="600"/>
              </a:spcBef>
            </a:pPr>
            <a:r>
              <a:rPr lang="zh-CN" sz="1800" dirty="0">
                <a:solidFill>
                  <a:srgbClr val="E8EDF5"/>
                </a:solidFill>
                <a:latin typeface="Microsoft YaHei"/>
                <a:ea typeface="Microsoft YaHei"/>
              </a:rPr>
              <a:t>🎯 2026年市场规模：240亿元，用户2.8亿</a:t>
            </a:r>
          </a:p>
          <a:p>
            <a:pPr>
              <a:buChar val="●"/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📈 内容形态演进：沙雕漫→动态漫→AI原生漫剧→AI仿真人剧</a:t>
            </a:r>
          </a:p>
          <a:p>
            <a:pPr>
              <a:buChar val="●"/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🔄 五步工业化革命：剧本→分镜→文生图→图生视频→剪辑配音</a:t>
            </a:r>
          </a:p>
          <a:p>
            <a:pPr>
              <a:buChar val="●"/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💡 爆款公式：精准题材 × 强节奏 × 高画质 × 稳更新 × 情感钩子</a:t>
            </a:r>
          </a:p>
          <a:p>
            <a:pPr>
              <a:buChar val="●"/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🚀 创业路径：个人创作者(1-5万) / 小团队(10-30万) / 工作室(50万+)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7600" cy="1143000"/>
          </a:xfrm>
        </p:spPr>
        <p:txBody>
          <a:bodyPr wrap="square" lIns="91440" tIns="45720" rIns="91440" bIns="45720" anchor="ctr"/>
          <a:lstStyle/>
          <a:p>
            <a:r>
              <a:rPr lang="zh-CN" sz="3200" b="1" dirty="0">
                <a:solidFill>
                  <a:srgbClr val="FFFFFF"/>
                </a:solidFill>
                <a:latin typeface="Microsoft YaHei"/>
                <a:ea typeface="Microsoft YaHei"/>
              </a:rPr>
              <a:t>模块二：大语言模型与AI剧本创作</a:t>
            </a:r>
          </a:p>
        </p:txBody>
      </p:sp>
      <p:sp>
        <p:nvSpPr>
          <p:cNvPr id="3" name="AccentBar"/>
          <p:cNvSpPr>
            <a:spLocks noGrp="1"/>
          </p:cNvSpPr>
          <p:nvPr/>
        </p:nvSpPr>
        <p:spPr>
          <a:xfrm>
            <a:off x="457200" y="1417320"/>
            <a:ext cx="1800000" cy="50000"/>
          </a:xfrm>
          <a:solidFill>
            <a:srgbClr val="FF6B35"/>
          </a:solidFill>
        </p:spPr>
        <p:txBody>
          <a:bodyPr/>
          <a:lstStyle/>
          <a:p>
            <a:endParaRPr lang="zh-CN"/>
          </a:p>
        </p:txBody>
      </p:sp>
      <p:sp>
        <p:nvSpPr>
          <p:cNvPr id="4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11277600" cy="4800600"/>
          </a:xfrm>
        </p:spPr>
        <p:txBody>
          <a:bodyPr wrap="square" lIns="91440" tIns="45720" rIns="91440" bIns="45720"/>
          <a:lstStyle/>
          <a:p>
            <a:pPr>
              <a:buChar val="●"/>
              <a:spcBef>
                <a:spcPts val="600"/>
              </a:spcBef>
            </a:pPr>
            <a:r>
              <a:rPr lang="zh-CN" sz="1800" dirty="0">
                <a:solidFill>
                  <a:srgbClr val="E8EDF5"/>
                </a:solidFill>
                <a:latin typeface="Microsoft YaHei"/>
                <a:ea typeface="Microsoft YaHei"/>
              </a:rPr>
              <a:t>📝 五大模型：文心5.0 / DeepSeek / 豆包 / 通义千问 / 智谱清言</a:t>
            </a:r>
          </a:p>
          <a:p>
            <a:pPr>
              <a:buChar val="●"/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🎯 剧本方法论：热点抓取→爽点设计→可视化描写→镜头语言适配</a:t>
            </a:r>
          </a:p>
          <a:p>
            <a:pPr>
              <a:buChar val="●"/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🔥 DeepSeek核心用法：联网搜索 + 长文本推理 + 多轮对话</a:t>
            </a:r>
          </a:p>
          <a:p>
            <a:pPr>
              <a:buChar val="●"/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📊 实战项目：用DeepSeek+文心5.0完成12集漫剧完整剧本</a:t>
            </a:r>
          </a:p>
          <a:p>
            <a:pPr>
              <a:buChar val="●"/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💡 提示词模板：[题材]+[角色]+[冲突]+[爽点]+[集数]一键生成大纲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7600" cy="1143000"/>
          </a:xfrm>
        </p:spPr>
        <p:txBody>
          <a:bodyPr wrap="square" lIns="91440" tIns="45720" rIns="91440" bIns="45720" anchor="ctr"/>
          <a:lstStyle/>
          <a:p>
            <a:r>
              <a:rPr lang="zh-CN" sz="3200" b="1" dirty="0">
                <a:solidFill>
                  <a:srgbClr val="FFFFFF"/>
                </a:solidFill>
                <a:latin typeface="Microsoft YaHei"/>
                <a:ea typeface="Microsoft YaHei"/>
              </a:rPr>
              <a:t>模块三：分镜设计与提示词工程</a:t>
            </a:r>
          </a:p>
        </p:txBody>
      </p:sp>
      <p:sp>
        <p:nvSpPr>
          <p:cNvPr id="3" name="AccentBar"/>
          <p:cNvSpPr>
            <a:spLocks noGrp="1"/>
          </p:cNvSpPr>
          <p:nvPr/>
        </p:nvSpPr>
        <p:spPr>
          <a:xfrm>
            <a:off x="457200" y="1417320"/>
            <a:ext cx="1800000" cy="50000"/>
          </a:xfrm>
          <a:solidFill>
            <a:srgbClr val="FF6B35"/>
          </a:solidFill>
        </p:spPr>
        <p:txBody>
          <a:bodyPr/>
          <a:lstStyle/>
          <a:p>
            <a:endParaRPr lang="zh-CN"/>
          </a:p>
        </p:txBody>
      </p:sp>
      <p:sp>
        <p:nvSpPr>
          <p:cNvPr id="4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11277600" cy="4800600"/>
          </a:xfrm>
        </p:spPr>
        <p:txBody>
          <a:bodyPr wrap="square" lIns="91440" tIns="45720" rIns="91440" bIns="45720"/>
          <a:lstStyle/>
          <a:p>
            <a:pPr>
              <a:buChar val="●"/>
              <a:spcBef>
                <a:spcPts val="600"/>
              </a:spcBef>
            </a:pPr>
            <a:r>
              <a:rPr lang="zh-CN" sz="1800" dirty="0">
                <a:solidFill>
                  <a:srgbClr val="E8EDF5"/>
                </a:solidFill>
                <a:latin typeface="Microsoft YaHei"/>
                <a:ea typeface="Microsoft YaHei"/>
              </a:rPr>
              <a:t>🎬 分镜基础：景别(远/全/中/近/特) + 构图 + 镜头运动</a:t>
            </a:r>
          </a:p>
          <a:p>
            <a:pPr>
              <a:buChar val="●"/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✨ 提示词六要素：主体描述、动作表情、环境、光线、视角、风格</a:t>
            </a:r>
          </a:p>
          <a:p>
            <a:pPr>
              <a:buChar val="●"/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📚 模板库：动作打斗 / 情感对话 / 情绪特写 / 场景展示四大类型</a:t>
            </a:r>
          </a:p>
          <a:p>
            <a:pPr>
              <a:buChar val="●"/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🚫 负面提示词：系统化排除低质量/变形/模糊等常见问题</a:t>
            </a:r>
          </a:p>
          <a:p>
            <a:pPr>
              <a:buChar val="●"/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🛠️ 工具：Drawstory分镜 + DomoAI动态分镜 + 即梦AI多帧分镜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7600" cy="1143000"/>
          </a:xfrm>
        </p:spPr>
        <p:txBody>
          <a:bodyPr wrap="square" lIns="91440" tIns="45720" rIns="91440" bIns="45720" anchor="ctr"/>
          <a:lstStyle/>
          <a:p>
            <a:r>
              <a:rPr lang="zh-CN" sz="3200" b="1" dirty="0">
                <a:solidFill>
                  <a:srgbClr val="FFFFFF"/>
                </a:solidFill>
                <a:latin typeface="Microsoft YaHei"/>
                <a:ea typeface="Microsoft YaHei"/>
              </a:rPr>
              <a:t>模块四：即梦AI深度精通</a:t>
            </a:r>
          </a:p>
        </p:txBody>
      </p:sp>
      <p:sp>
        <p:nvSpPr>
          <p:cNvPr id="3" name="AccentBar"/>
          <p:cNvSpPr>
            <a:spLocks noGrp="1"/>
          </p:cNvSpPr>
          <p:nvPr/>
        </p:nvSpPr>
        <p:spPr>
          <a:xfrm>
            <a:off x="457200" y="1417320"/>
            <a:ext cx="1800000" cy="50000"/>
          </a:xfrm>
          <a:solidFill>
            <a:srgbClr val="FF6B35"/>
          </a:solidFill>
        </p:spPr>
        <p:txBody>
          <a:bodyPr/>
          <a:lstStyle/>
          <a:p>
            <a:endParaRPr lang="zh-CN"/>
          </a:p>
        </p:txBody>
      </p:sp>
      <p:sp>
        <p:nvSpPr>
          <p:cNvPr id="4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11277600" cy="4800600"/>
          </a:xfrm>
        </p:spPr>
        <p:txBody>
          <a:bodyPr wrap="square" lIns="91440" tIns="45720" rIns="91440" bIns="45720"/>
          <a:lstStyle/>
          <a:p>
            <a:pPr>
              <a:buChar val="●"/>
              <a:spcBef>
                <a:spcPts val="600"/>
              </a:spcBef>
            </a:pPr>
            <a:r>
              <a:rPr lang="zh-CN" sz="1800" dirty="0">
                <a:solidFill>
                  <a:srgbClr val="E8EDF5"/>
                </a:solidFill>
                <a:latin typeface="Microsoft YaHei"/>
                <a:ea typeface="Microsoft YaHei"/>
              </a:rPr>
              <a:t>🖼️ 文生图：提示词编写规范 + 参数调节(分辨率/风格/采样步数)</a:t>
            </a:r>
          </a:p>
          <a:p>
            <a:pPr>
              <a:buChar val="●"/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🎨 图生图：风格迁移操作 + 画面精修技巧</a:t>
            </a:r>
          </a:p>
          <a:p>
            <a:pPr>
              <a:buChar val="●"/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👤 角色一致性：角色参考功能 + 多镜头形象稳定方案</a:t>
            </a:r>
          </a:p>
          <a:p>
            <a:pPr>
              <a:buChar val="●"/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🏛️ 场景资产库：核心场景"母版图"批量生成方法</a:t>
            </a:r>
          </a:p>
          <a:p>
            <a:pPr>
              <a:buChar val="●"/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🔀 多风格切换：国漫/日漫/赛博朋克/古风参数设置</a:t>
            </a:r>
          </a:p>
          <a:p>
            <a:pPr>
              <a:buChar val="●"/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🔌 火山引擎API：企业级批量生产接入方式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7600" cy="1143000"/>
          </a:xfrm>
        </p:spPr>
        <p:txBody>
          <a:bodyPr wrap="square" lIns="91440" tIns="45720" rIns="91440" bIns="45720" anchor="ctr"/>
          <a:lstStyle/>
          <a:p>
            <a:r>
              <a:rPr lang="zh-CN" sz="3200" b="1" dirty="0">
                <a:solidFill>
                  <a:srgbClr val="FFFFFF"/>
                </a:solidFill>
                <a:latin typeface="Microsoft YaHei"/>
                <a:ea typeface="Microsoft YaHei"/>
              </a:rPr>
              <a:t>模块五：其他图像生成工具</a:t>
            </a:r>
          </a:p>
        </p:txBody>
      </p:sp>
      <p:sp>
        <p:nvSpPr>
          <p:cNvPr id="3" name="AccentBar"/>
          <p:cNvSpPr>
            <a:spLocks noGrp="1"/>
          </p:cNvSpPr>
          <p:nvPr/>
        </p:nvSpPr>
        <p:spPr>
          <a:xfrm>
            <a:off x="457200" y="1417320"/>
            <a:ext cx="1800000" cy="50000"/>
          </a:xfrm>
          <a:solidFill>
            <a:srgbClr val="FF6B35"/>
          </a:solidFill>
        </p:spPr>
        <p:txBody>
          <a:bodyPr/>
          <a:lstStyle/>
          <a:p>
            <a:endParaRPr lang="zh-CN"/>
          </a:p>
        </p:txBody>
      </p:sp>
      <p:sp>
        <p:nvSpPr>
          <p:cNvPr id="4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11277600" cy="4800600"/>
          </a:xfrm>
        </p:spPr>
        <p:txBody>
          <a:bodyPr wrap="square" lIns="91440" tIns="45720" rIns="91440" bIns="45720"/>
          <a:lstStyle/>
          <a:p>
            <a:pPr>
              <a:buChar val="●"/>
              <a:spcBef>
                <a:spcPts val="600"/>
              </a:spcBef>
            </a:pPr>
            <a:r>
              <a:rPr lang="zh-CN" sz="1800" dirty="0">
                <a:solidFill>
                  <a:srgbClr val="E8EDF5"/>
                </a:solidFill>
                <a:latin typeface="Microsoft YaHei"/>
                <a:ea typeface="Microsoft YaHei"/>
              </a:rPr>
              <a:t>🟠 通义万相(阿里)：文生图/图生图，中式美学优势</a:t>
            </a:r>
          </a:p>
          <a:p>
            <a:pPr>
              <a:buChar val="●"/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🔵 腾讯混元：图像生成 + 数字人创作</a:t>
            </a:r>
          </a:p>
          <a:p>
            <a:pPr>
              <a:buChar val="●"/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🔴 百度文心一格：AI绘画 + 中式美学</a:t>
            </a:r>
          </a:p>
          <a:p>
            <a:pPr>
              <a:buChar val="●"/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🟢 Kolors(快手可图)：开源模型，漫剧场景应用</a:t>
            </a:r>
          </a:p>
          <a:p>
            <a:pPr>
              <a:buChar val="●"/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🧠 角色LoRA训练：ComfyUI环境 + 30-50张图训练专属模型</a:t>
            </a:r>
          </a:p>
          <a:p>
            <a:pPr>
              <a:buChar val="●"/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🎯 决策矩阵：根据镜头类型选择最优工具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7600" cy="1143000"/>
          </a:xfrm>
        </p:spPr>
        <p:txBody>
          <a:bodyPr wrap="square" lIns="91440" tIns="45720" rIns="91440" bIns="45720" anchor="ctr"/>
          <a:lstStyle/>
          <a:p>
            <a:r>
              <a:rPr lang="zh-CN" sz="3200" b="1" dirty="0">
                <a:solidFill>
                  <a:srgbClr val="FFFFFF"/>
                </a:solidFill>
                <a:latin typeface="Microsoft YaHei"/>
                <a:ea typeface="Microsoft YaHei"/>
              </a:rPr>
              <a:t>模块六：可灵AI深度精通</a:t>
            </a:r>
          </a:p>
        </p:txBody>
      </p:sp>
      <p:sp>
        <p:nvSpPr>
          <p:cNvPr id="3" name="AccentBar"/>
          <p:cNvSpPr>
            <a:spLocks noGrp="1"/>
          </p:cNvSpPr>
          <p:nvPr/>
        </p:nvSpPr>
        <p:spPr>
          <a:xfrm>
            <a:off x="457200" y="1417320"/>
            <a:ext cx="1800000" cy="50000"/>
          </a:xfrm>
          <a:solidFill>
            <a:srgbClr val="FF6B35"/>
          </a:solidFill>
        </p:spPr>
        <p:txBody>
          <a:bodyPr/>
          <a:lstStyle/>
          <a:p>
            <a:endParaRPr lang="zh-CN"/>
          </a:p>
        </p:txBody>
      </p:sp>
      <p:sp>
        <p:nvSpPr>
          <p:cNvPr id="4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11277600" cy="4800600"/>
          </a:xfrm>
        </p:spPr>
        <p:txBody>
          <a:bodyPr wrap="square" lIns="91440" tIns="45720" rIns="91440" bIns="45720"/>
          <a:lstStyle/>
          <a:p>
            <a:pPr>
              <a:buChar val="●"/>
              <a:spcBef>
                <a:spcPts val="600"/>
              </a:spcBef>
            </a:pPr>
            <a:r>
              <a:rPr lang="zh-CN" sz="1800" dirty="0">
                <a:solidFill>
                  <a:srgbClr val="E8EDF5"/>
                </a:solidFill>
                <a:latin typeface="Microsoft YaHei"/>
                <a:ea typeface="Microsoft YaHei"/>
              </a:rPr>
              <a:t>🚀 可灵AI 3.0：物理仿真突破 + 影像级1080P输出</a:t>
            </a:r>
          </a:p>
          <a:p>
            <a:pPr>
              <a:buChar val="●"/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🖼️ 图生视频：静态图→动态画面，参数设置详解</a:t>
            </a:r>
          </a:p>
          <a:p>
            <a:pPr>
              <a:buChar val="●"/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📝 文生视频：纯文本描述驱动视频生成</a:t>
            </a:r>
          </a:p>
          <a:p>
            <a:pPr>
              <a:buChar val="●"/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🎭 高级运动控制：复杂人体动力学 + 动作大师能力</a:t>
            </a:r>
          </a:p>
          <a:p>
            <a:pPr>
              <a:buChar val="●"/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🎯 首尾帧控制：精准设定起始帧与结束帧过渡</a:t>
            </a:r>
          </a:p>
          <a:p>
            <a:pPr>
              <a:buChar val="●"/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⚔️ 打斗场景实战：武打/运动/高难度动作提示词模板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7600" cy="1143000"/>
          </a:xfrm>
        </p:spPr>
        <p:txBody>
          <a:bodyPr wrap="square" lIns="91440" tIns="45720" rIns="91440" bIns="45720" anchor="ctr"/>
          <a:lstStyle/>
          <a:p>
            <a:r>
              <a:rPr lang="zh-CN" sz="3200" b="1" dirty="0">
                <a:solidFill>
                  <a:srgbClr val="FFFFFF"/>
                </a:solidFill>
                <a:latin typeface="Microsoft YaHei"/>
                <a:ea typeface="Microsoft YaHei"/>
              </a:rPr>
              <a:t>模块七：Seedance 2.0深度精通</a:t>
            </a:r>
          </a:p>
        </p:txBody>
      </p:sp>
      <p:sp>
        <p:nvSpPr>
          <p:cNvPr id="3" name="AccentBar"/>
          <p:cNvSpPr>
            <a:spLocks noGrp="1"/>
          </p:cNvSpPr>
          <p:nvPr/>
        </p:nvSpPr>
        <p:spPr>
          <a:xfrm>
            <a:off x="457200" y="1417320"/>
            <a:ext cx="1800000" cy="50000"/>
          </a:xfrm>
          <a:solidFill>
            <a:srgbClr val="FF6B35"/>
          </a:solidFill>
        </p:spPr>
        <p:txBody>
          <a:bodyPr/>
          <a:lstStyle/>
          <a:p>
            <a:endParaRPr lang="zh-CN"/>
          </a:p>
        </p:txBody>
      </p:sp>
      <p:sp>
        <p:nvSpPr>
          <p:cNvPr id="4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11277600" cy="4800600"/>
          </a:xfrm>
        </p:spPr>
        <p:txBody>
          <a:bodyPr wrap="square" lIns="91440" tIns="45720" rIns="91440" bIns="45720"/>
          <a:lstStyle/>
          <a:p>
            <a:pPr>
              <a:buChar val="●"/>
              <a:spcBef>
                <a:spcPts val="600"/>
              </a:spcBef>
            </a:pPr>
            <a:r>
              <a:rPr lang="zh-CN" sz="1800" dirty="0">
                <a:solidFill>
                  <a:srgbClr val="E8EDF5"/>
                </a:solidFill>
                <a:latin typeface="Microsoft YaHei"/>
                <a:ea typeface="Microsoft YaHei"/>
              </a:rPr>
              <a:t>🎬 "导演之选"：多模态参考系统 + 角色档案</a:t>
            </a:r>
          </a:p>
          <a:p>
            <a:pPr>
              <a:buChar val="●"/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📹 参考驱动：上传参考视频→AI角色复刻动作</a:t>
            </a:r>
          </a:p>
          <a:p>
            <a:pPr>
              <a:buChar val="●"/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📋 Draft模式：480P预览确认后再渲染高清，节省60%成本</a:t>
            </a:r>
          </a:p>
          <a:p>
            <a:pPr>
              <a:buChar val="●"/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📈 抽卡率革命：从20%→90%+可用率的四大策略</a:t>
            </a:r>
          </a:p>
          <a:p>
            <a:pPr>
              <a:buChar val="●"/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🔗 与即梦AI整合：全链路"AI工作室"实战</a:t>
            </a:r>
          </a:p>
          <a:p>
            <a:pPr>
              <a:buChar val="●"/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⚔️ 武侠漫剧：真人功夫视频驱动漫剧侠客动作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7600" cy="1143000"/>
          </a:xfrm>
        </p:spPr>
        <p:txBody>
          <a:bodyPr wrap="square" lIns="91440" tIns="45720" rIns="91440" bIns="45720" anchor="ctr"/>
          <a:lstStyle/>
          <a:p>
            <a:r>
              <a:rPr lang="zh-CN" sz="3200" b="1" dirty="0">
                <a:solidFill>
                  <a:srgbClr val="FFFFFF"/>
                </a:solidFill>
                <a:latin typeface="Microsoft YaHei"/>
                <a:ea typeface="Microsoft YaHei"/>
              </a:rPr>
              <a:t>模块八：海螺AI与Vidu</a:t>
            </a:r>
          </a:p>
        </p:txBody>
      </p:sp>
      <p:sp>
        <p:nvSpPr>
          <p:cNvPr id="3" name="AccentBar"/>
          <p:cNvSpPr>
            <a:spLocks noGrp="1"/>
          </p:cNvSpPr>
          <p:nvPr/>
        </p:nvSpPr>
        <p:spPr>
          <a:xfrm>
            <a:off x="457200" y="1417320"/>
            <a:ext cx="1800000" cy="50000"/>
          </a:xfrm>
          <a:solidFill>
            <a:srgbClr val="FF6B35"/>
          </a:solidFill>
        </p:spPr>
        <p:txBody>
          <a:bodyPr/>
          <a:lstStyle/>
          <a:p>
            <a:endParaRPr lang="zh-CN"/>
          </a:p>
        </p:txBody>
      </p:sp>
      <p:sp>
        <p:nvSpPr>
          <p:cNvPr id="4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11277600" cy="4800600"/>
          </a:xfrm>
        </p:spPr>
        <p:txBody>
          <a:bodyPr wrap="square" lIns="91440" tIns="45720" rIns="91440" bIns="45720"/>
          <a:lstStyle/>
          <a:p>
            <a:pPr>
              <a:buChar val="●"/>
              <a:spcBef>
                <a:spcPts val="600"/>
              </a:spcBef>
            </a:pPr>
            <a:r>
              <a:rPr lang="zh-CN" sz="1800" dirty="0">
                <a:solidFill>
                  <a:srgbClr val="E8EDF5"/>
                </a:solidFill>
                <a:latin typeface="Microsoft YaHei"/>
                <a:ea typeface="Microsoft YaHei"/>
              </a:rPr>
              <a:t>🌊 海螺AI 02(MiniMax)：高难度物理动作生成突破</a:t>
            </a:r>
          </a:p>
          <a:p>
            <a:pPr>
              <a:buChar val="●"/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💃 复杂动作：打斗/舞蹈/运动场景最佳实践</a:t>
            </a:r>
          </a:p>
          <a:p>
            <a:pPr>
              <a:buChar val="●"/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🎬 Vidu Q3：全球首个16秒音画直出模型</a:t>
            </a:r>
          </a:p>
          <a:p>
            <a:pPr>
              <a:buChar val="●"/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👥 多角色对话：支持2-3个角色同屏对话</a:t>
            </a:r>
          </a:p>
          <a:p>
            <a:pPr>
              <a:buChar val="●"/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🎯 选型决策：对话→Vidu / 参考→Seedance / 打斗→海螺 / 普通→可灵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7600" cy="1143000"/>
          </a:xfrm>
        </p:spPr>
        <p:txBody>
          <a:bodyPr wrap="square" lIns="91440" tIns="45720" rIns="91440" bIns="45720" anchor="ctr"/>
          <a:lstStyle/>
          <a:p>
            <a:r>
              <a:rPr lang="zh-CN" sz="3200" b="1" dirty="0">
                <a:solidFill>
                  <a:srgbClr val="FFFFFF"/>
                </a:solidFill>
                <a:latin typeface="Microsoft YaHei"/>
                <a:ea typeface="Microsoft YaHei"/>
              </a:rPr>
              <a:t>模块九：角色一致性——核心技术攻克</a:t>
            </a:r>
          </a:p>
        </p:txBody>
      </p:sp>
      <p:sp>
        <p:nvSpPr>
          <p:cNvPr id="3" name="AccentBar"/>
          <p:cNvSpPr>
            <a:spLocks noGrp="1"/>
          </p:cNvSpPr>
          <p:nvPr/>
        </p:nvSpPr>
        <p:spPr>
          <a:xfrm>
            <a:off x="457200" y="1417320"/>
            <a:ext cx="1800000" cy="50000"/>
          </a:xfrm>
          <a:solidFill>
            <a:srgbClr val="FF6B35"/>
          </a:solidFill>
        </p:spPr>
        <p:txBody>
          <a:bodyPr/>
          <a:lstStyle/>
          <a:p>
            <a:endParaRPr lang="zh-CN"/>
          </a:p>
        </p:txBody>
      </p:sp>
      <p:sp>
        <p:nvSpPr>
          <p:cNvPr id="4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11277600" cy="4800600"/>
          </a:xfrm>
        </p:spPr>
        <p:txBody>
          <a:bodyPr wrap="square" lIns="91440" tIns="45720" rIns="91440" bIns="45720"/>
          <a:lstStyle/>
          <a:p>
            <a:pPr>
              <a:buChar val="●"/>
              <a:spcBef>
                <a:spcPts val="600"/>
              </a:spcBef>
            </a:pPr>
            <a:r>
              <a:rPr lang="zh-CN" sz="1800" dirty="0">
                <a:solidFill>
                  <a:srgbClr val="E8EDF5"/>
                </a:solidFill>
                <a:latin typeface="Microsoft YaHei"/>
                <a:ea typeface="Microsoft YaHei"/>
              </a:rPr>
              <a:t>🔥 最大挑战：AI每次生成都是"独立"的，角色天然不一致</a:t>
            </a:r>
          </a:p>
          <a:p>
            <a:pPr>
              <a:buChar val="●"/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💡 解决方案阶梯：参考图→IP-Adapter→LoRA微调</a:t>
            </a:r>
          </a:p>
          <a:p>
            <a:pPr>
              <a:buChar val="●"/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🛠️ ComfyUI工作流：IP-Adapter FaceID Plus v2 + ControlNet</a:t>
            </a:r>
          </a:p>
          <a:p>
            <a:pPr>
              <a:buChar val="●"/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🧠 LoRA训练：30-50张图训练角色专属模型</a:t>
            </a:r>
          </a:p>
          <a:p>
            <a:pPr>
              <a:buChar val="●"/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🔧 ADetailer：自动检测+高分辨率重渲染面部偏移</a:t>
            </a:r>
          </a:p>
          <a:p>
            <a:pPr>
              <a:buChar val="●"/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📦 资产库管理：多角度/多表情/多光照数据集规范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7600" cy="1143000"/>
          </a:xfrm>
        </p:spPr>
        <p:txBody>
          <a:bodyPr wrap="square" lIns="91440" tIns="45720" rIns="91440" bIns="45720" anchor="ctr"/>
          <a:lstStyle/>
          <a:p>
            <a:r>
              <a:rPr lang="zh-CN" sz="3200" b="1" dirty="0">
                <a:solidFill>
                  <a:srgbClr val="FFFFFF"/>
                </a:solidFill>
                <a:latin typeface="Microsoft YaHei"/>
                <a:ea typeface="Microsoft YaHei"/>
              </a:rPr>
              <a:t>模块十：AI音频——配音、配乐与音画同步</a:t>
            </a:r>
          </a:p>
        </p:txBody>
      </p:sp>
      <p:sp>
        <p:nvSpPr>
          <p:cNvPr id="3" name="AccentBar"/>
          <p:cNvSpPr>
            <a:spLocks noGrp="1"/>
          </p:cNvSpPr>
          <p:nvPr/>
        </p:nvSpPr>
        <p:spPr>
          <a:xfrm>
            <a:off x="457200" y="1417320"/>
            <a:ext cx="1800000" cy="50000"/>
          </a:xfrm>
          <a:solidFill>
            <a:srgbClr val="FF6B35"/>
          </a:solidFill>
        </p:spPr>
        <p:txBody>
          <a:bodyPr/>
          <a:lstStyle/>
          <a:p>
            <a:endParaRPr lang="zh-CN"/>
          </a:p>
        </p:txBody>
      </p:sp>
      <p:sp>
        <p:nvSpPr>
          <p:cNvPr id="4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11277600" cy="4800600"/>
          </a:xfrm>
        </p:spPr>
        <p:txBody>
          <a:bodyPr wrap="square" lIns="91440" tIns="45720" rIns="91440" bIns="45720"/>
          <a:lstStyle/>
          <a:p>
            <a:pPr>
              <a:buChar val="●"/>
              <a:spcBef>
                <a:spcPts val="600"/>
              </a:spcBef>
            </a:pPr>
            <a:r>
              <a:rPr lang="zh-CN" sz="1800" dirty="0">
                <a:solidFill>
                  <a:srgbClr val="E8EDF5"/>
                </a:solidFill>
                <a:latin typeface="Microsoft YaHei"/>
                <a:ea typeface="Microsoft YaHei"/>
              </a:rPr>
              <a:t>🎤 火山引擎TTS：中文语境深度适配，情感控制</a:t>
            </a:r>
          </a:p>
          <a:p>
            <a:pPr>
              <a:buChar val="●"/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🎭 Fish Audio：表情标签系统精准控制情感</a:t>
            </a:r>
          </a:p>
          <a:p>
            <a:pPr>
              <a:buChar val="●"/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✂️ 剪映AI克隆音色：30秒训练专属配音模型</a:t>
            </a:r>
          </a:p>
          <a:p>
            <a:pPr>
              <a:buChar val="●"/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🎵 MiniMax Music-2.0：AI音乐生成+风格混合</a:t>
            </a:r>
          </a:p>
          <a:p>
            <a:pPr>
              <a:buChar val="●"/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🔊 SkyReels-V4：毫秒级口型对齐音画同步</a:t>
            </a:r>
          </a:p>
          <a:p>
            <a:pPr>
              <a:buChar val="●"/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💥 拟声字特效："轰""啊""哇"等文字特效制作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7600" cy="1143000"/>
          </a:xfrm>
        </p:spPr>
        <p:txBody>
          <a:bodyPr wrap="square" lIns="91440" tIns="45720" rIns="91440" bIns="45720" anchor="ctr"/>
          <a:lstStyle/>
          <a:p>
            <a:r>
              <a:rPr lang="zh-CN" sz="3200" b="1" dirty="0">
                <a:solidFill>
                  <a:srgbClr val="FFFFFF"/>
                </a:solidFill>
                <a:latin typeface="Microsoft YaHei"/>
                <a:ea typeface="Microsoft YaHei"/>
              </a:rPr>
              <a:t>模块十一：剪辑与后期——剪映专业版</a:t>
            </a:r>
          </a:p>
        </p:txBody>
      </p:sp>
      <p:sp>
        <p:nvSpPr>
          <p:cNvPr id="3" name="AccentBar"/>
          <p:cNvSpPr>
            <a:spLocks noGrp="1"/>
          </p:cNvSpPr>
          <p:nvPr/>
        </p:nvSpPr>
        <p:spPr>
          <a:xfrm>
            <a:off x="457200" y="1417320"/>
            <a:ext cx="1800000" cy="50000"/>
          </a:xfrm>
          <a:solidFill>
            <a:srgbClr val="FF6B35"/>
          </a:solidFill>
        </p:spPr>
        <p:txBody>
          <a:bodyPr/>
          <a:lstStyle/>
          <a:p>
            <a:endParaRPr lang="zh-CN"/>
          </a:p>
        </p:txBody>
      </p:sp>
      <p:sp>
        <p:nvSpPr>
          <p:cNvPr id="4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11277600" cy="4800600"/>
          </a:xfrm>
        </p:spPr>
        <p:txBody>
          <a:bodyPr wrap="square" lIns="91440" tIns="45720" rIns="91440" bIns="45720"/>
          <a:lstStyle/>
          <a:p>
            <a:pPr>
              <a:buChar val="●"/>
              <a:spcBef>
                <a:spcPts val="600"/>
              </a:spcBef>
            </a:pPr>
            <a:r>
              <a:rPr lang="zh-CN" sz="1800" dirty="0">
                <a:solidFill>
                  <a:srgbClr val="E8EDF5"/>
                </a:solidFill>
                <a:latin typeface="Microsoft YaHei"/>
                <a:ea typeface="Microsoft YaHei"/>
              </a:rPr>
              <a:t>🎯 前3秒法则：视觉冲击→冲突呈现→信息传达</a:t>
            </a:r>
          </a:p>
          <a:p>
            <a:pPr>
              <a:buChar val="●"/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🪝 黄金钩子：每集开头回顾+悬念，结尾必留钩子</a:t>
            </a:r>
          </a:p>
          <a:p>
            <a:pPr>
              <a:buChar val="●"/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🤖 AI功能：智能字幕/自动踩点/AI混剪/智能修复</a:t>
            </a:r>
          </a:p>
          <a:p>
            <a:pPr>
              <a:buChar val="●"/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🔧 画面修复：AI去闪烁/去变形/超分辨率</a:t>
            </a:r>
          </a:p>
          <a:p>
            <a:pPr>
              <a:buChar val="●"/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🎨 调色统一：玄幻偏冷/都市自然/古风暖色/赛博霓虹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7600" cy="1143000"/>
          </a:xfrm>
        </p:spPr>
        <p:txBody>
          <a:bodyPr wrap="square" lIns="91440" tIns="45720" rIns="91440" bIns="45720" anchor="ctr"/>
          <a:lstStyle/>
          <a:p>
            <a:r>
              <a:rPr lang="zh-CN" sz="3200" b="1" dirty="0">
                <a:solidFill>
                  <a:srgbClr val="FFFFFF"/>
                </a:solidFill>
                <a:latin typeface="Microsoft YaHei"/>
                <a:ea typeface="Microsoft YaHei"/>
              </a:rPr>
              <a:t>模块十二：一站式AI漫剧平台</a:t>
            </a:r>
          </a:p>
        </p:txBody>
      </p:sp>
      <p:sp>
        <p:nvSpPr>
          <p:cNvPr id="3" name="AccentBar"/>
          <p:cNvSpPr>
            <a:spLocks noGrp="1"/>
          </p:cNvSpPr>
          <p:nvPr/>
        </p:nvSpPr>
        <p:spPr>
          <a:xfrm>
            <a:off x="457200" y="1417320"/>
            <a:ext cx="1800000" cy="50000"/>
          </a:xfrm>
          <a:solidFill>
            <a:srgbClr val="FF6B35"/>
          </a:solidFill>
        </p:spPr>
        <p:txBody>
          <a:bodyPr/>
          <a:lstStyle/>
          <a:p>
            <a:endParaRPr lang="zh-CN"/>
          </a:p>
        </p:txBody>
      </p:sp>
      <p:sp>
        <p:nvSpPr>
          <p:cNvPr id="4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11277600" cy="4800600"/>
          </a:xfrm>
        </p:spPr>
        <p:txBody>
          <a:bodyPr wrap="square" lIns="91440" tIns="45720" rIns="91440" bIns="45720"/>
          <a:lstStyle/>
          <a:p>
            <a:pPr>
              <a:buChar val="●"/>
              <a:spcBef>
                <a:spcPts val="600"/>
              </a:spcBef>
            </a:pPr>
            <a:r>
              <a:rPr lang="zh-CN" sz="1800" dirty="0">
                <a:solidFill>
                  <a:srgbClr val="E8EDF5"/>
                </a:solidFill>
                <a:latin typeface="Microsoft YaHei"/>
                <a:ea typeface="Microsoft YaHei"/>
              </a:rPr>
              <a:t>🏭 360纳米漫剧流水线：全链路自动化，零基础可用</a:t>
            </a:r>
          </a:p>
          <a:p>
            <a:pPr>
              <a:buChar val="●"/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🎭 有戏AI：角色相似度95%+，一站式短剧创作</a:t>
            </a:r>
          </a:p>
          <a:p>
            <a:pPr>
              <a:buChar val="●"/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🎬 商汤Seko 2.0：创编一体，连拍100集不崩</a:t>
            </a:r>
          </a:p>
          <a:p>
            <a:pPr>
              <a:buChar val="●"/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📚 漫剧助手(阅文)：AI驱动+海量IP，IP到漫剧最短路径</a:t>
            </a:r>
          </a:p>
          <a:p>
            <a:pPr>
              <a:buChar val="●"/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🎯 选型建议：快速出片→360纳米 / 品质→有戏AI / IP→漫剧助手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7600" cy="1143000"/>
          </a:xfrm>
        </p:spPr>
        <p:txBody>
          <a:bodyPr wrap="square" lIns="91440" tIns="45720" rIns="91440" bIns="45720" anchor="ctr"/>
          <a:lstStyle/>
          <a:p>
            <a:r>
              <a:rPr lang="zh-CN" sz="3200" b="1" dirty="0">
                <a:solidFill>
                  <a:srgbClr val="FFFFFF"/>
                </a:solidFill>
                <a:latin typeface="Microsoft YaHei"/>
                <a:ea typeface="Microsoft YaHei"/>
              </a:rPr>
              <a:t>模块十三：ComfyUI工作流进阶</a:t>
            </a:r>
          </a:p>
        </p:txBody>
      </p:sp>
      <p:sp>
        <p:nvSpPr>
          <p:cNvPr id="3" name="AccentBar"/>
          <p:cNvSpPr>
            <a:spLocks noGrp="1"/>
          </p:cNvSpPr>
          <p:nvPr/>
        </p:nvSpPr>
        <p:spPr>
          <a:xfrm>
            <a:off x="457200" y="1417320"/>
            <a:ext cx="1800000" cy="50000"/>
          </a:xfrm>
          <a:solidFill>
            <a:srgbClr val="FF6B35"/>
          </a:solidFill>
        </p:spPr>
        <p:txBody>
          <a:bodyPr/>
          <a:lstStyle/>
          <a:p>
            <a:endParaRPr lang="zh-CN"/>
          </a:p>
        </p:txBody>
      </p:sp>
      <p:sp>
        <p:nvSpPr>
          <p:cNvPr id="4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11277600" cy="4800600"/>
          </a:xfrm>
        </p:spPr>
        <p:txBody>
          <a:bodyPr wrap="square" lIns="91440" tIns="45720" rIns="91440" bIns="45720"/>
          <a:lstStyle/>
          <a:p>
            <a:pPr>
              <a:buChar val="●"/>
              <a:spcBef>
                <a:spcPts val="600"/>
              </a:spcBef>
            </a:pPr>
            <a:r>
              <a:rPr lang="zh-CN" sz="1800" dirty="0">
                <a:solidFill>
                  <a:srgbClr val="E8EDF5"/>
                </a:solidFill>
                <a:latin typeface="Microsoft YaHei"/>
                <a:ea typeface="Microsoft YaHei"/>
              </a:rPr>
              <a:t>⚙️ 环境搭建：Python 3.10+ / NVIDIA 8GB+ VRAM</a:t>
            </a:r>
          </a:p>
          <a:p>
            <a:pPr>
              <a:buChar val="●"/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🔌 核心插件：IP-Adapter / ControlNet / ADetailer</a:t>
            </a:r>
          </a:p>
          <a:p>
            <a:pPr>
              <a:buChar val="●"/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🖼️ 文生图/图生图工作流：节点连接与参数优化</a:t>
            </a:r>
          </a:p>
          <a:p>
            <a:pPr>
              <a:buChar val="●"/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🎮 ControlNet：骨骼姿态/深度图/线稿精准控制</a:t>
            </a:r>
          </a:p>
          <a:p>
            <a:pPr>
              <a:buChar val="●"/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👤 角色一致性：IP-Adapter + LoRA + ADetailer黄金组合</a:t>
            </a:r>
          </a:p>
          <a:p>
            <a:pPr>
              <a:buChar val="●"/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📚 Z-Comics：多格漫画批量生成插件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7600" cy="1143000"/>
          </a:xfrm>
        </p:spPr>
        <p:txBody>
          <a:bodyPr wrap="square" lIns="91440" tIns="45720" rIns="91440" bIns="45720" anchor="ctr"/>
          <a:lstStyle/>
          <a:p>
            <a:r>
              <a:rPr lang="zh-CN" sz="3200" b="1" dirty="0">
                <a:solidFill>
                  <a:srgbClr val="FFFFFF"/>
                </a:solidFill>
                <a:latin typeface="Microsoft YaHei"/>
                <a:ea typeface="Microsoft YaHei"/>
              </a:rPr>
              <a:t>模块十四：工业化生产与团队协作</a:t>
            </a:r>
          </a:p>
        </p:txBody>
      </p:sp>
      <p:sp>
        <p:nvSpPr>
          <p:cNvPr id="3" name="AccentBar"/>
          <p:cNvSpPr>
            <a:spLocks noGrp="1"/>
          </p:cNvSpPr>
          <p:nvPr/>
        </p:nvSpPr>
        <p:spPr>
          <a:xfrm>
            <a:off x="457200" y="1417320"/>
            <a:ext cx="1800000" cy="50000"/>
          </a:xfrm>
          <a:solidFill>
            <a:srgbClr val="FF6B35"/>
          </a:solidFill>
        </p:spPr>
        <p:txBody>
          <a:bodyPr/>
          <a:lstStyle/>
          <a:p>
            <a:endParaRPr lang="zh-CN"/>
          </a:p>
        </p:txBody>
      </p:sp>
      <p:sp>
        <p:nvSpPr>
          <p:cNvPr id="4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11277600" cy="4800600"/>
          </a:xfrm>
        </p:spPr>
        <p:txBody>
          <a:bodyPr wrap="square" lIns="91440" tIns="45720" rIns="91440" bIns="45720"/>
          <a:lstStyle/>
          <a:p>
            <a:pPr>
              <a:buChar val="●"/>
              <a:spcBef>
                <a:spcPts val="600"/>
              </a:spcBef>
            </a:pPr>
            <a:r>
              <a:rPr lang="zh-CN" sz="1800" dirty="0">
                <a:solidFill>
                  <a:srgbClr val="E8EDF5"/>
                </a:solidFill>
                <a:latin typeface="Microsoft YaHei"/>
                <a:ea typeface="Microsoft YaHei"/>
              </a:rPr>
              <a:t>⚡ 极速流：1小时/集热点漫剧（单人日更模式）</a:t>
            </a:r>
          </a:p>
          <a:p>
            <a:pPr>
              <a:buChar val="●"/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💎 精品IP流：15-30天打造精品连载（团队模式）</a:t>
            </a:r>
          </a:p>
          <a:p>
            <a:pPr>
              <a:buChar val="●"/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👥 "1+4+2"模式：编剧+2抽卡师+后期+运营+美术+技术</a:t>
            </a:r>
          </a:p>
          <a:p>
            <a:pPr>
              <a:buChar val="●"/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📦 资产沉淀：角色/场景/道具/模板资产库复用</a:t>
            </a:r>
          </a:p>
          <a:p>
            <a:pPr>
              <a:buChar val="●"/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💰 成本控制：单集275-660元，Draft模式省60%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7600" cy="1143000"/>
          </a:xfrm>
        </p:spPr>
        <p:txBody>
          <a:bodyPr wrap="square" lIns="91440" tIns="45720" rIns="91440" bIns="45720" anchor="ctr"/>
          <a:lstStyle/>
          <a:p>
            <a:r>
              <a:rPr lang="zh-CN" sz="3200" b="1" dirty="0">
                <a:solidFill>
                  <a:srgbClr val="FFFFFF"/>
                </a:solidFill>
                <a:latin typeface="Microsoft YaHei"/>
                <a:ea typeface="Microsoft YaHei"/>
              </a:rPr>
              <a:t>模块十五：平台分发与商业变现</a:t>
            </a:r>
          </a:p>
        </p:txBody>
      </p:sp>
      <p:sp>
        <p:nvSpPr>
          <p:cNvPr id="3" name="AccentBar"/>
          <p:cNvSpPr>
            <a:spLocks noGrp="1"/>
          </p:cNvSpPr>
          <p:nvPr/>
        </p:nvSpPr>
        <p:spPr>
          <a:xfrm>
            <a:off x="457200" y="1417320"/>
            <a:ext cx="1800000" cy="50000"/>
          </a:xfrm>
          <a:solidFill>
            <a:srgbClr val="FF6B35"/>
          </a:solidFill>
        </p:spPr>
        <p:txBody>
          <a:bodyPr/>
          <a:lstStyle/>
          <a:p>
            <a:endParaRPr lang="zh-CN"/>
          </a:p>
        </p:txBody>
      </p:sp>
      <p:sp>
        <p:nvSpPr>
          <p:cNvPr id="4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11277600" cy="4800600"/>
          </a:xfrm>
        </p:spPr>
        <p:txBody>
          <a:bodyPr wrap="square" lIns="91440" tIns="45720" rIns="91440" bIns="45720"/>
          <a:lstStyle/>
          <a:p>
            <a:pPr>
              <a:buChar val="●"/>
              <a:spcBef>
                <a:spcPts val="600"/>
              </a:spcBef>
            </a:pPr>
            <a:r>
              <a:rPr lang="zh-CN" sz="1800" dirty="0">
                <a:solidFill>
                  <a:srgbClr val="E8EDF5"/>
                </a:solidFill>
                <a:latin typeface="Microsoft YaHei"/>
                <a:ea typeface="Microsoft YaHei"/>
              </a:rPr>
              <a:t>📱 抖音：完播率最重要，封面+前3秒决定生死</a:t>
            </a:r>
          </a:p>
          <a:p>
            <a:pPr>
              <a:buChar val="●"/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🍎 红果短剧：分账模式成熟，评级决定收入</a:t>
            </a:r>
          </a:p>
          <a:p>
            <a:pPr>
              <a:buChar val="●"/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⚡ 快手：可灵AI流量扶持，下沉市场优势</a:t>
            </a:r>
          </a:p>
          <a:p>
            <a:pPr>
              <a:buChar val="●"/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🎮 B站：二次元氛围，高品质内容偏好</a:t>
            </a:r>
          </a:p>
          <a:p>
            <a:pPr>
              <a:buChar val="●"/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🌏 出海变现：AI翻译+配音+换口型全球化策略</a:t>
            </a:r>
          </a:p>
          <a:p>
            <a:pPr>
              <a:buChar val="●"/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💰 变现阶梯：分账→付费→广告→IP授权→品牌联名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7600" cy="1143000"/>
          </a:xfrm>
        </p:spPr>
        <p:txBody>
          <a:bodyPr wrap="square" lIns="91440" tIns="45720" rIns="91440" bIns="45720" anchor="ctr"/>
          <a:lstStyle/>
          <a:p>
            <a:r>
              <a:rPr lang="zh-CN" sz="3200" b="1" dirty="0">
                <a:solidFill>
                  <a:srgbClr val="FFFFFF"/>
                </a:solidFill>
                <a:latin typeface="Microsoft YaHei"/>
                <a:ea typeface="Microsoft YaHei"/>
              </a:rPr>
              <a:t>模块十六：合规要求与行业规范</a:t>
            </a:r>
          </a:p>
        </p:txBody>
      </p:sp>
      <p:sp>
        <p:nvSpPr>
          <p:cNvPr id="3" name="AccentBar"/>
          <p:cNvSpPr>
            <a:spLocks noGrp="1"/>
          </p:cNvSpPr>
          <p:nvPr/>
        </p:nvSpPr>
        <p:spPr>
          <a:xfrm>
            <a:off x="457200" y="1417320"/>
            <a:ext cx="1800000" cy="50000"/>
          </a:xfrm>
          <a:solidFill>
            <a:srgbClr val="FF6B35"/>
          </a:solidFill>
        </p:spPr>
        <p:txBody>
          <a:bodyPr/>
          <a:lstStyle/>
          <a:p>
            <a:endParaRPr lang="zh-CN"/>
          </a:p>
        </p:txBody>
      </p:sp>
      <p:sp>
        <p:nvSpPr>
          <p:cNvPr id="4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11277600" cy="4800600"/>
          </a:xfrm>
        </p:spPr>
        <p:txBody>
          <a:bodyPr wrap="square" lIns="91440" tIns="45720" rIns="91440" bIns="45720"/>
          <a:lstStyle/>
          <a:p>
            <a:pPr>
              <a:buChar val="●"/>
              <a:spcBef>
                <a:spcPts val="600"/>
              </a:spcBef>
            </a:pPr>
            <a:r>
              <a:rPr lang="zh-CN" sz="1800" dirty="0">
                <a:solidFill>
                  <a:srgbClr val="E8EDF5"/>
                </a:solidFill>
                <a:latin typeface="Microsoft YaHei"/>
                <a:ea typeface="Microsoft YaHei"/>
              </a:rPr>
              <a:t>📋 备案要求：所有AI漫剧需在平台备案</a:t>
            </a:r>
          </a:p>
          <a:p>
            <a:pPr>
              <a:buChar val="●"/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🏷️ AIGC标识：必须标注"AI生成"，不得删除</a:t>
            </a:r>
          </a:p>
          <a:p>
            <a:pPr>
              <a:buChar val="●"/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⚖️ 版权：纯AI生成不受保护，保留创作过程记录</a:t>
            </a:r>
          </a:p>
          <a:p>
            <a:pPr>
              <a:buChar val="●"/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🚫 内容红线：暴力/色情/政治敏感绝对禁止</a:t>
            </a:r>
          </a:p>
          <a:p>
            <a:pPr>
              <a:buChar val="●"/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🌱 可持续发展：从流量消耗→IP生态运营转型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7600" cy="1143000"/>
          </a:xfrm>
        </p:spPr>
        <p:txBody>
          <a:bodyPr wrap="square" lIns="91440" tIns="45720" rIns="91440" bIns="45720" anchor="ctr"/>
          <a:lstStyle/>
          <a:p>
            <a:r>
              <a:rPr lang="zh-CN" sz="3200" b="1" dirty="0">
                <a:solidFill>
                  <a:srgbClr val="FFFFFF"/>
                </a:solidFill>
                <a:latin typeface="Microsoft YaHei"/>
                <a:ea typeface="Microsoft YaHei"/>
              </a:rPr>
              <a:t>模块十七：综合实战——完整漫剧项目</a:t>
            </a:r>
          </a:p>
        </p:txBody>
      </p:sp>
      <p:sp>
        <p:nvSpPr>
          <p:cNvPr id="3" name="AccentBar"/>
          <p:cNvSpPr>
            <a:spLocks noGrp="1"/>
          </p:cNvSpPr>
          <p:nvPr/>
        </p:nvSpPr>
        <p:spPr>
          <a:xfrm>
            <a:off x="457200" y="1417320"/>
            <a:ext cx="1800000" cy="50000"/>
          </a:xfrm>
          <a:solidFill>
            <a:srgbClr val="FF6B35"/>
          </a:solidFill>
        </p:spPr>
        <p:txBody>
          <a:bodyPr/>
          <a:lstStyle/>
          <a:p>
            <a:endParaRPr lang="zh-CN"/>
          </a:p>
        </p:txBody>
      </p:sp>
      <p:sp>
        <p:nvSpPr>
          <p:cNvPr id="4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11277600" cy="4800600"/>
          </a:xfrm>
        </p:spPr>
        <p:txBody>
          <a:bodyPr wrap="square" lIns="91440" tIns="45720" rIns="91440" bIns="45720"/>
          <a:lstStyle/>
          <a:p>
            <a:pPr>
              <a:buChar val="●"/>
              <a:spcBef>
                <a:spcPts val="600"/>
              </a:spcBef>
            </a:pPr>
            <a:r>
              <a:rPr lang="zh-CN" sz="1800" dirty="0">
                <a:solidFill>
                  <a:srgbClr val="E8EDF5"/>
                </a:solidFill>
                <a:latin typeface="Microsoft YaHei"/>
                <a:ea typeface="Microsoft YaHei"/>
              </a:rPr>
              <a:t>Step 1: 选题定位（市场调研+竞品分析）</a:t>
            </a:r>
          </a:p>
          <a:p>
            <a:pPr>
              <a:buChar val="●"/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Step 2: 剧本创作（DeepSeek完成3-5集剧本+分镜脚本）</a:t>
            </a:r>
          </a:p>
          <a:p>
            <a:pPr>
              <a:buChar val="●"/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Step 3: 角色资产（即梦AI+ComfyUI建立资产库）</a:t>
            </a:r>
          </a:p>
          <a:p>
            <a:pPr>
              <a:buChar val="●"/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Step 4: 图像生成（批量生成所有关键帧画面）</a:t>
            </a:r>
          </a:p>
          <a:p>
            <a:pPr>
              <a:buChar val="●"/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Step 5: 视频生成（Seedance+可灵AI完成动态镜头）</a:t>
            </a:r>
          </a:p>
          <a:p>
            <a:pPr>
              <a:buChar val="●"/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Step 6: 音频制作（配音+BGM+音效）</a:t>
            </a:r>
          </a:p>
          <a:p>
            <a:pPr>
              <a:buChar val="●"/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Step 7: 剪辑成片（剪映专业版精剪+调色+字幕）</a:t>
            </a:r>
          </a:p>
          <a:p>
            <a:pPr>
              <a:buChar val="●"/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Step 8: 发布运营（多平台分发+数据分析+迭代优化）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7600" cy="1143000"/>
          </a:xfrm>
        </p:spPr>
        <p:txBody>
          <a:bodyPr wrap="square" lIns="91440" tIns="45720" rIns="91440" bIns="45720" anchor="ctr"/>
          <a:lstStyle/>
          <a:p>
            <a:r>
              <a:rPr lang="zh-CN" sz="3200" b="1" dirty="0">
                <a:solidFill>
                  <a:srgbClr val="FFFFFF"/>
                </a:solidFill>
                <a:latin typeface="Microsoft YaHei"/>
                <a:ea typeface="Microsoft YaHei"/>
              </a:rPr>
              <a:t>🛠️ 核心工具速查表</a:t>
            </a:r>
          </a:p>
        </p:txBody>
      </p:sp>
      <p:sp>
        <p:nvSpPr>
          <p:cNvPr id="3" name="AccentBar"/>
          <p:cNvSpPr>
            <a:spLocks noGrp="1"/>
          </p:cNvSpPr>
          <p:nvPr/>
        </p:nvSpPr>
        <p:spPr>
          <a:xfrm>
            <a:off x="457200" y="1417320"/>
            <a:ext cx="1800000" cy="50000"/>
          </a:xfrm>
          <a:solidFill>
            <a:srgbClr val="FF6B35"/>
          </a:solidFill>
        </p:spPr>
        <p:txBody>
          <a:bodyPr/>
          <a:lstStyle/>
          <a:p>
            <a:endParaRPr lang="zh-CN"/>
          </a:p>
        </p:txBody>
      </p:sp>
      <p:sp>
        <p:nvSpPr>
          <p:cNvPr id="4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11277600" cy="4800600"/>
          </a:xfrm>
        </p:spPr>
        <p:txBody>
          <a:bodyPr wrap="square" lIns="91440" tIns="45720" rIns="91440" bIns="45720"/>
          <a:lstStyle/>
          <a:p>
            <a:pPr>
              <a:buChar val="●"/>
              <a:spcBef>
                <a:spcPts val="600"/>
              </a:spcBef>
            </a:pPr>
            <a:r>
              <a:rPr lang="zh-CN" sz="1800" dirty="0">
                <a:solidFill>
                  <a:srgbClr val="E8EDF5"/>
                </a:solidFill>
                <a:latin typeface="Microsoft YaHei"/>
                <a:ea typeface="Microsoft YaHei"/>
              </a:rPr>
              <a:t>📝 剧本：DeepSeek（首选）+ 文心5.0 + 豆包</a:t>
            </a:r>
          </a:p>
          <a:p>
            <a:pPr>
              <a:buChar val="●"/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🎬 分镜：Drawstory + 即梦AI + DomoAI</a:t>
            </a:r>
          </a:p>
          <a:p>
            <a:pPr>
              <a:buChar val="●"/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🖼️ 图像：即梦AI（首选）+ 通义万相 + ComfyUI</a:t>
            </a:r>
          </a:p>
          <a:p>
            <a:pPr>
              <a:buChar val="●"/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🎥 视频：可灵AI + Seedance 2.0 + 海螺AI + Vidu Q3</a:t>
            </a:r>
          </a:p>
          <a:p>
            <a:pPr>
              <a:buChar val="●"/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🎤 配音：火山引擎TTS + Fish Audio + 剪映AI克隆</a:t>
            </a:r>
          </a:p>
          <a:p>
            <a:pPr>
              <a:buChar val="●"/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🎵 配乐：MiniMax Music-2.0</a:t>
            </a:r>
          </a:p>
          <a:p>
            <a:pPr>
              <a:buChar val="●"/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✂️ 剪辑：剪映专业版（全流程）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7600" cy="1143000"/>
          </a:xfrm>
        </p:spPr>
        <p:txBody>
          <a:bodyPr wrap="square" lIns="91440" tIns="45720" rIns="91440" bIns="45720" anchor="ctr"/>
          <a:lstStyle/>
          <a:p>
            <a:r>
              <a:rPr lang="zh-CN" sz="3200" b="1" dirty="0">
                <a:solidFill>
                  <a:srgbClr val="FFFFFF"/>
                </a:solidFill>
                <a:latin typeface="Microsoft YaHei"/>
                <a:ea typeface="Microsoft YaHei"/>
              </a:rPr>
              <a:t>💰 变现路径与收入预期</a:t>
            </a:r>
          </a:p>
        </p:txBody>
      </p:sp>
      <p:sp>
        <p:nvSpPr>
          <p:cNvPr id="3" name="AccentBar"/>
          <p:cNvSpPr>
            <a:spLocks noGrp="1"/>
          </p:cNvSpPr>
          <p:nvPr/>
        </p:nvSpPr>
        <p:spPr>
          <a:xfrm>
            <a:off x="457200" y="1417320"/>
            <a:ext cx="1800000" cy="50000"/>
          </a:xfrm>
          <a:solidFill>
            <a:srgbClr val="FF6B35"/>
          </a:solidFill>
        </p:spPr>
        <p:txBody>
          <a:bodyPr/>
          <a:lstStyle/>
          <a:p>
            <a:endParaRPr lang="zh-CN"/>
          </a:p>
        </p:txBody>
      </p:sp>
      <p:sp>
        <p:nvSpPr>
          <p:cNvPr id="4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11277600" cy="4800600"/>
          </a:xfrm>
        </p:spPr>
        <p:txBody>
          <a:bodyPr wrap="square" lIns="91440" tIns="45720" rIns="91440" bIns="45720"/>
          <a:lstStyle/>
          <a:p>
            <a:pPr>
              <a:buChar val="●"/>
              <a:spcBef>
                <a:spcPts val="600"/>
              </a:spcBef>
            </a:pPr>
            <a:r>
              <a:rPr lang="zh-CN" sz="1800" dirty="0">
                <a:solidFill>
                  <a:srgbClr val="E8EDF5"/>
                </a:solidFill>
                <a:latin typeface="Microsoft YaHei"/>
                <a:ea typeface="Microsoft YaHei"/>
              </a:rPr>
              <a:t>Level 1: 平台分账 → 月入1-10万（入门级）</a:t>
            </a:r>
          </a:p>
          <a:p>
            <a:pPr>
              <a:buChar val="●"/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Level 2: 付费解锁 → 月入5-30万（进阶级）</a:t>
            </a:r>
          </a:p>
          <a:p>
            <a:pPr>
              <a:buChar val="●"/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Level 3: 广告植入 → 月入10-50万（品牌合作）</a:t>
            </a:r>
          </a:p>
          <a:p>
            <a:pPr>
              <a:buChar val="●"/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Level 4: IP授权 → 年入100万+（周边/游戏/影视）</a:t>
            </a:r>
          </a:p>
          <a:p>
            <a:pPr>
              <a:buChar val="●"/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Level 5: 品牌联名 → 年入500万+（跨界合作）</a:t>
            </a:r>
          </a:p>
          <a:p>
            <a:pPr>
              <a:buChar val="●"/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📊 成本：单集275-660元 | 头部作品月收入：120万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7600" cy="1143000"/>
          </a:xfrm>
        </p:spPr>
        <p:txBody>
          <a:bodyPr wrap="square" lIns="91440" tIns="45720" rIns="91440" bIns="45720" anchor="ctr"/>
          <a:lstStyle/>
          <a:p>
            <a:r>
              <a:rPr lang="zh-CN" sz="3200" b="1" dirty="0">
                <a:solidFill>
                  <a:srgbClr val="FFFFFF"/>
                </a:solidFill>
                <a:latin typeface="Microsoft YaHei"/>
                <a:ea typeface="Microsoft YaHei"/>
              </a:rPr>
              <a:t>🎯 学习路径选择</a:t>
            </a:r>
          </a:p>
        </p:txBody>
      </p:sp>
      <p:sp>
        <p:nvSpPr>
          <p:cNvPr id="3" name="AccentBar"/>
          <p:cNvSpPr>
            <a:spLocks noGrp="1"/>
          </p:cNvSpPr>
          <p:nvPr/>
        </p:nvSpPr>
        <p:spPr>
          <a:xfrm>
            <a:off x="457200" y="1417320"/>
            <a:ext cx="1800000" cy="50000"/>
          </a:xfrm>
          <a:solidFill>
            <a:srgbClr val="FF6B35"/>
          </a:solidFill>
        </p:spPr>
        <p:txBody>
          <a:bodyPr/>
          <a:lstStyle/>
          <a:p>
            <a:endParaRPr lang="zh-CN"/>
          </a:p>
        </p:txBody>
      </p:sp>
      <p:sp>
        <p:nvSpPr>
          <p:cNvPr id="4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11277600" cy="4800600"/>
          </a:xfrm>
        </p:spPr>
        <p:txBody>
          <a:bodyPr wrap="square" lIns="91440" tIns="45720" rIns="91440" bIns="45720"/>
          <a:lstStyle/>
          <a:p>
            <a:pPr>
              <a:buChar val="●"/>
              <a:spcBef>
                <a:spcPts val="600"/>
              </a:spcBef>
            </a:pPr>
            <a:r>
              <a:rPr lang="zh-CN" sz="1800" dirty="0">
                <a:solidFill>
                  <a:srgbClr val="E8EDF5"/>
                </a:solidFill>
                <a:latin typeface="Microsoft YaHei"/>
                <a:ea typeface="Microsoft YaHei"/>
              </a:rPr>
              <a:t>⚡ 零基础速成(8周)：模块1→2→3→4→6→10→11→12→17</a:t>
            </a:r>
          </a:p>
          <a:p>
            <a:pPr>
              <a:buChar val="●"/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💎 专业进阶(16周)：全部17个模块按顺序学习</a:t>
            </a:r>
          </a:p>
          <a:p>
            <a:pPr>
              <a:buChar val="●"/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🚀 创业导向(12周)：模块1→2→4→6/7→9→10→11→14→15→16→17</a:t>
            </a:r>
          </a:p>
          <a:p>
            <a:pPr>
              <a:buChar val="●"/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/>
            </a:r>
          </a:p>
          <a:p>
            <a:pPr>
              <a:buChar val="●"/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✅ 完成课程后，你将掌握：</a:t>
            </a:r>
          </a:p>
          <a:p>
            <a:pPr>
              <a:buChar val="●"/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   AI漫剧完整制作流程 + 主流AI工具使用</a:t>
            </a:r>
          </a:p>
          <a:p>
            <a:pPr>
              <a:buChar val="●"/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   工业化生产能力 + 平台运营变现策略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685800" y="1714500"/>
            <a:ext cx="10820400" cy="2057400"/>
          </a:xfrm>
        </p:spPr>
        <p:txBody>
          <a:bodyPr wrap="square" lIns="91440" tIns="45720" rIns="91440" bIns="45720" anchor="ctr"/>
          <a:lstStyle/>
          <a:p>
            <a:r>
              <a:rPr lang="zh-CN" sz="4400" b="1" dirty="0">
                <a:solidFill>
                  <a:srgbClr val="FFFFFF"/>
                </a:solidFill>
                <a:latin typeface="Microsoft YaHei"/>
                <a:ea typeface="Microsoft YaHei"/>
              </a:rPr>
              <a:t>开始你的AI漫剧创作之旅！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685800" y="3886200"/>
            <a:ext cx="10820400" cy="1143000"/>
          </a:xfrm>
        </p:spPr>
        <p:txBody>
          <a:bodyPr wrap="square" lIns="91440" tIns="45720" rIns="91440" bIns="45720" anchor="ctr"/>
          <a:lstStyle/>
          <a:p>
            <a:r>
              <a:rPr lang="zh-CN" sz="2000" dirty="0">
                <a:solidFill>
                  <a:srgbClr val="FF6B35"/>
                </a:solidFill>
                <a:latin typeface="Microsoft YaHei"/>
                <a:ea typeface="Microsoft YaHei"/>
              </a:rPr>
              <a:t>🎬 124课时 · 17个模块 · 从零到一 · 全流程实战</a:t>
            </a:r>
          </a:p>
        </p:txBody>
      </p:sp>
      <p:sp>
        <p:nvSpPr>
          <p:cNvPr id="4" name="AccentLine"/>
          <p:cNvSpPr>
            <a:spLocks noGrp="1"/>
          </p:cNvSpPr>
          <p:nvPr/>
        </p:nvSpPr>
        <p:spPr>
          <a:xfrm>
            <a:off x="5000000" y="3700000"/>
            <a:ext cx="2192000" cy="50000"/>
          </a:xfrm>
          <a:solidFill>
            <a:srgbClr val="FF6B35"/>
          </a:solidFill>
        </p:spPr>
        <p:txBody>
          <a:bodyPr/>
          <a:lstStyle/>
          <a:p>
            <a:endParaRPr lang="zh-CN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I漫剧课程">
  <a:themeElements>
    <a:clrScheme name="Custom">
      <a:dk1>
        <a:srgbClr val="1B2A4A"/>
      </a:dk1>
      <a:lt1>
        <a:srgbClr val="FFFFFF"/>
      </a:lt1>
      <a:dk2>
        <a:srgbClr val="2D3E5F"/>
      </a:dk2>
      <a:lt2>
        <a:srgbClr val="E8EDF5"/>
      </a:lt2>
      <a:accent1>
        <a:srgbClr val="FF6B35"/>
      </a:accent1>
      <a:accent2>
        <a:srgbClr val="004E89"/>
      </a:accent2>
      <a:accent3>
        <a:srgbClr val="1A936F"/>
      </a:accent3>
      <a:accent4>
        <a:srgbClr val="F18F01"/>
      </a:accent4>
      <a:accent5>
        <a:srgbClr val="C73E1D"/>
      </a:accent5>
      <a:accent6>
        <a:srgbClr val="3E1F47"/>
      </a:accent6>
      <a:hlink>
        <a:srgbClr val="004E89"/>
      </a:hlink>
      <a:folHlink>
        <a:srgbClr val="6B705C"/>
      </a:folHlink>
    </a:clrScheme>
    <a:fontScheme name="Custom">
      <a:majorFont>
        <a:latin typeface="Microsoft YaHei"/>
        <a:ea typeface="Microsoft YaHei"/>
      </a:majorFont>
      <a:minorFont>
        <a:latin typeface="Microsoft YaHei"/>
        <a:ea typeface="Microsoft YaHei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