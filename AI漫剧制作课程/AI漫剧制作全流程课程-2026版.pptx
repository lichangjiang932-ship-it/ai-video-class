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387A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2743200"/>
            <a:ext cx="5486400" cy="5486400"/>
          </a:xfrm>
          <a:prstGeom prst="ellipse">
            <a:avLst/>
          </a:prstGeom>
          <a:solidFill>
            <a:srgbClr val="6C5C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4572000"/>
            <a:ext cx="3657600" cy="3657600"/>
          </a:xfrm>
          <a:prstGeom prst="ellipse">
            <a:avLst/>
          </a:prstGeom>
          <a:solidFill>
            <a:srgbClr val="00D4FF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0"/>
            <a:ext cx="182880" cy="68580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91440" cy="6858000"/>
          </a:xfrm>
          <a:prstGeom prst="rect">
            <a:avLst/>
          </a:prstGeom>
          <a:solidFill>
            <a:srgbClr val="362E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8016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5448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1031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774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8016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55448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8288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031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3774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2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58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8016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8288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1031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3774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13716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0">
                <a:solidFill>
                  <a:srgbClr val="F0F0F5"/>
                </a:solidFill>
                <a:latin typeface="Microsoft YaHei"/>
              </a:defRPr>
            </a:pPr>
            <a:r>
              <a:t>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AI漫剧制作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35040" y="1097280"/>
            <a:ext cx="5486400" cy="457200"/>
          </a:xfrm>
          <a:prstGeom prst="round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FF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20116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F0F5"/>
                </a:solidFill>
                <a:latin typeface="Microsoft YaHei"/>
              </a:defRPr>
            </a:pPr>
            <a:r>
              <a:t>AI漫剧制作全流程课程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3840480"/>
            <a:ext cx="400051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35090" y="3840480"/>
            <a:ext cx="400050" cy="381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835140" y="3840480"/>
            <a:ext cx="400050" cy="381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235190" y="3840480"/>
            <a:ext cx="400050" cy="381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635240" y="3840480"/>
            <a:ext cx="400050" cy="381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35290" y="3840480"/>
            <a:ext cx="400050" cy="381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435340" y="3840480"/>
            <a:ext cx="400050" cy="381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835390" y="3840480"/>
            <a:ext cx="400050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35040" y="42062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124课时 · 17个模块 · 从零基础到独立制作完整AI漫剧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35040" y="5303520"/>
            <a:ext cx="5486400" cy="6400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722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87AFF"/>
                </a:solidFill>
                <a:latin typeface="Microsoft YaHei"/>
              </a:defRPr>
            </a:pPr>
            <a:r>
              <a:t>124课时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609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438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87AFF"/>
                </a:solidFill>
                <a:latin typeface="Microsoft YaHei"/>
              </a:defRPr>
            </a:pPr>
            <a:r>
              <a:t>17模块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7325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9154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87AFF"/>
                </a:solidFill>
                <a:latin typeface="Microsoft YaHei"/>
              </a:defRPr>
            </a:pPr>
            <a:r>
              <a:t>8-16周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1041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2870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87AFF"/>
                </a:solidFill>
                <a:latin typeface="Microsoft YaHei"/>
              </a:defRPr>
            </a:pPr>
            <a:r>
              <a:t>全流程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155680" y="0"/>
            <a:ext cx="1036015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978640" y="0"/>
            <a:ext cx="38100" cy="7315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521440" y="274320"/>
            <a:ext cx="137160" cy="137160"/>
          </a:xfrm>
          <a:prstGeom prst="ellipse">
            <a:avLst/>
          </a:prstGeom>
          <a:solidFill>
            <a:srgbClr val="00D4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387A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6C5C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§  本节内容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00D4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31520" y="1397000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422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行业认知与趋势</a:t>
            </a:r>
          </a:p>
        </p:txBody>
      </p:sp>
      <p:sp>
        <p:nvSpPr>
          <p:cNvPr id="44" name="Oval 43"/>
          <p:cNvSpPr/>
          <p:nvPr/>
        </p:nvSpPr>
        <p:spPr>
          <a:xfrm>
            <a:off x="731520" y="1963928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422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大语言模型与剧本创作</a:t>
            </a:r>
          </a:p>
        </p:txBody>
      </p:sp>
      <p:sp>
        <p:nvSpPr>
          <p:cNvPr id="47" name="Oval 46"/>
          <p:cNvSpPr/>
          <p:nvPr/>
        </p:nvSpPr>
        <p:spPr>
          <a:xfrm>
            <a:off x="731520" y="2530856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422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分镜设计与提示词工程</a:t>
            </a:r>
          </a:p>
        </p:txBody>
      </p:sp>
      <p:sp>
        <p:nvSpPr>
          <p:cNvPr id="50" name="Oval 49"/>
          <p:cNvSpPr/>
          <p:nvPr/>
        </p:nvSpPr>
        <p:spPr>
          <a:xfrm>
            <a:off x="731520" y="3097784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4220" y="30977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" y="307238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即梦AI深度精通</a:t>
            </a:r>
          </a:p>
        </p:txBody>
      </p:sp>
      <p:sp>
        <p:nvSpPr>
          <p:cNvPr id="53" name="Oval 52"/>
          <p:cNvSpPr/>
          <p:nvPr/>
        </p:nvSpPr>
        <p:spPr>
          <a:xfrm>
            <a:off x="731520" y="3664712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4220" y="366471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" y="363931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其他图像生成工具</a:t>
            </a:r>
          </a:p>
        </p:txBody>
      </p:sp>
      <p:sp>
        <p:nvSpPr>
          <p:cNvPr id="56" name="Oval 55"/>
          <p:cNvSpPr/>
          <p:nvPr/>
        </p:nvSpPr>
        <p:spPr>
          <a:xfrm>
            <a:off x="731520" y="4231640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4220" y="423164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728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可灵AI深度精通</a:t>
            </a:r>
          </a:p>
        </p:txBody>
      </p:sp>
      <p:sp>
        <p:nvSpPr>
          <p:cNvPr id="59" name="Oval 58"/>
          <p:cNvSpPr/>
          <p:nvPr/>
        </p:nvSpPr>
        <p:spPr>
          <a:xfrm>
            <a:off x="731520" y="4798568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44220" y="479856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97280" y="477316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Seedance 2.0深度精通</a:t>
            </a:r>
          </a:p>
        </p:txBody>
      </p:sp>
      <p:sp>
        <p:nvSpPr>
          <p:cNvPr id="62" name="Oval 61"/>
          <p:cNvSpPr/>
          <p:nvPr/>
        </p:nvSpPr>
        <p:spPr>
          <a:xfrm>
            <a:off x="731520" y="5365496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4220" y="536549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97280" y="534009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海螺AI与Vidu</a:t>
            </a:r>
          </a:p>
        </p:txBody>
      </p:sp>
      <p:sp>
        <p:nvSpPr>
          <p:cNvPr id="65" name="Oval 64"/>
          <p:cNvSpPr/>
          <p:nvPr/>
        </p:nvSpPr>
        <p:spPr>
          <a:xfrm>
            <a:off x="6400800" y="1397000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1350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6656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配音配乐与音画同步</a:t>
            </a:r>
          </a:p>
        </p:txBody>
      </p:sp>
      <p:sp>
        <p:nvSpPr>
          <p:cNvPr id="68" name="Oval 67"/>
          <p:cNvSpPr/>
          <p:nvPr/>
        </p:nvSpPr>
        <p:spPr>
          <a:xfrm>
            <a:off x="6400800" y="1963928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1350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6656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剪辑与后期全流程</a:t>
            </a:r>
          </a:p>
        </p:txBody>
      </p:sp>
      <p:sp>
        <p:nvSpPr>
          <p:cNvPr id="71" name="Oval 70"/>
          <p:cNvSpPr/>
          <p:nvPr/>
        </p:nvSpPr>
        <p:spPr>
          <a:xfrm>
            <a:off x="6400800" y="2530856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1350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6656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一站式平台精讲</a:t>
            </a:r>
          </a:p>
        </p:txBody>
      </p:sp>
      <p:sp>
        <p:nvSpPr>
          <p:cNvPr id="74" name="Oval 73"/>
          <p:cNvSpPr/>
          <p:nvPr/>
        </p:nvSpPr>
        <p:spPr>
          <a:xfrm>
            <a:off x="6400800" y="3097784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13500" y="30977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766560" y="307238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ComfyUI工作流</a:t>
            </a:r>
          </a:p>
        </p:txBody>
      </p:sp>
      <p:sp>
        <p:nvSpPr>
          <p:cNvPr id="77" name="Oval 76"/>
          <p:cNvSpPr/>
          <p:nvPr/>
        </p:nvSpPr>
        <p:spPr>
          <a:xfrm>
            <a:off x="6400800" y="3664712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13500" y="366471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766560" y="363931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工业化生产与团队协作</a:t>
            </a:r>
          </a:p>
        </p:txBody>
      </p:sp>
      <p:sp>
        <p:nvSpPr>
          <p:cNvPr id="80" name="Oval 79"/>
          <p:cNvSpPr/>
          <p:nvPr/>
        </p:nvSpPr>
        <p:spPr>
          <a:xfrm>
            <a:off x="6400800" y="4231640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413500" y="423164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76656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平台分发与商业变现</a:t>
            </a:r>
          </a:p>
        </p:txBody>
      </p:sp>
      <p:sp>
        <p:nvSpPr>
          <p:cNvPr id="83" name="Oval 82"/>
          <p:cNvSpPr/>
          <p:nvPr/>
        </p:nvSpPr>
        <p:spPr>
          <a:xfrm>
            <a:off x="6400800" y="4798568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13500" y="479856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16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766560" y="477316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合规要求与行业规范</a:t>
            </a:r>
          </a:p>
        </p:txBody>
      </p:sp>
      <p:sp>
        <p:nvSpPr>
          <p:cNvPr id="86" name="Oval 85"/>
          <p:cNvSpPr/>
          <p:nvPr/>
        </p:nvSpPr>
        <p:spPr>
          <a:xfrm>
            <a:off x="6400800" y="5365496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413500" y="536549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17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766560" y="534009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综合实战项目</a:t>
            </a:r>
          </a:p>
        </p:txBody>
      </p:sp>
      <p:sp>
        <p:nvSpPr>
          <p:cNvPr id="89" name="Rectangle 88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模块00 · 课程导论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387A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6C5C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课程目标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00D4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掌握AI漫剧从剧本到成片的完整制作流程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精通即梦AI、可灵AI、Seedance 2.0等核心工具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能独立制作一集完整的AI漫剧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了解平台分发与商业变现的路径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建立工业化生产思维，实现高效量产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模块00 · 课程导论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387A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6C5C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行业数据一览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00D4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48640" y="1280160"/>
          <a:ext cx="110642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387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2026年数据</a:t>
                      </a:r>
                    </a:p>
                  </a:txBody>
                  <a:tcPr anchor="ctr">
                    <a:solidFill>
                      <a:srgbClr val="387A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市场规模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240亿元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用户规模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2.8亿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日均播放量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15亿次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创作者数量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120万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制作成本降幅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-50%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模块00 · 课程导论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387A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6C5C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学习路径选择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00D4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720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1371600"/>
            <a:ext cx="668656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25855" y="1371600"/>
            <a:ext cx="668655" cy="381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794510" y="1371600"/>
            <a:ext cx="668655" cy="381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463165" y="1371600"/>
            <a:ext cx="668655" cy="381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131820" y="1371600"/>
            <a:ext cx="668655" cy="381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00475" y="1371600"/>
            <a:ext cx="668655" cy="381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469130" y="1371600"/>
            <a:ext cx="668655" cy="381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137785" y="1371600"/>
            <a:ext cx="668655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7AFF"/>
                </a:solidFill>
                <a:latin typeface="Microsoft YaHei"/>
              </a:defRPr>
            </a:pPr>
            <a:r>
              <a:t>A️ 零基础速成（8周）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103120"/>
            <a:ext cx="20574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37260" y="2103120"/>
            <a:ext cx="205740" cy="254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43000" y="2103120"/>
            <a:ext cx="205740" cy="254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348740" y="2103120"/>
            <a:ext cx="205740" cy="254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554480" y="2103120"/>
            <a:ext cx="205740" cy="254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60220" y="2103120"/>
            <a:ext cx="205740" cy="254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965960" y="2103120"/>
            <a:ext cx="205740" cy="254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171700" y="2103120"/>
            <a:ext cx="205740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31520" y="2386584"/>
            <a:ext cx="146304" cy="146304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584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快速上手出作品</a:t>
            </a:r>
          </a:p>
        </p:txBody>
      </p:sp>
      <p:sp>
        <p:nvSpPr>
          <p:cNvPr id="61" name="Oval 60"/>
          <p:cNvSpPr/>
          <p:nvPr/>
        </p:nvSpPr>
        <p:spPr>
          <a:xfrm>
            <a:off x="731520" y="2916936"/>
            <a:ext cx="146304" cy="146304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584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重点模块：1,2,3,4,6,10,11,12,17</a:t>
            </a:r>
          </a:p>
        </p:txBody>
      </p:sp>
      <p:sp>
        <p:nvSpPr>
          <p:cNvPr id="63" name="Oval 62"/>
          <p:cNvSpPr/>
          <p:nvPr/>
        </p:nvSpPr>
        <p:spPr>
          <a:xfrm>
            <a:off x="731520" y="3447288"/>
            <a:ext cx="146304" cy="146304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584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适合：想快速入行变现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26364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263640" y="1371600"/>
            <a:ext cx="668656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932295" y="1371600"/>
            <a:ext cx="668655" cy="38100"/>
          </a:xfrm>
          <a:prstGeom prst="rect">
            <a:avLst/>
          </a:prstGeom>
          <a:solidFill>
            <a:srgbClr val="5C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600950" y="1371600"/>
            <a:ext cx="668655" cy="38100"/>
          </a:xfrm>
          <a:prstGeom prst="rect">
            <a:avLst/>
          </a:prstGeom>
          <a:solidFill>
            <a:srgbClr val="4D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269605" y="1371600"/>
            <a:ext cx="668655" cy="38100"/>
          </a:xfrm>
          <a:prstGeom prst="rect">
            <a:avLst/>
          </a:prstGeom>
          <a:solidFill>
            <a:srgbClr val="3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938260" y="1371600"/>
            <a:ext cx="668655" cy="38100"/>
          </a:xfrm>
          <a:prstGeom prst="rect">
            <a:avLst/>
          </a:prstGeom>
          <a:solidFill>
            <a:srgbClr val="2E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606915" y="1371600"/>
            <a:ext cx="668655" cy="38100"/>
          </a:xfrm>
          <a:prstGeom prst="rect">
            <a:avLst/>
          </a:prstGeom>
          <a:solidFill>
            <a:srgbClr val="1E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275570" y="1371600"/>
            <a:ext cx="668655" cy="38100"/>
          </a:xfrm>
          <a:prstGeom prst="rect">
            <a:avLst/>
          </a:prstGeom>
          <a:solidFill>
            <a:srgbClr val="0F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944225" y="1371600"/>
            <a:ext cx="66865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53796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5CFF"/>
                </a:solidFill>
                <a:latin typeface="Microsoft YaHei"/>
              </a:defRPr>
            </a:pPr>
            <a:r>
              <a:t>B️ 专业进阶（16周）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537960" y="2103120"/>
            <a:ext cx="205741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743700" y="2103120"/>
            <a:ext cx="205740" cy="25400"/>
          </a:xfrm>
          <a:prstGeom prst="rect">
            <a:avLst/>
          </a:prstGeom>
          <a:solidFill>
            <a:srgbClr val="5C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949440" y="2103120"/>
            <a:ext cx="205740" cy="25400"/>
          </a:xfrm>
          <a:prstGeom prst="rect">
            <a:avLst/>
          </a:prstGeom>
          <a:solidFill>
            <a:srgbClr val="4D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155180" y="2103120"/>
            <a:ext cx="205740" cy="25400"/>
          </a:xfrm>
          <a:prstGeom prst="rect">
            <a:avLst/>
          </a:prstGeom>
          <a:solidFill>
            <a:srgbClr val="3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60920" y="2103120"/>
            <a:ext cx="205740" cy="25400"/>
          </a:xfrm>
          <a:prstGeom prst="rect">
            <a:avLst/>
          </a:prstGeom>
          <a:solidFill>
            <a:srgbClr val="2E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66660" y="2103120"/>
            <a:ext cx="205740" cy="25400"/>
          </a:xfrm>
          <a:prstGeom prst="rect">
            <a:avLst/>
          </a:prstGeom>
          <a:solidFill>
            <a:srgbClr val="1E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772400" y="2103120"/>
            <a:ext cx="205740" cy="25400"/>
          </a:xfrm>
          <a:prstGeom prst="rect">
            <a:avLst/>
          </a:prstGeom>
          <a:solidFill>
            <a:srgbClr val="0F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978140" y="2103120"/>
            <a:ext cx="20574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6537960" y="2386584"/>
            <a:ext cx="146304" cy="146304"/>
          </a:xfrm>
          <a:prstGeom prst="ellipse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81228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全面掌握全链路</a:t>
            </a:r>
          </a:p>
        </p:txBody>
      </p:sp>
      <p:sp>
        <p:nvSpPr>
          <p:cNvPr id="85" name="Oval 84"/>
          <p:cNvSpPr/>
          <p:nvPr/>
        </p:nvSpPr>
        <p:spPr>
          <a:xfrm>
            <a:off x="6537960" y="2916936"/>
            <a:ext cx="146304" cy="146304"/>
          </a:xfrm>
          <a:prstGeom prst="ellipse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81228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全部17个模块</a:t>
            </a:r>
          </a:p>
        </p:txBody>
      </p:sp>
      <p:sp>
        <p:nvSpPr>
          <p:cNvPr id="87" name="Oval 86"/>
          <p:cNvSpPr/>
          <p:nvPr/>
        </p:nvSpPr>
        <p:spPr>
          <a:xfrm>
            <a:off x="6537960" y="3447288"/>
            <a:ext cx="146304" cy="146304"/>
          </a:xfrm>
          <a:prstGeom prst="ellipse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1228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适合：追求专业深度</a:t>
            </a:r>
          </a:p>
        </p:txBody>
      </p:sp>
      <p:sp>
        <p:nvSpPr>
          <p:cNvPr id="89" name="Rectangle 88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模块00 · 课程导论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387A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6C5C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课程学习路线图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00D4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Step 1：行业认知 → 理解AI漫剧是什么、市场多大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1371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221992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8378" y="2221992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45236" y="2221992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2094" y="2221992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58952" y="2221992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65810" y="2221992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2668" y="2221992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79526" y="2221992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2688" y="2148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Step 2：创作技能 → 剧本、分镜、提示词工程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21488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" y="2999232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38378" y="2999232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45236" y="2999232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52094" y="2999232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58952" y="2999232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65810" y="2999232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72668" y="2999232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79526" y="2999232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2688" y="2926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Step 3：工具精通 → 即梦AI、可灵AI、Seedance等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1520" y="3776472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8378" y="3776472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45236" y="3776472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52094" y="3776472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58952" y="3776472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5810" y="3776472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72668" y="3776472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79526" y="3776472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32688" y="3703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Step 4：后期制作 → 音频、剪辑、调色、成片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" y="3703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1520" y="4553712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8378" y="4553712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5236" y="4553712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2094" y="4553712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8952" y="4553712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5810" y="4553712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2668" y="4553712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9526" y="4553712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32688" y="4480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Step 5：商业运营 → 平台分发、变现、合规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1520" y="4480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31520" y="5330952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38378" y="5330952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45236" y="5330952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52094" y="5330952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58952" y="5330952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65810" y="5330952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72668" y="5330952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79526" y="5330952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32688" y="5257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Step 6：综合实战 → 从0到1独立完成一集AI漫剧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31520" y="5257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模块00 · 课程导论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0"/>
            <a:ext cx="6400800" cy="6400800"/>
          </a:xfrm>
          <a:prstGeom prst="ellipse">
            <a:avLst/>
          </a:prstGeom>
          <a:solidFill>
            <a:srgbClr val="387A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2743200"/>
            <a:ext cx="4572000" cy="4572000"/>
          </a:xfrm>
          <a:prstGeom prst="ellipse">
            <a:avLst/>
          </a:prstGeom>
          <a:solidFill>
            <a:srgbClr val="6C5C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1097280"/>
            <a:ext cx="720091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920490" y="1097280"/>
            <a:ext cx="720090" cy="381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40580" y="1097280"/>
            <a:ext cx="720090" cy="381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60670" y="1097280"/>
            <a:ext cx="720090" cy="381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80760" y="1097280"/>
            <a:ext cx="720090" cy="381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00850" y="1097280"/>
            <a:ext cx="720090" cy="381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20940" y="1097280"/>
            <a:ext cx="720090" cy="381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41030" y="1097280"/>
            <a:ext cx="720090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164592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AI漫剧的核心竞争力 = 创意 × 工具熟练度 × 量产能力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931920"/>
            <a:ext cx="26289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3931920"/>
            <a:ext cx="262890" cy="254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3931920"/>
            <a:ext cx="262890" cy="254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3931920"/>
            <a:ext cx="262890" cy="254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3931920"/>
            <a:ext cx="262890" cy="254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3931920"/>
            <a:ext cx="262890" cy="254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3931920"/>
            <a:ext cx="262890" cy="254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3931920"/>
            <a:ext cx="262890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297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工具会更新迭代，但创意能力和工业化思维是持久的竞争力。本课程不仅教工具操作，更注重培养你的创作思维和生产效率。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模块00 · 课程导论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914400"/>
            <a:ext cx="6400800" cy="6400800"/>
          </a:xfrm>
          <a:prstGeom prst="ellipse">
            <a:avLst/>
          </a:prstGeom>
          <a:solidFill>
            <a:srgbClr val="387A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1371600"/>
            <a:ext cx="491491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06290" y="1371600"/>
            <a:ext cx="491490" cy="381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97780" y="1371600"/>
            <a:ext cx="491490" cy="381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9270" y="1371600"/>
            <a:ext cx="491490" cy="381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80760" y="1371600"/>
            <a:ext cx="491490" cy="381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72250" y="1371600"/>
            <a:ext cx="491490" cy="381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63740" y="1371600"/>
            <a:ext cx="491490" cy="381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55230" y="1371600"/>
            <a:ext cx="491490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387AFF"/>
                </a:solidFill>
                <a:latin typeface="Microsoft YaHei"/>
              </a:defRPr>
            </a:pPr>
            <a: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320040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本模块结束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4023360"/>
            <a:ext cx="26289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4023360"/>
            <a:ext cx="262890" cy="254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4023360"/>
            <a:ext cx="262890" cy="254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4023360"/>
            <a:ext cx="262890" cy="254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4023360"/>
            <a:ext cx="262890" cy="254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4023360"/>
            <a:ext cx="262890" cy="254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4023360"/>
            <a:ext cx="262890" cy="254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4023360"/>
            <a:ext cx="262890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8BAC8"/>
                </a:solidFill>
                <a:latin typeface="Microsoft YaHei"/>
              </a:defRPr>
            </a:pPr>
            <a:r>
              <a:t>下一模块：行业认知与趋势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E7082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FF9F1A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2743200"/>
            <a:ext cx="5486400" cy="5486400"/>
          </a:xfrm>
          <a:prstGeom prst="ellipse">
            <a:avLst/>
          </a:prstGeom>
          <a:solidFill>
            <a:srgbClr val="FF6B35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4572000"/>
            <a:ext cx="3657600" cy="3657600"/>
          </a:xfrm>
          <a:prstGeom prst="ellipse">
            <a:avLst/>
          </a:prstGeom>
          <a:solidFill>
            <a:srgbClr val="FFD93D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0"/>
            <a:ext cx="182880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91440" cy="6858000"/>
          </a:xfrm>
          <a:prstGeom prst="rect">
            <a:avLst/>
          </a:prstGeom>
          <a:solidFill>
            <a:srgbClr val="7F3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8016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5448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1031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774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8016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55448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8288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031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3774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2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58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8016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8288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1031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3774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7315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657600"/>
            <a:ext cx="1828800" cy="329184"/>
          </a:xfrm>
          <a:prstGeom prst="round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657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D93D"/>
                </a:solidFill>
                <a:latin typeface="Microsoft YaHei"/>
              </a:defRPr>
            </a:pPr>
            <a:r>
              <a:t>M O D U L 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114800"/>
            <a:ext cx="285751" cy="381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2950" y="4114800"/>
            <a:ext cx="285750" cy="38100"/>
          </a:xfrm>
          <a:prstGeom prst="rect">
            <a:avLst/>
          </a:prstGeom>
          <a:solidFill>
            <a:srgbClr val="FFD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28700" y="4114800"/>
            <a:ext cx="285750" cy="38100"/>
          </a:xfrm>
          <a:prstGeom prst="rect">
            <a:avLst/>
          </a:prstGeom>
          <a:solidFill>
            <a:srgbClr val="FFC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314450" y="4114800"/>
            <a:ext cx="285750" cy="38100"/>
          </a:xfrm>
          <a:prstGeom prst="rect">
            <a:avLst/>
          </a:prstGeom>
          <a:solidFill>
            <a:srgbClr val="FFC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600200" y="4114800"/>
            <a:ext cx="285750" cy="38100"/>
          </a:xfrm>
          <a:prstGeom prst="rect">
            <a:avLst/>
          </a:prstGeom>
          <a:solidFill>
            <a:srgbClr val="FFB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885950" y="4114800"/>
            <a:ext cx="285750" cy="38100"/>
          </a:xfrm>
          <a:prstGeom prst="rect">
            <a:avLst/>
          </a:prstGeom>
          <a:solidFill>
            <a:srgbClr val="FFA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171700" y="4114800"/>
            <a:ext cx="285750" cy="38100"/>
          </a:xfrm>
          <a:prstGeom prst="rect">
            <a:avLst/>
          </a:prstGeom>
          <a:solidFill>
            <a:srgbClr val="FFA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457450" y="4114800"/>
            <a:ext cx="285750" cy="3810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035040" y="1097280"/>
            <a:ext cx="5486400" cy="457200"/>
          </a:xfrm>
          <a:prstGeom prst="roundRect">
            <a:avLst/>
          </a:prstGeom>
          <a:solidFill>
            <a:srgbClr val="4A2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D93D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20116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F0F5"/>
                </a:solidFill>
                <a:latin typeface="Microsoft YaHei"/>
              </a:defRPr>
            </a:pPr>
            <a:r>
              <a:t>模块一：AI漫剧行业认知与趋势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3840480"/>
            <a:ext cx="400051" cy="3810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5090" y="3840480"/>
            <a:ext cx="400050" cy="3810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835140" y="3840480"/>
            <a:ext cx="400050" cy="3810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35190" y="3840480"/>
            <a:ext cx="400050" cy="3810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635240" y="3840480"/>
            <a:ext cx="400050" cy="3810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35290" y="3840480"/>
            <a:ext cx="400050" cy="3810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435340" y="3840480"/>
            <a:ext cx="400050" cy="3810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35390" y="3840480"/>
            <a:ext cx="400050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35040" y="42062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6课时 · 从行业全景到创业路径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035040" y="5303520"/>
            <a:ext cx="5486400" cy="6400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722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F1A"/>
                </a:solidFill>
                <a:latin typeface="Microsoft YaHei"/>
              </a:defRPr>
            </a:pPr>
            <a:r>
              <a:t>124课时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609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438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F1A"/>
                </a:solidFill>
                <a:latin typeface="Microsoft YaHei"/>
              </a:defRPr>
            </a:pPr>
            <a:r>
              <a:t>17模块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7325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154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F1A"/>
                </a:solidFill>
                <a:latin typeface="Microsoft YaHei"/>
              </a:defRPr>
            </a:pPr>
            <a:r>
              <a:t>8-16周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1041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2870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F1A"/>
                </a:solidFill>
                <a:latin typeface="Microsoft YaHei"/>
              </a:defRPr>
            </a:pPr>
            <a:r>
              <a:t>全流程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155680" y="0"/>
            <a:ext cx="1036015" cy="3810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1978640" y="0"/>
            <a:ext cx="38100" cy="73152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521440" y="274320"/>
            <a:ext cx="137160" cy="137160"/>
          </a:xfrm>
          <a:prstGeom prst="ellipse">
            <a:avLst/>
          </a:prstGeom>
          <a:solidFill>
            <a:srgbClr val="FFD93D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9F1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6B35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§  本节内容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FD93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31520" y="1397000"/>
            <a:ext cx="274320" cy="274320"/>
          </a:xfrm>
          <a:prstGeom prst="ellipse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422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行业全景：从手工作坊到智能流水线</a:t>
            </a:r>
          </a:p>
        </p:txBody>
      </p:sp>
      <p:sp>
        <p:nvSpPr>
          <p:cNvPr id="44" name="Oval 43"/>
          <p:cNvSpPr/>
          <p:nvPr/>
        </p:nvSpPr>
        <p:spPr>
          <a:xfrm>
            <a:off x="731520" y="1963928"/>
            <a:ext cx="274320" cy="274320"/>
          </a:xfrm>
          <a:prstGeom prst="ellipse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422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市场数据：240亿规模与2.8亿用户</a:t>
            </a:r>
          </a:p>
        </p:txBody>
      </p:sp>
      <p:sp>
        <p:nvSpPr>
          <p:cNvPr id="47" name="Oval 46"/>
          <p:cNvSpPr/>
          <p:nvPr/>
        </p:nvSpPr>
        <p:spPr>
          <a:xfrm>
            <a:off x="731520" y="2530856"/>
            <a:ext cx="274320" cy="274320"/>
          </a:xfrm>
          <a:prstGeom prst="ellipse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422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内容形态：沙雕漫→动态漫→AI原生漫剧</a:t>
            </a:r>
          </a:p>
        </p:txBody>
      </p:sp>
      <p:sp>
        <p:nvSpPr>
          <p:cNvPr id="50" name="Oval 49"/>
          <p:cNvSpPr/>
          <p:nvPr/>
        </p:nvSpPr>
        <p:spPr>
          <a:xfrm>
            <a:off x="6400800" y="1397000"/>
            <a:ext cx="274320" cy="274320"/>
          </a:xfrm>
          <a:prstGeom prst="ellipse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1350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五步工业化流程</a:t>
            </a:r>
          </a:p>
        </p:txBody>
      </p:sp>
      <p:sp>
        <p:nvSpPr>
          <p:cNvPr id="53" name="Oval 52"/>
          <p:cNvSpPr/>
          <p:nvPr/>
        </p:nvSpPr>
        <p:spPr>
          <a:xfrm>
            <a:off x="6400800" y="1963928"/>
            <a:ext cx="274320" cy="274320"/>
          </a:xfrm>
          <a:prstGeom prst="ellipse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1350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爆款拆解：《斩仙台》等</a:t>
            </a:r>
          </a:p>
        </p:txBody>
      </p:sp>
      <p:sp>
        <p:nvSpPr>
          <p:cNvPr id="56" name="Oval 55"/>
          <p:cNvSpPr/>
          <p:nvPr/>
        </p:nvSpPr>
        <p:spPr>
          <a:xfrm>
            <a:off x="6400800" y="2530856"/>
            <a:ext cx="274320" cy="274320"/>
          </a:xfrm>
          <a:prstGeom prst="ellipse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1350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创业路径：个人vs团队vs工作室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模块01 · 行业认知与趋势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9F1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6B35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什么是AI漫剧？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FD93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利用AI技术辅助或主导制作的动态漫画短剧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制作周期：传统1-3个月/集 → AI 1-3天/集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制作成本：传统5-20万/集 → AI 500-5000元/集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团队规模：传统10-30人 → AI 1-5人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产能：传统2-4集/月 → AI 30+集/月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模块01 · 行业认知与趋势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9F1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6B35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行业发展四个阶段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FD93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2023 · 沙雕漫：静态图片+配音+字幕，无动态效果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2024 · 动态漫：图生视频初步应用，画面开始"动起来"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2025 · AI原生漫剧：全链路AI辅助，单人可完成全流程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2026 · AI仿真人剧：画面接近真人拍摄质量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模块01 · 行业认知与趋势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9F1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6B35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2026年核心市场数据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FD93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48640" y="1280160"/>
          <a:ext cx="110642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FF9F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2025年</a:t>
                      </a:r>
                    </a:p>
                  </a:txBody>
                  <a:tcPr anchor="ctr">
                    <a:solidFill>
                      <a:srgbClr val="FF9F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2026年</a:t>
                      </a:r>
                    </a:p>
                  </a:txBody>
                  <a:tcPr anchor="ctr">
                    <a:solidFill>
                      <a:srgbClr val="FF9F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增长率</a:t>
                      </a:r>
                    </a:p>
                  </a:txBody>
                  <a:tcPr anchor="ctr">
                    <a:solidFill>
                      <a:srgbClr val="FF9F1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市场规模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160亿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240亿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+50%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用户规模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2.0亿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2.8亿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+40%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日均播放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10亿次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15亿次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+50%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创作者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80万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120万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+50%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模块01 · 行业认知与趋势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9F1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6B35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五步工业化流程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FD93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Step 1 · 剧本创作：用AI生成分集剧本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Step 2 · 分镜设计：将剧本转化为分镜表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Step 3 · 文生图：用即梦AI生成关键帧画面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Step 4 · 图生视频：用可灵AI/Seedance让画面动起来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Step 5 · 剪辑配音：用剪映完成后期制作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模块01 · 行业认知与趋势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9F1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6B35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爆款案例拆解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FD93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《斩仙台》：玄幻题材，角色一致性标杆，单集播放破千万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《气运三角洲》：都市逆袭，节奏把控精准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《霍去病》：历史题材，画面质感接近电影级别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共同特点：前3秒强钩子、角色一致性好、节奏紧凑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模块01 · 行业认知与趋势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9F1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6B35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创业路径选择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FD93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720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1371600"/>
            <a:ext cx="668656" cy="3810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25855" y="1371600"/>
            <a:ext cx="668655" cy="3810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794510" y="1371600"/>
            <a:ext cx="668655" cy="3810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463165" y="1371600"/>
            <a:ext cx="668655" cy="3810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131820" y="1371600"/>
            <a:ext cx="668655" cy="3810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00475" y="1371600"/>
            <a:ext cx="668655" cy="3810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469130" y="1371600"/>
            <a:ext cx="668655" cy="3810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137785" y="1371600"/>
            <a:ext cx="668655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F1A"/>
                </a:solidFill>
                <a:latin typeface="Microsoft YaHei"/>
              </a:defRPr>
            </a:pPr>
            <a:r>
              <a:t>◐ 个人创作者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103120"/>
            <a:ext cx="205741" cy="2540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37260" y="2103120"/>
            <a:ext cx="205740" cy="2540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43000" y="2103120"/>
            <a:ext cx="205740" cy="2540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348740" y="2103120"/>
            <a:ext cx="205740" cy="2540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554480" y="2103120"/>
            <a:ext cx="205740" cy="2540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60220" y="2103120"/>
            <a:ext cx="205740" cy="2540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965960" y="2103120"/>
            <a:ext cx="205740" cy="2540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171700" y="2103120"/>
            <a:ext cx="20574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31520" y="2386584"/>
            <a:ext cx="146304" cy="146304"/>
          </a:xfrm>
          <a:prstGeom prst="ellipse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584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月入1-10万</a:t>
            </a:r>
          </a:p>
        </p:txBody>
      </p:sp>
      <p:sp>
        <p:nvSpPr>
          <p:cNvPr id="61" name="Oval 60"/>
          <p:cNvSpPr/>
          <p:nvPr/>
        </p:nvSpPr>
        <p:spPr>
          <a:xfrm>
            <a:off x="731520" y="2916936"/>
            <a:ext cx="146304" cy="146304"/>
          </a:xfrm>
          <a:prstGeom prst="ellipse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584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日产1集</a:t>
            </a:r>
          </a:p>
        </p:txBody>
      </p:sp>
      <p:sp>
        <p:nvSpPr>
          <p:cNvPr id="63" name="Oval 62"/>
          <p:cNvSpPr/>
          <p:nvPr/>
        </p:nvSpPr>
        <p:spPr>
          <a:xfrm>
            <a:off x="731520" y="3447288"/>
            <a:ext cx="146304" cy="146304"/>
          </a:xfrm>
          <a:prstGeom prst="ellipse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584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月成本~5000元</a:t>
            </a:r>
          </a:p>
        </p:txBody>
      </p:sp>
      <p:sp>
        <p:nvSpPr>
          <p:cNvPr id="65" name="Oval 64"/>
          <p:cNvSpPr/>
          <p:nvPr/>
        </p:nvSpPr>
        <p:spPr>
          <a:xfrm>
            <a:off x="731520" y="3977640"/>
            <a:ext cx="146304" cy="146304"/>
          </a:xfrm>
          <a:prstGeom prst="ellipse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5840" y="39227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适合：副业/自由职业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26364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63640" y="1371600"/>
            <a:ext cx="668656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932295" y="1371600"/>
            <a:ext cx="668655" cy="38100"/>
          </a:xfrm>
          <a:prstGeom prst="rect">
            <a:avLst/>
          </a:prstGeom>
          <a:solidFill>
            <a:srgbClr val="FF7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600950" y="1371600"/>
            <a:ext cx="668655" cy="38100"/>
          </a:xfrm>
          <a:prstGeom prst="rect">
            <a:avLst/>
          </a:prstGeom>
          <a:solidFill>
            <a:srgbClr val="FF8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269605" y="1371600"/>
            <a:ext cx="668655" cy="38100"/>
          </a:xfrm>
          <a:prstGeom prst="rect">
            <a:avLst/>
          </a:prstGeom>
          <a:solidFill>
            <a:srgbClr val="FF9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938260" y="1371600"/>
            <a:ext cx="668655" cy="38100"/>
          </a:xfrm>
          <a:prstGeom prst="rect">
            <a:avLst/>
          </a:prstGeom>
          <a:solidFill>
            <a:srgbClr val="FFA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606915" y="1371600"/>
            <a:ext cx="668655" cy="38100"/>
          </a:xfrm>
          <a:prstGeom prst="rect">
            <a:avLst/>
          </a:prstGeom>
          <a:solidFill>
            <a:srgbClr val="FF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275570" y="1371600"/>
            <a:ext cx="668655" cy="38100"/>
          </a:xfrm>
          <a:prstGeom prst="rect">
            <a:avLst/>
          </a:prstGeom>
          <a:solidFill>
            <a:srgbClr val="FFC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944225" y="1371600"/>
            <a:ext cx="668655" cy="381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53796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  <a:latin typeface="Microsoft YaHei"/>
              </a:defRPr>
            </a:pPr>
            <a:r>
              <a:t>◑ 小团队（3-5人）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537960" y="2103120"/>
            <a:ext cx="205741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743700" y="2103120"/>
            <a:ext cx="205740" cy="25400"/>
          </a:xfrm>
          <a:prstGeom prst="rect">
            <a:avLst/>
          </a:prstGeom>
          <a:solidFill>
            <a:srgbClr val="FF7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949440" y="2103120"/>
            <a:ext cx="205740" cy="25400"/>
          </a:xfrm>
          <a:prstGeom prst="rect">
            <a:avLst/>
          </a:prstGeom>
          <a:solidFill>
            <a:srgbClr val="FF8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155180" y="2103120"/>
            <a:ext cx="205740" cy="25400"/>
          </a:xfrm>
          <a:prstGeom prst="rect">
            <a:avLst/>
          </a:prstGeom>
          <a:solidFill>
            <a:srgbClr val="FF9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60920" y="2103120"/>
            <a:ext cx="205740" cy="25400"/>
          </a:xfrm>
          <a:prstGeom prst="rect">
            <a:avLst/>
          </a:prstGeom>
          <a:solidFill>
            <a:srgbClr val="FFA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66660" y="2103120"/>
            <a:ext cx="205740" cy="25400"/>
          </a:xfrm>
          <a:prstGeom prst="rect">
            <a:avLst/>
          </a:prstGeom>
          <a:solidFill>
            <a:srgbClr val="FF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72400" y="2103120"/>
            <a:ext cx="205740" cy="25400"/>
          </a:xfrm>
          <a:prstGeom prst="rect">
            <a:avLst/>
          </a:prstGeom>
          <a:solidFill>
            <a:srgbClr val="FFC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978140" y="2103120"/>
            <a:ext cx="205740" cy="254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6537960" y="2386584"/>
            <a:ext cx="146304" cy="146304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81228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月入10-50万</a:t>
            </a:r>
          </a:p>
        </p:txBody>
      </p:sp>
      <p:sp>
        <p:nvSpPr>
          <p:cNvPr id="87" name="Oval 86"/>
          <p:cNvSpPr/>
          <p:nvPr/>
        </p:nvSpPr>
        <p:spPr>
          <a:xfrm>
            <a:off x="6537960" y="2916936"/>
            <a:ext cx="146304" cy="146304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1228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日产4集</a:t>
            </a:r>
          </a:p>
        </p:txBody>
      </p:sp>
      <p:sp>
        <p:nvSpPr>
          <p:cNvPr id="89" name="Oval 88"/>
          <p:cNvSpPr/>
          <p:nvPr/>
        </p:nvSpPr>
        <p:spPr>
          <a:xfrm>
            <a:off x="6537960" y="3447288"/>
            <a:ext cx="146304" cy="146304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81228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月成本~7万</a:t>
            </a:r>
          </a:p>
        </p:txBody>
      </p:sp>
      <p:sp>
        <p:nvSpPr>
          <p:cNvPr id="91" name="Oval 90"/>
          <p:cNvSpPr/>
          <p:nvPr/>
        </p:nvSpPr>
        <p:spPr>
          <a:xfrm>
            <a:off x="6537960" y="3977640"/>
            <a:ext cx="146304" cy="146304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812280" y="39227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适合：创业团队</a:t>
            </a:r>
          </a:p>
        </p:txBody>
      </p:sp>
      <p:sp>
        <p:nvSpPr>
          <p:cNvPr id="93" name="Rectangle 92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模块01 · 行业认知与趋势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9F1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6B35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D9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◆  本模块实操任务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EE7B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" y="144475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144475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8096" y="144475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4672" y="144475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41248" y="144475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77824" y="144475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" y="144475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50976" y="144475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7552" y="144475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8872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45920" y="1371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关注3个AI漫剧行业公众号/博主，建立信息源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222199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1520" y="222199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68096" y="222199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4672" y="222199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41248" y="222199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77824" y="222199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400" y="222199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50976" y="222199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87552" y="222199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8872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45920" y="21488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在抖音搜索10个AI漫剧账号，分析其内容特点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" y="299923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31520" y="299923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68096" y="299923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04672" y="299923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41248" y="299923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7824" y="299923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14400" y="299923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50976" y="299923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87552" y="299923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8872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645920" y="2926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画出完整的AI漫剧产业链地图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31520" y="377647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31520" y="377647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8096" y="377647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04672" y="377647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41248" y="377647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77824" y="377647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14400" y="377647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50976" y="377647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87552" y="377647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188720" y="3703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645920" y="3703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确定自己的定位：个人/团队/工作室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31520" y="455371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31520" y="455371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8096" y="455371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4672" y="455371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41248" y="455371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77824" y="455371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14400" y="455371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50976" y="455371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87552" y="455371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88720" y="4480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645920" y="44805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选择一个感兴趣的题材方向</a:t>
            </a:r>
          </a:p>
        </p:txBody>
      </p:sp>
      <p:sp>
        <p:nvSpPr>
          <p:cNvPr id="96" name="Rectangle 9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模块01 · 行业认知与趋势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914400"/>
            <a:ext cx="6400800" cy="6400800"/>
          </a:xfrm>
          <a:prstGeom prst="ellipse">
            <a:avLst/>
          </a:prstGeom>
          <a:solidFill>
            <a:srgbClr val="FF9F1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1371600"/>
            <a:ext cx="491491" cy="3810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06290" y="1371600"/>
            <a:ext cx="491490" cy="3810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97780" y="1371600"/>
            <a:ext cx="491490" cy="3810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9270" y="1371600"/>
            <a:ext cx="491490" cy="3810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80760" y="1371600"/>
            <a:ext cx="491490" cy="3810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72250" y="1371600"/>
            <a:ext cx="491490" cy="3810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63740" y="1371600"/>
            <a:ext cx="491490" cy="3810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55230" y="1371600"/>
            <a:ext cx="491490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9F1A"/>
                </a:solidFill>
                <a:latin typeface="Microsoft YaHei"/>
              </a:defRPr>
            </a:pPr>
            <a: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320040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本模块结束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4023360"/>
            <a:ext cx="262891" cy="25400"/>
          </a:xfrm>
          <a:prstGeom prst="rect">
            <a:avLst/>
          </a:prstGeom>
          <a:solidFill>
            <a:srgbClr val="FF9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4023360"/>
            <a:ext cx="262890" cy="25400"/>
          </a:xfrm>
          <a:prstGeom prst="rect">
            <a:avLst/>
          </a:prstGeom>
          <a:solidFill>
            <a:srgbClr val="FF9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4023360"/>
            <a:ext cx="262890" cy="25400"/>
          </a:xfrm>
          <a:prstGeom prst="rect">
            <a:avLst/>
          </a:prstGeom>
          <a:solidFill>
            <a:srgbClr val="FF9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4023360"/>
            <a:ext cx="262890" cy="25400"/>
          </a:xfrm>
          <a:prstGeom prst="rect">
            <a:avLst/>
          </a:prstGeom>
          <a:solidFill>
            <a:srgbClr val="FF8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4023360"/>
            <a:ext cx="262890" cy="25400"/>
          </a:xfrm>
          <a:prstGeom prst="rect">
            <a:avLst/>
          </a:prstGeom>
          <a:solidFill>
            <a:srgbClr val="FF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4023360"/>
            <a:ext cx="262890" cy="25400"/>
          </a:xfrm>
          <a:prstGeom prst="rect">
            <a:avLst/>
          </a:prstGeom>
          <a:solidFill>
            <a:srgbClr val="FF7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4023360"/>
            <a:ext cx="262890" cy="25400"/>
          </a:xfrm>
          <a:prstGeom prst="rect">
            <a:avLst/>
          </a:prstGeom>
          <a:solidFill>
            <a:srgbClr val="FF7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4023360"/>
            <a:ext cx="26289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8BAC8"/>
                </a:solidFill>
                <a:latin typeface="Microsoft YaHei"/>
              </a:defRPr>
            </a:pPr>
            <a:r>
              <a:t>下一模块：大语言模型与剧本创作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E7082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00C97B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2743200"/>
            <a:ext cx="5486400" cy="5486400"/>
          </a:xfrm>
          <a:prstGeom prst="ellipse">
            <a:avLst/>
          </a:prstGeom>
          <a:solidFill>
            <a:srgbClr val="00E696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4572000"/>
            <a:ext cx="3657600" cy="3657600"/>
          </a:xfrm>
          <a:prstGeom prst="ellipse">
            <a:avLst/>
          </a:prstGeom>
          <a:solidFill>
            <a:srgbClr val="38FFBD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0"/>
            <a:ext cx="182880" cy="68580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91440" cy="6858000"/>
          </a:xfrm>
          <a:prstGeom prst="rect">
            <a:avLst/>
          </a:prstGeom>
          <a:solidFill>
            <a:srgbClr val="007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8016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5448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1031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774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8016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55448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8288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031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3774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2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58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8016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8288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1031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3774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7315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657600"/>
            <a:ext cx="1828800" cy="329184"/>
          </a:xfrm>
          <a:prstGeom prst="round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657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8FFBD"/>
                </a:solidFill>
                <a:latin typeface="Microsoft YaHei"/>
              </a:defRPr>
            </a:pPr>
            <a:r>
              <a:t>M O D U L 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114800"/>
            <a:ext cx="285751" cy="38100"/>
          </a:xfrm>
          <a:prstGeom prst="rect">
            <a:avLst/>
          </a:prstGeom>
          <a:solidFill>
            <a:srgbClr val="38F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2950" y="4114800"/>
            <a:ext cx="285750" cy="38100"/>
          </a:xfrm>
          <a:prstGeom prst="rect">
            <a:avLst/>
          </a:prstGeom>
          <a:solidFill>
            <a:srgbClr val="30F7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28700" y="4114800"/>
            <a:ext cx="285750" cy="38100"/>
          </a:xfrm>
          <a:prstGeom prst="rect">
            <a:avLst/>
          </a:prstGeom>
          <a:solidFill>
            <a:srgbClr val="28E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314450" y="4114800"/>
            <a:ext cx="285750" cy="38100"/>
          </a:xfrm>
          <a:prstGeom prst="rect">
            <a:avLst/>
          </a:prstGeom>
          <a:solidFill>
            <a:srgbClr val="20E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600200" y="4114800"/>
            <a:ext cx="285750" cy="38100"/>
          </a:xfrm>
          <a:prstGeom prst="rect">
            <a:avLst/>
          </a:prstGeom>
          <a:solidFill>
            <a:srgbClr val="18E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885950" y="4114800"/>
            <a:ext cx="285750" cy="38100"/>
          </a:xfrm>
          <a:prstGeom prst="rect">
            <a:avLst/>
          </a:prstGeom>
          <a:solidFill>
            <a:srgbClr val="10D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171700" y="4114800"/>
            <a:ext cx="285750" cy="38100"/>
          </a:xfrm>
          <a:prstGeom prst="rect">
            <a:avLst/>
          </a:prstGeom>
          <a:solidFill>
            <a:srgbClr val="08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457450" y="4114800"/>
            <a:ext cx="285750" cy="381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035040" y="1097280"/>
            <a:ext cx="5486400" cy="457200"/>
          </a:xfrm>
          <a:prstGeom prst="roundRect">
            <a:avLst/>
          </a:prstGeom>
          <a:solidFill>
            <a:srgbClr val="0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8FFBD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20116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F0F5"/>
                </a:solidFill>
                <a:latin typeface="Microsoft YaHei"/>
              </a:defRPr>
            </a:pPr>
            <a:r>
              <a:t>模块二：大语言模型与AI剧本创作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3840480"/>
            <a:ext cx="400051" cy="381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5090" y="3840480"/>
            <a:ext cx="400050" cy="3810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835140" y="3840480"/>
            <a:ext cx="400050" cy="3810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35190" y="3840480"/>
            <a:ext cx="400050" cy="3810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635240" y="3840480"/>
            <a:ext cx="400050" cy="3810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35290" y="3840480"/>
            <a:ext cx="400050" cy="3810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435340" y="3840480"/>
            <a:ext cx="400050" cy="3810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35390" y="3840480"/>
            <a:ext cx="40005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35040" y="42062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8课时 · 掌握5大AI模型的剧本创作能力与完整方法论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035040" y="5303520"/>
            <a:ext cx="5486400" cy="6400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722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C97B"/>
                </a:solidFill>
                <a:latin typeface="Microsoft YaHei"/>
              </a:defRPr>
            </a:pPr>
            <a:r>
              <a:t>124课时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609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438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C97B"/>
                </a:solidFill>
                <a:latin typeface="Microsoft YaHei"/>
              </a:defRPr>
            </a:pPr>
            <a:r>
              <a:t>17模块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7325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154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C97B"/>
                </a:solidFill>
                <a:latin typeface="Microsoft YaHei"/>
              </a:defRPr>
            </a:pPr>
            <a:r>
              <a:t>8-16周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1041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2870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C97B"/>
                </a:solidFill>
                <a:latin typeface="Microsoft YaHei"/>
              </a:defRPr>
            </a:pPr>
            <a:r>
              <a:t>全流程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155680" y="0"/>
            <a:ext cx="1036015" cy="381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1978640" y="0"/>
            <a:ext cx="38100" cy="73152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521440" y="274320"/>
            <a:ext cx="137160" cy="137160"/>
          </a:xfrm>
          <a:prstGeom prst="ellipse">
            <a:avLst/>
          </a:prstGeom>
          <a:solidFill>
            <a:srgbClr val="38FFBD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00C97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00E69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§  本节内容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38FFB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31520" y="1397000"/>
            <a:ext cx="274320" cy="27432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422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文心5.0全面解析</a:t>
            </a:r>
          </a:p>
        </p:txBody>
      </p:sp>
      <p:sp>
        <p:nvSpPr>
          <p:cNvPr id="44" name="Oval 43"/>
          <p:cNvSpPr/>
          <p:nvPr/>
        </p:nvSpPr>
        <p:spPr>
          <a:xfrm>
            <a:off x="731520" y="1963928"/>
            <a:ext cx="274320" cy="27432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422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DeepSeek深度使用</a:t>
            </a:r>
          </a:p>
        </p:txBody>
      </p:sp>
      <p:sp>
        <p:nvSpPr>
          <p:cNvPr id="47" name="Oval 46"/>
          <p:cNvSpPr/>
          <p:nvPr/>
        </p:nvSpPr>
        <p:spPr>
          <a:xfrm>
            <a:off x="731520" y="2530856"/>
            <a:ext cx="274320" cy="27432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422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豆包大模型应用</a:t>
            </a:r>
          </a:p>
        </p:txBody>
      </p:sp>
      <p:sp>
        <p:nvSpPr>
          <p:cNvPr id="50" name="Oval 49"/>
          <p:cNvSpPr/>
          <p:nvPr/>
        </p:nvSpPr>
        <p:spPr>
          <a:xfrm>
            <a:off x="731520" y="3097784"/>
            <a:ext cx="274320" cy="27432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4220" y="30977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" y="307238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通义千问创意写作</a:t>
            </a:r>
          </a:p>
        </p:txBody>
      </p:sp>
      <p:sp>
        <p:nvSpPr>
          <p:cNvPr id="53" name="Oval 52"/>
          <p:cNvSpPr/>
          <p:nvPr/>
        </p:nvSpPr>
        <p:spPr>
          <a:xfrm>
            <a:off x="6400800" y="1397000"/>
            <a:ext cx="274320" cy="27432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1350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智谱清言角色设定</a:t>
            </a:r>
          </a:p>
        </p:txBody>
      </p:sp>
      <p:sp>
        <p:nvSpPr>
          <p:cNvPr id="56" name="Oval 55"/>
          <p:cNvSpPr/>
          <p:nvPr/>
        </p:nvSpPr>
        <p:spPr>
          <a:xfrm>
            <a:off x="6400800" y="1963928"/>
            <a:ext cx="274320" cy="27432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1350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AI剧本创作方法论</a:t>
            </a:r>
          </a:p>
        </p:txBody>
      </p:sp>
      <p:sp>
        <p:nvSpPr>
          <p:cNvPr id="59" name="Oval 58"/>
          <p:cNvSpPr/>
          <p:nvPr/>
        </p:nvSpPr>
        <p:spPr>
          <a:xfrm>
            <a:off x="6400800" y="2530856"/>
            <a:ext cx="274320" cy="27432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1350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6656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AI漫剧剧本特殊要求</a:t>
            </a:r>
          </a:p>
        </p:txBody>
      </p:sp>
      <p:sp>
        <p:nvSpPr>
          <p:cNvPr id="62" name="Oval 61"/>
          <p:cNvSpPr/>
          <p:nvPr/>
        </p:nvSpPr>
        <p:spPr>
          <a:xfrm>
            <a:off x="6400800" y="3097784"/>
            <a:ext cx="274320" cy="27432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13500" y="30977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66560" y="307238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实战：12集漫剧完整剧本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模块02 · 大语言模型与AI剧本创作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00C97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00E69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文心5.0核心能力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38FFB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参数规模：2.4万亿（2.4T），上下文窗口128K tokens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核心优势：中文创意写作最强、长文本生成、剧情节奏把控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调用方式：百度智能云千帆平台 / 文心一言 / API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适用场景：剧本整体把控、节奏优化、大纲生成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进阶技巧：多轮对话迭代法、角色锚定提示词、批量生成法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模块02 · 大语言模型与AI剧本创作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00C97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00E69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DeepSeek两大杀手锏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38FFB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联网搜索：实时抓取网络热点、趋势数据、竞品信息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长文本推理：处理复杂剧情线、多角色关系、伏笔设计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性价比极高：约GPT-4o的1/100价格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思维链引导：用"请逐步思考"引导深度分析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适用场景：热点题材抓取、复杂剧情设计、竞品分析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模块02 · 大语言模型与AI剧本创作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00C97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00E69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◉ 五大AI模型速览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38FFB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94360" y="1280160"/>
            <a:ext cx="3383280" cy="182880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94360" y="1280160"/>
            <a:ext cx="422911" cy="381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17270" y="1280160"/>
            <a:ext cx="422910" cy="3810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440180" y="1280160"/>
            <a:ext cx="422910" cy="3810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863090" y="1280160"/>
            <a:ext cx="422910" cy="3810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286000" y="1280160"/>
            <a:ext cx="422910" cy="3810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708910" y="1280160"/>
            <a:ext cx="422910" cy="3810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131820" y="1280160"/>
            <a:ext cx="422910" cy="3810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554730" y="1280160"/>
            <a:ext cx="42291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724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C97B"/>
                </a:solidFill>
                <a:latin typeface="Microsoft YaHei"/>
              </a:defRPr>
            </a:pPr>
            <a:r>
              <a:t>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1965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Microsoft YaHei"/>
              </a:defRPr>
            </a:pPr>
            <a:r>
              <a:t>文心5.0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" y="237744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7082"/>
                </a:solidFill>
                <a:latin typeface="Microsoft YaHei"/>
              </a:defRPr>
            </a:pPr>
            <a:r>
              <a:t>2.4T参数 · 中文创意写作最强 · 128K上下文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297680" y="1280160"/>
            <a:ext cx="3383280" cy="182880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97680" y="1280160"/>
            <a:ext cx="422911" cy="381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720590" y="1280160"/>
            <a:ext cx="422910" cy="3810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143500" y="1280160"/>
            <a:ext cx="422910" cy="3810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566410" y="1280160"/>
            <a:ext cx="422910" cy="3810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989320" y="1280160"/>
            <a:ext cx="422910" cy="3810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412230" y="1280160"/>
            <a:ext cx="422910" cy="3810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835140" y="1280160"/>
            <a:ext cx="422910" cy="3810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258050" y="1280160"/>
            <a:ext cx="42291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48056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C97B"/>
                </a:solidFill>
                <a:latin typeface="Microsoft YaHei"/>
              </a:defRPr>
            </a:pPr>
            <a:r>
              <a:t>●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80560" y="1965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Microsoft YaHei"/>
              </a:defRPr>
            </a:pPr>
            <a:r>
              <a:t>DeepSeek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480560" y="237744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7082"/>
                </a:solidFill>
                <a:latin typeface="Microsoft YaHei"/>
              </a:defRPr>
            </a:pPr>
            <a:r>
              <a:t>联网搜索+长文本推理 · 性价比极高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001000" y="1280160"/>
            <a:ext cx="3383280" cy="182880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001000" y="1280160"/>
            <a:ext cx="422911" cy="381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423910" y="1280160"/>
            <a:ext cx="422910" cy="3810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846820" y="1280160"/>
            <a:ext cx="422910" cy="3810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269730" y="1280160"/>
            <a:ext cx="422910" cy="3810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692640" y="1280160"/>
            <a:ext cx="422910" cy="3810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115550" y="1280160"/>
            <a:ext cx="422910" cy="3810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538460" y="1280160"/>
            <a:ext cx="422910" cy="3810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961370" y="1280160"/>
            <a:ext cx="42291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18388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C97B"/>
                </a:solidFill>
                <a:latin typeface="Microsoft YaHei"/>
              </a:defRPr>
            </a:pPr>
            <a:r>
              <a:t>●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183880" y="1965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Microsoft YaHei"/>
              </a:defRPr>
            </a:pPr>
            <a:r>
              <a:t>豆包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183880" y="237744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7082"/>
                </a:solidFill>
                <a:latin typeface="Microsoft YaHei"/>
              </a:defRPr>
            </a:pPr>
            <a:r>
              <a:t>对话感最自然 · 口语化对白打磨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94360" y="3429000"/>
            <a:ext cx="3383280" cy="182880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94360" y="3429000"/>
            <a:ext cx="422911" cy="381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017270" y="3429000"/>
            <a:ext cx="422910" cy="3810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440180" y="3429000"/>
            <a:ext cx="422910" cy="3810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863090" y="3429000"/>
            <a:ext cx="422910" cy="3810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286000" y="3429000"/>
            <a:ext cx="422910" cy="3810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708910" y="3429000"/>
            <a:ext cx="422910" cy="3810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131820" y="3429000"/>
            <a:ext cx="422910" cy="3810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554730" y="3429000"/>
            <a:ext cx="42291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77240" y="3611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C97B"/>
                </a:solidFill>
                <a:latin typeface="Microsoft YaHei"/>
              </a:defRPr>
            </a:pPr>
            <a:r>
              <a:t>●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77240" y="4114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Microsoft YaHei"/>
              </a:defRPr>
            </a:pPr>
            <a:r>
              <a:t>通义千问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77240" y="452628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7082"/>
                </a:solidFill>
                <a:latin typeface="Microsoft YaHei"/>
              </a:defRPr>
            </a:pPr>
            <a:r>
              <a:t>逻辑严谨 · 整体审校 · 知识面广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297680" y="3429000"/>
            <a:ext cx="3383280" cy="182880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297680" y="3429000"/>
            <a:ext cx="422911" cy="381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720590" y="3429000"/>
            <a:ext cx="422910" cy="3810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143500" y="3429000"/>
            <a:ext cx="422910" cy="3810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5566410" y="3429000"/>
            <a:ext cx="422910" cy="3810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5989320" y="3429000"/>
            <a:ext cx="422910" cy="3810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412230" y="3429000"/>
            <a:ext cx="422910" cy="3810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835140" y="3429000"/>
            <a:ext cx="422910" cy="3810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258050" y="3429000"/>
            <a:ext cx="42291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480560" y="3611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C97B"/>
                </a:solidFill>
                <a:latin typeface="Microsoft YaHei"/>
              </a:defRPr>
            </a:pPr>
            <a:r>
              <a:t>●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480560" y="4114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Microsoft YaHei"/>
              </a:defRPr>
            </a:pPr>
            <a:r>
              <a:t>智谱清言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480560" y="452628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7082"/>
                </a:solidFill>
                <a:latin typeface="Microsoft YaHei"/>
              </a:defRPr>
            </a:pPr>
            <a:r>
              <a:t>角色一致性 · 人格档案 · 深度设定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模块02 · 大语言模型与AI剧本创作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00C97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00E69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五大AI模型创作分工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38FFB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720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1371600"/>
            <a:ext cx="668656" cy="381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25855" y="1371600"/>
            <a:ext cx="668655" cy="3810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794510" y="1371600"/>
            <a:ext cx="668655" cy="3810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463165" y="1371600"/>
            <a:ext cx="668655" cy="3810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131820" y="1371600"/>
            <a:ext cx="668655" cy="3810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00475" y="1371600"/>
            <a:ext cx="668655" cy="3810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469130" y="1371600"/>
            <a:ext cx="668655" cy="3810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137785" y="1371600"/>
            <a:ext cx="668655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7B"/>
                </a:solidFill>
                <a:latin typeface="Microsoft YaHei"/>
              </a:defRPr>
            </a:pPr>
            <a:r>
              <a:t>创作环节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103120"/>
            <a:ext cx="205741" cy="254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37260" y="2103120"/>
            <a:ext cx="205740" cy="2540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43000" y="2103120"/>
            <a:ext cx="205740" cy="2540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348740" y="2103120"/>
            <a:ext cx="205740" cy="2540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554480" y="2103120"/>
            <a:ext cx="205740" cy="2540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60220" y="2103120"/>
            <a:ext cx="205740" cy="2540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965960" y="2103120"/>
            <a:ext cx="205740" cy="2540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171700" y="2103120"/>
            <a:ext cx="205740" cy="254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31520" y="2386584"/>
            <a:ext cx="146304" cy="146304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584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热点分析 → DeepSeek</a:t>
            </a:r>
          </a:p>
        </p:txBody>
      </p:sp>
      <p:sp>
        <p:nvSpPr>
          <p:cNvPr id="61" name="Oval 60"/>
          <p:cNvSpPr/>
          <p:nvPr/>
        </p:nvSpPr>
        <p:spPr>
          <a:xfrm>
            <a:off x="731520" y="2916936"/>
            <a:ext cx="146304" cy="146304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584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世界观构建 → 文心5.0</a:t>
            </a:r>
          </a:p>
        </p:txBody>
      </p:sp>
      <p:sp>
        <p:nvSpPr>
          <p:cNvPr id="63" name="Oval 62"/>
          <p:cNvSpPr/>
          <p:nvPr/>
        </p:nvSpPr>
        <p:spPr>
          <a:xfrm>
            <a:off x="731520" y="3447288"/>
            <a:ext cx="146304" cy="146304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584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角色设定 → GLM-4</a:t>
            </a:r>
          </a:p>
        </p:txBody>
      </p:sp>
      <p:sp>
        <p:nvSpPr>
          <p:cNvPr id="65" name="Oval 64"/>
          <p:cNvSpPr/>
          <p:nvPr/>
        </p:nvSpPr>
        <p:spPr>
          <a:xfrm>
            <a:off x="731520" y="3977640"/>
            <a:ext cx="146304" cy="146304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5840" y="39227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剧情架构 → DeepSeek</a:t>
            </a:r>
          </a:p>
        </p:txBody>
      </p:sp>
      <p:sp>
        <p:nvSpPr>
          <p:cNvPr id="67" name="Oval 66"/>
          <p:cNvSpPr/>
          <p:nvPr/>
        </p:nvSpPr>
        <p:spPr>
          <a:xfrm>
            <a:off x="731520" y="4507992"/>
            <a:ext cx="146304" cy="146304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05840" y="44531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剧本初稿 → DeepSeek / 文心5.0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26364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63640" y="1371600"/>
            <a:ext cx="668656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932295" y="1371600"/>
            <a:ext cx="668655" cy="38100"/>
          </a:xfrm>
          <a:prstGeom prst="rect">
            <a:avLst/>
          </a:prstGeom>
          <a:solidFill>
            <a:srgbClr val="07E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600950" y="1371600"/>
            <a:ext cx="668655" cy="38100"/>
          </a:xfrm>
          <a:prstGeom prst="rect">
            <a:avLst/>
          </a:prstGeom>
          <a:solidFill>
            <a:srgbClr val="10E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269605" y="1371600"/>
            <a:ext cx="668655" cy="38100"/>
          </a:xfrm>
          <a:prstGeom prst="rect">
            <a:avLst/>
          </a:prstGeom>
          <a:solidFill>
            <a:srgbClr val="18F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938260" y="1371600"/>
            <a:ext cx="668655" cy="38100"/>
          </a:xfrm>
          <a:prstGeom prst="rect">
            <a:avLst/>
          </a:prstGeom>
          <a:solidFill>
            <a:srgbClr val="20F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606915" y="1371600"/>
            <a:ext cx="668655" cy="38100"/>
          </a:xfrm>
          <a:prstGeom prst="rect">
            <a:avLst/>
          </a:prstGeom>
          <a:solidFill>
            <a:srgbClr val="28F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275570" y="1371600"/>
            <a:ext cx="668655" cy="38100"/>
          </a:xfrm>
          <a:prstGeom prst="rect">
            <a:avLst/>
          </a:prstGeom>
          <a:solidFill>
            <a:srgbClr val="30F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944225" y="1371600"/>
            <a:ext cx="668655" cy="38100"/>
          </a:xfrm>
          <a:prstGeom prst="rect">
            <a:avLst/>
          </a:prstGeom>
          <a:solidFill>
            <a:srgbClr val="38F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53796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Microsoft YaHei"/>
              </a:defRPr>
            </a:pPr>
            <a:r>
              <a:t>优化环节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537960" y="2103120"/>
            <a:ext cx="205741" cy="254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43700" y="2103120"/>
            <a:ext cx="205740" cy="25400"/>
          </a:xfrm>
          <a:prstGeom prst="rect">
            <a:avLst/>
          </a:prstGeom>
          <a:solidFill>
            <a:srgbClr val="07E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949440" y="2103120"/>
            <a:ext cx="205740" cy="25400"/>
          </a:xfrm>
          <a:prstGeom prst="rect">
            <a:avLst/>
          </a:prstGeom>
          <a:solidFill>
            <a:srgbClr val="10E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155180" y="2103120"/>
            <a:ext cx="205740" cy="25400"/>
          </a:xfrm>
          <a:prstGeom prst="rect">
            <a:avLst/>
          </a:prstGeom>
          <a:solidFill>
            <a:srgbClr val="18F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60920" y="2103120"/>
            <a:ext cx="205740" cy="25400"/>
          </a:xfrm>
          <a:prstGeom prst="rect">
            <a:avLst/>
          </a:prstGeom>
          <a:solidFill>
            <a:srgbClr val="20F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66660" y="2103120"/>
            <a:ext cx="205740" cy="25400"/>
          </a:xfrm>
          <a:prstGeom prst="rect">
            <a:avLst/>
          </a:prstGeom>
          <a:solidFill>
            <a:srgbClr val="28F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2103120"/>
            <a:ext cx="205740" cy="25400"/>
          </a:xfrm>
          <a:prstGeom prst="rect">
            <a:avLst/>
          </a:prstGeom>
          <a:solidFill>
            <a:srgbClr val="30F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978140" y="2103120"/>
            <a:ext cx="205740" cy="25400"/>
          </a:xfrm>
          <a:prstGeom prst="rect">
            <a:avLst/>
          </a:prstGeom>
          <a:solidFill>
            <a:srgbClr val="38F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537960" y="2386584"/>
            <a:ext cx="146304" cy="146304"/>
          </a:xfrm>
          <a:prstGeom prst="ellipse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1228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节奏优化 → 文心5.0</a:t>
            </a:r>
          </a:p>
        </p:txBody>
      </p:sp>
      <p:sp>
        <p:nvSpPr>
          <p:cNvPr id="89" name="Oval 88"/>
          <p:cNvSpPr/>
          <p:nvPr/>
        </p:nvSpPr>
        <p:spPr>
          <a:xfrm>
            <a:off x="6537960" y="2916936"/>
            <a:ext cx="146304" cy="146304"/>
          </a:xfrm>
          <a:prstGeom prst="ellipse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81228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对白打磨 → 豆包</a:t>
            </a:r>
          </a:p>
        </p:txBody>
      </p:sp>
      <p:sp>
        <p:nvSpPr>
          <p:cNvPr id="91" name="Oval 90"/>
          <p:cNvSpPr/>
          <p:nvPr/>
        </p:nvSpPr>
        <p:spPr>
          <a:xfrm>
            <a:off x="6537960" y="3447288"/>
            <a:ext cx="146304" cy="146304"/>
          </a:xfrm>
          <a:prstGeom prst="ellipse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81228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整体审校 → 通义千问</a:t>
            </a:r>
          </a:p>
        </p:txBody>
      </p:sp>
      <p:sp>
        <p:nvSpPr>
          <p:cNvPr id="93" name="Oval 92"/>
          <p:cNvSpPr/>
          <p:nvPr/>
        </p:nvSpPr>
        <p:spPr>
          <a:xfrm>
            <a:off x="6537960" y="3977640"/>
            <a:ext cx="146304" cy="146304"/>
          </a:xfrm>
          <a:prstGeom prst="ellipse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812280" y="39227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角色检查 → GLM-4</a:t>
            </a:r>
          </a:p>
        </p:txBody>
      </p:sp>
      <p:sp>
        <p:nvSpPr>
          <p:cNvPr id="95" name="Oval 94"/>
          <p:cNvSpPr/>
          <p:nvPr/>
        </p:nvSpPr>
        <p:spPr>
          <a:xfrm>
            <a:off x="6537960" y="4507992"/>
            <a:ext cx="146304" cy="146304"/>
          </a:xfrm>
          <a:prstGeom prst="ellipse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812280" y="44531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创意发散 → 通义千问</a:t>
            </a:r>
          </a:p>
        </p:txBody>
      </p:sp>
      <p:sp>
        <p:nvSpPr>
          <p:cNvPr id="97" name="Rectangle 96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模块02 · 大语言模型与AI剧本创作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00C97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00E69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AI剧本创作方法论全景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38FFB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Phase 1 热点抓取：联网搜索 → 数据分析 → 趋势研判 → 用户画像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Phase 2 选题决策：竞品分析 → 蓝海判断 → 差异化定位 → 可行性评估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Phase 3 故事构建：世界观设定 → 角色设计 → 剧情架构 → 爽点分布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Phase 4 剧本落地：大纲生成 → 分集细化 → 对白打磨 → 钩子优化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模块02 · 大语言模型与AI剧本创作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00C97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00E69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选题决策评分模型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38FFB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48640" y="1280160"/>
          <a:ext cx="110642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评估维度</a:t>
                      </a:r>
                    </a:p>
                  </a:txBody>
                  <a:tcPr anchor="ctr">
                    <a:solidFill>
                      <a:srgbClr val="00C9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权重</a:t>
                      </a:r>
                    </a:p>
                  </a:txBody>
                  <a:tcPr anchor="ctr">
                    <a:solidFill>
                      <a:srgbClr val="00C9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评分标准</a:t>
                      </a:r>
                    </a:p>
                  </a:txBody>
                  <a:tcPr anchor="ctr">
                    <a:solidFill>
                      <a:srgbClr val="00C97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市场热度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搜索指数、相关作品播放量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竞争程度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同题材作品数量（越少分越高）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差异化空间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是否有独特切入角度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变现潜力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15%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付费意愿、广告适配度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制作难度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15%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AI工具能否胜任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个人兴趣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能否持续创作不厌倦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模块02 · 大语言模型与AI剧本创作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0"/>
            <a:ext cx="6400800" cy="6400800"/>
          </a:xfrm>
          <a:prstGeom prst="ellipse">
            <a:avLst/>
          </a:prstGeom>
          <a:solidFill>
            <a:srgbClr val="00C97B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2743200"/>
            <a:ext cx="4572000" cy="4572000"/>
          </a:xfrm>
          <a:prstGeom prst="ellipse">
            <a:avLst/>
          </a:prstGeom>
          <a:solidFill>
            <a:srgbClr val="00E696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1097280"/>
            <a:ext cx="720091" cy="381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920490" y="1097280"/>
            <a:ext cx="720090" cy="3810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40580" y="1097280"/>
            <a:ext cx="720090" cy="3810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60670" y="1097280"/>
            <a:ext cx="720090" cy="3810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80760" y="1097280"/>
            <a:ext cx="720090" cy="3810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00850" y="1097280"/>
            <a:ext cx="720090" cy="3810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20940" y="1097280"/>
            <a:ext cx="720090" cy="3810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41030" y="1097280"/>
            <a:ext cx="72009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164592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写给"AI+人"看，而非只写给人看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931920"/>
            <a:ext cx="262891" cy="254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3931920"/>
            <a:ext cx="262890" cy="2540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3931920"/>
            <a:ext cx="262890" cy="2540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3931920"/>
            <a:ext cx="262890" cy="2540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3931920"/>
            <a:ext cx="262890" cy="2540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3931920"/>
            <a:ext cx="262890" cy="2540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3931920"/>
            <a:ext cx="262890" cy="2540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3931920"/>
            <a:ext cx="262890" cy="254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297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场景描述必须具体到颜色、光线、构图；动作描写要精确到可执行；每个场景附带AI生图提示词；角色外貌描述要保持一致；避免抽象词汇，用具体特征代替。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模块02 · 大语言模型与AI剧本创作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00C97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00E69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可视化描写三原则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38FFB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具体化：把"她很美"变成"长发及腰，杏眼樱唇，白色连衣裙"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画面化：用"摄影机视角"写，如"镜头从门口向内推进——"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五感化：调动视觉以外的感官，如"雨点砸在脸上，冰凉刺骨"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镜头标注：每个场景标注【特写/中景/远景/俯拍/过肩】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AI适配：避免复杂多人同框，每场景最多2-3个角色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模块02 · 大语言模型与AI剧本创作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00C97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00E69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38FF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◆  本模块实操任务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EE7B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" y="144475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144475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8096" y="144475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4672" y="144475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41248" y="144475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77824" y="144475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" y="144475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50976" y="144475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7552" y="144475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8872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45920" y="1371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用DeepSeek联网搜索分析当前抖音漫剧TOP10题材分布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222199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1520" y="222199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68096" y="222199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4672" y="222199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41248" y="222199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77824" y="222199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400" y="222199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50976" y="222199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87552" y="222199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8872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45920" y="21488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用文心5.0生成一个12集都市逆袭漫剧的完整大纲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" y="299923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31520" y="299923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68096" y="299923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04672" y="299923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41248" y="299923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7824" y="299923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14400" y="299923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50976" y="299923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87552" y="299923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8872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645920" y="2926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用GLM-4创建5个核心角色的深度档案与人格卡片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31520" y="377647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31520" y="377647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8096" y="377647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04672" y="377647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41248" y="377647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77824" y="377647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14400" y="377647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50976" y="377647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87552" y="377647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188720" y="3703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645920" y="3703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用豆包对5段对白进行"网感优化"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31520" y="455371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31520" y="455371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8096" y="455371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4672" y="455371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41248" y="455371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77824" y="455371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14400" y="455371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50976" y="455371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87552" y="455371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88720" y="4480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645920" y="44805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用通义千问完成整体审校，输出修改建议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31520" y="533095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31520" y="533095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68096" y="533095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04672" y="533095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41248" y="533095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7824" y="533095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14400" y="533095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50976" y="533095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87552" y="533095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188720" y="5257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645920" y="52578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完成一部12集漫剧的完整剧本（含AI生图提示词）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模块02 · 大语言模型与AI剧本创作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914400"/>
            <a:ext cx="6400800" cy="6400800"/>
          </a:xfrm>
          <a:prstGeom prst="ellipse">
            <a:avLst/>
          </a:prstGeom>
          <a:solidFill>
            <a:srgbClr val="00C97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1371600"/>
            <a:ext cx="491491" cy="381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06290" y="1371600"/>
            <a:ext cx="491490" cy="3810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97780" y="1371600"/>
            <a:ext cx="491490" cy="3810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9270" y="1371600"/>
            <a:ext cx="491490" cy="3810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80760" y="1371600"/>
            <a:ext cx="491490" cy="3810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72250" y="1371600"/>
            <a:ext cx="491490" cy="3810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63740" y="1371600"/>
            <a:ext cx="491490" cy="3810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55230" y="1371600"/>
            <a:ext cx="49149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00C97B"/>
                </a:solidFill>
                <a:latin typeface="Microsoft YaHei"/>
              </a:defRPr>
            </a:pPr>
            <a: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320040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本模块结束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4023360"/>
            <a:ext cx="262891" cy="254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4023360"/>
            <a:ext cx="262890" cy="25400"/>
          </a:xfrm>
          <a:prstGeom prst="rect">
            <a:avLst/>
          </a:prstGeom>
          <a:solidFill>
            <a:srgbClr val="00C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4023360"/>
            <a:ext cx="262890" cy="25400"/>
          </a:xfrm>
          <a:prstGeom prst="rect">
            <a:avLst/>
          </a:prstGeom>
          <a:solidFill>
            <a:srgbClr val="00D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4023360"/>
            <a:ext cx="262890" cy="25400"/>
          </a:xfrm>
          <a:prstGeom prst="rect">
            <a:avLst/>
          </a:prstGeom>
          <a:solidFill>
            <a:srgbClr val="00D5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4023360"/>
            <a:ext cx="262890" cy="25400"/>
          </a:xfrm>
          <a:prstGeom prst="rect">
            <a:avLst/>
          </a:prstGeom>
          <a:solidFill>
            <a:srgbClr val="00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4023360"/>
            <a:ext cx="262890" cy="25400"/>
          </a:xfrm>
          <a:prstGeom prst="rect">
            <a:avLst/>
          </a:prstGeom>
          <a:solidFill>
            <a:srgbClr val="00D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4023360"/>
            <a:ext cx="262890" cy="25400"/>
          </a:xfrm>
          <a:prstGeom prst="rect">
            <a:avLst/>
          </a:prstGeom>
          <a:solidFill>
            <a:srgbClr val="00E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4023360"/>
            <a:ext cx="262890" cy="254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8BAC8"/>
                </a:solidFill>
                <a:latin typeface="Microsoft YaHei"/>
              </a:defRPr>
            </a:pPr>
            <a:r>
              <a:t>下一模块：分镜设计与提示词工程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E7082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FF6B35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2743200"/>
            <a:ext cx="5486400" cy="5486400"/>
          </a:xfrm>
          <a:prstGeom prst="ellipse">
            <a:avLst/>
          </a:prstGeom>
          <a:solidFill>
            <a:srgbClr val="FF8C42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4572000"/>
            <a:ext cx="3657600" cy="3657600"/>
          </a:xfrm>
          <a:prstGeom prst="ellipse">
            <a:avLst/>
          </a:prstGeom>
          <a:solidFill>
            <a:srgbClr val="FFB347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0"/>
            <a:ext cx="182880" cy="68580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91440" cy="6858000"/>
          </a:xfrm>
          <a:prstGeom prst="rect">
            <a:avLst/>
          </a:prstGeom>
          <a:solidFill>
            <a:srgbClr val="7F4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8016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5448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1031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774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8016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55448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8288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031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3774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2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58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8016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8288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1031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3774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7315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657600"/>
            <a:ext cx="1828800" cy="329184"/>
          </a:xfrm>
          <a:prstGeom prst="round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657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B347"/>
                </a:solidFill>
                <a:latin typeface="Microsoft YaHei"/>
              </a:defRPr>
            </a:pPr>
            <a:r>
              <a:t>M O D U L 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114800"/>
            <a:ext cx="285751" cy="381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2950" y="4114800"/>
            <a:ext cx="285750" cy="38100"/>
          </a:xfrm>
          <a:prstGeom prst="rect">
            <a:avLst/>
          </a:prstGeom>
          <a:solidFill>
            <a:srgbClr val="FFA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28700" y="4114800"/>
            <a:ext cx="285750" cy="38100"/>
          </a:xfrm>
          <a:prstGeom prst="rect">
            <a:avLst/>
          </a:prstGeom>
          <a:solidFill>
            <a:srgbClr val="FF9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314450" y="4114800"/>
            <a:ext cx="285750" cy="38100"/>
          </a:xfrm>
          <a:prstGeom prst="rect">
            <a:avLst/>
          </a:prstGeom>
          <a:solidFill>
            <a:srgbClr val="FF9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600200" y="4114800"/>
            <a:ext cx="285750" cy="38100"/>
          </a:xfrm>
          <a:prstGeom prst="rect">
            <a:avLst/>
          </a:prstGeom>
          <a:solidFill>
            <a:srgbClr val="FF8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885950" y="4114800"/>
            <a:ext cx="285750" cy="38100"/>
          </a:xfrm>
          <a:prstGeom prst="rect">
            <a:avLst/>
          </a:prstGeom>
          <a:solidFill>
            <a:srgbClr val="FF7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171700" y="4114800"/>
            <a:ext cx="285750" cy="38100"/>
          </a:xfrm>
          <a:prstGeom prst="rect">
            <a:avLst/>
          </a:prstGeom>
          <a:solidFill>
            <a:srgbClr val="FF7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457450" y="4114800"/>
            <a:ext cx="285750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035040" y="1097280"/>
            <a:ext cx="5486400" cy="457200"/>
          </a:xfrm>
          <a:prstGeom prst="roundRect">
            <a:avLst/>
          </a:prstGeom>
          <a:solidFill>
            <a:srgbClr val="4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B347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20116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F0F5"/>
                </a:solidFill>
                <a:latin typeface="Microsoft YaHei"/>
              </a:defRPr>
            </a:pPr>
            <a:r>
              <a:t>模块三：分镜设计与提示词工程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3840480"/>
            <a:ext cx="400051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5090" y="3840480"/>
            <a:ext cx="400050" cy="3810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835140" y="3840480"/>
            <a:ext cx="400050" cy="3810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35190" y="3840480"/>
            <a:ext cx="400050" cy="3810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635240" y="3840480"/>
            <a:ext cx="400050" cy="3810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35290" y="3840480"/>
            <a:ext cx="400050" cy="3810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435340" y="3840480"/>
            <a:ext cx="400050" cy="3810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35390" y="3840480"/>
            <a:ext cx="400050" cy="381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35040" y="42062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10课时 · 从分镜思维到提示词实操的完整技能链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035040" y="5303520"/>
            <a:ext cx="5486400" cy="6400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722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B35"/>
                </a:solidFill>
                <a:latin typeface="Microsoft YaHei"/>
              </a:defRPr>
            </a:pPr>
            <a:r>
              <a:t>124课时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609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438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B35"/>
                </a:solidFill>
                <a:latin typeface="Microsoft YaHei"/>
              </a:defRPr>
            </a:pPr>
            <a:r>
              <a:t>17模块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7325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154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B35"/>
                </a:solidFill>
                <a:latin typeface="Microsoft YaHei"/>
              </a:defRPr>
            </a:pPr>
            <a:r>
              <a:t>8-16周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1041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2870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B35"/>
                </a:solidFill>
                <a:latin typeface="Microsoft YaHei"/>
              </a:defRPr>
            </a:pPr>
            <a:r>
              <a:t>全流程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155680" y="0"/>
            <a:ext cx="1036015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1978640" y="0"/>
            <a:ext cx="38100" cy="7315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521440" y="274320"/>
            <a:ext cx="137160" cy="137160"/>
          </a:xfrm>
          <a:prstGeom prst="ellipse">
            <a:avLst/>
          </a:prstGeom>
          <a:solidFill>
            <a:srgbClr val="FFB34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6B35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8C42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§  本节内容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FB34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31520" y="1397000"/>
            <a:ext cx="274320" cy="2743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422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分镜设计基础：景别·构图·镜头运动</a:t>
            </a:r>
          </a:p>
        </p:txBody>
      </p:sp>
      <p:sp>
        <p:nvSpPr>
          <p:cNvPr id="44" name="Oval 43"/>
          <p:cNvSpPr/>
          <p:nvPr/>
        </p:nvSpPr>
        <p:spPr>
          <a:xfrm>
            <a:off x="731520" y="1963928"/>
            <a:ext cx="274320" cy="2743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422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提示词六要素框架</a:t>
            </a:r>
          </a:p>
        </p:txBody>
      </p:sp>
      <p:sp>
        <p:nvSpPr>
          <p:cNvPr id="47" name="Oval 46"/>
          <p:cNvSpPr/>
          <p:nvPr/>
        </p:nvSpPr>
        <p:spPr>
          <a:xfrm>
            <a:off x="731520" y="2530856"/>
            <a:ext cx="274320" cy="2743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422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提示词模板库搭建</a:t>
            </a:r>
          </a:p>
        </p:txBody>
      </p:sp>
      <p:sp>
        <p:nvSpPr>
          <p:cNvPr id="50" name="Oval 49"/>
          <p:cNvSpPr/>
          <p:nvPr/>
        </p:nvSpPr>
        <p:spPr>
          <a:xfrm>
            <a:off x="731520" y="3097784"/>
            <a:ext cx="274320" cy="2743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4220" y="30977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" y="307238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负面提示词系统化使用</a:t>
            </a:r>
          </a:p>
        </p:txBody>
      </p:sp>
      <p:sp>
        <p:nvSpPr>
          <p:cNvPr id="53" name="Oval 52"/>
          <p:cNvSpPr/>
          <p:nvPr/>
        </p:nvSpPr>
        <p:spPr>
          <a:xfrm>
            <a:off x="731520" y="3664712"/>
            <a:ext cx="274320" cy="2743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4220" y="366471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" y="363931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Drawstory分镜软件</a:t>
            </a:r>
          </a:p>
        </p:txBody>
      </p:sp>
      <p:sp>
        <p:nvSpPr>
          <p:cNvPr id="56" name="Oval 55"/>
          <p:cNvSpPr/>
          <p:nvPr/>
        </p:nvSpPr>
        <p:spPr>
          <a:xfrm>
            <a:off x="6400800" y="1397000"/>
            <a:ext cx="274320" cy="2743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1350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DomoAI动态分镜</a:t>
            </a:r>
          </a:p>
        </p:txBody>
      </p:sp>
      <p:sp>
        <p:nvSpPr>
          <p:cNvPr id="59" name="Oval 58"/>
          <p:cNvSpPr/>
          <p:nvPr/>
        </p:nvSpPr>
        <p:spPr>
          <a:xfrm>
            <a:off x="6400800" y="1963928"/>
            <a:ext cx="274320" cy="2743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1350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6656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即梦AI智能多帧分镜</a:t>
            </a:r>
          </a:p>
        </p:txBody>
      </p:sp>
      <p:sp>
        <p:nvSpPr>
          <p:cNvPr id="62" name="Oval 61"/>
          <p:cNvSpPr/>
          <p:nvPr/>
        </p:nvSpPr>
        <p:spPr>
          <a:xfrm>
            <a:off x="6400800" y="2530856"/>
            <a:ext cx="274320" cy="2743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1350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6656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角色参考图制作</a:t>
            </a:r>
          </a:p>
        </p:txBody>
      </p:sp>
      <p:sp>
        <p:nvSpPr>
          <p:cNvPr id="65" name="Oval 64"/>
          <p:cNvSpPr/>
          <p:nvPr/>
        </p:nvSpPr>
        <p:spPr>
          <a:xfrm>
            <a:off x="6400800" y="3097784"/>
            <a:ext cx="274320" cy="2743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13500" y="30977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66560" y="307238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高级分镜技巧</a:t>
            </a:r>
          </a:p>
        </p:txBody>
      </p:sp>
      <p:sp>
        <p:nvSpPr>
          <p:cNvPr id="68" name="Oval 67"/>
          <p:cNvSpPr/>
          <p:nvPr/>
        </p:nvSpPr>
        <p:spPr>
          <a:xfrm>
            <a:off x="6400800" y="3664712"/>
            <a:ext cx="274320" cy="2743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13500" y="366471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66560" y="363931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实战：15镜头完整分镜设计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模块03 · 分镜设计与提示词工程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6B35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8C42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五大景别详解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FB34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48640" y="1280160"/>
          <a:ext cx="110642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景别</a:t>
                      </a:r>
                    </a:p>
                  </a:txBody>
                  <a:tcPr anchor="ctr"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英文</a:t>
                      </a:r>
                    </a:p>
                  </a:txBody>
                  <a:tcPr anchor="ctr"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画面范围</a:t>
                      </a:r>
                    </a:p>
                  </a:txBody>
                  <a:tcPr anchor="ctr"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叙事功能</a:t>
                      </a:r>
                    </a:p>
                  </a:txBody>
                  <a:tcPr anchor="ctr">
                    <a:solidFill>
                      <a:srgbClr val="FF6B3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远景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ELS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环境全貌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交代环境、营造氛围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全景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LS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完整人物+环境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展示人物与环境关系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中景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MS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膝盖以上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平衡人物与环境、对话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近景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MCU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胸部以上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突出表情和肢体语言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特写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CU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面部/物体细节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强调情绪、揭示细节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模块03 · 分镜设计与提示词工程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0"/>
            <a:ext cx="6400800" cy="6400800"/>
          </a:xfrm>
          <a:prstGeom prst="ellipse">
            <a:avLst/>
          </a:prstGeom>
          <a:solidFill>
            <a:srgbClr val="FF6B35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2743200"/>
            <a:ext cx="4572000" cy="4572000"/>
          </a:xfrm>
          <a:prstGeom prst="ellipse">
            <a:avLst/>
          </a:prstGeom>
          <a:solidFill>
            <a:srgbClr val="FF8C42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1097280"/>
            <a:ext cx="720091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920490" y="1097280"/>
            <a:ext cx="720090" cy="3810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40580" y="1097280"/>
            <a:ext cx="720090" cy="3810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60670" y="1097280"/>
            <a:ext cx="720090" cy="3810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80760" y="1097280"/>
            <a:ext cx="720090" cy="3810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00850" y="1097280"/>
            <a:ext cx="720090" cy="3810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20940" y="1097280"/>
            <a:ext cx="720090" cy="3810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41030" y="1097280"/>
            <a:ext cx="720090" cy="381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164592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景别跳跃越大，视觉冲击越强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931920"/>
            <a:ext cx="262891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3931920"/>
            <a:ext cx="262890" cy="2540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3931920"/>
            <a:ext cx="262890" cy="2540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3931920"/>
            <a:ext cx="262890" cy="2540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3931920"/>
            <a:ext cx="262890" cy="2540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3931920"/>
            <a:ext cx="262890" cy="2540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3931920"/>
            <a:ext cx="262890" cy="2540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3931920"/>
            <a:ext cx="262890" cy="254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297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远景→特写产生强烈震撼；中景→近景自然递进。避免特写→特写（视觉疲劳）和全景→全景（缺乏节奏）。口诀：先远后近定基调，急转直下造冲击。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模块03 · 分镜设计与提示词工程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6B35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8C42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六种核心构图法则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FB34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三分法则：关键元素放在九宫格交叉点，避免AI默认居中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对角线构图：元素沿对角线排列，创造动感和张力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对称构图：左右对称，传达秩序、庄严或诡异感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框中框构图：利用门框/窗户形成"画中画"效果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前景遮挡构图：前方放置遮挡物，增加层次感和窥视感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1520" y="5468112"/>
            <a:ext cx="6859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38378" y="5468112"/>
            <a:ext cx="6858" cy="36576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45236" y="5468112"/>
            <a:ext cx="6858" cy="36576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52094" y="5468112"/>
            <a:ext cx="6858" cy="36576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58952" y="5468112"/>
            <a:ext cx="6858" cy="36576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65810" y="5468112"/>
            <a:ext cx="6858" cy="36576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72668" y="5468112"/>
            <a:ext cx="6858" cy="36576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79526" y="5468112"/>
            <a:ext cx="6858" cy="3657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32688" y="5394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负空间构图：大面积留白，营造孤独、渺小或宁静感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模块03 · 分镜设计与提示词工程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6B35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8C42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提示词六要素框架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FB34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① 主体描述：性别+年龄+核心特征+服装+发型+配饰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② 动作表情：静态姿势→动态动作→微动作（三个层次）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③ 环境：地点类型+具体场景+环境细节（天气/时间/季节）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④ 光线：自然光/金色时刻/逆光/侧光/霓虹光等10种类型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⑤ 视角/景别：平视/仰视/俯视/鸟瞰/荷兰角/过肩/主观视角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1520" y="5468112"/>
            <a:ext cx="6859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38378" y="5468112"/>
            <a:ext cx="6858" cy="36576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45236" y="5468112"/>
            <a:ext cx="6858" cy="36576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52094" y="5468112"/>
            <a:ext cx="6858" cy="36576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58952" y="5468112"/>
            <a:ext cx="6858" cy="36576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65810" y="5468112"/>
            <a:ext cx="6858" cy="36576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72668" y="5468112"/>
            <a:ext cx="6858" cy="36576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79526" y="5468112"/>
            <a:ext cx="6858" cy="3657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32688" y="5394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⑥ 风格：画风基底+渲染方式+质量修饰词+参考艺术家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模块03 · 分镜设计与提示词工程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6B35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8C42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完整提示词组装公式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FB34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第一步：确定主体（外貌、服装、配饰）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1371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221992"/>
            <a:ext cx="6859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8378" y="2221992"/>
            <a:ext cx="6858" cy="36576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45236" y="2221992"/>
            <a:ext cx="6858" cy="36576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2094" y="2221992"/>
            <a:ext cx="6858" cy="36576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58952" y="2221992"/>
            <a:ext cx="6858" cy="36576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65810" y="2221992"/>
            <a:ext cx="6858" cy="36576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2668" y="2221992"/>
            <a:ext cx="6858" cy="36576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79526" y="2221992"/>
            <a:ext cx="6858" cy="3657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2688" y="2148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第二步：设定动作和表情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21488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" y="2999232"/>
            <a:ext cx="6859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38378" y="2999232"/>
            <a:ext cx="6858" cy="36576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45236" y="2999232"/>
            <a:ext cx="6858" cy="36576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52094" y="2999232"/>
            <a:ext cx="6858" cy="36576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58952" y="2999232"/>
            <a:ext cx="6858" cy="36576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65810" y="2999232"/>
            <a:ext cx="6858" cy="36576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72668" y="2999232"/>
            <a:ext cx="6858" cy="36576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79526" y="2999232"/>
            <a:ext cx="6858" cy="3657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2688" y="2926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第三步：描述环境（地点、时间、天气）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1520" y="3776472"/>
            <a:ext cx="6859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8378" y="3776472"/>
            <a:ext cx="6858" cy="36576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45236" y="3776472"/>
            <a:ext cx="6858" cy="36576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52094" y="3776472"/>
            <a:ext cx="6858" cy="36576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58952" y="3776472"/>
            <a:ext cx="6858" cy="36576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5810" y="3776472"/>
            <a:ext cx="6858" cy="36576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72668" y="3776472"/>
            <a:ext cx="6858" cy="36576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79526" y="3776472"/>
            <a:ext cx="6858" cy="3657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32688" y="3703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第四步：指定光线类型和方向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" y="3703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1520" y="4553712"/>
            <a:ext cx="6859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8378" y="4553712"/>
            <a:ext cx="6858" cy="36576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5236" y="4553712"/>
            <a:ext cx="6858" cy="36576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2094" y="4553712"/>
            <a:ext cx="6858" cy="36576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8952" y="4553712"/>
            <a:ext cx="6858" cy="36576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5810" y="4553712"/>
            <a:ext cx="6858" cy="36576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2668" y="4553712"/>
            <a:ext cx="6858" cy="36576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9526" y="4553712"/>
            <a:ext cx="6858" cy="3657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32688" y="4480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第五步：定义视角和景别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1520" y="4480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31520" y="5330952"/>
            <a:ext cx="6859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38378" y="5330952"/>
            <a:ext cx="6858" cy="36576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45236" y="5330952"/>
            <a:ext cx="6858" cy="36576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52094" y="5330952"/>
            <a:ext cx="6858" cy="36576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58952" y="5330952"/>
            <a:ext cx="6858" cy="36576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65810" y="5330952"/>
            <a:ext cx="6858" cy="36576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72668" y="5330952"/>
            <a:ext cx="6858" cy="36576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79526" y="5330952"/>
            <a:ext cx="6858" cy="3657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32688" y="5257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第六步：添加风格和质量修饰词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31520" y="5257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模块03 · 分镜设计与提示词工程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6B35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8C42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负面提示词使用策略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FB34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720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1371600"/>
            <a:ext cx="668656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25855" y="1371600"/>
            <a:ext cx="668655" cy="3810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794510" y="1371600"/>
            <a:ext cx="668655" cy="3810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463165" y="1371600"/>
            <a:ext cx="668655" cy="3810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131820" y="1371600"/>
            <a:ext cx="668655" cy="3810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00475" y="1371600"/>
            <a:ext cx="668655" cy="3810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469130" y="1371600"/>
            <a:ext cx="668655" cy="3810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137785" y="1371600"/>
            <a:ext cx="668655" cy="381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  <a:latin typeface="Microsoft YaHei"/>
              </a:defRPr>
            </a:pPr>
            <a:r>
              <a:t>始终使用（基础层）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103120"/>
            <a:ext cx="205741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37260" y="2103120"/>
            <a:ext cx="205740" cy="2540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43000" y="2103120"/>
            <a:ext cx="205740" cy="2540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348740" y="2103120"/>
            <a:ext cx="205740" cy="2540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554480" y="2103120"/>
            <a:ext cx="205740" cy="2540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60220" y="2103120"/>
            <a:ext cx="205740" cy="2540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965960" y="2103120"/>
            <a:ext cx="205740" cy="2540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171700" y="2103120"/>
            <a:ext cx="205740" cy="254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31520" y="2386584"/>
            <a:ext cx="146304" cy="146304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584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low quality, worst quality</a:t>
            </a:r>
          </a:p>
        </p:txBody>
      </p:sp>
      <p:sp>
        <p:nvSpPr>
          <p:cNvPr id="61" name="Oval 60"/>
          <p:cNvSpPr/>
          <p:nvPr/>
        </p:nvSpPr>
        <p:spPr>
          <a:xfrm>
            <a:off x="731520" y="2916936"/>
            <a:ext cx="146304" cy="146304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584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blurry, out of focus</a:t>
            </a:r>
          </a:p>
        </p:txBody>
      </p:sp>
      <p:sp>
        <p:nvSpPr>
          <p:cNvPr id="63" name="Oval 62"/>
          <p:cNvSpPr/>
          <p:nvPr/>
        </p:nvSpPr>
        <p:spPr>
          <a:xfrm>
            <a:off x="731520" y="3447288"/>
            <a:ext cx="146304" cy="146304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584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deformed, disfigured</a:t>
            </a:r>
          </a:p>
        </p:txBody>
      </p:sp>
      <p:sp>
        <p:nvSpPr>
          <p:cNvPr id="65" name="Oval 64"/>
          <p:cNvSpPr/>
          <p:nvPr/>
        </p:nvSpPr>
        <p:spPr>
          <a:xfrm>
            <a:off x="731520" y="3977640"/>
            <a:ext cx="146304" cy="146304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5840" y="39227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extra limbs, missing fingers</a:t>
            </a:r>
          </a:p>
        </p:txBody>
      </p:sp>
      <p:sp>
        <p:nvSpPr>
          <p:cNvPr id="67" name="Oval 66"/>
          <p:cNvSpPr/>
          <p:nvPr/>
        </p:nvSpPr>
        <p:spPr>
          <a:xfrm>
            <a:off x="731520" y="4507992"/>
            <a:ext cx="146304" cy="146304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05840" y="44531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text, watermark, signature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26364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63640" y="1371600"/>
            <a:ext cx="668656" cy="381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932295" y="1371600"/>
            <a:ext cx="668655" cy="38100"/>
          </a:xfrm>
          <a:prstGeom prst="rect">
            <a:avLst/>
          </a:prstGeom>
          <a:solidFill>
            <a:srgbClr val="FF9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600950" y="1371600"/>
            <a:ext cx="668655" cy="38100"/>
          </a:xfrm>
          <a:prstGeom prst="rect">
            <a:avLst/>
          </a:prstGeom>
          <a:solidFill>
            <a:srgbClr val="FF9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269605" y="1371600"/>
            <a:ext cx="668655" cy="38100"/>
          </a:xfrm>
          <a:prstGeom prst="rect">
            <a:avLst/>
          </a:prstGeom>
          <a:solidFill>
            <a:srgbClr val="FF9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938260" y="1371600"/>
            <a:ext cx="668655" cy="38100"/>
          </a:xfrm>
          <a:prstGeom prst="rect">
            <a:avLst/>
          </a:prstGeom>
          <a:solidFill>
            <a:srgbClr val="FFA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606915" y="1371600"/>
            <a:ext cx="668655" cy="38100"/>
          </a:xfrm>
          <a:prstGeom prst="rect">
            <a:avLst/>
          </a:prstGeom>
          <a:solidFill>
            <a:srgbClr val="FF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275570" y="1371600"/>
            <a:ext cx="668655" cy="38100"/>
          </a:xfrm>
          <a:prstGeom prst="rect">
            <a:avLst/>
          </a:prstGeom>
          <a:solidFill>
            <a:srgbClr val="FFA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944225" y="1371600"/>
            <a:ext cx="668655" cy="381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53796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42"/>
                </a:solidFill>
                <a:latin typeface="Microsoft YaHei"/>
              </a:defRPr>
            </a:pPr>
            <a:r>
              <a:t>按场景添加（场景层）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537960" y="2103120"/>
            <a:ext cx="205741" cy="254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43700" y="2103120"/>
            <a:ext cx="205740" cy="25400"/>
          </a:xfrm>
          <a:prstGeom prst="rect">
            <a:avLst/>
          </a:prstGeom>
          <a:solidFill>
            <a:srgbClr val="FF9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949440" y="2103120"/>
            <a:ext cx="205740" cy="25400"/>
          </a:xfrm>
          <a:prstGeom prst="rect">
            <a:avLst/>
          </a:prstGeom>
          <a:solidFill>
            <a:srgbClr val="FF9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155180" y="2103120"/>
            <a:ext cx="205740" cy="25400"/>
          </a:xfrm>
          <a:prstGeom prst="rect">
            <a:avLst/>
          </a:prstGeom>
          <a:solidFill>
            <a:srgbClr val="FF9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60920" y="2103120"/>
            <a:ext cx="205740" cy="25400"/>
          </a:xfrm>
          <a:prstGeom prst="rect">
            <a:avLst/>
          </a:prstGeom>
          <a:solidFill>
            <a:srgbClr val="FFA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66660" y="2103120"/>
            <a:ext cx="205740" cy="25400"/>
          </a:xfrm>
          <a:prstGeom prst="rect">
            <a:avLst/>
          </a:prstGeom>
          <a:solidFill>
            <a:srgbClr val="FF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2103120"/>
            <a:ext cx="205740" cy="25400"/>
          </a:xfrm>
          <a:prstGeom prst="rect">
            <a:avLst/>
          </a:prstGeom>
          <a:solidFill>
            <a:srgbClr val="FFA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978140" y="2103120"/>
            <a:ext cx="205740" cy="254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537960" y="2386584"/>
            <a:ext cx="146304" cy="146304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1228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动作场景：bad anatomy, static pose</a:t>
            </a:r>
          </a:p>
        </p:txBody>
      </p:sp>
      <p:sp>
        <p:nvSpPr>
          <p:cNvPr id="89" name="Oval 88"/>
          <p:cNvSpPr/>
          <p:nvPr/>
        </p:nvSpPr>
        <p:spPr>
          <a:xfrm>
            <a:off x="6537960" y="2916936"/>
            <a:ext cx="146304" cy="146304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81228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情感场景：stiff pose, robotic expression</a:t>
            </a:r>
          </a:p>
        </p:txBody>
      </p:sp>
      <p:sp>
        <p:nvSpPr>
          <p:cNvPr id="91" name="Oval 90"/>
          <p:cNvSpPr/>
          <p:nvPr/>
        </p:nvSpPr>
        <p:spPr>
          <a:xfrm>
            <a:off x="6537960" y="3447288"/>
            <a:ext cx="146304" cy="146304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81228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特写场景：plastic skin, uncanny valley</a:t>
            </a:r>
          </a:p>
        </p:txBody>
      </p:sp>
      <p:sp>
        <p:nvSpPr>
          <p:cNvPr id="93" name="Oval 92"/>
          <p:cNvSpPr/>
          <p:nvPr/>
        </p:nvSpPr>
        <p:spPr>
          <a:xfrm>
            <a:off x="6537960" y="3977640"/>
            <a:ext cx="146304" cy="146304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812280" y="39227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场景展示：flat lighting, cluttered</a:t>
            </a:r>
          </a:p>
        </p:txBody>
      </p:sp>
      <p:sp>
        <p:nvSpPr>
          <p:cNvPr id="95" name="Oval 94"/>
          <p:cNvSpPr/>
          <p:nvPr/>
        </p:nvSpPr>
        <p:spPr>
          <a:xfrm>
            <a:off x="6537960" y="4507992"/>
            <a:ext cx="146304" cy="146304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812280" y="44531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! 不要堆砌过多，限制AI创作空间</a:t>
            </a:r>
          </a:p>
        </p:txBody>
      </p:sp>
      <p:sp>
        <p:nvSpPr>
          <p:cNvPr id="97" name="Rectangle 96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模块03 · 分镜设计与提示词工程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6B35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8C42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Master Reference设计规范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FB34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分辨率至少1024×1024，推荐2048×2048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背景：纯白色或浅灰色（便于AI提取特征）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视角：正面或3/4侧面，展示最多面部信息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姿势：自然站立或T-pose，中性表情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必须包含：完整全身、面部清晰、服装完整、发型完整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1520" y="5468112"/>
            <a:ext cx="6859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38378" y="5468112"/>
            <a:ext cx="6858" cy="36576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45236" y="5468112"/>
            <a:ext cx="6858" cy="36576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52094" y="5468112"/>
            <a:ext cx="6858" cy="36576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58952" y="5468112"/>
            <a:ext cx="6858" cy="36576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65810" y="5468112"/>
            <a:ext cx="6858" cy="36576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72668" y="5468112"/>
            <a:ext cx="6858" cy="36576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79526" y="5468112"/>
            <a:ext cx="6858" cy="3657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32688" y="5394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附带角色描述卡片：姓名、年龄、发色、瞳色、标志性特征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模块03 · 分镜设计与提示词工程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6B35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8C42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导演式分镜思维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FB34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三个核心问题：传递什么信息？唤起什么情绪？在节奏中什么位置？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闪回技巧：柔化边缘+不同色调+颗粒感+虚线边框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正反打：角色A过肩看B → B过肩看A → A近景反应 → B近景反应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时间压缩（蒙太奇）：4-6小格展示时间节点变化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时间扩展（慢动作）：一个动作拆分3-4帧展示不同阶段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1520" y="5468112"/>
            <a:ext cx="6859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38378" y="5468112"/>
            <a:ext cx="6858" cy="36576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45236" y="5468112"/>
            <a:ext cx="6858" cy="36576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52094" y="5468112"/>
            <a:ext cx="6858" cy="36576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58952" y="5468112"/>
            <a:ext cx="6858" cy="36576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65810" y="5468112"/>
            <a:ext cx="6858" cy="36576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72668" y="5468112"/>
            <a:ext cx="6858" cy="36576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79526" y="5468112"/>
            <a:ext cx="6858" cy="3657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32688" y="5394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留白与悬念：大面积空白暗示孤独，画格外元素暗示威胁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模块03 · 分镜设计与提示词工程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6B35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8C42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B3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◆  本模块实操任务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EE7B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" y="144475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144475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8096" y="144475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4672" y="144475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41248" y="144475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77824" y="144475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" y="144475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50976" y="144475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7552" y="144475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8872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45920" y="1371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用五种景别为同一场景各写一组AI提示词并对比效果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222199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1520" y="222199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68096" y="222199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4672" y="222199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41248" y="222199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77824" y="222199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400" y="222199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50976" y="222199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87552" y="222199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8872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45920" y="21488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用六要素框架为3个场景编写完整提示词并生成图片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" y="299923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31520" y="299923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68096" y="299923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04672" y="299923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41248" y="299923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7824" y="299923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14400" y="299923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50976" y="299923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87552" y="299923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8872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645920" y="2926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建立个人提示词模板库（动作/情感/特写/场景各1个模板）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31520" y="377647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31520" y="377647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8096" y="377647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04672" y="377647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41248" y="377647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77824" y="377647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14400" y="377647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50976" y="377647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87552" y="377647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188720" y="3703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645920" y="3703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用Drawstory或即梦AI制作一个4格分镜页面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31520" y="455371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31520" y="455371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8096" y="455371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4672" y="455371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41248" y="455371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77824" y="455371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14400" y="455371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50976" y="455371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87552" y="455371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88720" y="4480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645920" y="44805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为你的漫剧主角制作一张Master Reference角色参考图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31520" y="533095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31520" y="533095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68096" y="533095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04672" y="533095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41248" y="533095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7824" y="533095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14400" y="533095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50976" y="533095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87552" y="533095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188720" y="5257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645920" y="52578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完成一集15个镜头的完整分镜设计（含提示词）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模块03 · 分镜设计与提示词工程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914400"/>
            <a:ext cx="6400800" cy="6400800"/>
          </a:xfrm>
          <a:prstGeom prst="ellipse">
            <a:avLst/>
          </a:prstGeom>
          <a:solidFill>
            <a:srgbClr val="FF6B35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1371600"/>
            <a:ext cx="491491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06290" y="1371600"/>
            <a:ext cx="491490" cy="3810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97780" y="1371600"/>
            <a:ext cx="491490" cy="3810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9270" y="1371600"/>
            <a:ext cx="491490" cy="3810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80760" y="1371600"/>
            <a:ext cx="491490" cy="3810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72250" y="1371600"/>
            <a:ext cx="491490" cy="3810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63740" y="1371600"/>
            <a:ext cx="491490" cy="3810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55230" y="1371600"/>
            <a:ext cx="491490" cy="381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6B35"/>
                </a:solidFill>
                <a:latin typeface="Microsoft YaHei"/>
              </a:defRPr>
            </a:pPr>
            <a: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320040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本模块结束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4023360"/>
            <a:ext cx="262891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4023360"/>
            <a:ext cx="262890" cy="25400"/>
          </a:xfrm>
          <a:prstGeom prst="rect">
            <a:avLst/>
          </a:prstGeom>
          <a:solidFill>
            <a:srgbClr val="FF6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4023360"/>
            <a:ext cx="262890" cy="25400"/>
          </a:xfrm>
          <a:prstGeom prst="rect">
            <a:avLst/>
          </a:prstGeom>
          <a:solidFill>
            <a:srgbClr val="FF7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4023360"/>
            <a:ext cx="262890" cy="25400"/>
          </a:xfrm>
          <a:prstGeom prst="rect">
            <a:avLst/>
          </a:prstGeom>
          <a:solidFill>
            <a:srgbClr val="FF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4023360"/>
            <a:ext cx="262890" cy="25400"/>
          </a:xfrm>
          <a:prstGeom prst="rect">
            <a:avLst/>
          </a:prstGeom>
          <a:solidFill>
            <a:srgbClr val="FF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4023360"/>
            <a:ext cx="262890" cy="25400"/>
          </a:xfrm>
          <a:prstGeom prst="rect">
            <a:avLst/>
          </a:prstGeom>
          <a:solidFill>
            <a:srgbClr val="FF8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4023360"/>
            <a:ext cx="262890" cy="25400"/>
          </a:xfrm>
          <a:prstGeom prst="rect">
            <a:avLst/>
          </a:prstGeom>
          <a:solidFill>
            <a:srgbClr val="FF8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4023360"/>
            <a:ext cx="262890" cy="254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8BAC8"/>
                </a:solidFill>
                <a:latin typeface="Microsoft YaHei"/>
              </a:defRPr>
            </a:pPr>
            <a:r>
              <a:t>下一模块：即梦AI深度精通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E7082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8A4EF0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2743200"/>
            <a:ext cx="5486400" cy="5486400"/>
          </a:xfrm>
          <a:prstGeom prst="ellipse">
            <a:avLst/>
          </a:prstGeom>
          <a:solidFill>
            <a:srgbClr val="A855F7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4572000"/>
            <a:ext cx="3657600" cy="3657600"/>
          </a:xfrm>
          <a:prstGeom prst="ellipse">
            <a:avLst/>
          </a:prstGeom>
          <a:solidFill>
            <a:srgbClr val="C084FF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0"/>
            <a:ext cx="182880" cy="6858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91440" cy="6858000"/>
          </a:xfrm>
          <a:prstGeom prst="rect">
            <a:avLst/>
          </a:prstGeom>
          <a:solidFill>
            <a:srgbClr val="542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8016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5448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1031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774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8016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55448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8288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031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3774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2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58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8016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8288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1031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3774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7315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657600"/>
            <a:ext cx="1828800" cy="329184"/>
          </a:xfrm>
          <a:prstGeom prst="round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657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084FF"/>
                </a:solidFill>
                <a:latin typeface="Microsoft YaHei"/>
              </a:defRPr>
            </a:pPr>
            <a:r>
              <a:t>M O D U L 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114800"/>
            <a:ext cx="285751" cy="3810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2950" y="4114800"/>
            <a:ext cx="285750" cy="38100"/>
          </a:xfrm>
          <a:prstGeom prst="rect">
            <a:avLst/>
          </a:prstGeom>
          <a:solidFill>
            <a:srgbClr val="B87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28700" y="4114800"/>
            <a:ext cx="285750" cy="38100"/>
          </a:xfrm>
          <a:prstGeom prst="rect">
            <a:avLst/>
          </a:prstGeom>
          <a:solidFill>
            <a:srgbClr val="B07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314450" y="4114800"/>
            <a:ext cx="285750" cy="38100"/>
          </a:xfrm>
          <a:prstGeom prst="rect">
            <a:avLst/>
          </a:prstGeom>
          <a:solidFill>
            <a:srgbClr val="A86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600200" y="4114800"/>
            <a:ext cx="285750" cy="38100"/>
          </a:xfrm>
          <a:prstGeom prst="rect">
            <a:avLst/>
          </a:prstGeom>
          <a:solidFill>
            <a:srgbClr val="A16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885950" y="4114800"/>
            <a:ext cx="285750" cy="38100"/>
          </a:xfrm>
          <a:prstGeom prst="rect">
            <a:avLst/>
          </a:prstGeom>
          <a:solidFill>
            <a:srgbClr val="995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171700" y="4114800"/>
            <a:ext cx="285750" cy="38100"/>
          </a:xfrm>
          <a:prstGeom prst="rect">
            <a:avLst/>
          </a:prstGeom>
          <a:solidFill>
            <a:srgbClr val="915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457450" y="4114800"/>
            <a:ext cx="285750" cy="381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035040" y="1097280"/>
            <a:ext cx="5486400" cy="457200"/>
          </a:xfrm>
          <a:prstGeom prst="roundRect">
            <a:avLst/>
          </a:prstGeom>
          <a:solidFill>
            <a:srgbClr val="2A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084FF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20116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F0F5"/>
                </a:solidFill>
                <a:latin typeface="Microsoft YaHei"/>
              </a:defRPr>
            </a:pPr>
            <a:r>
              <a:t>模块四：即梦AI深度精通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3840480"/>
            <a:ext cx="400051" cy="381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5090" y="3840480"/>
            <a:ext cx="400050" cy="381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835140" y="3840480"/>
            <a:ext cx="400050" cy="381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35190" y="3840480"/>
            <a:ext cx="400050" cy="381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635240" y="3840480"/>
            <a:ext cx="400050" cy="381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35290" y="3840480"/>
            <a:ext cx="400050" cy="381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435340" y="3840480"/>
            <a:ext cx="400050" cy="381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35390" y="3840480"/>
            <a:ext cx="400050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35040" y="42062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10课时 · 从灵感到成片的完整AI创作链路闭环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035040" y="5303520"/>
            <a:ext cx="5486400" cy="6400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722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A4EF0"/>
                </a:solidFill>
                <a:latin typeface="Microsoft YaHei"/>
              </a:defRPr>
            </a:pPr>
            <a:r>
              <a:t>124课时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609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438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A4EF0"/>
                </a:solidFill>
                <a:latin typeface="Microsoft YaHei"/>
              </a:defRPr>
            </a:pPr>
            <a:r>
              <a:t>17模块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7325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154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A4EF0"/>
                </a:solidFill>
                <a:latin typeface="Microsoft YaHei"/>
              </a:defRPr>
            </a:pPr>
            <a:r>
              <a:t>8-16周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1041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2870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A4EF0"/>
                </a:solidFill>
                <a:latin typeface="Microsoft YaHei"/>
              </a:defRPr>
            </a:pPr>
            <a:r>
              <a:t>全流程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155680" y="0"/>
            <a:ext cx="1036015" cy="381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1978640" y="0"/>
            <a:ext cx="38100" cy="73152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521440" y="274320"/>
            <a:ext cx="137160" cy="137160"/>
          </a:xfrm>
          <a:prstGeom prst="ellipse">
            <a:avLst/>
          </a:prstGeom>
          <a:solidFill>
            <a:srgbClr val="C084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8A4EF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A855F7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§  本节内容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C084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31520" y="1397000"/>
            <a:ext cx="274320" cy="274320"/>
          </a:xfrm>
          <a:prstGeom prst="ellipse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422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即梦AI平台全面认知</a:t>
            </a:r>
          </a:p>
        </p:txBody>
      </p:sp>
      <p:sp>
        <p:nvSpPr>
          <p:cNvPr id="44" name="Oval 43"/>
          <p:cNvSpPr/>
          <p:nvPr/>
        </p:nvSpPr>
        <p:spPr>
          <a:xfrm>
            <a:off x="731520" y="1963928"/>
            <a:ext cx="274320" cy="274320"/>
          </a:xfrm>
          <a:prstGeom prst="ellipse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422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文生图：提示词编写与参数调节</a:t>
            </a:r>
          </a:p>
        </p:txBody>
      </p:sp>
      <p:sp>
        <p:nvSpPr>
          <p:cNvPr id="47" name="Oval 46"/>
          <p:cNvSpPr/>
          <p:nvPr/>
        </p:nvSpPr>
        <p:spPr>
          <a:xfrm>
            <a:off x="731520" y="2530856"/>
            <a:ext cx="274320" cy="274320"/>
          </a:xfrm>
          <a:prstGeom prst="ellipse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422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图生图：风格迁移与画面精修</a:t>
            </a:r>
          </a:p>
        </p:txBody>
      </p:sp>
      <p:sp>
        <p:nvSpPr>
          <p:cNvPr id="50" name="Oval 49"/>
          <p:cNvSpPr/>
          <p:nvPr/>
        </p:nvSpPr>
        <p:spPr>
          <a:xfrm>
            <a:off x="731520" y="3097784"/>
            <a:ext cx="274320" cy="274320"/>
          </a:xfrm>
          <a:prstGeom prst="ellipse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4220" y="30977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" y="307238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角色一致性技术</a:t>
            </a:r>
          </a:p>
        </p:txBody>
      </p:sp>
      <p:sp>
        <p:nvSpPr>
          <p:cNvPr id="53" name="Oval 52"/>
          <p:cNvSpPr/>
          <p:nvPr/>
        </p:nvSpPr>
        <p:spPr>
          <a:xfrm>
            <a:off x="731520" y="3664712"/>
            <a:ext cx="274320" cy="274320"/>
          </a:xfrm>
          <a:prstGeom prst="ellipse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4220" y="366471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" y="363931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场景资产库搭建</a:t>
            </a:r>
          </a:p>
        </p:txBody>
      </p:sp>
      <p:sp>
        <p:nvSpPr>
          <p:cNvPr id="56" name="Oval 55"/>
          <p:cNvSpPr/>
          <p:nvPr/>
        </p:nvSpPr>
        <p:spPr>
          <a:xfrm>
            <a:off x="6400800" y="1397000"/>
            <a:ext cx="274320" cy="274320"/>
          </a:xfrm>
          <a:prstGeom prst="ellipse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1350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多风格切换</a:t>
            </a:r>
          </a:p>
        </p:txBody>
      </p:sp>
      <p:sp>
        <p:nvSpPr>
          <p:cNvPr id="59" name="Oval 58"/>
          <p:cNvSpPr/>
          <p:nvPr/>
        </p:nvSpPr>
        <p:spPr>
          <a:xfrm>
            <a:off x="6400800" y="1963928"/>
            <a:ext cx="274320" cy="274320"/>
          </a:xfrm>
          <a:prstGeom prst="ellipse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1350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6656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即梦AI+剪映生态整合</a:t>
            </a:r>
          </a:p>
        </p:txBody>
      </p:sp>
      <p:sp>
        <p:nvSpPr>
          <p:cNvPr id="62" name="Oval 61"/>
          <p:cNvSpPr/>
          <p:nvPr/>
        </p:nvSpPr>
        <p:spPr>
          <a:xfrm>
            <a:off x="6400800" y="2530856"/>
            <a:ext cx="274320" cy="274320"/>
          </a:xfrm>
          <a:prstGeom prst="ellipse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1350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6656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火山引擎API企业级接入</a:t>
            </a:r>
          </a:p>
        </p:txBody>
      </p:sp>
      <p:sp>
        <p:nvSpPr>
          <p:cNvPr id="65" name="Oval 64"/>
          <p:cNvSpPr/>
          <p:nvPr/>
        </p:nvSpPr>
        <p:spPr>
          <a:xfrm>
            <a:off x="6400800" y="3097784"/>
            <a:ext cx="274320" cy="274320"/>
          </a:xfrm>
          <a:prstGeom prst="ellipse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13500" y="30977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66560" y="307238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高级技巧：多图参考与局部重绘</a:t>
            </a:r>
          </a:p>
        </p:txBody>
      </p:sp>
      <p:sp>
        <p:nvSpPr>
          <p:cNvPr id="68" name="Oval 67"/>
          <p:cNvSpPr/>
          <p:nvPr/>
        </p:nvSpPr>
        <p:spPr>
          <a:xfrm>
            <a:off x="6400800" y="3664712"/>
            <a:ext cx="274320" cy="274320"/>
          </a:xfrm>
          <a:prstGeom prst="ellipse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13500" y="366471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66560" y="363931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实战：一集漫剧全部关键帧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模块04 · 即梦AI深度精通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▤  ▤ 即梦AI核心数据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C084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1371600"/>
            <a:ext cx="262890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371600"/>
            <a:ext cx="328613" cy="381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5812" y="1371600"/>
            <a:ext cx="328612" cy="381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14424" y="1371600"/>
            <a:ext cx="328612" cy="381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443036" y="1371600"/>
            <a:ext cx="328612" cy="381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71648" y="1371600"/>
            <a:ext cx="328612" cy="381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100260" y="1371600"/>
            <a:ext cx="328612" cy="381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428872" y="1371600"/>
            <a:ext cx="328612" cy="381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57484" y="1371600"/>
            <a:ext cx="328612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7250" y="914400"/>
            <a:ext cx="1828800" cy="1828800"/>
          </a:xfrm>
          <a:prstGeom prst="ellipse">
            <a:avLst/>
          </a:prstGeom>
          <a:solidFill>
            <a:srgbClr val="8A4EF0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1371600"/>
            <a:ext cx="328613" cy="508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5812" y="1371600"/>
            <a:ext cx="328612" cy="508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424" y="1371600"/>
            <a:ext cx="328612" cy="508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43036" y="1371600"/>
            <a:ext cx="328612" cy="508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771648" y="1371600"/>
            <a:ext cx="328612" cy="508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100260" y="1371600"/>
            <a:ext cx="328612" cy="508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428872" y="1371600"/>
            <a:ext cx="328612" cy="508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57484" y="1371600"/>
            <a:ext cx="328612" cy="508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1737360"/>
            <a:ext cx="24460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8A4EF0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2926080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E7082"/>
                </a:solidFill>
                <a:latin typeface="Microsoft YaHei"/>
              </a:defRPr>
            </a:pPr>
            <a:r>
              <a:t>大功能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3337560"/>
            <a:ext cx="2080260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3520440"/>
            <a:ext cx="24460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0F5"/>
                </a:solidFill>
                <a:latin typeface="Microsoft YaHei"/>
              </a:defRPr>
            </a:pPr>
            <a:r>
              <a:t>核心能力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4023360"/>
            <a:ext cx="23545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E7082"/>
                </a:solidFill>
                <a:latin typeface="Microsoft YaHei"/>
              </a:defRPr>
            </a:pPr>
            <a:r>
              <a:t>文生图/图生图/文生视频/图生视频/智能编辑/角色参考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14700" y="1371600"/>
            <a:ext cx="262890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314700" y="1371600"/>
            <a:ext cx="328613" cy="381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43312" y="1371600"/>
            <a:ext cx="328612" cy="381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971924" y="1371600"/>
            <a:ext cx="328612" cy="381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00536" y="1371600"/>
            <a:ext cx="328612" cy="381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629148" y="1371600"/>
            <a:ext cx="328612" cy="381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957760" y="1371600"/>
            <a:ext cx="328612" cy="381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286372" y="1371600"/>
            <a:ext cx="328612" cy="381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614984" y="1371600"/>
            <a:ext cx="328612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714750" y="914400"/>
            <a:ext cx="1828800" cy="1828800"/>
          </a:xfrm>
          <a:prstGeom prst="ellipse">
            <a:avLst/>
          </a:prstGeom>
          <a:solidFill>
            <a:srgbClr val="8A4EF0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314700" y="1371600"/>
            <a:ext cx="328613" cy="508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643312" y="1371600"/>
            <a:ext cx="328612" cy="508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971924" y="1371600"/>
            <a:ext cx="328612" cy="508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300536" y="1371600"/>
            <a:ext cx="328612" cy="508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629148" y="1371600"/>
            <a:ext cx="328612" cy="508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957760" y="1371600"/>
            <a:ext cx="328612" cy="508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286372" y="1371600"/>
            <a:ext cx="328612" cy="508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614984" y="1371600"/>
            <a:ext cx="328612" cy="508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06140" y="1737360"/>
            <a:ext cx="24460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8A4EF0"/>
                </a:solidFill>
                <a:latin typeface="Microsoft YaHei"/>
              </a:defRPr>
            </a:pPr>
            <a:r>
              <a:t>128K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06140" y="2926080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E7082"/>
                </a:solidFill>
                <a:latin typeface="Microsoft YaHei"/>
              </a:defRPr>
            </a:pPr>
            <a:r>
              <a:t>tokens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589020" y="3337560"/>
            <a:ext cx="2080260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06140" y="3520440"/>
            <a:ext cx="24460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0F5"/>
                </a:solidFill>
                <a:latin typeface="Microsoft YaHei"/>
              </a:defRPr>
            </a:pPr>
            <a:r>
              <a:t>上下文理解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51860" y="4023360"/>
            <a:ext cx="23545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E7082"/>
                </a:solidFill>
                <a:latin typeface="Microsoft YaHei"/>
              </a:defRPr>
            </a:pPr>
            <a:r>
              <a:t>超长提示词精准解析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172200" y="1371600"/>
            <a:ext cx="262890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172200" y="1371600"/>
            <a:ext cx="328613" cy="381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500812" y="1371600"/>
            <a:ext cx="328612" cy="381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829424" y="1371600"/>
            <a:ext cx="328612" cy="381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158036" y="1371600"/>
            <a:ext cx="328612" cy="381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486648" y="1371600"/>
            <a:ext cx="328612" cy="381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815260" y="1371600"/>
            <a:ext cx="328612" cy="381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143872" y="1371600"/>
            <a:ext cx="328612" cy="381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472484" y="1371600"/>
            <a:ext cx="328612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572250" y="914400"/>
            <a:ext cx="1828800" cy="1828800"/>
          </a:xfrm>
          <a:prstGeom prst="ellipse">
            <a:avLst/>
          </a:prstGeom>
          <a:solidFill>
            <a:srgbClr val="8A4EF0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72200" y="1371600"/>
            <a:ext cx="328613" cy="508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500812" y="1371600"/>
            <a:ext cx="328612" cy="508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29424" y="1371600"/>
            <a:ext cx="328612" cy="508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158036" y="1371600"/>
            <a:ext cx="328612" cy="508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486648" y="1371600"/>
            <a:ext cx="328612" cy="508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815260" y="1371600"/>
            <a:ext cx="328612" cy="508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143872" y="1371600"/>
            <a:ext cx="328612" cy="508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472484" y="1371600"/>
            <a:ext cx="328612" cy="508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63640" y="1737360"/>
            <a:ext cx="24460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8A4EF0"/>
                </a:solidFill>
                <a:latin typeface="Microsoft YaHei"/>
              </a:defRPr>
            </a:pPr>
            <a:r>
              <a:t>100+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63640" y="2926080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E7082"/>
                </a:solidFill>
                <a:latin typeface="Microsoft YaHei"/>
              </a:defRPr>
            </a:pPr>
            <a:r>
              <a:t>种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46520" y="3337560"/>
            <a:ext cx="2080260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263640" y="3520440"/>
            <a:ext cx="24460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0F5"/>
                </a:solidFill>
                <a:latin typeface="Microsoft YaHei"/>
              </a:defRPr>
            </a:pPr>
            <a:r>
              <a:t>预设风格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309360" y="4023360"/>
            <a:ext cx="23545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E7082"/>
                </a:solidFill>
                <a:latin typeface="Microsoft YaHei"/>
              </a:defRPr>
            </a:pPr>
            <a:r>
              <a:t>日漫/国漫/赛博朋克/古风等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029700" y="1371600"/>
            <a:ext cx="262890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029700" y="1371600"/>
            <a:ext cx="328613" cy="381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358312" y="1371600"/>
            <a:ext cx="328612" cy="381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686924" y="1371600"/>
            <a:ext cx="328612" cy="381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015536" y="1371600"/>
            <a:ext cx="328612" cy="381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344148" y="1371600"/>
            <a:ext cx="328612" cy="381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672760" y="1371600"/>
            <a:ext cx="328612" cy="381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1001372" y="1371600"/>
            <a:ext cx="328612" cy="381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1329984" y="1371600"/>
            <a:ext cx="328612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429750" y="914400"/>
            <a:ext cx="1828800" cy="1828800"/>
          </a:xfrm>
          <a:prstGeom prst="ellipse">
            <a:avLst/>
          </a:prstGeom>
          <a:solidFill>
            <a:srgbClr val="8A4EF0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029700" y="1371600"/>
            <a:ext cx="328613" cy="508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358312" y="1371600"/>
            <a:ext cx="328612" cy="508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9686924" y="1371600"/>
            <a:ext cx="328612" cy="508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015536" y="1371600"/>
            <a:ext cx="328612" cy="508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344148" y="1371600"/>
            <a:ext cx="328612" cy="508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0672760" y="1371600"/>
            <a:ext cx="328612" cy="508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1001372" y="1371600"/>
            <a:ext cx="328612" cy="508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1329984" y="1371600"/>
            <a:ext cx="328612" cy="508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121140" y="1737360"/>
            <a:ext cx="24460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8A4EF0"/>
                </a:solidFill>
                <a:latin typeface="Microsoft YaHei"/>
              </a:defRPr>
            </a:pPr>
            <a:r>
              <a:t>2048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121140" y="2926080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E7082"/>
                </a:solidFill>
                <a:latin typeface="Microsoft YaHei"/>
              </a:defRPr>
            </a:pPr>
            <a:r>
              <a:t>px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304020" y="3337560"/>
            <a:ext cx="2080260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121140" y="3520440"/>
            <a:ext cx="24460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0F5"/>
                </a:solidFill>
                <a:latin typeface="Microsoft YaHei"/>
              </a:defRPr>
            </a:pPr>
            <a:r>
              <a:t>最大分辨率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166860" y="4023360"/>
            <a:ext cx="23545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E7082"/>
                </a:solidFill>
                <a:latin typeface="Microsoft YaHei"/>
              </a:defRPr>
            </a:pPr>
            <a:r>
              <a:t>支持高清大图生成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模块04 · 即梦AI深度精通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8A4EF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A855F7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即梦AI核心能力矩阵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C084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文生图：输入文字描述，AI生成图片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图生图：上传参考图，AI进行风格变换或内容修改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文生视频：输入文字描述，AI生成4-8秒短视频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图生视频：上传静态图，AI让它"动起来"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智能编辑：局部重绘、扩图、去背景等后期操作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1520" y="5468112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38378" y="5468112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45236" y="5468112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52094" y="5468112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58952" y="5468112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65810" y="5468112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72668" y="5468112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79526" y="5468112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32688" y="5394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角色参考：锁定角色外观，跨镜头保持一致性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模块04 · 即梦AI深度精通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0"/>
            <a:ext cx="6400800" cy="6400800"/>
          </a:xfrm>
          <a:prstGeom prst="ellipse">
            <a:avLst/>
          </a:prstGeom>
          <a:solidFill>
            <a:srgbClr val="8A4EF0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2743200"/>
            <a:ext cx="4572000" cy="4572000"/>
          </a:xfrm>
          <a:prstGeom prst="ellipse">
            <a:avLst/>
          </a:prstGeom>
          <a:solidFill>
            <a:srgbClr val="A855F7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1097280"/>
            <a:ext cx="720091" cy="381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920490" y="1097280"/>
            <a:ext cx="720090" cy="381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40580" y="1097280"/>
            <a:ext cx="720090" cy="381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60670" y="1097280"/>
            <a:ext cx="720090" cy="381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80760" y="1097280"/>
            <a:ext cx="720090" cy="381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00850" y="1097280"/>
            <a:ext cx="720090" cy="381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20940" y="1097280"/>
            <a:ext cx="720090" cy="381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41030" y="1097280"/>
            <a:ext cx="720090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164592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免费额度充足 + 中文理解强 + 角色一致性 + 剪映生态整合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931920"/>
            <a:ext cx="262891" cy="254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3931920"/>
            <a:ext cx="262890" cy="254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3931920"/>
            <a:ext cx="262890" cy="254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3931920"/>
            <a:ext cx="262890" cy="254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3931920"/>
            <a:ext cx="262890" cy="254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3931920"/>
            <a:ext cx="262890" cy="254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3931920"/>
            <a:ext cx="262890" cy="254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3931920"/>
            <a:ext cx="262890" cy="25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297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新用户每天有大量免费生成次数；对中文提示词的理解优于海外工具；提供"角色参考"功能解决AI漫剧最大痛点——同一角色跨镜头形象不统一；与剪映无缝衔接，生成内容可直接导入剪辑。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模块04 · 即梦AI深度精通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8A4EF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A855F7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即梦AI完整链路闭环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C084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Step 1 创意构思：确定题材、受众、视觉风格（5分钟）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1371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221992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8378" y="2221992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45236" y="2221992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2094" y="2221992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58952" y="2221992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65810" y="2221992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2668" y="2221992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79526" y="2221992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2688" y="2148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Step 2 剧本撰写：AI辅助生成分集剧本（30分钟）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21488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" y="2999232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38378" y="2999232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45236" y="2999232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52094" y="2999232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58952" y="2999232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65810" y="2999232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72668" y="2999232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79526" y="2999232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2688" y="2926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Step 3 分镜设计：将剧本转化为分镜表（20分钟）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1520" y="3776472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8378" y="3776472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45236" y="3776472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52094" y="3776472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58952" y="3776472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5810" y="3776472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72668" y="3776472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79526" y="3776472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32688" y="3703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Step 4 关键帧生成：逐镜头输入提示词生成画面（核心步骤）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" y="3703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1520" y="4553712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8378" y="4553712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5236" y="4553712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2094" y="4553712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8952" y="4553712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5810" y="4553712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2668" y="4553712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9526" y="4553712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32688" y="4480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Step 5 视频合成：图生视频为每个镜头添加动态效果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1520" y="4480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31520" y="5330952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38378" y="5330952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45236" y="5330952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52094" y="5330952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58952" y="5330952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65810" y="5330952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72668" y="5330952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79526" y="5330952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32688" y="5257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Step 6 配音配乐：剪映AI配音 + BGM + 音效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31520" y="5257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模块04 · 即梦AI深度精通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8A4EF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A855F7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提示词编写七步法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C084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① 确定主体：外貌特征（发型、发色、眼睛、服装、表情）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② 设定场景：室内/室外、具体地点、背景元素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③ 指定风格：日漫/国漫/赛博朋克/写实/油画等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④ 定义构图：镜头类型（特写/中景/全景）+ 角度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⑤ 设置光照：光源方向 + 光线类型 + 氛围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1520" y="5468112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38378" y="5468112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45236" y="5468112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52094" y="5468112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58952" y="5468112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65810" y="5468112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72668" y="5468112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79526" y="5468112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32688" y="5394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⑥ 添加细节：飘动头发、飞舞花瓣、材质质感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模块04 · 即梦AI深度精通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8A4EF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A855F7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角色一致性解决方案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C084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48640" y="1280160"/>
          <a:ext cx="110642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方案</a:t>
                      </a:r>
                    </a:p>
                  </a:txBody>
                  <a:tcPr anchor="ctr">
                    <a:solidFill>
                      <a:srgbClr val="8A4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原理</a:t>
                      </a:r>
                    </a:p>
                  </a:txBody>
                  <a:tcPr anchor="ctr">
                    <a:solidFill>
                      <a:srgbClr val="8A4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效果</a:t>
                      </a:r>
                    </a:p>
                  </a:txBody>
                  <a:tcPr anchor="ctr">
                    <a:solidFill>
                      <a:srgbClr val="8A4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难度</a:t>
                      </a:r>
                    </a:p>
                  </a:txBody>
                  <a:tcPr anchor="ctr">
                    <a:solidFill>
                      <a:srgbClr val="8A4E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角色参考功能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上传参考图锁定外貌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简单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固定提示词模板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完全一致的文字描述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简单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种子值固定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固定随机种子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★★☆☆☆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中等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图生图接力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基于已有角色图微调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中等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多方案组合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以上方法综合使用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较复杂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模块04 · 即梦AI深度精通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8A4EF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A855F7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场景资产库搭建方法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C084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核心思路：为每个高频场景创建一张"母版图"，再衍生变体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母版图要求：全景视角、中性光线、无角色、细节丰富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变体类型：不同时间（白天/黄昏/深夜）、不同角度、不同天气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命名规范：[场景编号]-[场景名称]-[变体类型]-[版本号]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每个场景附带描述文档：核心元素、光线设定、氛围关键词、母版图参数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模块04 · 即梦AI深度精通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8A4EF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A855F7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即梦AI + 剪映工作流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C084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同属字节系：数据互通，账号打通，素材可直接流转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即梦负责"生"：AI生成关键帧画面和动态视频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剪映负责"剪"：拼接、配音、字幕、特效、转场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关键帧图片可添加Ken Burns效果（缓慢推进/左移）增加动态感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剪映AI配音支持多种声音，可用标点控制停顿和节奏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1520" y="5468112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38378" y="5468112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45236" y="5468112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52094" y="5468112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58952" y="5468112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65810" y="5468112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72668" y="5468112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79526" y="5468112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32688" y="5394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导出建议：1080p / 30fps / MP4 / H.264编码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模块04 · 即梦AI深度精通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8A4EF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A855F7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局部重绘与多图参考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C084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局部重绘（Inpainting）：只修改图片某一部分，其余保持不变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应用场景：修复手部变形、修改表情、更换服装、添加/移除元素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操作：绘制蒙版→输入重绘提示词→设置重绘强度（0.7-0.9）→生成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多图参考：同时上传2-4张参考图，AI综合多维度特征生成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参考图分配：角色参考→锁定外貌；场景参考→锁定环境；风格参考→锁定画风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模块04 · 即梦AI深度精通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8A4EF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A855F7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C08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◆  本模块实操任务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EE7B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" y="144475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144475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8096" y="144475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4672" y="144475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41248" y="144475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77824" y="144475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" y="144475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50976" y="144475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7552" y="144475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8872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45920" y="1371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注册即梦AI，用文生图生成5张不同风格的图片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222199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1520" y="222199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68096" y="222199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4672" y="222199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41248" y="222199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77824" y="222199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400" y="222199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50976" y="222199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87552" y="222199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8872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45920" y="21488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为漫剧主角创建角色基准图，用角色参考功能生成5个不同场景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" y="299923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31520" y="299923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68096" y="299923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04672" y="299923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41248" y="299923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7824" y="299923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14400" y="299923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50976" y="299923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87552" y="299923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8872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645920" y="2926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为3个核心场景生成母版图，每个衍生3个变体版本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31520" y="377647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31520" y="377647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8096" y="377647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04672" y="377647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41248" y="377647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77824" y="377647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14400" y="377647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50976" y="377647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87552" y="377647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188720" y="3703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645920" y="3703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用图生图将照片转为动漫风格，对比不同重绘强度效果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31520" y="455371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31520" y="455371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8096" y="455371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4672" y="455371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41248" y="455371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77824" y="455371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14400" y="455371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50976" y="455371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87552" y="455371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88720" y="4480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645920" y="44805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用局部重绘修复一张有手部缺陷的图片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31520" y="533095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31520" y="533095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68096" y="533095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04672" y="533095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41248" y="533095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7824" y="533095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14400" y="533095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50976" y="533095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87552" y="533095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188720" y="5257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645920" y="52578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完成一集漫剧全部13个关键帧画面的生成与精修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模块04 · 即梦AI深度精通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914400"/>
            <a:ext cx="6400800" cy="6400800"/>
          </a:xfrm>
          <a:prstGeom prst="ellipse">
            <a:avLst/>
          </a:prstGeom>
          <a:solidFill>
            <a:srgbClr val="8A4EF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1371600"/>
            <a:ext cx="491491" cy="381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06290" y="1371600"/>
            <a:ext cx="491490" cy="381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97780" y="1371600"/>
            <a:ext cx="491490" cy="381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9270" y="1371600"/>
            <a:ext cx="491490" cy="381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80760" y="1371600"/>
            <a:ext cx="491490" cy="381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72250" y="1371600"/>
            <a:ext cx="491490" cy="381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63740" y="1371600"/>
            <a:ext cx="491490" cy="381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55230" y="1371600"/>
            <a:ext cx="491490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8A4EF0"/>
                </a:solidFill>
                <a:latin typeface="Microsoft YaHei"/>
              </a:defRPr>
            </a:pPr>
            <a: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320040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本模块结束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4023360"/>
            <a:ext cx="262891" cy="25400"/>
          </a:xfrm>
          <a:prstGeom prst="rect">
            <a:avLst/>
          </a:prstGeom>
          <a:solidFill>
            <a:srgbClr val="8A4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4023360"/>
            <a:ext cx="262890" cy="25400"/>
          </a:xfrm>
          <a:prstGeom prst="rect">
            <a:avLst/>
          </a:prstGeom>
          <a:solidFill>
            <a:srgbClr val="8E4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4023360"/>
            <a:ext cx="262890" cy="25400"/>
          </a:xfrm>
          <a:prstGeom prst="rect">
            <a:avLst/>
          </a:prstGeom>
          <a:solidFill>
            <a:srgbClr val="925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4023360"/>
            <a:ext cx="262890" cy="25400"/>
          </a:xfrm>
          <a:prstGeom prst="rect">
            <a:avLst/>
          </a:prstGeom>
          <a:solidFill>
            <a:srgbClr val="965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4023360"/>
            <a:ext cx="262890" cy="25400"/>
          </a:xfrm>
          <a:prstGeom prst="rect">
            <a:avLst/>
          </a:prstGeom>
          <a:solidFill>
            <a:srgbClr val="9B5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4023360"/>
            <a:ext cx="262890" cy="25400"/>
          </a:xfrm>
          <a:prstGeom prst="rect">
            <a:avLst/>
          </a:prstGeom>
          <a:solidFill>
            <a:srgbClr val="9F5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4023360"/>
            <a:ext cx="262890" cy="25400"/>
          </a:xfrm>
          <a:prstGeom prst="rect">
            <a:avLst/>
          </a:prstGeom>
          <a:solidFill>
            <a:srgbClr val="A35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4023360"/>
            <a:ext cx="262890" cy="25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8BAC8"/>
                </a:solidFill>
                <a:latin typeface="Microsoft YaHei"/>
              </a:defRPr>
            </a:pPr>
            <a:r>
              <a:t>下一模块：其他图像生成工具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E7082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FF5C8A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2743200"/>
            <a:ext cx="5486400" cy="5486400"/>
          </a:xfrm>
          <a:prstGeom prst="ellipse">
            <a:avLst/>
          </a:prstGeom>
          <a:solidFill>
            <a:srgbClr val="FF7BA3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4572000"/>
            <a:ext cx="3657600" cy="3657600"/>
          </a:xfrm>
          <a:prstGeom prst="ellipse">
            <a:avLst/>
          </a:prstGeom>
          <a:solidFill>
            <a:srgbClr val="FFA0BC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0"/>
            <a:ext cx="182880" cy="685800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91440" cy="6858000"/>
          </a:xfrm>
          <a:prstGeom prst="rect">
            <a:avLst/>
          </a:prstGeom>
          <a:solidFill>
            <a:srgbClr val="7F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8016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5448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1031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774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8016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55448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8288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031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3774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2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58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8016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8288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1031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3774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7315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657600"/>
            <a:ext cx="1828800" cy="329184"/>
          </a:xfrm>
          <a:prstGeom prst="round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657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A0BC"/>
                </a:solidFill>
                <a:latin typeface="Microsoft YaHei"/>
              </a:defRPr>
            </a:pPr>
            <a:r>
              <a:t>M O D U L 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114800"/>
            <a:ext cx="285751" cy="38100"/>
          </a:xfrm>
          <a:prstGeom prst="rect">
            <a:avLst/>
          </a:prstGeom>
          <a:solidFill>
            <a:srgbClr val="FFA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2950" y="4114800"/>
            <a:ext cx="285750" cy="38100"/>
          </a:xfrm>
          <a:prstGeom prst="rect">
            <a:avLst/>
          </a:prstGeom>
          <a:solidFill>
            <a:srgbClr val="FF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28700" y="4114800"/>
            <a:ext cx="285750" cy="38100"/>
          </a:xfrm>
          <a:prstGeom prst="rect">
            <a:avLst/>
          </a:prstGeom>
          <a:solidFill>
            <a:srgbClr val="FF8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314450" y="4114800"/>
            <a:ext cx="285750" cy="38100"/>
          </a:xfrm>
          <a:prstGeom prst="rect">
            <a:avLst/>
          </a:prstGeom>
          <a:solidFill>
            <a:srgbClr val="FF8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600200" y="4114800"/>
            <a:ext cx="285750" cy="38100"/>
          </a:xfrm>
          <a:prstGeom prst="rect">
            <a:avLst/>
          </a:prstGeom>
          <a:solidFill>
            <a:srgbClr val="FF7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885950" y="4114800"/>
            <a:ext cx="285750" cy="38100"/>
          </a:xfrm>
          <a:prstGeom prst="rect">
            <a:avLst/>
          </a:prstGeom>
          <a:solidFill>
            <a:srgbClr val="FF6F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171700" y="4114800"/>
            <a:ext cx="285750" cy="38100"/>
          </a:xfrm>
          <a:prstGeom prst="rect">
            <a:avLst/>
          </a:prstGeom>
          <a:solidFill>
            <a:srgbClr val="FF6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457450" y="4114800"/>
            <a:ext cx="285750" cy="3810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035040" y="1097280"/>
            <a:ext cx="5486400" cy="457200"/>
          </a:xfrm>
          <a:prstGeom prst="roundRect">
            <a:avLst/>
          </a:prstGeom>
          <a:solidFill>
            <a:srgbClr val="4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A0BC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20116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F0F5"/>
                </a:solidFill>
                <a:latin typeface="Microsoft YaHei"/>
              </a:defRPr>
            </a:pPr>
            <a:r>
              <a:t>模块五：其他图像生成工具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3840480"/>
            <a:ext cx="400051" cy="3810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5090" y="3840480"/>
            <a:ext cx="400050" cy="3810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835140" y="3840480"/>
            <a:ext cx="400050" cy="3810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35190" y="3840480"/>
            <a:ext cx="400050" cy="3810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635240" y="3840480"/>
            <a:ext cx="400050" cy="3810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35290" y="3840480"/>
            <a:ext cx="400050" cy="3810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435340" y="3840480"/>
            <a:ext cx="400050" cy="3810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35390" y="3840480"/>
            <a:ext cx="400050" cy="3810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35040" y="42062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6课时 · 掌握国产AI图像工具与LoRA角色训练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035040" y="5303520"/>
            <a:ext cx="5486400" cy="6400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722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5C8A"/>
                </a:solidFill>
                <a:latin typeface="Microsoft YaHei"/>
              </a:defRPr>
            </a:pPr>
            <a:r>
              <a:t>124课时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609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438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5C8A"/>
                </a:solidFill>
                <a:latin typeface="Microsoft YaHei"/>
              </a:defRPr>
            </a:pPr>
            <a:r>
              <a:t>17模块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7325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154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5C8A"/>
                </a:solidFill>
                <a:latin typeface="Microsoft YaHei"/>
              </a:defRPr>
            </a:pPr>
            <a:r>
              <a:t>8-16周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1041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2870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5C8A"/>
                </a:solidFill>
                <a:latin typeface="Microsoft YaHei"/>
              </a:defRPr>
            </a:pPr>
            <a:r>
              <a:t>全流程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155680" y="0"/>
            <a:ext cx="1036015" cy="3810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1978640" y="0"/>
            <a:ext cx="38100" cy="73152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521440" y="274320"/>
            <a:ext cx="137160" cy="137160"/>
          </a:xfrm>
          <a:prstGeom prst="ellipse">
            <a:avLst/>
          </a:prstGeom>
          <a:solidFill>
            <a:srgbClr val="FFA0B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5C8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7BA3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§  本节内容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FA0BC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31520" y="1397000"/>
            <a:ext cx="274320" cy="274320"/>
          </a:xfrm>
          <a:prstGeom prst="ellipse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422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通义万相（阿里）—— 文生图与图生图</a:t>
            </a:r>
          </a:p>
        </p:txBody>
      </p:sp>
      <p:sp>
        <p:nvSpPr>
          <p:cNvPr id="44" name="Oval 43"/>
          <p:cNvSpPr/>
          <p:nvPr/>
        </p:nvSpPr>
        <p:spPr>
          <a:xfrm>
            <a:off x="731520" y="1963928"/>
            <a:ext cx="274320" cy="274320"/>
          </a:xfrm>
          <a:prstGeom prst="ellipse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422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腾讯混元 —— 图像生成与数字人</a:t>
            </a:r>
          </a:p>
        </p:txBody>
      </p:sp>
      <p:sp>
        <p:nvSpPr>
          <p:cNvPr id="47" name="Oval 46"/>
          <p:cNvSpPr/>
          <p:nvPr/>
        </p:nvSpPr>
        <p:spPr>
          <a:xfrm>
            <a:off x="731520" y="2530856"/>
            <a:ext cx="274320" cy="274320"/>
          </a:xfrm>
          <a:prstGeom prst="ellipse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422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百度文心一格 —— AI绘画与中式美学</a:t>
            </a:r>
          </a:p>
        </p:txBody>
      </p:sp>
      <p:sp>
        <p:nvSpPr>
          <p:cNvPr id="50" name="Oval 49"/>
          <p:cNvSpPr/>
          <p:nvPr/>
        </p:nvSpPr>
        <p:spPr>
          <a:xfrm>
            <a:off x="6400800" y="1397000"/>
            <a:ext cx="274320" cy="274320"/>
          </a:xfrm>
          <a:prstGeom prst="ellipse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1350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Kolors（快手可图）—— 开源图像模型</a:t>
            </a:r>
          </a:p>
        </p:txBody>
      </p:sp>
      <p:sp>
        <p:nvSpPr>
          <p:cNvPr id="53" name="Oval 52"/>
          <p:cNvSpPr/>
          <p:nvPr/>
        </p:nvSpPr>
        <p:spPr>
          <a:xfrm>
            <a:off x="6400800" y="1963928"/>
            <a:ext cx="274320" cy="274320"/>
          </a:xfrm>
          <a:prstGeom prst="ellipse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1350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角色LoRA训练实战</a:t>
            </a:r>
          </a:p>
        </p:txBody>
      </p:sp>
      <p:sp>
        <p:nvSpPr>
          <p:cNvPr id="56" name="Oval 55"/>
          <p:cNvSpPr/>
          <p:nvPr/>
        </p:nvSpPr>
        <p:spPr>
          <a:xfrm>
            <a:off x="6400800" y="2530856"/>
            <a:ext cx="274320" cy="274320"/>
          </a:xfrm>
          <a:prstGeom prst="ellipse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1350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多工具协作策略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模块05 · 其他图像生成工具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5C8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7BA3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四大国产AI图像工具对比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FA0BC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48640" y="1280160"/>
          <a:ext cx="110642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工具</a:t>
                      </a:r>
                    </a:p>
                  </a:txBody>
                  <a:tcPr anchor="ctr">
                    <a:solidFill>
                      <a:srgbClr val="FF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开发商</a:t>
                      </a:r>
                    </a:p>
                  </a:txBody>
                  <a:tcPr anchor="ctr">
                    <a:solidFill>
                      <a:srgbClr val="FF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核心优势</a:t>
                      </a:r>
                    </a:p>
                  </a:txBody>
                  <a:tcPr anchor="ctr">
                    <a:solidFill>
                      <a:srgbClr val="FF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适用场景</a:t>
                      </a:r>
                    </a:p>
                  </a:txBody>
                  <a:tcPr anchor="ctr">
                    <a:solidFill>
                      <a:srgbClr val="FF5C8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通义万相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阿里巴巴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中文理解强，图生图对话式修改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特写、中景、快速迭代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腾讯混元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腾讯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对话式交互，数字人功能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情感氛围、数字人创作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文心一格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百度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中式美学专精，30+艺术风格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国风场景、古风角色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Kolors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快手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开源免费，本地部署可控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批量生成、深度定制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模块05 · 其他图像生成工具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5C8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7BA3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通义万相核心能力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FA0BC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文生图：支持中英文提示词，创意力滑块控制自由度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图生图：上传参考图+文字指令，实现风格迁移和内容修改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关键词加权：用括号强调重要元素，如(红色汉服)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表情序列制作：基于基准图用图生图生成喜怒哀惊系列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参数推荐：漫剧角色创意力5-6，场景创意力7-8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1520" y="5468112"/>
            <a:ext cx="6859" cy="36576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38378" y="5468112"/>
            <a:ext cx="6858" cy="36576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45236" y="5468112"/>
            <a:ext cx="6858" cy="36576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52094" y="5468112"/>
            <a:ext cx="6858" cy="36576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58952" y="5468112"/>
            <a:ext cx="6858" cy="36576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65810" y="5468112"/>
            <a:ext cx="6858" cy="36576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72668" y="5468112"/>
            <a:ext cx="6858" cy="36576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79526" y="5468112"/>
            <a:ext cx="6858" cy="36576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32688" y="5394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访问方式：tongyi.aliyun.com/wanxiang/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模块05 · 其他图像生成工具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5C8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7BA3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文心一格与中式美学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FA0BC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核心特色：在国风、古风、水墨等中式美学风格上表现突出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朝代风格：唐代华丽、宋代雅致、明代工笔、敦煌壁画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画种技法：水墨画、工笔画、写意画、白描、青绿山水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色彩体系：中国红、靛蓝、赭石、石绿、藤黄、胭脂、朱砂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意境词汇：烟雨朦胧、月色如水、云雾缭绕、留白写意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1520" y="5468112"/>
            <a:ext cx="6859" cy="36576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38378" y="5468112"/>
            <a:ext cx="6858" cy="36576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45236" y="5468112"/>
            <a:ext cx="6858" cy="36576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52094" y="5468112"/>
            <a:ext cx="6858" cy="36576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58952" y="5468112"/>
            <a:ext cx="6858" cy="36576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65810" y="5468112"/>
            <a:ext cx="6858" cy="36576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72668" y="5468112"/>
            <a:ext cx="6858" cy="36576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79526" y="5468112"/>
            <a:ext cx="6858" cy="36576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32688" y="5394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访问方式：yige.baidu.com/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模块05 · 其他图像生成工具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5C8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7BA3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Kolors开源模型优势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FA0BC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720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1371600"/>
            <a:ext cx="668656" cy="3810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25855" y="1371600"/>
            <a:ext cx="668655" cy="3810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794510" y="1371600"/>
            <a:ext cx="668655" cy="3810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463165" y="1371600"/>
            <a:ext cx="668655" cy="3810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131820" y="1371600"/>
            <a:ext cx="668655" cy="3810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00475" y="1371600"/>
            <a:ext cx="668655" cy="3810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469130" y="1371600"/>
            <a:ext cx="668655" cy="3810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137785" y="1371600"/>
            <a:ext cx="668655" cy="3810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C8A"/>
                </a:solidFill>
                <a:latin typeface="Microsoft YaHei"/>
              </a:defRPr>
            </a:pPr>
            <a:r>
              <a:t>核心优势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103120"/>
            <a:ext cx="205741" cy="2540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37260" y="2103120"/>
            <a:ext cx="205740" cy="2540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43000" y="2103120"/>
            <a:ext cx="205740" cy="2540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348740" y="2103120"/>
            <a:ext cx="205740" cy="2540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554480" y="2103120"/>
            <a:ext cx="205740" cy="2540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60220" y="2103120"/>
            <a:ext cx="205740" cy="2540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965960" y="2103120"/>
            <a:ext cx="205740" cy="2540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171700" y="2103120"/>
            <a:ext cx="205740" cy="2540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31520" y="2386584"/>
            <a:ext cx="146304" cy="146304"/>
          </a:xfrm>
          <a:prstGeom prst="ellipse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584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开源免费，模型权重完全开放</a:t>
            </a:r>
          </a:p>
        </p:txBody>
      </p:sp>
      <p:sp>
        <p:nvSpPr>
          <p:cNvPr id="61" name="Oval 60"/>
          <p:cNvSpPr/>
          <p:nvPr/>
        </p:nvSpPr>
        <p:spPr>
          <a:xfrm>
            <a:off x="731520" y="2916936"/>
            <a:ext cx="146304" cy="146304"/>
          </a:xfrm>
          <a:prstGeom prst="ellipse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584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中文原生支持，理解能力出色</a:t>
            </a:r>
          </a:p>
        </p:txBody>
      </p:sp>
      <p:sp>
        <p:nvSpPr>
          <p:cNvPr id="63" name="Oval 62"/>
          <p:cNvSpPr/>
          <p:nvPr/>
        </p:nvSpPr>
        <p:spPr>
          <a:xfrm>
            <a:off x="731520" y="3447288"/>
            <a:ext cx="146304" cy="146304"/>
          </a:xfrm>
          <a:prstGeom prst="ellipse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584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图像质量媲美商业模型</a:t>
            </a:r>
          </a:p>
        </p:txBody>
      </p:sp>
      <p:sp>
        <p:nvSpPr>
          <p:cNvPr id="65" name="Oval 64"/>
          <p:cNvSpPr/>
          <p:nvPr/>
        </p:nvSpPr>
        <p:spPr>
          <a:xfrm>
            <a:off x="731520" y="3977640"/>
            <a:ext cx="146304" cy="146304"/>
          </a:xfrm>
          <a:prstGeom prst="ellipse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5840" y="39227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支持LoRA、ControlNet扩展</a:t>
            </a:r>
          </a:p>
        </p:txBody>
      </p:sp>
      <p:sp>
        <p:nvSpPr>
          <p:cNvPr id="67" name="Oval 66"/>
          <p:cNvSpPr/>
          <p:nvPr/>
        </p:nvSpPr>
        <p:spPr>
          <a:xfrm>
            <a:off x="731520" y="4507992"/>
            <a:ext cx="146304" cy="146304"/>
          </a:xfrm>
          <a:prstGeom prst="ellipse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05840" y="44531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可本地部署，无审核限制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26364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63640" y="1371600"/>
            <a:ext cx="668656" cy="3810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932295" y="1371600"/>
            <a:ext cx="668655" cy="38100"/>
          </a:xfrm>
          <a:prstGeom prst="rect">
            <a:avLst/>
          </a:prstGeom>
          <a:solidFill>
            <a:srgbClr val="FF8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600950" y="1371600"/>
            <a:ext cx="668655" cy="38100"/>
          </a:xfrm>
          <a:prstGeom prst="rect">
            <a:avLst/>
          </a:prstGeom>
          <a:solidFill>
            <a:srgbClr val="FF8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269605" y="1371600"/>
            <a:ext cx="668655" cy="38100"/>
          </a:xfrm>
          <a:prstGeom prst="rect">
            <a:avLst/>
          </a:prstGeom>
          <a:solidFill>
            <a:srgbClr val="FF8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938260" y="1371600"/>
            <a:ext cx="668655" cy="38100"/>
          </a:xfrm>
          <a:prstGeom prst="rect">
            <a:avLst/>
          </a:prstGeom>
          <a:solidFill>
            <a:srgbClr val="FF9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606915" y="1371600"/>
            <a:ext cx="668655" cy="38100"/>
          </a:xfrm>
          <a:prstGeom prst="rect">
            <a:avLst/>
          </a:prstGeom>
          <a:solidFill>
            <a:srgbClr val="FF9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275570" y="1371600"/>
            <a:ext cx="668655" cy="38100"/>
          </a:xfrm>
          <a:prstGeom prst="rect">
            <a:avLst/>
          </a:prstGeom>
          <a:solidFill>
            <a:srgbClr val="FF9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944225" y="1371600"/>
            <a:ext cx="668655" cy="38100"/>
          </a:xfrm>
          <a:prstGeom prst="rect">
            <a:avLst/>
          </a:prstGeom>
          <a:solidFill>
            <a:srgbClr val="FFA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53796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7BA3"/>
                </a:solidFill>
                <a:latin typeface="Microsoft YaHei"/>
              </a:defRPr>
            </a:pPr>
            <a:r>
              <a:t>部署方式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537960" y="2103120"/>
            <a:ext cx="205741" cy="2540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43700" y="2103120"/>
            <a:ext cx="205740" cy="25400"/>
          </a:xfrm>
          <a:prstGeom prst="rect">
            <a:avLst/>
          </a:prstGeom>
          <a:solidFill>
            <a:srgbClr val="FF8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949440" y="2103120"/>
            <a:ext cx="205740" cy="25400"/>
          </a:xfrm>
          <a:prstGeom prst="rect">
            <a:avLst/>
          </a:prstGeom>
          <a:solidFill>
            <a:srgbClr val="FF8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155180" y="2103120"/>
            <a:ext cx="205740" cy="25400"/>
          </a:xfrm>
          <a:prstGeom prst="rect">
            <a:avLst/>
          </a:prstGeom>
          <a:solidFill>
            <a:srgbClr val="FF8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60920" y="2103120"/>
            <a:ext cx="205740" cy="25400"/>
          </a:xfrm>
          <a:prstGeom prst="rect">
            <a:avLst/>
          </a:prstGeom>
          <a:solidFill>
            <a:srgbClr val="FF9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66660" y="2103120"/>
            <a:ext cx="205740" cy="25400"/>
          </a:xfrm>
          <a:prstGeom prst="rect">
            <a:avLst/>
          </a:prstGeom>
          <a:solidFill>
            <a:srgbClr val="FF9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2103120"/>
            <a:ext cx="205740" cy="25400"/>
          </a:xfrm>
          <a:prstGeom prst="rect">
            <a:avLst/>
          </a:prstGeom>
          <a:solidFill>
            <a:srgbClr val="FF9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978140" y="2103120"/>
            <a:ext cx="205740" cy="25400"/>
          </a:xfrm>
          <a:prstGeom prst="rect">
            <a:avLst/>
          </a:prstGeom>
          <a:solidFill>
            <a:srgbClr val="FFA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537960" y="2386584"/>
            <a:ext cx="146304" cy="146304"/>
          </a:xfrm>
          <a:prstGeom prst="ellipse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1228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在线体验：kolors.kuaishou.com</a:t>
            </a:r>
          </a:p>
        </p:txBody>
      </p:sp>
      <p:sp>
        <p:nvSpPr>
          <p:cNvPr id="89" name="Oval 88"/>
          <p:cNvSpPr/>
          <p:nvPr/>
        </p:nvSpPr>
        <p:spPr>
          <a:xfrm>
            <a:off x="6537960" y="2916936"/>
            <a:ext cx="146304" cy="146304"/>
          </a:xfrm>
          <a:prstGeom prst="ellipse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81228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本地部署：ComfyUI集成</a:t>
            </a:r>
          </a:p>
        </p:txBody>
      </p:sp>
      <p:sp>
        <p:nvSpPr>
          <p:cNvPr id="91" name="Oval 90"/>
          <p:cNvSpPr/>
          <p:nvPr/>
        </p:nvSpPr>
        <p:spPr>
          <a:xfrm>
            <a:off x="6537960" y="3447288"/>
            <a:ext cx="146304" cy="146304"/>
          </a:xfrm>
          <a:prstGeom prst="ellipse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81228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批量生成：读取提示词列表自动出图</a:t>
            </a:r>
          </a:p>
        </p:txBody>
      </p:sp>
      <p:sp>
        <p:nvSpPr>
          <p:cNvPr id="93" name="Oval 92"/>
          <p:cNvSpPr/>
          <p:nvPr/>
        </p:nvSpPr>
        <p:spPr>
          <a:xfrm>
            <a:off x="6537960" y="3977640"/>
            <a:ext cx="146304" cy="146304"/>
          </a:xfrm>
          <a:prstGeom prst="ellipse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812280" y="39227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角色一致性：IP-Adapter / 固定种子 / LoRA</a:t>
            </a:r>
          </a:p>
        </p:txBody>
      </p:sp>
      <p:sp>
        <p:nvSpPr>
          <p:cNvPr id="95" name="Oval 94"/>
          <p:cNvSpPr/>
          <p:nvPr/>
        </p:nvSpPr>
        <p:spPr>
          <a:xfrm>
            <a:off x="6537960" y="4507992"/>
            <a:ext cx="146304" cy="146304"/>
          </a:xfrm>
          <a:prstGeom prst="ellipse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812280" y="44531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推荐显存：NVIDIA 8GB+ GPU</a:t>
            </a:r>
          </a:p>
        </p:txBody>
      </p:sp>
      <p:sp>
        <p:nvSpPr>
          <p:cNvPr id="97" name="Rectangle 96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模块05 · 其他图像生成工具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0"/>
            <a:ext cx="6400800" cy="6400800"/>
          </a:xfrm>
          <a:prstGeom prst="ellipse">
            <a:avLst/>
          </a:prstGeom>
          <a:solidFill>
            <a:srgbClr val="FF5C8A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2743200"/>
            <a:ext cx="4572000" cy="4572000"/>
          </a:xfrm>
          <a:prstGeom prst="ellipse">
            <a:avLst/>
          </a:prstGeom>
          <a:solidFill>
            <a:srgbClr val="FF7BA3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1097280"/>
            <a:ext cx="720091" cy="3810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920490" y="1097280"/>
            <a:ext cx="720090" cy="3810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40580" y="1097280"/>
            <a:ext cx="720090" cy="3810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60670" y="1097280"/>
            <a:ext cx="720090" cy="3810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80760" y="1097280"/>
            <a:ext cx="720090" cy="3810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00850" y="1097280"/>
            <a:ext cx="720090" cy="3810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20940" y="1097280"/>
            <a:ext cx="720090" cy="3810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41030" y="1097280"/>
            <a:ext cx="720090" cy="3810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164592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30-50张高质量训练图，几小时即可打造专属角色模型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931920"/>
            <a:ext cx="262891" cy="2540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3931920"/>
            <a:ext cx="262890" cy="2540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3931920"/>
            <a:ext cx="262890" cy="2540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3931920"/>
            <a:ext cx="262890" cy="2540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3931920"/>
            <a:ext cx="262890" cy="2540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3931920"/>
            <a:ext cx="262890" cy="2540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3931920"/>
            <a:ext cx="262890" cy="2540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3931920"/>
            <a:ext cx="262890" cy="2540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297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LoRA（Low-Rank Adaptation）只训练一小部分"适配层"参数（几MB），效果接近完整微调。训练后每次生成都是同一个角色，彻底解决AI"换脸"问题。一个LoRA文件通常只有10-100MB，可灵活叠加多个LoRA（角色+风格+场景）。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模块05 · 其他图像生成工具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5C8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7BA3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LoRA训练完整流程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FA0BC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Step 1 准备数据：收集30-50张高质量角色图（多角度/多表情）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1371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221992"/>
            <a:ext cx="6859" cy="36576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8378" y="2221992"/>
            <a:ext cx="6858" cy="36576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45236" y="2221992"/>
            <a:ext cx="6858" cy="36576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2094" y="2221992"/>
            <a:ext cx="6858" cy="36576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58952" y="2221992"/>
            <a:ext cx="6858" cy="36576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65810" y="2221992"/>
            <a:ext cx="6858" cy="36576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2668" y="2221992"/>
            <a:ext cx="6858" cy="36576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79526" y="2221992"/>
            <a:ext cx="6858" cy="36576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2688" y="2148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Step 2 预处理：裁剪缩放到512×512，去除背景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21488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" y="2999232"/>
            <a:ext cx="6859" cy="36576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38378" y="2999232"/>
            <a:ext cx="6858" cy="36576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45236" y="2999232"/>
            <a:ext cx="6858" cy="36576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52094" y="2999232"/>
            <a:ext cx="6858" cy="36576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58952" y="2999232"/>
            <a:ext cx="6858" cy="36576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65810" y="2999232"/>
            <a:ext cx="6858" cy="36576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72668" y="2999232"/>
            <a:ext cx="6858" cy="36576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79526" y="2999232"/>
            <a:ext cx="6858" cy="36576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2688" y="2926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Step 3 自动打标：使用WD14 Tagger自动生成标签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1520" y="3776472"/>
            <a:ext cx="6859" cy="36576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8378" y="3776472"/>
            <a:ext cx="6858" cy="36576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45236" y="3776472"/>
            <a:ext cx="6858" cy="36576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52094" y="3776472"/>
            <a:ext cx="6858" cy="36576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58952" y="3776472"/>
            <a:ext cx="6858" cy="36576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5810" y="3776472"/>
            <a:ext cx="6858" cy="36576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72668" y="3776472"/>
            <a:ext cx="6858" cy="36576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79526" y="3776472"/>
            <a:ext cx="6858" cy="36576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32688" y="3703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Step 4 手动校正：确保触发词一致，移除不准确标签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" y="3703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1520" y="4553712"/>
            <a:ext cx="6859" cy="36576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8378" y="4553712"/>
            <a:ext cx="6858" cy="36576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5236" y="4553712"/>
            <a:ext cx="6858" cy="36576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2094" y="4553712"/>
            <a:ext cx="6858" cy="36576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8952" y="4553712"/>
            <a:ext cx="6858" cy="36576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5810" y="4553712"/>
            <a:ext cx="6858" cy="36576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2668" y="4553712"/>
            <a:ext cx="6858" cy="36576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9526" y="4553712"/>
            <a:ext cx="6858" cy="36576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32688" y="4480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Step 5 配置参数：学习率1e-4、dim=64、alpha=32、10个epoch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1520" y="4480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31520" y="5330952"/>
            <a:ext cx="6859" cy="36576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38378" y="5330952"/>
            <a:ext cx="6858" cy="36576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45236" y="5330952"/>
            <a:ext cx="6858" cy="36576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52094" y="5330952"/>
            <a:ext cx="6858" cy="36576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58952" y="5330952"/>
            <a:ext cx="6858" cy="36576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65810" y="5330952"/>
            <a:ext cx="6858" cy="36576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72668" y="5330952"/>
            <a:ext cx="6858" cy="36576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79526" y="5330952"/>
            <a:ext cx="6858" cy="36576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32688" y="5257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Step 6 启动训练：使用kohya-ss/sd-scripts，监控loss下降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31520" y="5257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模块05 · 其他图像生成工具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5C8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7BA3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镜头类型与最优工具匹配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FA0BC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48640" y="128016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镜头类型</a:t>
                      </a:r>
                    </a:p>
                  </a:txBody>
                  <a:tcPr anchor="ctr">
                    <a:solidFill>
                      <a:srgbClr val="FF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首选工具</a:t>
                      </a:r>
                    </a:p>
                  </a:txBody>
                  <a:tcPr anchor="ctr">
                    <a:solidFill>
                      <a:srgbClr val="FF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备选工具</a:t>
                      </a:r>
                    </a:p>
                  </a:txBody>
                  <a:tcPr anchor="ctr">
                    <a:solidFill>
                      <a:srgbClr val="FF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选择理由</a:t>
                      </a:r>
                    </a:p>
                  </a:txBody>
                  <a:tcPr anchor="ctr">
                    <a:solidFill>
                      <a:srgbClr val="FF5C8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角色特写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SD + LoRA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通义万相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角色一致性最强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全景场景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Midjourney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文心一格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场景构建能力最强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动作场景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SD + ControlNet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Kolors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姿态控制最精准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情感氛围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文心一格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腾讯混元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氛围渲染出色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国风古风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文心一格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通义万相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中式美学专精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快速迭代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腾讯混元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通义万相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对话式修改方便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批量生成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Kolors（本地）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SD（本地）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无审核限制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模块05 · 其他图像生成工具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5C8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7BA3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A0B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◆  本模块实操任务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EE7B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" y="144475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144475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8096" y="144475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4672" y="144475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41248" y="144475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77824" y="144475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" y="144475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50976" y="144475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7552" y="144475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8872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45920" y="1371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用通义万相为漫剧生成3个不同场景的背景图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222199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1520" y="222199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68096" y="222199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4672" y="222199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41248" y="222199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77824" y="222199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400" y="222199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50976" y="222199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87552" y="222199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8872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45920" y="21488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用文心一格制作一套"春夏秋冬"四季国风场景背景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" y="299923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31520" y="299923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68096" y="299923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04672" y="299923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41248" y="299923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7824" y="299923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14400" y="299923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50976" y="299923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87552" y="299923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8872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645920" y="2926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用Kolors在线版生成5个不同场景并对比效果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31520" y="377647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31520" y="377647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8096" y="377647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04672" y="377647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41248" y="377647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77824" y="377647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14400" y="377647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50976" y="377647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87552" y="377647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188720" y="3703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645920" y="3703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为漫剧主角准备40张训练数据并完成LoRA训练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31520" y="455371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31520" y="455371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8096" y="455371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4672" y="455371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41248" y="455371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77824" y="455371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14400" y="455371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50976" y="455371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87552" y="455371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88720" y="4480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645920" y="44805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在ComfyUI中加载LoRA，生成角色在不同场景中的图片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31520" y="533095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31520" y="533095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68096" y="533095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04672" y="533095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41248" y="533095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7824" y="533095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14400" y="533095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50976" y="533095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87552" y="533095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188720" y="5257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645920" y="52578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为漫剧所有分镜选择最优工具并填写工具分配表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模块05 · 其他图像生成工具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914400"/>
            <a:ext cx="6400800" cy="6400800"/>
          </a:xfrm>
          <a:prstGeom prst="ellipse">
            <a:avLst/>
          </a:prstGeom>
          <a:solidFill>
            <a:srgbClr val="FF5C8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1371600"/>
            <a:ext cx="491491" cy="3810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06290" y="1371600"/>
            <a:ext cx="491490" cy="3810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97780" y="1371600"/>
            <a:ext cx="491490" cy="3810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9270" y="1371600"/>
            <a:ext cx="491490" cy="3810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80760" y="1371600"/>
            <a:ext cx="491490" cy="3810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72250" y="1371600"/>
            <a:ext cx="491490" cy="3810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63740" y="1371600"/>
            <a:ext cx="491490" cy="3810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55230" y="1371600"/>
            <a:ext cx="491490" cy="3810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5C8A"/>
                </a:solidFill>
                <a:latin typeface="Microsoft YaHei"/>
              </a:defRPr>
            </a:pPr>
            <a: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320040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本模块结束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4023360"/>
            <a:ext cx="262891" cy="25400"/>
          </a:xfrm>
          <a:prstGeom prst="rect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4023360"/>
            <a:ext cx="262890" cy="25400"/>
          </a:xfrm>
          <a:prstGeom prst="rect">
            <a:avLst/>
          </a:prstGeom>
          <a:solidFill>
            <a:srgbClr val="FF6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4023360"/>
            <a:ext cx="262890" cy="25400"/>
          </a:xfrm>
          <a:prstGeom prst="rect">
            <a:avLst/>
          </a:prstGeom>
          <a:solidFill>
            <a:srgbClr val="FF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4023360"/>
            <a:ext cx="262890" cy="25400"/>
          </a:xfrm>
          <a:prstGeom prst="rect">
            <a:avLst/>
          </a:prstGeom>
          <a:solidFill>
            <a:srgbClr val="FF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4023360"/>
            <a:ext cx="262890" cy="25400"/>
          </a:xfrm>
          <a:prstGeom prst="rect">
            <a:avLst/>
          </a:prstGeom>
          <a:solidFill>
            <a:srgbClr val="FF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4023360"/>
            <a:ext cx="262890" cy="25400"/>
          </a:xfrm>
          <a:prstGeom prst="rect">
            <a:avLst/>
          </a:prstGeom>
          <a:solidFill>
            <a:srgbClr val="FF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4023360"/>
            <a:ext cx="262890" cy="25400"/>
          </a:xfrm>
          <a:prstGeom prst="rect">
            <a:avLst/>
          </a:prstGeom>
          <a:solidFill>
            <a:srgbClr val="FF76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4023360"/>
            <a:ext cx="262890" cy="25400"/>
          </a:xfrm>
          <a:prstGeom prst="rect">
            <a:avLst/>
          </a:prstGeom>
          <a:solidFill>
            <a:srgbClr val="FF7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8BAC8"/>
                </a:solidFill>
                <a:latin typeface="Microsoft YaHei"/>
              </a:defRPr>
            </a:pPr>
            <a:r>
              <a:t>下一模块：角色一致性攻克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E7082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0096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2743200"/>
            <a:ext cx="5486400" cy="5486400"/>
          </a:xfrm>
          <a:prstGeom prst="ellipse">
            <a:avLst/>
          </a:prstGeom>
          <a:solidFill>
            <a:srgbClr val="38B6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4572000"/>
            <a:ext cx="3657600" cy="3657600"/>
          </a:xfrm>
          <a:prstGeom prst="ellipse">
            <a:avLst/>
          </a:prstGeom>
          <a:solidFill>
            <a:srgbClr val="64D2FF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0"/>
            <a:ext cx="182880" cy="68580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91440" cy="6858000"/>
          </a:xfrm>
          <a:prstGeom prst="rect">
            <a:avLst/>
          </a:prstGeom>
          <a:solidFill>
            <a:srgbClr val="1C5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8016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5448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1031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774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8016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55448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8288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031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3774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2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58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8016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8288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1031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3774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7315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657600"/>
            <a:ext cx="1828800" cy="329184"/>
          </a:xfrm>
          <a:prstGeom prst="round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657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D2FF"/>
                </a:solidFill>
                <a:latin typeface="Microsoft YaHei"/>
              </a:defRPr>
            </a:pPr>
            <a:r>
              <a:t>M O D U L 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114800"/>
            <a:ext cx="285751" cy="38100"/>
          </a:xfrm>
          <a:prstGeom prst="rect">
            <a:avLst/>
          </a:prstGeom>
          <a:solidFill>
            <a:srgbClr val="64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2950" y="4114800"/>
            <a:ext cx="285750" cy="38100"/>
          </a:xfrm>
          <a:prstGeom prst="rect">
            <a:avLst/>
          </a:prstGeom>
          <a:solidFill>
            <a:srgbClr val="55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28700" y="4114800"/>
            <a:ext cx="285750" cy="38100"/>
          </a:xfrm>
          <a:prstGeom prst="rect">
            <a:avLst/>
          </a:prstGeom>
          <a:solidFill>
            <a:srgbClr val="47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314450" y="4114800"/>
            <a:ext cx="285750" cy="38100"/>
          </a:xfrm>
          <a:prstGeom prst="rect">
            <a:avLst/>
          </a:prstGeom>
          <a:solidFill>
            <a:srgbClr val="39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600200" y="4114800"/>
            <a:ext cx="285750" cy="38100"/>
          </a:xfrm>
          <a:prstGeom prst="rect">
            <a:avLst/>
          </a:prstGeom>
          <a:solidFill>
            <a:srgbClr val="2AA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885950" y="4114800"/>
            <a:ext cx="285750" cy="38100"/>
          </a:xfrm>
          <a:prstGeom prst="rect">
            <a:avLst/>
          </a:prstGeom>
          <a:solidFill>
            <a:srgbClr val="1C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171700" y="4114800"/>
            <a:ext cx="285750" cy="38100"/>
          </a:xfrm>
          <a:prstGeom prst="rect">
            <a:avLst/>
          </a:prstGeom>
          <a:solidFill>
            <a:srgbClr val="0E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457450" y="4114800"/>
            <a:ext cx="28575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035040" y="1097280"/>
            <a:ext cx="5486400" cy="457200"/>
          </a:xfrm>
          <a:prstGeom prst="round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D2FF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20116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F0F5"/>
                </a:solidFill>
                <a:latin typeface="Microsoft YaHei"/>
              </a:defRPr>
            </a:pPr>
            <a:r>
              <a:t>模块六：可灵AI深度精通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3840480"/>
            <a:ext cx="400051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5090" y="3840480"/>
            <a:ext cx="400050" cy="381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835140" y="3840480"/>
            <a:ext cx="400050" cy="381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35190" y="3840480"/>
            <a:ext cx="400050" cy="381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635240" y="3840480"/>
            <a:ext cx="400050" cy="381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35290" y="3840480"/>
            <a:ext cx="400050" cy="381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435340" y="3840480"/>
            <a:ext cx="400050" cy="381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35390" y="3840480"/>
            <a:ext cx="400050" cy="381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35040" y="42062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8课时 · 从平台认知到动作类漫剧实战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035040" y="5303520"/>
            <a:ext cx="5486400" cy="6400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722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96FF"/>
                </a:solidFill>
                <a:latin typeface="Microsoft YaHei"/>
              </a:defRPr>
            </a:pPr>
            <a:r>
              <a:t>124课时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609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438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96FF"/>
                </a:solidFill>
                <a:latin typeface="Microsoft YaHei"/>
              </a:defRPr>
            </a:pPr>
            <a:r>
              <a:t>17模块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7325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154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96FF"/>
                </a:solidFill>
                <a:latin typeface="Microsoft YaHei"/>
              </a:defRPr>
            </a:pPr>
            <a:r>
              <a:t>8-16周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1041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2870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96FF"/>
                </a:solidFill>
                <a:latin typeface="Microsoft YaHei"/>
              </a:defRPr>
            </a:pPr>
            <a:r>
              <a:t>全流程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155680" y="0"/>
            <a:ext cx="1036015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1978640" y="0"/>
            <a:ext cx="38100" cy="7315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521440" y="274320"/>
            <a:ext cx="137160" cy="137160"/>
          </a:xfrm>
          <a:prstGeom prst="ellipse">
            <a:avLst/>
          </a:prstGeom>
          <a:solidFill>
            <a:srgbClr val="64D2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0096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38B6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§  本节内容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4D2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31520" y="1397000"/>
            <a:ext cx="274320" cy="27432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422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可灵AI 3.0全面解析</a:t>
            </a:r>
          </a:p>
        </p:txBody>
      </p:sp>
      <p:sp>
        <p:nvSpPr>
          <p:cNvPr id="44" name="Oval 43"/>
          <p:cNvSpPr/>
          <p:nvPr/>
        </p:nvSpPr>
        <p:spPr>
          <a:xfrm>
            <a:off x="731520" y="1963928"/>
            <a:ext cx="274320" cy="27432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422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图生视频核心操作</a:t>
            </a:r>
          </a:p>
        </p:txBody>
      </p:sp>
      <p:sp>
        <p:nvSpPr>
          <p:cNvPr id="47" name="Oval 46"/>
          <p:cNvSpPr/>
          <p:nvPr/>
        </p:nvSpPr>
        <p:spPr>
          <a:xfrm>
            <a:off x="731520" y="2530856"/>
            <a:ext cx="274320" cy="27432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422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文生视频提示词公式</a:t>
            </a:r>
          </a:p>
        </p:txBody>
      </p:sp>
      <p:sp>
        <p:nvSpPr>
          <p:cNvPr id="50" name="Oval 49"/>
          <p:cNvSpPr/>
          <p:nvPr/>
        </p:nvSpPr>
        <p:spPr>
          <a:xfrm>
            <a:off x="731520" y="3097784"/>
            <a:ext cx="274320" cy="27432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4220" y="30977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" y="307238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高级运动控制（运动笔刷·动作大师）</a:t>
            </a:r>
          </a:p>
        </p:txBody>
      </p:sp>
      <p:sp>
        <p:nvSpPr>
          <p:cNvPr id="53" name="Oval 52"/>
          <p:cNvSpPr/>
          <p:nvPr/>
        </p:nvSpPr>
        <p:spPr>
          <a:xfrm>
            <a:off x="6400800" y="1397000"/>
            <a:ext cx="274320" cy="27432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1350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1080p高清输出与画质优化</a:t>
            </a:r>
          </a:p>
        </p:txBody>
      </p:sp>
      <p:sp>
        <p:nvSpPr>
          <p:cNvPr id="56" name="Oval 55"/>
          <p:cNvSpPr/>
          <p:nvPr/>
        </p:nvSpPr>
        <p:spPr>
          <a:xfrm>
            <a:off x="6400800" y="1963928"/>
            <a:ext cx="274320" cy="27432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1350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首尾帧精准控制</a:t>
            </a:r>
          </a:p>
        </p:txBody>
      </p:sp>
      <p:sp>
        <p:nvSpPr>
          <p:cNvPr id="59" name="Oval 58"/>
          <p:cNvSpPr/>
          <p:nvPr/>
        </p:nvSpPr>
        <p:spPr>
          <a:xfrm>
            <a:off x="6400800" y="2530856"/>
            <a:ext cx="274320" cy="27432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1350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6656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打斗场景实战</a:t>
            </a:r>
          </a:p>
        </p:txBody>
      </p:sp>
      <p:sp>
        <p:nvSpPr>
          <p:cNvPr id="62" name="Oval 61"/>
          <p:cNvSpPr/>
          <p:nvPr/>
        </p:nvSpPr>
        <p:spPr>
          <a:xfrm>
            <a:off x="6400800" y="3097784"/>
            <a:ext cx="274320" cy="27432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13500" y="30977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66560" y="307238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实战项目：一集动作类漫剧全流程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模块06 · 可灵AI深度精通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▤  ◆ 可灵AI 3.0 核心参数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4D2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1371600"/>
            <a:ext cx="262890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371600"/>
            <a:ext cx="328613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5812" y="1371600"/>
            <a:ext cx="328612" cy="381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14424" y="1371600"/>
            <a:ext cx="328612" cy="381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443036" y="1371600"/>
            <a:ext cx="328612" cy="381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71648" y="1371600"/>
            <a:ext cx="328612" cy="381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100260" y="1371600"/>
            <a:ext cx="328612" cy="381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428872" y="1371600"/>
            <a:ext cx="328612" cy="381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57484" y="1371600"/>
            <a:ext cx="328612" cy="381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7250" y="914400"/>
            <a:ext cx="1828800" cy="1828800"/>
          </a:xfrm>
          <a:prstGeom prst="ellipse">
            <a:avLst/>
          </a:prstGeom>
          <a:solidFill>
            <a:srgbClr val="0096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1371600"/>
            <a:ext cx="328613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5812" y="1371600"/>
            <a:ext cx="328612" cy="508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424" y="1371600"/>
            <a:ext cx="328612" cy="508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43036" y="1371600"/>
            <a:ext cx="328612" cy="508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771648" y="1371600"/>
            <a:ext cx="328612" cy="508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100260" y="1371600"/>
            <a:ext cx="328612" cy="508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428872" y="1371600"/>
            <a:ext cx="328612" cy="508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57484" y="1371600"/>
            <a:ext cx="328612" cy="508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1737360"/>
            <a:ext cx="24460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096FF"/>
                </a:solidFill>
                <a:latin typeface="Microsoft YaHei"/>
              </a:defRPr>
            </a:pPr>
            <a:r>
              <a:t>1080p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2926080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E7082"/>
                </a:solidFill>
                <a:latin typeface="Microsoft YaHei"/>
              </a:defRPr>
            </a:pPr>
            <a:r>
              <a:t>30fps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3337560"/>
            <a:ext cx="2080260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3520440"/>
            <a:ext cx="24460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0F5"/>
                </a:solidFill>
                <a:latin typeface="Microsoft YaHei"/>
              </a:defRPr>
            </a:pPr>
            <a:r>
              <a:t>输出分辨率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029200"/>
            <a:ext cx="2263140" cy="320040"/>
          </a:xfrm>
          <a:prstGeom prst="roundRect">
            <a:avLst/>
          </a:prstGeom>
          <a:solidFill>
            <a:srgbClr val="1A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029200"/>
            <a:ext cx="22631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CE7E"/>
                </a:solidFill>
                <a:latin typeface="Microsoft YaHei"/>
              </a:defRPr>
            </a:pPr>
            <a:r>
              <a:t>↑ 影像级画质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14700" y="1371600"/>
            <a:ext cx="262890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314700" y="1371600"/>
            <a:ext cx="328613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643312" y="1371600"/>
            <a:ext cx="328612" cy="381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971924" y="1371600"/>
            <a:ext cx="328612" cy="381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00536" y="1371600"/>
            <a:ext cx="328612" cy="381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29148" y="1371600"/>
            <a:ext cx="328612" cy="381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957760" y="1371600"/>
            <a:ext cx="328612" cy="381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286372" y="1371600"/>
            <a:ext cx="328612" cy="381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614984" y="1371600"/>
            <a:ext cx="328612" cy="381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714750" y="914400"/>
            <a:ext cx="1828800" cy="1828800"/>
          </a:xfrm>
          <a:prstGeom prst="ellipse">
            <a:avLst/>
          </a:prstGeom>
          <a:solidFill>
            <a:srgbClr val="0096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314700" y="1371600"/>
            <a:ext cx="328613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643312" y="1371600"/>
            <a:ext cx="328612" cy="508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971924" y="1371600"/>
            <a:ext cx="328612" cy="508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300536" y="1371600"/>
            <a:ext cx="328612" cy="508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629148" y="1371600"/>
            <a:ext cx="328612" cy="508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957760" y="1371600"/>
            <a:ext cx="328612" cy="508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286372" y="1371600"/>
            <a:ext cx="328612" cy="508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614984" y="1371600"/>
            <a:ext cx="328612" cy="508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406140" y="1737360"/>
            <a:ext cx="24460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096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06140" y="2926080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E7082"/>
                </a:solidFill>
                <a:latin typeface="Microsoft YaHei"/>
              </a:defRPr>
            </a:pPr>
            <a:r>
              <a:t>分钟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589020" y="3337560"/>
            <a:ext cx="2080260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406140" y="3520440"/>
            <a:ext cx="24460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0F5"/>
                </a:solidFill>
                <a:latin typeface="Microsoft YaHei"/>
              </a:defRPr>
            </a:pPr>
            <a:r>
              <a:t>最大时长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497580" y="5029200"/>
            <a:ext cx="2263140" cy="320040"/>
          </a:xfrm>
          <a:prstGeom prst="roundRect">
            <a:avLst/>
          </a:prstGeom>
          <a:solidFill>
            <a:srgbClr val="1A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497580" y="5029200"/>
            <a:ext cx="22631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CE7E"/>
                </a:solidFill>
                <a:latin typeface="Microsoft YaHei"/>
              </a:defRPr>
            </a:pPr>
            <a:r>
              <a:t>↑ 较上代x4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172200" y="1371600"/>
            <a:ext cx="262890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1371600"/>
            <a:ext cx="328613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500812" y="1371600"/>
            <a:ext cx="328612" cy="381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829424" y="1371600"/>
            <a:ext cx="328612" cy="381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8036" y="1371600"/>
            <a:ext cx="328612" cy="381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486648" y="1371600"/>
            <a:ext cx="328612" cy="381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815260" y="1371600"/>
            <a:ext cx="328612" cy="381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143872" y="1371600"/>
            <a:ext cx="328612" cy="381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472484" y="1371600"/>
            <a:ext cx="328612" cy="381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572250" y="914400"/>
            <a:ext cx="1828800" cy="1828800"/>
          </a:xfrm>
          <a:prstGeom prst="ellipse">
            <a:avLst/>
          </a:prstGeom>
          <a:solidFill>
            <a:srgbClr val="0096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72200" y="1371600"/>
            <a:ext cx="328613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500812" y="1371600"/>
            <a:ext cx="328612" cy="508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829424" y="1371600"/>
            <a:ext cx="328612" cy="508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158036" y="1371600"/>
            <a:ext cx="328612" cy="508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486648" y="1371600"/>
            <a:ext cx="328612" cy="508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815260" y="1371600"/>
            <a:ext cx="328612" cy="508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143872" y="1371600"/>
            <a:ext cx="328612" cy="508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472484" y="1371600"/>
            <a:ext cx="328612" cy="508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263640" y="1737360"/>
            <a:ext cx="24460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096FF"/>
                </a:solidFill>
                <a:latin typeface="Microsoft YaHei"/>
              </a:defRPr>
            </a:pPr>
            <a:r>
              <a:t>3.0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63640" y="2926080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E7082"/>
                </a:solidFill>
                <a:latin typeface="Microsoft YaHei"/>
              </a:defRPr>
            </a:pPr>
            <a:r>
              <a:t>版本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446520" y="3337560"/>
            <a:ext cx="2080260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263640" y="3520440"/>
            <a:ext cx="24460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0F5"/>
                </a:solidFill>
                <a:latin typeface="Microsoft YaHei"/>
              </a:defRPr>
            </a:pPr>
            <a:r>
              <a:t>物理仿真引擎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09360" y="4023360"/>
            <a:ext cx="23545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E7082"/>
                </a:solidFill>
                <a:latin typeface="Microsoft YaHei"/>
              </a:defRPr>
            </a:pPr>
            <a:r>
              <a:t>人体动力学+环境交互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029700" y="1371600"/>
            <a:ext cx="262890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029700" y="1371600"/>
            <a:ext cx="328613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358312" y="1371600"/>
            <a:ext cx="328612" cy="381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686924" y="1371600"/>
            <a:ext cx="328612" cy="381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015536" y="1371600"/>
            <a:ext cx="328612" cy="381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344148" y="1371600"/>
            <a:ext cx="328612" cy="381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0672760" y="1371600"/>
            <a:ext cx="328612" cy="381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1001372" y="1371600"/>
            <a:ext cx="328612" cy="381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1329984" y="1371600"/>
            <a:ext cx="328612" cy="381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9429750" y="914400"/>
            <a:ext cx="1828800" cy="1828800"/>
          </a:xfrm>
          <a:prstGeom prst="ellipse">
            <a:avLst/>
          </a:prstGeom>
          <a:solidFill>
            <a:srgbClr val="0096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9029700" y="1371600"/>
            <a:ext cx="328613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9358312" y="1371600"/>
            <a:ext cx="328612" cy="508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9686924" y="1371600"/>
            <a:ext cx="328612" cy="508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0015536" y="1371600"/>
            <a:ext cx="328612" cy="508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344148" y="1371600"/>
            <a:ext cx="328612" cy="508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0672760" y="1371600"/>
            <a:ext cx="328612" cy="508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1001372" y="1371600"/>
            <a:ext cx="328612" cy="508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1329984" y="1371600"/>
            <a:ext cx="328612" cy="508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121140" y="1737360"/>
            <a:ext cx="24460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096FF"/>
                </a:solidFill>
                <a:latin typeface="Microsoft YaHei"/>
              </a:defRPr>
            </a:pPr>
            <a:r>
              <a:t>95%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121140" y="2926080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E7082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304020" y="3337560"/>
            <a:ext cx="2080260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121140" y="3520440"/>
            <a:ext cx="24460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0F5"/>
                </a:solidFill>
                <a:latin typeface="Microsoft YaHei"/>
              </a:defRPr>
            </a:pPr>
            <a:r>
              <a:t>动作准确率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9212580" y="5029200"/>
            <a:ext cx="2263140" cy="320040"/>
          </a:xfrm>
          <a:prstGeom prst="roundRect">
            <a:avLst/>
          </a:prstGeom>
          <a:solidFill>
            <a:srgbClr val="1A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212580" y="5029200"/>
            <a:ext cx="22631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CE7E"/>
                </a:solidFill>
                <a:latin typeface="Microsoft YaHei"/>
              </a:defRPr>
            </a:pPr>
            <a:r>
              <a:t>↑ 多物体协同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模块06 · 可灵AI深度精通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0096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38B6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可灵AI 3.0 技术突破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4D2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基于 All-in-one 多模态输入输出一体化理念，2026年1月全球上线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三大模型：视频3.0 / 视频3.0 Omni / 图片3.0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物理仿真深度升级：人体动力学、环境交互、多物体协同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影像级输出：1080p / 30fps / 最长2分钟 / 多宽高比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覆盖影视制作全流程：图片生成 → 视频生成 → 视频编辑 → 后期处理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模块06 · 可灵AI深度精通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0096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38B6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图生视频 vs 文生视频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4D2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720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1371600"/>
            <a:ext cx="668656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25855" y="1371600"/>
            <a:ext cx="668655" cy="381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794510" y="1371600"/>
            <a:ext cx="668655" cy="381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463165" y="1371600"/>
            <a:ext cx="668655" cy="381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131820" y="1371600"/>
            <a:ext cx="668655" cy="381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00475" y="1371600"/>
            <a:ext cx="668655" cy="381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469130" y="1371600"/>
            <a:ext cx="668655" cy="381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137785" y="1371600"/>
            <a:ext cx="668655" cy="381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FF"/>
                </a:solidFill>
                <a:latin typeface="Microsoft YaHei"/>
              </a:defRPr>
            </a:pPr>
            <a:r>
              <a:t>图生视频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103120"/>
            <a:ext cx="205741" cy="254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37260" y="2103120"/>
            <a:ext cx="205740" cy="254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43000" y="2103120"/>
            <a:ext cx="205740" cy="254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348740" y="2103120"/>
            <a:ext cx="205740" cy="254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554480" y="2103120"/>
            <a:ext cx="205740" cy="254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60220" y="2103120"/>
            <a:ext cx="205740" cy="254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965960" y="2103120"/>
            <a:ext cx="205740" cy="254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171700" y="2103120"/>
            <a:ext cx="205740" cy="254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31520" y="2386584"/>
            <a:ext cx="146304" cy="146304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584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输入：静态图片 + 文本描述（可选）</a:t>
            </a:r>
          </a:p>
        </p:txBody>
      </p:sp>
      <p:sp>
        <p:nvSpPr>
          <p:cNvPr id="61" name="Oval 60"/>
          <p:cNvSpPr/>
          <p:nvPr/>
        </p:nvSpPr>
        <p:spPr>
          <a:xfrm>
            <a:off x="731520" y="2916936"/>
            <a:ext cx="146304" cy="146304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584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画面受原图约束，一致性更好</a:t>
            </a:r>
          </a:p>
        </p:txBody>
      </p:sp>
      <p:sp>
        <p:nvSpPr>
          <p:cNvPr id="63" name="Oval 62"/>
          <p:cNvSpPr/>
          <p:nvPr/>
        </p:nvSpPr>
        <p:spPr>
          <a:xfrm>
            <a:off x="731520" y="3447288"/>
            <a:ext cx="146304" cy="146304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584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适合已有角色设定图的动态化</a:t>
            </a:r>
          </a:p>
        </p:txBody>
      </p:sp>
      <p:sp>
        <p:nvSpPr>
          <p:cNvPr id="65" name="Oval 64"/>
          <p:cNvSpPr/>
          <p:nvPr/>
        </p:nvSpPr>
        <p:spPr>
          <a:xfrm>
            <a:off x="731520" y="3977640"/>
            <a:ext cx="146304" cy="146304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5840" y="39227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推荐分辨率：≥1024×1024</a:t>
            </a:r>
          </a:p>
        </p:txBody>
      </p:sp>
      <p:sp>
        <p:nvSpPr>
          <p:cNvPr id="67" name="Oval 66"/>
          <p:cNvSpPr/>
          <p:nvPr/>
        </p:nvSpPr>
        <p:spPr>
          <a:xfrm>
            <a:off x="731520" y="4507992"/>
            <a:ext cx="146304" cy="146304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05840" y="44531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运动幅度：低/中/高可调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26364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63640" y="1371600"/>
            <a:ext cx="668656" cy="381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932295" y="1371600"/>
            <a:ext cx="668655" cy="38100"/>
          </a:xfrm>
          <a:prstGeom prst="rect">
            <a:avLst/>
          </a:prstGeom>
          <a:solidFill>
            <a:srgbClr val="3EB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600950" y="1371600"/>
            <a:ext cx="668655" cy="38100"/>
          </a:xfrm>
          <a:prstGeom prst="rect">
            <a:avLst/>
          </a:prstGeom>
          <a:solidFill>
            <a:srgbClr val="44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269605" y="1371600"/>
            <a:ext cx="668655" cy="38100"/>
          </a:xfrm>
          <a:prstGeom prst="rect">
            <a:avLst/>
          </a:prstGeom>
          <a:solidFill>
            <a:srgbClr val="4A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938260" y="1371600"/>
            <a:ext cx="668655" cy="38100"/>
          </a:xfrm>
          <a:prstGeom prst="rect">
            <a:avLst/>
          </a:prstGeom>
          <a:solidFill>
            <a:srgbClr val="51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606915" y="1371600"/>
            <a:ext cx="668655" cy="38100"/>
          </a:xfrm>
          <a:prstGeom prst="rect">
            <a:avLst/>
          </a:prstGeom>
          <a:solidFill>
            <a:srgbClr val="57C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275570" y="1371600"/>
            <a:ext cx="668655" cy="38100"/>
          </a:xfrm>
          <a:prstGeom prst="rect">
            <a:avLst/>
          </a:prstGeom>
          <a:solidFill>
            <a:srgbClr val="5DC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944225" y="1371600"/>
            <a:ext cx="668655" cy="38100"/>
          </a:xfrm>
          <a:prstGeom prst="rect">
            <a:avLst/>
          </a:prstGeom>
          <a:solidFill>
            <a:srgbClr val="64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53796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6FF"/>
                </a:solidFill>
                <a:latin typeface="Microsoft YaHei"/>
              </a:defRPr>
            </a:pPr>
            <a:r>
              <a:t>文生视频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537960" y="2103120"/>
            <a:ext cx="205741" cy="254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43700" y="2103120"/>
            <a:ext cx="205740" cy="25400"/>
          </a:xfrm>
          <a:prstGeom prst="rect">
            <a:avLst/>
          </a:prstGeom>
          <a:solidFill>
            <a:srgbClr val="3EB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949440" y="2103120"/>
            <a:ext cx="205740" cy="25400"/>
          </a:xfrm>
          <a:prstGeom prst="rect">
            <a:avLst/>
          </a:prstGeom>
          <a:solidFill>
            <a:srgbClr val="44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155180" y="2103120"/>
            <a:ext cx="205740" cy="25400"/>
          </a:xfrm>
          <a:prstGeom prst="rect">
            <a:avLst/>
          </a:prstGeom>
          <a:solidFill>
            <a:srgbClr val="4A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60920" y="2103120"/>
            <a:ext cx="205740" cy="25400"/>
          </a:xfrm>
          <a:prstGeom prst="rect">
            <a:avLst/>
          </a:prstGeom>
          <a:solidFill>
            <a:srgbClr val="51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66660" y="2103120"/>
            <a:ext cx="205740" cy="25400"/>
          </a:xfrm>
          <a:prstGeom prst="rect">
            <a:avLst/>
          </a:prstGeom>
          <a:solidFill>
            <a:srgbClr val="57C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2103120"/>
            <a:ext cx="205740" cy="25400"/>
          </a:xfrm>
          <a:prstGeom prst="rect">
            <a:avLst/>
          </a:prstGeom>
          <a:solidFill>
            <a:srgbClr val="5DC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978140" y="2103120"/>
            <a:ext cx="205740" cy="25400"/>
          </a:xfrm>
          <a:prstGeom prst="rect">
            <a:avLst/>
          </a:prstGeom>
          <a:solidFill>
            <a:srgbClr val="64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537960" y="2386584"/>
            <a:ext cx="146304" cy="146304"/>
          </a:xfrm>
          <a:prstGeom prst="ellipse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1228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输入：纯文本提示词</a:t>
            </a:r>
          </a:p>
        </p:txBody>
      </p:sp>
      <p:sp>
        <p:nvSpPr>
          <p:cNvPr id="89" name="Oval 88"/>
          <p:cNvSpPr/>
          <p:nvPr/>
        </p:nvSpPr>
        <p:spPr>
          <a:xfrm>
            <a:off x="6537960" y="2916936"/>
            <a:ext cx="146304" cy="146304"/>
          </a:xfrm>
          <a:prstGeom prst="ellipse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81228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创意自由度高，完全由提示词决定</a:t>
            </a:r>
          </a:p>
        </p:txBody>
      </p:sp>
      <p:sp>
        <p:nvSpPr>
          <p:cNvPr id="91" name="Oval 90"/>
          <p:cNvSpPr/>
          <p:nvPr/>
        </p:nvSpPr>
        <p:spPr>
          <a:xfrm>
            <a:off x="6537960" y="3447288"/>
            <a:ext cx="146304" cy="146304"/>
          </a:xfrm>
          <a:prstGeom prst="ellipse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81228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适合全新概念探索与灵感激发</a:t>
            </a:r>
          </a:p>
        </p:txBody>
      </p:sp>
      <p:sp>
        <p:nvSpPr>
          <p:cNvPr id="93" name="Oval 92"/>
          <p:cNvSpPr/>
          <p:nvPr/>
        </p:nvSpPr>
        <p:spPr>
          <a:xfrm>
            <a:off x="6537960" y="3977640"/>
            <a:ext cx="146304" cy="146304"/>
          </a:xfrm>
          <a:prstGeom prst="ellipse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812280" y="39227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核心公式：主体+运动+场景+镜头+光影+氛围</a:t>
            </a:r>
          </a:p>
        </p:txBody>
      </p:sp>
      <p:sp>
        <p:nvSpPr>
          <p:cNvPr id="95" name="Oval 94"/>
          <p:cNvSpPr/>
          <p:nvPr/>
        </p:nvSpPr>
        <p:spPr>
          <a:xfrm>
            <a:off x="6537960" y="4507992"/>
            <a:ext cx="146304" cy="146304"/>
          </a:xfrm>
          <a:prstGeom prst="ellipse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812280" y="44531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细粒度提示词（100-200字）效果最佳</a:t>
            </a:r>
          </a:p>
        </p:txBody>
      </p:sp>
      <p:sp>
        <p:nvSpPr>
          <p:cNvPr id="97" name="Rectangle 96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模块06 · 可灵AI深度精通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0"/>
            <a:ext cx="6400800" cy="6400800"/>
          </a:xfrm>
          <a:prstGeom prst="ellipse">
            <a:avLst/>
          </a:prstGeom>
          <a:solidFill>
            <a:srgbClr val="0096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2743200"/>
            <a:ext cx="4572000" cy="4572000"/>
          </a:xfrm>
          <a:prstGeom prst="ellipse">
            <a:avLst/>
          </a:prstGeom>
          <a:solidFill>
            <a:srgbClr val="38B6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1097280"/>
            <a:ext cx="720091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920490" y="1097280"/>
            <a:ext cx="720090" cy="381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40580" y="1097280"/>
            <a:ext cx="720090" cy="381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60670" y="1097280"/>
            <a:ext cx="720090" cy="381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80760" y="1097280"/>
            <a:ext cx="720090" cy="381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00850" y="1097280"/>
            <a:ext cx="720090" cy="381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20940" y="1097280"/>
            <a:ext cx="720090" cy="381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41030" y="1097280"/>
            <a:ext cx="720090" cy="381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164592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提示词 = 主体(描述) + 运动 + 场景(描述) + 镜头语言 + 光影 + 氛围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931920"/>
            <a:ext cx="262891" cy="254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3931920"/>
            <a:ext cx="262890" cy="254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3931920"/>
            <a:ext cx="262890" cy="254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3931920"/>
            <a:ext cx="262890" cy="254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3931920"/>
            <a:ext cx="262890" cy="254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3931920"/>
            <a:ext cx="262890" cy="254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3931920"/>
            <a:ext cx="262890" cy="254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3931920"/>
            <a:ext cx="262890" cy="254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297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各要素详解：主体指视频中的主要对象及其外貌服饰姿态；运动指主体的动作状态；场景指所处环境及细节；镜头语言指摄影机角度和运动（特写/跟拍/航拍等）；光影指光线效果（逆光/暖色调等）；氛围指整体情感基调（紧张/温馨/史诗感）。漫剧制作建议使用细粒度提示词，精确描述角色外观、动作和场景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模块06 · 可灵AI深度精通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0096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38B6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运动控制系统层级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4D2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48640" y="1280160"/>
          <a:ext cx="110642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层级</a:t>
                      </a:r>
                    </a:p>
                  </a:txBody>
                  <a:tcPr anchor="ctr">
                    <a:solidFill>
                      <a:srgbClr val="009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控制方式</a:t>
                      </a:r>
                    </a:p>
                  </a:txBody>
                  <a:tcPr anchor="ctr">
                    <a:solidFill>
                      <a:srgbClr val="009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精度</a:t>
                      </a:r>
                    </a:p>
                  </a:txBody>
                  <a:tcPr anchor="ctr">
                    <a:solidFill>
                      <a:srgbClr val="009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适用场景</a:t>
                      </a:r>
                    </a:p>
                  </a:txBody>
                  <a:tcPr anchor="ctr">
                    <a:solidFill>
                      <a:srgbClr val="0096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Level 1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提示词控制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基础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通过文字描述运动方向和幅度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Level 2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运动笔刷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精准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在画面上直接绘制运动轨迹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Level 3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动作大师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专业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人体骨骼级动作控制/参考视频迁移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Level 4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首尾帧控制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高级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精确控制起始帧与结束帧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模块06 · 可灵AI深度精通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0096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38B6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首尾帧控制工作流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4D2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准备起始帧图片（上一段视频最后一帧截图或设计稿）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1371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221992"/>
            <a:ext cx="6859" cy="3657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8378" y="2221992"/>
            <a:ext cx="6858" cy="36576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45236" y="2221992"/>
            <a:ext cx="6858" cy="36576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2094" y="2221992"/>
            <a:ext cx="6858" cy="36576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58952" y="2221992"/>
            <a:ext cx="6858" cy="36576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65810" y="2221992"/>
            <a:ext cx="6858" cy="36576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2668" y="2221992"/>
            <a:ext cx="6858" cy="36576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79526" y="2221992"/>
            <a:ext cx="6858" cy="36576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2688" y="2148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准备结束帧图片（下一段视频第一帧或目标姿态）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21488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" y="2999232"/>
            <a:ext cx="6859" cy="3657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38378" y="2999232"/>
            <a:ext cx="6858" cy="36576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45236" y="2999232"/>
            <a:ext cx="6858" cy="36576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52094" y="2999232"/>
            <a:ext cx="6858" cy="36576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58952" y="2999232"/>
            <a:ext cx="6858" cy="36576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65810" y="2999232"/>
            <a:ext cx="6858" cy="36576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72668" y="2999232"/>
            <a:ext cx="6858" cy="36576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79526" y="2999232"/>
            <a:ext cx="6858" cy="36576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2688" y="2926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进入可灵AI「图生视频」→ 启用「首尾帧控制」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1520" y="3776472"/>
            <a:ext cx="6859" cy="3657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8378" y="3776472"/>
            <a:ext cx="6858" cy="36576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45236" y="3776472"/>
            <a:ext cx="6858" cy="36576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52094" y="3776472"/>
            <a:ext cx="6858" cy="36576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58952" y="3776472"/>
            <a:ext cx="6858" cy="36576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5810" y="3776472"/>
            <a:ext cx="6858" cy="36576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72668" y="3776472"/>
            <a:ext cx="6858" cy="36576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79526" y="3776472"/>
            <a:ext cx="6858" cy="36576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32688" y="3703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分别上传起始帧和结束帧，设置过渡参数（时长3-5秒）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" y="3703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1520" y="4553712"/>
            <a:ext cx="6859" cy="3657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8378" y="4553712"/>
            <a:ext cx="6858" cy="36576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5236" y="4553712"/>
            <a:ext cx="6858" cy="36576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2094" y="4553712"/>
            <a:ext cx="6858" cy="36576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8952" y="4553712"/>
            <a:ext cx="6858" cy="36576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5810" y="4553712"/>
            <a:ext cx="6858" cy="36576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2668" y="4553712"/>
            <a:ext cx="6858" cy="36576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9526" y="4553712"/>
            <a:ext cx="6858" cy="36576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32688" y="4480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添加过渡描述提示词（如"人物从站立缓缓坐下"）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1520" y="4480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31520" y="5330952"/>
            <a:ext cx="6859" cy="3657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38378" y="5330952"/>
            <a:ext cx="6858" cy="36576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45236" y="5330952"/>
            <a:ext cx="6858" cy="36576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52094" y="5330952"/>
            <a:ext cx="6858" cy="36576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58952" y="5330952"/>
            <a:ext cx="6858" cy="36576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65810" y="5330952"/>
            <a:ext cx="6858" cy="36576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72668" y="5330952"/>
            <a:ext cx="6858" cy="36576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79526" y="5330952"/>
            <a:ext cx="6858" cy="36576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32688" y="5257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生成并验证过渡自然度，必要时调整参数重新生成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31520" y="5257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模块06 · 可灵AI深度精通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0096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38B6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打斗场景生成策略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4D2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提示词公式：角色A动作 + 角色B反应 + 镜头运动 + 画面风格 + 氛围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复杂动作分解为多个3-5秒短片段，用首尾帧衔接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常用镜头：低角度仰拍（气势）、跟拍（速度感）、环绕（紧张感）、慢动作（关键时刻）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参数推荐：模型3.0 / 30fps / 1080p / 运动幅度中-高 / 每次生成4个版本选优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节奏控制：快节奏3秒高运动 / 中节奏5秒中运动 / 慢节奏5-10秒低运动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模块06 · 可灵AI深度精通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0096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38B6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实战项目：《剑客对决》分镜规划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4D2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项目目标：完成约2-3分钟动作类漫剧，16个视频片段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角色设定：白衣剑客（主角）+ 黑衣刺客（对手），各含外貌/服装/武器详细描述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分镜结构：开场(2片段) → 铺垫(2片段) → 对峙(2片段) → 高潮打斗(6片段) → 结尾(4片段)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工作流：角色设定图 → 关键帧 → 分片段生成 → 截取末帧 → 首尾帧衔接 → 剪辑合成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质量保障：每片段4版本选优、角色外观检查、光影方向统一、动作衔接验证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模块06 · 可灵AI深度精通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0096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38B6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4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◆  本模块实操任务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EE7B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" y="144475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144475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8096" y="144475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4672" y="144475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41248" y="144475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77824" y="144475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" y="144475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50976" y="144475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7552" y="144475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8872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45920" y="1371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注册可灵AI平台，使用提示词模板各生成一段文生视频和图生视频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222199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1520" y="222199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68096" y="222199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4672" y="222199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41248" y="222199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77824" y="222199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400" y="222199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50976" y="222199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87552" y="222199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8872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45920" y="21488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对同一张角色图分别设置低/中/高运动幅度，对比效果差异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" y="299923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31520" y="299923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68096" y="299923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04672" y="299923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41248" y="299923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7824" y="299923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14400" y="299923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50976" y="299923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87552" y="299923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8872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645920" y="2926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使用运动笔刷为角色图片分别控制头部转动、手臂挥动、身体移动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31520" y="377647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31520" y="377647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8096" y="377647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04672" y="377647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41248" y="377647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77824" y="377647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14400" y="377647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50976" y="377647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87552" y="377647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188720" y="3703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645920" y="3703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使用首尾帧控制，将角色的"站"和"坐"两种姿态生成过渡视频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31520" y="455371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31520" y="455371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8096" y="455371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4672" y="455371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41248" y="455371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77824" y="455371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14400" y="455371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50976" y="455371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87552" y="455371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88720" y="4480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645920" y="44805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将一个完整打斗动作分解为3个片段，用首尾帧衔接制作连贯动作序列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31520" y="533095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31520" y="533095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68096" y="533095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04672" y="533095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41248" y="533095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7824" y="533095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14400" y="533095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50976" y="533095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87552" y="533095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188720" y="5257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645920" y="52578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完成《剑客对决》全部16个片段的生成，剪辑成2-3分钟完整视频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模块06 · 可灵AI深度精通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914400"/>
            <a:ext cx="6400800" cy="6400800"/>
          </a:xfrm>
          <a:prstGeom prst="ellipse">
            <a:avLst/>
          </a:prstGeom>
          <a:solidFill>
            <a:srgbClr val="0096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1371600"/>
            <a:ext cx="491491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06290" y="1371600"/>
            <a:ext cx="491490" cy="381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97780" y="1371600"/>
            <a:ext cx="491490" cy="381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9270" y="1371600"/>
            <a:ext cx="491490" cy="381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80760" y="1371600"/>
            <a:ext cx="491490" cy="381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72250" y="1371600"/>
            <a:ext cx="491490" cy="381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63740" y="1371600"/>
            <a:ext cx="491490" cy="381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55230" y="1371600"/>
            <a:ext cx="491490" cy="381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0096FF"/>
                </a:solidFill>
                <a:latin typeface="Microsoft YaHei"/>
              </a:defRPr>
            </a:pPr>
            <a: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320040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本模块结束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4023360"/>
            <a:ext cx="262891" cy="254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4023360"/>
            <a:ext cx="262890" cy="25400"/>
          </a:xfrm>
          <a:prstGeom prst="rect">
            <a:avLst/>
          </a:prstGeom>
          <a:solidFill>
            <a:srgbClr val="07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4023360"/>
            <a:ext cx="262890" cy="25400"/>
          </a:xfrm>
          <a:prstGeom prst="rect">
            <a:avLst/>
          </a:prstGeom>
          <a:solidFill>
            <a:srgbClr val="1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4023360"/>
            <a:ext cx="262890" cy="25400"/>
          </a:xfrm>
          <a:prstGeom prst="rect">
            <a:avLst/>
          </a:prstGeom>
          <a:solidFill>
            <a:srgbClr val="18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4023360"/>
            <a:ext cx="262890" cy="25400"/>
          </a:xfrm>
          <a:prstGeom prst="rect">
            <a:avLst/>
          </a:prstGeom>
          <a:solidFill>
            <a:srgbClr val="2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4023360"/>
            <a:ext cx="262890" cy="25400"/>
          </a:xfrm>
          <a:prstGeom prst="rect">
            <a:avLst/>
          </a:prstGeom>
          <a:solidFill>
            <a:srgbClr val="28A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4023360"/>
            <a:ext cx="262890" cy="25400"/>
          </a:xfrm>
          <a:prstGeom prst="rect">
            <a:avLst/>
          </a:prstGeom>
          <a:solidFill>
            <a:srgbClr val="30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4023360"/>
            <a:ext cx="262890" cy="25400"/>
          </a:xfrm>
          <a:prstGeom prst="rect">
            <a:avLst/>
          </a:prstGeom>
          <a:solidFill>
            <a:srgbClr val="38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8BAC8"/>
                </a:solidFill>
                <a:latin typeface="Microsoft YaHei"/>
              </a:defRPr>
            </a:pPr>
            <a:r>
              <a:t>下一模块：Seedance 2.0深度精通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E7082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7C3AED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2743200"/>
            <a:ext cx="5486400" cy="5486400"/>
          </a:xfrm>
          <a:prstGeom prst="ellipse">
            <a:avLst/>
          </a:prstGeom>
          <a:solidFill>
            <a:srgbClr val="9F67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4572000"/>
            <a:ext cx="3657600" cy="3657600"/>
          </a:xfrm>
          <a:prstGeom prst="ellipse">
            <a:avLst/>
          </a:prstGeom>
          <a:solidFill>
            <a:srgbClr val="C4B5FD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0"/>
            <a:ext cx="182880" cy="685800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91440" cy="6858000"/>
          </a:xfrm>
          <a:prstGeom prst="rect">
            <a:avLst/>
          </a:prstGeom>
          <a:solidFill>
            <a:srgbClr val="4F3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8016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5448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1031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774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8016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55448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8288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031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3774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2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58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8016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8288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1031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3774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7315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657600"/>
            <a:ext cx="1828800" cy="329184"/>
          </a:xfrm>
          <a:prstGeom prst="round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657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4B5FD"/>
                </a:solidFill>
                <a:latin typeface="Microsoft YaHei"/>
              </a:defRPr>
            </a:pPr>
            <a:r>
              <a:t>M O D U L 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114800"/>
            <a:ext cx="285751" cy="38100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2950" y="4114800"/>
            <a:ext cx="285750" cy="38100"/>
          </a:xfrm>
          <a:prstGeom prst="rect">
            <a:avLst/>
          </a:prstGeom>
          <a:solidFill>
            <a:srgbClr val="B9A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28700" y="4114800"/>
            <a:ext cx="285750" cy="38100"/>
          </a:xfrm>
          <a:prstGeom prst="rect">
            <a:avLst/>
          </a:prstGeom>
          <a:solidFill>
            <a:srgbClr val="AF9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314450" y="4114800"/>
            <a:ext cx="285750" cy="38100"/>
          </a:xfrm>
          <a:prstGeom prst="rect">
            <a:avLst/>
          </a:prstGeom>
          <a:solidFill>
            <a:srgbClr val="A58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600200" y="4114800"/>
            <a:ext cx="285750" cy="38100"/>
          </a:xfrm>
          <a:prstGeom prst="rect">
            <a:avLst/>
          </a:prstGeom>
          <a:solidFill>
            <a:srgbClr val="9A6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885950" y="4114800"/>
            <a:ext cx="285750" cy="38100"/>
          </a:xfrm>
          <a:prstGeom prst="rect">
            <a:avLst/>
          </a:prstGeom>
          <a:solidFill>
            <a:srgbClr val="905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171700" y="4114800"/>
            <a:ext cx="285750" cy="38100"/>
          </a:xfrm>
          <a:prstGeom prst="rect">
            <a:avLst/>
          </a:prstGeom>
          <a:solidFill>
            <a:srgbClr val="864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457450" y="4114800"/>
            <a:ext cx="28575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035040" y="1097280"/>
            <a:ext cx="5486400" cy="457200"/>
          </a:xfrm>
          <a:prstGeom prst="roundRect">
            <a:avLst/>
          </a:prstGeom>
          <a:solidFill>
            <a:srgbClr val="2A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4B5FD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20116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F0F5"/>
                </a:solidFill>
                <a:latin typeface="Microsoft YaHei"/>
              </a:defRPr>
            </a:pPr>
            <a:r>
              <a:t>模块七：Seedance 2.0深度精通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3840480"/>
            <a:ext cx="400051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5090" y="3840480"/>
            <a:ext cx="400050" cy="3810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835140" y="3840480"/>
            <a:ext cx="400050" cy="3810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35190" y="3840480"/>
            <a:ext cx="400050" cy="3810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635240" y="3840480"/>
            <a:ext cx="400050" cy="3810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35290" y="3840480"/>
            <a:ext cx="400050" cy="3810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435340" y="3840480"/>
            <a:ext cx="400050" cy="3810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35390" y="3840480"/>
            <a:ext cx="400050" cy="3810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35040" y="42062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8课时 · 参考驱动与角色档案系统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035040" y="5303520"/>
            <a:ext cx="5486400" cy="6400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722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C3AED"/>
                </a:solidFill>
                <a:latin typeface="Microsoft YaHei"/>
              </a:defRPr>
            </a:pPr>
            <a:r>
              <a:t>124课时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609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438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C3AED"/>
                </a:solidFill>
                <a:latin typeface="Microsoft YaHei"/>
              </a:defRPr>
            </a:pPr>
            <a:r>
              <a:t>17模块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7325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154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C3AED"/>
                </a:solidFill>
                <a:latin typeface="Microsoft YaHei"/>
              </a:defRPr>
            </a:pPr>
            <a:r>
              <a:t>8-16周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1041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2870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C3AED"/>
                </a:solidFill>
                <a:latin typeface="Microsoft YaHei"/>
              </a:defRPr>
            </a:pPr>
            <a:r>
              <a:t>全流程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155680" y="0"/>
            <a:ext cx="1036015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1978640" y="0"/>
            <a:ext cx="38100" cy="7315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521440" y="274320"/>
            <a:ext cx="137160" cy="137160"/>
          </a:xfrm>
          <a:prstGeom prst="ellipse">
            <a:avLst/>
          </a:prstGeom>
          <a:solidFill>
            <a:srgbClr val="C4B5FD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7C3AED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9F67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§  本节内容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C4B5F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31520" y="1397000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422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Seedance 2.0核心优势与定位</a:t>
            </a:r>
          </a:p>
        </p:txBody>
      </p:sp>
      <p:sp>
        <p:nvSpPr>
          <p:cNvPr id="44" name="Oval 43"/>
          <p:cNvSpPr/>
          <p:nvPr/>
        </p:nvSpPr>
        <p:spPr>
          <a:xfrm>
            <a:off x="731520" y="1963928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422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多模态参考系统</a:t>
            </a:r>
          </a:p>
        </p:txBody>
      </p:sp>
      <p:sp>
        <p:nvSpPr>
          <p:cNvPr id="47" name="Oval 46"/>
          <p:cNvSpPr/>
          <p:nvPr/>
        </p:nvSpPr>
        <p:spPr>
          <a:xfrm>
            <a:off x="731520" y="2530856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422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角色档案系统</a:t>
            </a:r>
          </a:p>
        </p:txBody>
      </p:sp>
      <p:sp>
        <p:nvSpPr>
          <p:cNvPr id="50" name="Oval 49"/>
          <p:cNvSpPr/>
          <p:nvPr/>
        </p:nvSpPr>
        <p:spPr>
          <a:xfrm>
            <a:off x="731520" y="3097784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4220" y="30977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" y="307238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Draft模式低成本试错</a:t>
            </a:r>
          </a:p>
        </p:txBody>
      </p:sp>
      <p:sp>
        <p:nvSpPr>
          <p:cNvPr id="53" name="Oval 52"/>
          <p:cNvSpPr/>
          <p:nvPr/>
        </p:nvSpPr>
        <p:spPr>
          <a:xfrm>
            <a:off x="6400800" y="1397000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1350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抽卡率优化系统方法</a:t>
            </a:r>
          </a:p>
        </p:txBody>
      </p:sp>
      <p:sp>
        <p:nvSpPr>
          <p:cNvPr id="56" name="Oval 55"/>
          <p:cNvSpPr/>
          <p:nvPr/>
        </p:nvSpPr>
        <p:spPr>
          <a:xfrm>
            <a:off x="6400800" y="1963928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1350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即梦AI+Seedance整合工作流</a:t>
            </a:r>
          </a:p>
        </p:txBody>
      </p:sp>
      <p:sp>
        <p:nvSpPr>
          <p:cNvPr id="59" name="Oval 58"/>
          <p:cNvSpPr/>
          <p:nvPr/>
        </p:nvSpPr>
        <p:spPr>
          <a:xfrm>
            <a:off x="6400800" y="2530856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1350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6656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武侠/动作漫剧实战</a:t>
            </a:r>
          </a:p>
        </p:txBody>
      </p:sp>
      <p:sp>
        <p:nvSpPr>
          <p:cNvPr id="62" name="Oval 61"/>
          <p:cNvSpPr/>
          <p:nvPr/>
        </p:nvSpPr>
        <p:spPr>
          <a:xfrm>
            <a:off x="6400800" y="3097784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13500" y="30977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66560" y="307238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实战项目：精品漫剧全流程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模块07 · Seedance 2.0深度精通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7C3AED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9F67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Seedance 2.0 vs 可灵AI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C4B5F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720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1371600"/>
            <a:ext cx="668656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25855" y="1371600"/>
            <a:ext cx="668655" cy="3810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794510" y="1371600"/>
            <a:ext cx="668655" cy="3810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463165" y="1371600"/>
            <a:ext cx="668655" cy="3810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131820" y="1371600"/>
            <a:ext cx="668655" cy="3810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00475" y="1371600"/>
            <a:ext cx="668655" cy="3810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469130" y="1371600"/>
            <a:ext cx="668655" cy="3810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137785" y="1371600"/>
            <a:ext cx="668655" cy="3810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Microsoft YaHei"/>
              </a:defRPr>
            </a:pPr>
            <a:r>
              <a:t>Seedance 2.0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103120"/>
            <a:ext cx="205741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37260" y="2103120"/>
            <a:ext cx="205740" cy="2540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43000" y="2103120"/>
            <a:ext cx="205740" cy="2540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348740" y="2103120"/>
            <a:ext cx="205740" cy="2540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554480" y="2103120"/>
            <a:ext cx="205740" cy="2540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60220" y="2103120"/>
            <a:ext cx="205740" cy="2540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965960" y="2103120"/>
            <a:ext cx="205740" cy="2540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171700" y="2103120"/>
            <a:ext cx="205740" cy="2540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31520" y="2386584"/>
            <a:ext cx="146304" cy="14630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584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核心：参考驱动 + 角色档案 + Draft模式</a:t>
            </a:r>
          </a:p>
        </p:txBody>
      </p:sp>
      <p:sp>
        <p:nvSpPr>
          <p:cNvPr id="61" name="Oval 60"/>
          <p:cNvSpPr/>
          <p:nvPr/>
        </p:nvSpPr>
        <p:spPr>
          <a:xfrm>
            <a:off x="731520" y="2916936"/>
            <a:ext cx="146304" cy="14630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584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适合：漫剧批量生产、角色一致性要求高</a:t>
            </a:r>
          </a:p>
        </p:txBody>
      </p:sp>
      <p:sp>
        <p:nvSpPr>
          <p:cNvPr id="63" name="Oval 62"/>
          <p:cNvSpPr/>
          <p:nvPr/>
        </p:nvSpPr>
        <p:spPr>
          <a:xfrm>
            <a:off x="731520" y="3447288"/>
            <a:ext cx="146304" cy="14630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584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生态：即梦AI + 剪映</a:t>
            </a:r>
          </a:p>
        </p:txBody>
      </p:sp>
      <p:sp>
        <p:nvSpPr>
          <p:cNvPr id="65" name="Oval 64"/>
          <p:cNvSpPr/>
          <p:nvPr/>
        </p:nvSpPr>
        <p:spPr>
          <a:xfrm>
            <a:off x="731520" y="3977640"/>
            <a:ext cx="146304" cy="14630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5840" y="39227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抽卡率：70-90%（使用Draft后）</a:t>
            </a:r>
          </a:p>
        </p:txBody>
      </p:sp>
      <p:sp>
        <p:nvSpPr>
          <p:cNvPr id="67" name="Oval 66"/>
          <p:cNvSpPr/>
          <p:nvPr/>
        </p:nvSpPr>
        <p:spPr>
          <a:xfrm>
            <a:off x="731520" y="4507992"/>
            <a:ext cx="146304" cy="14630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05840" y="44531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特色：所见即所得的参考视频驱动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26364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63640" y="1371600"/>
            <a:ext cx="668656" cy="3810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932295" y="1371600"/>
            <a:ext cx="668655" cy="38100"/>
          </a:xfrm>
          <a:prstGeom prst="rect">
            <a:avLst/>
          </a:prstGeom>
          <a:solidFill>
            <a:srgbClr val="A47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600950" y="1371600"/>
            <a:ext cx="668655" cy="38100"/>
          </a:xfrm>
          <a:prstGeom prst="rect">
            <a:avLst/>
          </a:prstGeom>
          <a:solidFill>
            <a:srgbClr val="A97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269605" y="1371600"/>
            <a:ext cx="668655" cy="38100"/>
          </a:xfrm>
          <a:prstGeom prst="rect">
            <a:avLst/>
          </a:prstGeom>
          <a:solidFill>
            <a:srgbClr val="AE8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938260" y="1371600"/>
            <a:ext cx="668655" cy="38100"/>
          </a:xfrm>
          <a:prstGeom prst="rect">
            <a:avLst/>
          </a:prstGeom>
          <a:solidFill>
            <a:srgbClr val="B49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606915" y="1371600"/>
            <a:ext cx="668655" cy="38100"/>
          </a:xfrm>
          <a:prstGeom prst="rect">
            <a:avLst/>
          </a:prstGeom>
          <a:solidFill>
            <a:srgbClr val="B99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275570" y="1371600"/>
            <a:ext cx="668655" cy="38100"/>
          </a:xfrm>
          <a:prstGeom prst="rect">
            <a:avLst/>
          </a:prstGeom>
          <a:solidFill>
            <a:srgbClr val="BEA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944225" y="1371600"/>
            <a:ext cx="668655" cy="38100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53796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F67FF"/>
                </a:solidFill>
                <a:latin typeface="Microsoft YaHei"/>
              </a:defRPr>
            </a:pPr>
            <a:r>
              <a:t>可灵AI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537960" y="2103120"/>
            <a:ext cx="205741" cy="2540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43700" y="2103120"/>
            <a:ext cx="205740" cy="25400"/>
          </a:xfrm>
          <a:prstGeom prst="rect">
            <a:avLst/>
          </a:prstGeom>
          <a:solidFill>
            <a:srgbClr val="A47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949440" y="2103120"/>
            <a:ext cx="205740" cy="25400"/>
          </a:xfrm>
          <a:prstGeom prst="rect">
            <a:avLst/>
          </a:prstGeom>
          <a:solidFill>
            <a:srgbClr val="A97D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155180" y="2103120"/>
            <a:ext cx="205740" cy="25400"/>
          </a:xfrm>
          <a:prstGeom prst="rect">
            <a:avLst/>
          </a:prstGeom>
          <a:solidFill>
            <a:srgbClr val="AE8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60920" y="2103120"/>
            <a:ext cx="205740" cy="25400"/>
          </a:xfrm>
          <a:prstGeom prst="rect">
            <a:avLst/>
          </a:prstGeom>
          <a:solidFill>
            <a:srgbClr val="B49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66660" y="2103120"/>
            <a:ext cx="205740" cy="25400"/>
          </a:xfrm>
          <a:prstGeom prst="rect">
            <a:avLst/>
          </a:prstGeom>
          <a:solidFill>
            <a:srgbClr val="B99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2103120"/>
            <a:ext cx="205740" cy="25400"/>
          </a:xfrm>
          <a:prstGeom prst="rect">
            <a:avLst/>
          </a:prstGeom>
          <a:solidFill>
            <a:srgbClr val="BEA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978140" y="2103120"/>
            <a:ext cx="205740" cy="25400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537960" y="2386584"/>
            <a:ext cx="146304" cy="146304"/>
          </a:xfrm>
          <a:prstGeom prst="ellipse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1228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核心：文生视频质量高、创意发挥强</a:t>
            </a:r>
          </a:p>
        </p:txBody>
      </p:sp>
      <p:sp>
        <p:nvSpPr>
          <p:cNvPr id="89" name="Oval 88"/>
          <p:cNvSpPr/>
          <p:nvPr/>
        </p:nvSpPr>
        <p:spPr>
          <a:xfrm>
            <a:off x="6537960" y="2916936"/>
            <a:ext cx="146304" cy="146304"/>
          </a:xfrm>
          <a:prstGeom prst="ellipse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81228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适合：创意短片、单镜头精品视频</a:t>
            </a:r>
          </a:p>
        </p:txBody>
      </p:sp>
      <p:sp>
        <p:nvSpPr>
          <p:cNvPr id="91" name="Oval 90"/>
          <p:cNvSpPr/>
          <p:nvPr/>
        </p:nvSpPr>
        <p:spPr>
          <a:xfrm>
            <a:off x="6537960" y="3447288"/>
            <a:ext cx="146304" cy="146304"/>
          </a:xfrm>
          <a:prstGeom prst="ellipse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81228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生态：快影 + 快手</a:t>
            </a:r>
          </a:p>
        </p:txBody>
      </p:sp>
      <p:sp>
        <p:nvSpPr>
          <p:cNvPr id="93" name="Oval 92"/>
          <p:cNvSpPr/>
          <p:nvPr/>
        </p:nvSpPr>
        <p:spPr>
          <a:xfrm>
            <a:off x="6537960" y="3977640"/>
            <a:ext cx="146304" cy="146304"/>
          </a:xfrm>
          <a:prstGeom prst="ellipse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812280" y="39227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抽卡率：40-50%</a:t>
            </a:r>
          </a:p>
        </p:txBody>
      </p:sp>
      <p:sp>
        <p:nvSpPr>
          <p:cNvPr id="95" name="Oval 94"/>
          <p:cNvSpPr/>
          <p:nvPr/>
        </p:nvSpPr>
        <p:spPr>
          <a:xfrm>
            <a:off x="6537960" y="4507992"/>
            <a:ext cx="146304" cy="146304"/>
          </a:xfrm>
          <a:prstGeom prst="ellipse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812280" y="44531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特色：物理仿真、深度运动控制</a:t>
            </a:r>
          </a:p>
        </p:txBody>
      </p:sp>
      <p:sp>
        <p:nvSpPr>
          <p:cNvPr id="97" name="Rectangle 96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模块07 · Seedance 2.0深度精通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0"/>
            <a:ext cx="6400800" cy="6400800"/>
          </a:xfrm>
          <a:prstGeom prst="ellipse">
            <a:avLst/>
          </a:prstGeom>
          <a:solidFill>
            <a:srgbClr val="7C3AED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2743200"/>
            <a:ext cx="4572000" cy="4572000"/>
          </a:xfrm>
          <a:prstGeom prst="ellipse">
            <a:avLst/>
          </a:prstGeom>
          <a:solidFill>
            <a:srgbClr val="9F67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1097280"/>
            <a:ext cx="720091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920490" y="1097280"/>
            <a:ext cx="720090" cy="3810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40580" y="1097280"/>
            <a:ext cx="720090" cy="3810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60670" y="1097280"/>
            <a:ext cx="720090" cy="3810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80760" y="1097280"/>
            <a:ext cx="720090" cy="3810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00850" y="1097280"/>
            <a:ext cx="720090" cy="3810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20940" y="1097280"/>
            <a:ext cx="720090" cy="3810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41030" y="1097280"/>
            <a:ext cx="720090" cy="3810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164592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参考视频（真人/动画）+ 角色关键帧 + 提示词 → AI视频输出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931920"/>
            <a:ext cx="262891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3931920"/>
            <a:ext cx="262890" cy="2540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3931920"/>
            <a:ext cx="262890" cy="2540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3931920"/>
            <a:ext cx="262890" cy="2540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3931920"/>
            <a:ext cx="262890" cy="2540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3931920"/>
            <a:ext cx="262890" cy="2540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3931920"/>
            <a:ext cx="262890" cy="2540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3931920"/>
            <a:ext cx="262890" cy="2540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297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核心思想是给AI一段"示范视频"，让AI角色模仿视频中的动作。参考视频提供动作模板，角色关键帧提供角色形象，提示词补充场景/光线/氛围等静态元素。动作描述交给参考视频，提示词不需要详细描述动作。参考强度建议60-80%，过高会丢失角色特征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模块07 · Seedance 2.0深度精通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7C3AED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9F67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角色档案系统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C4B5F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核心价值：建立多角度参考图集，所有镜头共享同一档案，跨镜头角色一致性达商用水平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参考图集要求：角度参考3-5张 + 表情参考3-5张 + 光照参考2-3张 + 全身/半身2-3张，共10-15张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角色参数：角色权重70-85%、面部锁定开启、服装锁定开启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使用方式：创作界面选择角色档案 → 上传首帧 → 添加参考视频 → 生成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多角色同框：同时选择多个角色档案，或分步生成后后期合成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模块07 · Seedance 2.0深度精通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7C3AED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9F67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Draft模式成本对比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C4B5F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48640" y="1280160"/>
          <a:ext cx="11064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流程</a:t>
                      </a:r>
                    </a:p>
                  </a:txBody>
                  <a:tcPr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尝试次数</a:t>
                      </a:r>
                    </a:p>
                  </a:txBody>
                  <a:tcPr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每次成本</a:t>
                      </a:r>
                    </a:p>
                  </a:txBody>
                  <a:tcPr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总成本</a:t>
                      </a:r>
                    </a:p>
                  </a:txBody>
                  <a:tcPr anchor="ctr">
                    <a:solidFill>
                      <a:srgbClr val="7C3AE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传统全高清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5次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¥1.0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¥5.0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Draft模式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5次Draft + 1次高清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5×¥0.1 + ¥1.0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¥1.5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节省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¥3.5（70%）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模块07 · Seedance 2.0深度精通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7C3AED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9F67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抽卡率优化五大方法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C4B5F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精准提示词法：包含角色外貌+动作+场景+光线+镜头+风格六大要素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参考视频驱动法：首帧+参考视频组合可达80-95%可用率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分步生成法：复杂镜头拆分为简单步骤，降低单次生成复杂度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参数调优法：参考强度60-80%、运动幅度中等、时长3-5秒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Draft预览法：480P快速迭代，确认后再渲染1080P，成本降低60%+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模块07 · Seedance 2.0深度精通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7C3AED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9F67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即梦AI → Seedance 2.0 全链路流程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C4B5F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在即梦AI中生成角色基准图、场景母版图、各镜头关键帧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1371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221992"/>
            <a:ext cx="6859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8378" y="2221992"/>
            <a:ext cx="6858" cy="36576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45236" y="2221992"/>
            <a:ext cx="6858" cy="36576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2094" y="2221992"/>
            <a:ext cx="6858" cy="36576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58952" y="2221992"/>
            <a:ext cx="6858" cy="36576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65810" y="2221992"/>
            <a:ext cx="6858" cy="36576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2668" y="2221992"/>
            <a:ext cx="6858" cy="36576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79526" y="2221992"/>
            <a:ext cx="6858" cy="36576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2688" y="2148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下载所有关键帧图片，按镜头编号命名保存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21488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" y="2999232"/>
            <a:ext cx="6859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38378" y="2999232"/>
            <a:ext cx="6858" cy="36576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45236" y="2999232"/>
            <a:ext cx="6858" cy="36576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52094" y="2999232"/>
            <a:ext cx="6858" cy="36576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58952" y="2999232"/>
            <a:ext cx="6858" cy="36576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65810" y="2999232"/>
            <a:ext cx="6858" cy="36576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72668" y="2999232"/>
            <a:ext cx="6858" cy="36576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79526" y="2999232"/>
            <a:ext cx="6858" cy="36576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2688" y="2926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在Seedance 2.0中为每个主要角色创建角色档案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1520" y="3776472"/>
            <a:ext cx="6859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8378" y="3776472"/>
            <a:ext cx="6858" cy="36576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45236" y="3776472"/>
            <a:ext cx="6858" cy="36576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52094" y="3776472"/>
            <a:ext cx="6858" cy="36576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58952" y="3776472"/>
            <a:ext cx="6858" cy="36576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5810" y="3776472"/>
            <a:ext cx="6858" cy="36576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72668" y="3776472"/>
            <a:ext cx="6858" cy="36576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79526" y="3776472"/>
            <a:ext cx="6858" cy="36576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32688" y="3703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逐镜头上传关键帧作为首帧，添加参考视频（可选）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" y="3703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1520" y="4553712"/>
            <a:ext cx="6859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8378" y="4553712"/>
            <a:ext cx="6858" cy="36576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5236" y="4553712"/>
            <a:ext cx="6858" cy="36576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2094" y="4553712"/>
            <a:ext cx="6858" cy="36576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8952" y="4553712"/>
            <a:ext cx="6858" cy="36576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5810" y="4553712"/>
            <a:ext cx="6858" cy="36576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2668" y="4553712"/>
            <a:ext cx="6858" cy="36576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9526" y="4553712"/>
            <a:ext cx="6858" cy="36576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32688" y="4480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输入提示词（描述场景/光线/氛围，动作交给参考视频）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1520" y="4480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31520" y="5330952"/>
            <a:ext cx="6859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38378" y="5330952"/>
            <a:ext cx="6858" cy="36576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45236" y="5330952"/>
            <a:ext cx="6858" cy="36576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52094" y="5330952"/>
            <a:ext cx="6858" cy="36576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58952" y="5330952"/>
            <a:ext cx="6858" cy="36576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65810" y="5330952"/>
            <a:ext cx="6858" cy="36576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72668" y="5330952"/>
            <a:ext cx="6858" cy="36576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79526" y="5330952"/>
            <a:ext cx="6858" cy="36576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32688" y="5257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Draft模式预览 → 选择最佳版本 → 渲染1080P高清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31520" y="5257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模块07 · Seedance 2.0深度精通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7C3AED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9F67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武侠/动作场景生成要点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C4B5F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参考视频选择：武术教学视频、武术比赛表演、武打电影慢动作（动作清晰、背景简洁）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复杂动作拆分：连招分解为多个2-3秒片段，剪映中拼接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镜头节奏：慢(蓄力2-3秒) → 快(交锋1-2秒) → 慢(关键一击) → 快(连续过招) → 慢(胜负分晓)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物理效果强调：头发飘动、衣袂飞扬、剑光残影、粒子效果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抽卡率较低（50-70%），建议分步生成+快速镜头切换掩盖瑕疵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模块07 · Seedance 2.0深度精通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7C3AED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9F67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◆  本模块实操任务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EE7B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" y="144475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144475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8096" y="144475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4672" y="144475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41248" y="144475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77824" y="144475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" y="144475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50976" y="144475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7552" y="144475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8872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45920" y="1371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为3种常见动作（走路、对话、转身）各准备一段参考视频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222199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1520" y="222199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68096" y="222199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4672" y="222199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41248" y="222199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77824" y="222199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400" y="222199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50976" y="222199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87552" y="222199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8872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45920" y="21488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创建一个完整的角色档案（至少10张参考图），测试跨镜头一致性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" y="299923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31520" y="299923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68096" y="299923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04672" y="299923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41248" y="299923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7824" y="299923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14400" y="299923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50976" y="299923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87552" y="299923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8872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645920" y="2926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用Draft模式测试同一镜头的3种参考强度（50%/70%/90%），对比效果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31520" y="377647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31520" y="377647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8096" y="377647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04672" y="377647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41248" y="377647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77824" y="377647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14400" y="377647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50976" y="377647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87552" y="377647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188720" y="3703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645920" y="3703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为漫剧前5个镜头完成从关键帧到动态视频的Draft→高清全流程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31520" y="455371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31520" y="455371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8096" y="455371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4672" y="455371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41248" y="455371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77824" y="455371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14400" y="455371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50976" y="455371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87552" y="455371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88720" y="4480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645920" y="44805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生成3个不同角度的武侠打斗片段，在剪映中组合成完整打斗序列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31520" y="533095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31520" y="533095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68096" y="533095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04672" y="533095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41248" y="533095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7824" y="533095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14400" y="533095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50976" y="533095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87552" y="533095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188720" y="5257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645920" y="52578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统计项目抽卡率，建立Draft记录表，优化生产流程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模块07 · Seedance 2.0深度精通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914400"/>
            <a:ext cx="6400800" cy="6400800"/>
          </a:xfrm>
          <a:prstGeom prst="ellipse">
            <a:avLst/>
          </a:prstGeom>
          <a:solidFill>
            <a:srgbClr val="7C3AED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1371600"/>
            <a:ext cx="491491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06290" y="1371600"/>
            <a:ext cx="491490" cy="3810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97780" y="1371600"/>
            <a:ext cx="491490" cy="3810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9270" y="1371600"/>
            <a:ext cx="491490" cy="3810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80760" y="1371600"/>
            <a:ext cx="491490" cy="3810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72250" y="1371600"/>
            <a:ext cx="491490" cy="3810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63740" y="1371600"/>
            <a:ext cx="491490" cy="3810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55230" y="1371600"/>
            <a:ext cx="491490" cy="3810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7C3AED"/>
                </a:solidFill>
                <a:latin typeface="Microsoft YaHei"/>
              </a:defRPr>
            </a:pPr>
            <a: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320040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本模块结束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4023360"/>
            <a:ext cx="262891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4023360"/>
            <a:ext cx="262890" cy="25400"/>
          </a:xfrm>
          <a:prstGeom prst="rect">
            <a:avLst/>
          </a:prstGeom>
          <a:solidFill>
            <a:srgbClr val="814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4023360"/>
            <a:ext cx="262890" cy="25400"/>
          </a:xfrm>
          <a:prstGeom prst="rect">
            <a:avLst/>
          </a:prstGeom>
          <a:solidFill>
            <a:srgbClr val="864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4023360"/>
            <a:ext cx="262890" cy="25400"/>
          </a:xfrm>
          <a:prstGeom prst="rect">
            <a:avLst/>
          </a:prstGeom>
          <a:solidFill>
            <a:srgbClr val="8B4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4023360"/>
            <a:ext cx="262890" cy="25400"/>
          </a:xfrm>
          <a:prstGeom prst="rect">
            <a:avLst/>
          </a:prstGeom>
          <a:solidFill>
            <a:srgbClr val="905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4023360"/>
            <a:ext cx="262890" cy="25400"/>
          </a:xfrm>
          <a:prstGeom prst="rect">
            <a:avLst/>
          </a:prstGeom>
          <a:solidFill>
            <a:srgbClr val="955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4023360"/>
            <a:ext cx="262890" cy="25400"/>
          </a:xfrm>
          <a:prstGeom prst="rect">
            <a:avLst/>
          </a:prstGeom>
          <a:solidFill>
            <a:srgbClr val="9A6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4023360"/>
            <a:ext cx="262890" cy="25400"/>
          </a:xfrm>
          <a:prstGeom prst="rect">
            <a:avLst/>
          </a:prstGeom>
          <a:solidFill>
            <a:srgbClr val="9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8BAC8"/>
                </a:solidFill>
                <a:latin typeface="Microsoft YaHei"/>
              </a:defRPr>
            </a:pPr>
            <a:r>
              <a:t>下一模块：海螺AI与Vidu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E7082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06B6D4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2743200"/>
            <a:ext cx="5486400" cy="5486400"/>
          </a:xfrm>
          <a:prstGeom prst="ellipse">
            <a:avLst/>
          </a:prstGeom>
          <a:solidFill>
            <a:srgbClr val="22D3EE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4572000"/>
            <a:ext cx="3657600" cy="3657600"/>
          </a:xfrm>
          <a:prstGeom prst="ellipse">
            <a:avLst/>
          </a:prstGeom>
          <a:solidFill>
            <a:srgbClr val="67E8F9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0"/>
            <a:ext cx="182880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91440" cy="6858000"/>
          </a:xfrm>
          <a:prstGeom prst="rect">
            <a:avLst/>
          </a:prstGeom>
          <a:solidFill>
            <a:srgbClr val="1169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8016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5448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1031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774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8016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55448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8288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031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3774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2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58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8016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8288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1031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3774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7315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0" b="1">
                <a:solidFill>
                  <a:srgbClr val="FFFF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657600"/>
            <a:ext cx="1828800" cy="329184"/>
          </a:xfrm>
          <a:prstGeom prst="round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657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7E8F9"/>
                </a:solidFill>
                <a:latin typeface="Microsoft YaHei"/>
              </a:defRPr>
            </a:pPr>
            <a:r>
              <a:t>M O D U L 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114800"/>
            <a:ext cx="285751" cy="381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2950" y="4114800"/>
            <a:ext cx="285750" cy="38100"/>
          </a:xfrm>
          <a:prstGeom prst="rect">
            <a:avLst/>
          </a:prstGeom>
          <a:solidFill>
            <a:srgbClr val="59E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28700" y="4114800"/>
            <a:ext cx="285750" cy="38100"/>
          </a:xfrm>
          <a:prstGeom prst="rect">
            <a:avLst/>
          </a:prstGeom>
          <a:solidFill>
            <a:srgbClr val="4BD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314450" y="4114800"/>
            <a:ext cx="285750" cy="38100"/>
          </a:xfrm>
          <a:prstGeom prst="rect">
            <a:avLst/>
          </a:prstGeom>
          <a:solidFill>
            <a:srgbClr val="3D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600200" y="4114800"/>
            <a:ext cx="285750" cy="38100"/>
          </a:xfrm>
          <a:prstGeom prst="rect">
            <a:avLst/>
          </a:prstGeom>
          <a:solidFill>
            <a:srgbClr val="2FC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885950" y="4114800"/>
            <a:ext cx="285750" cy="38100"/>
          </a:xfrm>
          <a:prstGeom prst="rect">
            <a:avLst/>
          </a:prstGeom>
          <a:solidFill>
            <a:srgbClr val="21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171700" y="4114800"/>
            <a:ext cx="285750" cy="38100"/>
          </a:xfrm>
          <a:prstGeom prst="rect">
            <a:avLst/>
          </a:prstGeom>
          <a:solidFill>
            <a:srgbClr val="13B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457450" y="4114800"/>
            <a:ext cx="28575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035040" y="1097280"/>
            <a:ext cx="5486400" cy="457200"/>
          </a:xfrm>
          <a:prstGeom prst="roundRect">
            <a:avLst/>
          </a:prstGeom>
          <a:solidFill>
            <a:srgbClr val="0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7E8F9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20116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F0F5"/>
                </a:solidFill>
                <a:latin typeface="Microsoft YaHei"/>
              </a:defRPr>
            </a:pPr>
            <a:r>
              <a:t>模块八：海螺AI与Vidu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3840480"/>
            <a:ext cx="400051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5090" y="3840480"/>
            <a:ext cx="400050" cy="3810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835140" y="3840480"/>
            <a:ext cx="400050" cy="3810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35190" y="3840480"/>
            <a:ext cx="400050" cy="3810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635240" y="3840480"/>
            <a:ext cx="400050" cy="3810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35290" y="3840480"/>
            <a:ext cx="400050" cy="3810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435340" y="3840480"/>
            <a:ext cx="400050" cy="3810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35390" y="3840480"/>
            <a:ext cx="40005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35040" y="42062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6课时 · 物理动作与音画同步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035040" y="5303520"/>
            <a:ext cx="5486400" cy="6400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722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  <a:latin typeface="Microsoft YaHei"/>
              </a:defRPr>
            </a:pPr>
            <a:r>
              <a:t>124课时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609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438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  <a:latin typeface="Microsoft YaHei"/>
              </a:defRPr>
            </a:pPr>
            <a:r>
              <a:t>17模块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7325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154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  <a:latin typeface="Microsoft YaHei"/>
              </a:defRPr>
            </a:pPr>
            <a:r>
              <a:t>8-16周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1041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2870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  <a:latin typeface="Microsoft YaHei"/>
              </a:defRPr>
            </a:pPr>
            <a:r>
              <a:t>全流程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155680" y="0"/>
            <a:ext cx="1036015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1978640" y="0"/>
            <a:ext cx="38100" cy="7315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521440" y="274320"/>
            <a:ext cx="137160" cy="137160"/>
          </a:xfrm>
          <a:prstGeom prst="ellipse">
            <a:avLst/>
          </a:prstGeom>
          <a:solidFill>
            <a:srgbClr val="67E8F9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06B6D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22D3EE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§  本节内容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7E8F9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31520" y="1397000"/>
            <a:ext cx="274320" cy="2743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422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海螺AI：高难度物理动作生成</a:t>
            </a:r>
          </a:p>
        </p:txBody>
      </p:sp>
      <p:sp>
        <p:nvSpPr>
          <p:cNvPr id="44" name="Oval 43"/>
          <p:cNvSpPr/>
          <p:nvPr/>
        </p:nvSpPr>
        <p:spPr>
          <a:xfrm>
            <a:off x="731520" y="1963928"/>
            <a:ext cx="274320" cy="2743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422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海螺AI复杂动作实战</a:t>
            </a:r>
          </a:p>
        </p:txBody>
      </p:sp>
      <p:sp>
        <p:nvSpPr>
          <p:cNvPr id="47" name="Oval 46"/>
          <p:cNvSpPr/>
          <p:nvPr/>
        </p:nvSpPr>
        <p:spPr>
          <a:xfrm>
            <a:off x="731520" y="2530856"/>
            <a:ext cx="274320" cy="2743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422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Vidu Q3：16秒音画直出</a:t>
            </a:r>
          </a:p>
        </p:txBody>
      </p:sp>
      <p:sp>
        <p:nvSpPr>
          <p:cNvPr id="50" name="Oval 49"/>
          <p:cNvSpPr/>
          <p:nvPr/>
        </p:nvSpPr>
        <p:spPr>
          <a:xfrm>
            <a:off x="6400800" y="1397000"/>
            <a:ext cx="274320" cy="2743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1350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Vidu多角色互动场景生成</a:t>
            </a:r>
          </a:p>
        </p:txBody>
      </p:sp>
      <p:sp>
        <p:nvSpPr>
          <p:cNvPr id="53" name="Oval 52"/>
          <p:cNvSpPr/>
          <p:nvPr/>
        </p:nvSpPr>
        <p:spPr>
          <a:xfrm>
            <a:off x="6400800" y="1963928"/>
            <a:ext cx="274320" cy="2743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1350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Vidu叙事/画面/音频主体库</a:t>
            </a:r>
          </a:p>
        </p:txBody>
      </p:sp>
      <p:sp>
        <p:nvSpPr>
          <p:cNvPr id="56" name="Oval 55"/>
          <p:cNvSpPr/>
          <p:nvPr/>
        </p:nvSpPr>
        <p:spPr>
          <a:xfrm>
            <a:off x="6400800" y="2530856"/>
            <a:ext cx="274320" cy="2743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1350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视频生成工具选型策略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模块08 · 海螺AI与Vidu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06B6D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22D3EE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海螺AI vs Vidu Q3 定位对比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7E8F9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720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1371600"/>
            <a:ext cx="668656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25855" y="1371600"/>
            <a:ext cx="668655" cy="3810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794510" y="1371600"/>
            <a:ext cx="668655" cy="3810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463165" y="1371600"/>
            <a:ext cx="668655" cy="3810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131820" y="1371600"/>
            <a:ext cx="668655" cy="3810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00475" y="1371600"/>
            <a:ext cx="668655" cy="3810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469130" y="1371600"/>
            <a:ext cx="668655" cy="3810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137785" y="1371600"/>
            <a:ext cx="668655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Microsoft YaHei"/>
              </a:defRPr>
            </a:pPr>
            <a:r>
              <a:t>海螺AI（MiniMax）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103120"/>
            <a:ext cx="205741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37260" y="2103120"/>
            <a:ext cx="205740" cy="2540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43000" y="2103120"/>
            <a:ext cx="205740" cy="2540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348740" y="2103120"/>
            <a:ext cx="205740" cy="2540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554480" y="2103120"/>
            <a:ext cx="205740" cy="2540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60220" y="2103120"/>
            <a:ext cx="205740" cy="2540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965960" y="2103120"/>
            <a:ext cx="205740" cy="2540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171700" y="2103120"/>
            <a:ext cx="205740" cy="25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31520" y="2386584"/>
            <a:ext cx="146304" cy="146304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584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核心：物理仿真引擎 + 高难度动作</a:t>
            </a:r>
          </a:p>
        </p:txBody>
      </p:sp>
      <p:sp>
        <p:nvSpPr>
          <p:cNvPr id="61" name="Oval 60"/>
          <p:cNvSpPr/>
          <p:nvPr/>
        </p:nvSpPr>
        <p:spPr>
          <a:xfrm>
            <a:off x="731520" y="2916936"/>
            <a:ext cx="146304" cy="146304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584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强项：布料/头发/流体物理效果行业领先</a:t>
            </a:r>
          </a:p>
        </p:txBody>
      </p:sp>
      <p:sp>
        <p:nvSpPr>
          <p:cNvPr id="63" name="Oval 62"/>
          <p:cNvSpPr/>
          <p:nvPr/>
        </p:nvSpPr>
        <p:spPr>
          <a:xfrm>
            <a:off x="731520" y="3447288"/>
            <a:ext cx="146304" cy="146304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584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适合：打斗、舞蹈、极限运动场景</a:t>
            </a:r>
          </a:p>
        </p:txBody>
      </p:sp>
      <p:sp>
        <p:nvSpPr>
          <p:cNvPr id="65" name="Oval 64"/>
          <p:cNvSpPr/>
          <p:nvPr/>
        </p:nvSpPr>
        <p:spPr>
          <a:xfrm>
            <a:off x="731520" y="3977640"/>
            <a:ext cx="146304" cy="146304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5840" y="39227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定位："动作指导之选"</a:t>
            </a:r>
          </a:p>
        </p:txBody>
      </p:sp>
      <p:sp>
        <p:nvSpPr>
          <p:cNvPr id="67" name="Oval 66"/>
          <p:cNvSpPr/>
          <p:nvPr/>
        </p:nvSpPr>
        <p:spPr>
          <a:xfrm>
            <a:off x="731520" y="4507992"/>
            <a:ext cx="146304" cy="146304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05840" y="44531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性价比高，免费额度充足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26364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63640" y="1371600"/>
            <a:ext cx="668656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932295" y="1371600"/>
            <a:ext cx="668655" cy="38100"/>
          </a:xfrm>
          <a:prstGeom prst="rect">
            <a:avLst/>
          </a:prstGeom>
          <a:solidFill>
            <a:srgbClr val="2B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600950" y="1371600"/>
            <a:ext cx="668655" cy="38100"/>
          </a:xfrm>
          <a:prstGeom prst="rect">
            <a:avLst/>
          </a:prstGeom>
          <a:solidFill>
            <a:srgbClr val="35D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269605" y="1371600"/>
            <a:ext cx="668655" cy="38100"/>
          </a:xfrm>
          <a:prstGeom prst="rect">
            <a:avLst/>
          </a:prstGeom>
          <a:solidFill>
            <a:srgbClr val="3F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938260" y="1371600"/>
            <a:ext cx="668655" cy="38100"/>
          </a:xfrm>
          <a:prstGeom prst="rect">
            <a:avLst/>
          </a:prstGeom>
          <a:solidFill>
            <a:srgbClr val="49D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606915" y="1371600"/>
            <a:ext cx="668655" cy="38100"/>
          </a:xfrm>
          <a:prstGeom prst="rect">
            <a:avLst/>
          </a:prstGeom>
          <a:solidFill>
            <a:srgbClr val="53E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275570" y="1371600"/>
            <a:ext cx="668655" cy="38100"/>
          </a:xfrm>
          <a:prstGeom prst="rect">
            <a:avLst/>
          </a:prstGeom>
          <a:solidFill>
            <a:srgbClr val="5DE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944225" y="1371600"/>
            <a:ext cx="668655" cy="381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53796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D3EE"/>
                </a:solidFill>
                <a:latin typeface="Microsoft YaHei"/>
              </a:defRPr>
            </a:pPr>
            <a:r>
              <a:t>Vidu Q3（生数科技）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537960" y="2103120"/>
            <a:ext cx="205741" cy="25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43700" y="2103120"/>
            <a:ext cx="205740" cy="25400"/>
          </a:xfrm>
          <a:prstGeom prst="rect">
            <a:avLst/>
          </a:prstGeom>
          <a:solidFill>
            <a:srgbClr val="2B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949440" y="2103120"/>
            <a:ext cx="205740" cy="25400"/>
          </a:xfrm>
          <a:prstGeom prst="rect">
            <a:avLst/>
          </a:prstGeom>
          <a:solidFill>
            <a:srgbClr val="35D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155180" y="2103120"/>
            <a:ext cx="205740" cy="25400"/>
          </a:xfrm>
          <a:prstGeom prst="rect">
            <a:avLst/>
          </a:prstGeom>
          <a:solidFill>
            <a:srgbClr val="3F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60920" y="2103120"/>
            <a:ext cx="205740" cy="25400"/>
          </a:xfrm>
          <a:prstGeom prst="rect">
            <a:avLst/>
          </a:prstGeom>
          <a:solidFill>
            <a:srgbClr val="49D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66660" y="2103120"/>
            <a:ext cx="205740" cy="25400"/>
          </a:xfrm>
          <a:prstGeom prst="rect">
            <a:avLst/>
          </a:prstGeom>
          <a:solidFill>
            <a:srgbClr val="53E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2103120"/>
            <a:ext cx="205740" cy="25400"/>
          </a:xfrm>
          <a:prstGeom prst="rect">
            <a:avLst/>
          </a:prstGeom>
          <a:solidFill>
            <a:srgbClr val="5DE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978140" y="2103120"/>
            <a:ext cx="205740" cy="254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537960" y="2386584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1228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核心：16秒音画同步直出（行业首创）</a:t>
            </a:r>
          </a:p>
        </p:txBody>
      </p:sp>
      <p:sp>
        <p:nvSpPr>
          <p:cNvPr id="89" name="Oval 88"/>
          <p:cNvSpPr/>
          <p:nvPr/>
        </p:nvSpPr>
        <p:spPr>
          <a:xfrm>
            <a:off x="6537960" y="2916936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81228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强项：口型同步 + 多角色对话 + 叙事理解</a:t>
            </a:r>
          </a:p>
        </p:txBody>
      </p:sp>
      <p:sp>
        <p:nvSpPr>
          <p:cNvPr id="91" name="Oval 90"/>
          <p:cNvSpPr/>
          <p:nvPr/>
        </p:nvSpPr>
        <p:spPr>
          <a:xfrm>
            <a:off x="6537960" y="3447288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81228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适合：对话场景、叙事类漫剧</a:t>
            </a:r>
          </a:p>
        </p:txBody>
      </p:sp>
      <p:sp>
        <p:nvSpPr>
          <p:cNvPr id="93" name="Oval 92"/>
          <p:cNvSpPr/>
          <p:nvPr/>
        </p:nvSpPr>
        <p:spPr>
          <a:xfrm>
            <a:off x="6537960" y="397764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812280" y="39227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定位："对话场景首选"</a:t>
            </a:r>
          </a:p>
        </p:txBody>
      </p:sp>
      <p:sp>
        <p:nvSpPr>
          <p:cNvPr id="95" name="Oval 94"/>
          <p:cNvSpPr/>
          <p:nvPr/>
        </p:nvSpPr>
        <p:spPr>
          <a:xfrm>
            <a:off x="6537960" y="4507992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812280" y="44531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三大主体库：叙事/画面/音频模板</a:t>
            </a:r>
          </a:p>
        </p:txBody>
      </p:sp>
      <p:sp>
        <p:nvSpPr>
          <p:cNvPr id="97" name="Rectangle 96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模块08 · 海螺AI与Vidu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06B6D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22D3EE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海螺AI物理仿真优势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7E8F9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布料仿真：衣服褶皱、飘动、摆动效果行业最自然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头发仿真：长发飘动、发丝分离、风吹效果逼真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流体仿真：水面波纹、雨水飞溅、烟雾扩散效果优秀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刚体碰撞：物体碰撞、弹跳、碎裂效果自然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提示词中需明确添加物理效果关键词：「长发随风飘动」「裙摆被风吹起」「水花四溅」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模块08 · 海螺AI与Vidu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06B6D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22D3EE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Vidu Q3 音画同步革命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7E8F9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16秒音画直出：视频+配音+音效一次生成，省去后期配音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口型同步：角色口型与语音自动对齐，对话场景真实感大幅提升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多角色对话：支持2-3个角色同屏对话，原生支持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剧本生视频：直接输入对话剧本，AI自动生成带语音的视频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语音情感控制：支持愤怒/悲伤/喜悦/平静等情感标注，语速和停顿可调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模块08 · 海螺AI与Vidu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06B6D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22D3EE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四大视频生成工具能力矩阵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7E8F9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48640" y="1280160"/>
          <a:ext cx="110642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 anchor="ctr"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可灵AI</a:t>
                      </a:r>
                    </a:p>
                  </a:txBody>
                  <a:tcPr anchor="ctr"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Seedance 2.0</a:t>
                      </a:r>
                    </a:p>
                  </a:txBody>
                  <a:tcPr anchor="ctr"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海螺AI</a:t>
                      </a:r>
                    </a:p>
                  </a:txBody>
                  <a:tcPr anchor="ctr"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Vidu Q3</a:t>
                      </a:r>
                    </a:p>
                  </a:txBody>
                  <a:tcPr anchor="ctr">
                    <a:solidFill>
                      <a:srgbClr val="06B6D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核心优势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物理仿真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多模态参考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高难度动作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音画直出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最佳场景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普通动态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参考驱动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打斗舞蹈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对话叙事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音画同步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◆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◆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◆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◆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Draft模式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◆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◆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◆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◆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角色一致性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最大时长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10秒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10秒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10秒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16秒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模块08 · 海螺AI与Vidu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0"/>
            <a:ext cx="6400800" cy="6400800"/>
          </a:xfrm>
          <a:prstGeom prst="ellipse">
            <a:avLst/>
          </a:prstGeom>
          <a:solidFill>
            <a:srgbClr val="06B6D4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2743200"/>
            <a:ext cx="4572000" cy="4572000"/>
          </a:xfrm>
          <a:prstGeom prst="ellipse">
            <a:avLst/>
          </a:prstGeom>
          <a:solidFill>
            <a:srgbClr val="22D3EE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1097280"/>
            <a:ext cx="720091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920490" y="1097280"/>
            <a:ext cx="720090" cy="3810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40580" y="1097280"/>
            <a:ext cx="720090" cy="3810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60670" y="1097280"/>
            <a:ext cx="720090" cy="3810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80760" y="1097280"/>
            <a:ext cx="720090" cy="3810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00850" y="1097280"/>
            <a:ext cx="720090" cy="3810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20940" y="1097280"/>
            <a:ext cx="720090" cy="3810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41030" y="1097280"/>
            <a:ext cx="72009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164592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根据镜头类型选择最优工具：对话→Vidu / 动作→海螺AI / 参考驱动→Seedance / 简单动态→可灵AI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931920"/>
            <a:ext cx="262891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3931920"/>
            <a:ext cx="262890" cy="2540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3931920"/>
            <a:ext cx="262890" cy="2540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3931920"/>
            <a:ext cx="262890" cy="2540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3931920"/>
            <a:ext cx="262890" cy="2540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3931920"/>
            <a:ext cx="262890" cy="2540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3931920"/>
            <a:ext cx="262890" cy="2540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3931920"/>
            <a:ext cx="262890" cy="25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297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典型漫剧工具分配比例：Vidu Q3 40-50%（对话为主）、Seedance 2.0 25-30%（日常动态+角色一致）、海螺AI 15-20%（动作场景）、可灵AI 10-15%（空镜头）。多工具协作需统一角色关键帧，后期统一调色确保一致性。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模块08 · 海螺AI与Vidu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06B6D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22D3EE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多工具协作工作流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7E8F9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即梦AI生成所有关键帧图片（角色基准图 + 场景母版图 + 各镜头关键帧）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1371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221992"/>
            <a:ext cx="6859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8378" y="2221992"/>
            <a:ext cx="6858" cy="36576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45236" y="2221992"/>
            <a:ext cx="6858" cy="36576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2094" y="2221992"/>
            <a:ext cx="6858" cy="36576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58952" y="2221992"/>
            <a:ext cx="6858" cy="36576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65810" y="2221992"/>
            <a:ext cx="6858" cy="36576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2668" y="2221992"/>
            <a:ext cx="6858" cy="36576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79526" y="2221992"/>
            <a:ext cx="6858" cy="3657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2688" y="2148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按镜头类型分配工具：对话→Vidu / 动作→海螺AI / 日常→Seedance / 空镜→可灵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21488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" y="2999232"/>
            <a:ext cx="6859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38378" y="2999232"/>
            <a:ext cx="6858" cy="36576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45236" y="2999232"/>
            <a:ext cx="6858" cy="36576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52094" y="2999232"/>
            <a:ext cx="6858" cy="36576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58952" y="2999232"/>
            <a:ext cx="6858" cy="36576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65810" y="2999232"/>
            <a:ext cx="6858" cy="36576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72668" y="2999232"/>
            <a:ext cx="6858" cy="36576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79526" y="2999232"/>
            <a:ext cx="6858" cy="3657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2688" y="2926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各工具分别生成视频片段，Seedance使用Draft模式预览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1520" y="3776472"/>
            <a:ext cx="6859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8378" y="3776472"/>
            <a:ext cx="6858" cy="36576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45236" y="3776472"/>
            <a:ext cx="6858" cy="36576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52094" y="3776472"/>
            <a:ext cx="6858" cy="36576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58952" y="3776472"/>
            <a:ext cx="6858" cy="36576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5810" y="3776472"/>
            <a:ext cx="6858" cy="36576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72668" y="3776472"/>
            <a:ext cx="6858" cy="36576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79526" y="3776472"/>
            <a:ext cx="6858" cy="3657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32688" y="3703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批量高清渲染，下载所有片段并按镜头编号命名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" y="3703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1520" y="4553712"/>
            <a:ext cx="6859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8378" y="4553712"/>
            <a:ext cx="6858" cy="36576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5236" y="4553712"/>
            <a:ext cx="6858" cy="36576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2094" y="4553712"/>
            <a:ext cx="6858" cy="36576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8952" y="4553712"/>
            <a:ext cx="6858" cy="36576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5810" y="4553712"/>
            <a:ext cx="6858" cy="36576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2668" y="4553712"/>
            <a:ext cx="6858" cy="36576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9526" y="4553712"/>
            <a:ext cx="6858" cy="3657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32688" y="4480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导入剪映：按分镜排列 → 统一调色 → 添加BGM/音效/字幕 → 导出成片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1520" y="4480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模块08 · 海螺AI与Vidu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06B6D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22D3EE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7E8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◆  本模块实操任务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EE7B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" y="144475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144475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8096" y="144475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4672" y="144475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41248" y="144475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77824" y="144475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" y="144475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50976" y="144475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7552" y="144475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8872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45920" y="1371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用海螺AI生成一个有头发飘动和布料飘动效果的视频片段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222199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1520" y="222199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68096" y="222199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4672" y="222199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41248" y="222199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77824" y="222199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400" y="222199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50976" y="222199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87552" y="222199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8872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45920" y="21488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用海螺AI分别生成打斗、舞蹈、跑步三种动作场景，对比物理效果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" y="299923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31520" y="299923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68096" y="299923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04672" y="299923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41248" y="299923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7824" y="299923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14400" y="299923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50976" y="299923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87552" y="299923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8872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645920" y="2926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用Vidu Q3剧本生视频生成一段2人对话的视频片段，检查口型同步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31520" y="377647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31520" y="377647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8096" y="377647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04672" y="377647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41248" y="377647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77824" y="377647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14400" y="377647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50976" y="377647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87552" y="377647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188720" y="3703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645920" y="3703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用Vidu的正反打镜头法，将对话场景拆分为多个单人镜头后拼接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31520" y="455371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31520" y="455371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8096" y="455371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4672" y="455371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41248" y="455371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77824" y="455371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14400" y="455371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50976" y="455371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87552" y="455371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88720" y="4480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645920" y="44805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使用Vidu主体库的叙事/画面/音频模板，在30分钟内完成一个对话场景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31520" y="533095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31520" y="533095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68096" y="533095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04672" y="533095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41248" y="533095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7824" y="533095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14400" y="533095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50976" y="533095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87552" y="533095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188720" y="5257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645920" y="52578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为你漫剧的15个镜头制定工具选择计划，计算预计成本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模块08 · 海螺AI与Vidu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914400"/>
            <a:ext cx="6400800" cy="6400800"/>
          </a:xfrm>
          <a:prstGeom prst="ellipse">
            <a:avLst/>
          </a:prstGeom>
          <a:solidFill>
            <a:srgbClr val="06B6D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1371600"/>
            <a:ext cx="491491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06290" y="1371600"/>
            <a:ext cx="491490" cy="3810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97780" y="1371600"/>
            <a:ext cx="491490" cy="3810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9270" y="1371600"/>
            <a:ext cx="491490" cy="3810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80760" y="1371600"/>
            <a:ext cx="491490" cy="3810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72250" y="1371600"/>
            <a:ext cx="491490" cy="3810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63740" y="1371600"/>
            <a:ext cx="491490" cy="3810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55230" y="1371600"/>
            <a:ext cx="49149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06B6D4"/>
                </a:solidFill>
                <a:latin typeface="Microsoft YaHei"/>
              </a:defRPr>
            </a:pPr>
            <a: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320040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本模块结束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4023360"/>
            <a:ext cx="262891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4023360"/>
            <a:ext cx="262890" cy="25400"/>
          </a:xfrm>
          <a:prstGeom prst="rect">
            <a:avLst/>
          </a:prstGeom>
          <a:solidFill>
            <a:srgbClr val="09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4023360"/>
            <a:ext cx="262890" cy="25400"/>
          </a:xfrm>
          <a:prstGeom prst="rect">
            <a:avLst/>
          </a:prstGeom>
          <a:solidFill>
            <a:srgbClr val="0EB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4023360"/>
            <a:ext cx="262890" cy="25400"/>
          </a:xfrm>
          <a:prstGeom prst="rect">
            <a:avLst/>
          </a:prstGeom>
          <a:solidFill>
            <a:srgbClr val="12C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4023360"/>
            <a:ext cx="262890" cy="25400"/>
          </a:xfrm>
          <a:prstGeom prst="rect">
            <a:avLst/>
          </a:prstGeom>
          <a:solidFill>
            <a:srgbClr val="16C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4023360"/>
            <a:ext cx="262890" cy="25400"/>
          </a:xfrm>
          <a:prstGeom prst="rect">
            <a:avLst/>
          </a:prstGeom>
          <a:solidFill>
            <a:srgbClr val="1A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4023360"/>
            <a:ext cx="262890" cy="25400"/>
          </a:xfrm>
          <a:prstGeom prst="rect">
            <a:avLst/>
          </a:prstGeom>
          <a:solidFill>
            <a:srgbClr val="1EC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4023360"/>
            <a:ext cx="262890" cy="25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8BAC8"/>
                </a:solidFill>
                <a:latin typeface="Microsoft YaHei"/>
              </a:defRPr>
            </a:pPr>
            <a:r>
              <a:t>下一模块：角色一致性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E7082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F43F5E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2743200"/>
            <a:ext cx="5486400" cy="5486400"/>
          </a:xfrm>
          <a:prstGeom prst="ellipse">
            <a:avLst/>
          </a:prstGeom>
          <a:solidFill>
            <a:srgbClr val="FB7185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4572000"/>
            <a:ext cx="3657600" cy="3657600"/>
          </a:xfrm>
          <a:prstGeom prst="ellipse">
            <a:avLst/>
          </a:prstGeom>
          <a:solidFill>
            <a:srgbClr val="FDA4AF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0"/>
            <a:ext cx="182880" cy="68580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91440" cy="6858000"/>
          </a:xfrm>
          <a:prstGeom prst="rect">
            <a:avLst/>
          </a:prstGeom>
          <a:solidFill>
            <a:srgbClr val="7D3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8016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5448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1031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774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8016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55448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8288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031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3774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2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58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8016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8288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1031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3774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7315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0" b="1">
                <a:solidFill>
                  <a:srgbClr val="FFFFFF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657600"/>
            <a:ext cx="1828800" cy="329184"/>
          </a:xfrm>
          <a:prstGeom prst="round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657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DA4AF"/>
                </a:solidFill>
                <a:latin typeface="Microsoft YaHei"/>
              </a:defRPr>
            </a:pPr>
            <a:r>
              <a:t>M O D U L 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114800"/>
            <a:ext cx="285751" cy="38100"/>
          </a:xfrm>
          <a:prstGeom prst="rect">
            <a:avLst/>
          </a:prstGeom>
          <a:solidFill>
            <a:srgbClr val="FD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2950" y="4114800"/>
            <a:ext cx="285750" cy="38100"/>
          </a:xfrm>
          <a:prstGeom prst="rect">
            <a:avLst/>
          </a:prstGeom>
          <a:solidFill>
            <a:srgbClr val="FB9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28700" y="4114800"/>
            <a:ext cx="285750" cy="38100"/>
          </a:xfrm>
          <a:prstGeom prst="rect">
            <a:avLst/>
          </a:prstGeom>
          <a:solidFill>
            <a:srgbClr val="FA8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314450" y="4114800"/>
            <a:ext cx="285750" cy="38100"/>
          </a:xfrm>
          <a:prstGeom prst="rect">
            <a:avLst/>
          </a:prstGeom>
          <a:solidFill>
            <a:srgbClr val="F9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600200" y="4114800"/>
            <a:ext cx="285750" cy="38100"/>
          </a:xfrm>
          <a:prstGeom prst="rect">
            <a:avLst/>
          </a:prstGeom>
          <a:solidFill>
            <a:srgbClr val="F7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885950" y="4114800"/>
            <a:ext cx="285750" cy="38100"/>
          </a:xfrm>
          <a:prstGeom prst="rect">
            <a:avLst/>
          </a:prstGeom>
          <a:solidFill>
            <a:srgbClr val="F65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171700" y="4114800"/>
            <a:ext cx="285750" cy="38100"/>
          </a:xfrm>
          <a:prstGeom prst="rect">
            <a:avLst/>
          </a:prstGeom>
          <a:solidFill>
            <a:srgbClr val="F5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457450" y="4114800"/>
            <a:ext cx="285750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035040" y="1097280"/>
            <a:ext cx="5486400" cy="457200"/>
          </a:xfrm>
          <a:prstGeom prst="roundRect">
            <a:avLst/>
          </a:prstGeom>
          <a:solidFill>
            <a:srgbClr val="4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DA4AF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20116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F0F5"/>
                </a:solidFill>
                <a:latin typeface="Microsoft YaHei"/>
              </a:defRPr>
            </a:pPr>
            <a:r>
              <a:t>模块九：角色一致性攻克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3840480"/>
            <a:ext cx="400051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5090" y="3840480"/>
            <a:ext cx="400050" cy="3810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835140" y="3840480"/>
            <a:ext cx="400050" cy="3810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35190" y="3840480"/>
            <a:ext cx="400050" cy="3810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635240" y="3840480"/>
            <a:ext cx="400050" cy="3810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35290" y="3840480"/>
            <a:ext cx="400050" cy="3810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435340" y="3840480"/>
            <a:ext cx="400050" cy="3810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35390" y="3840480"/>
            <a:ext cx="400050" cy="381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35040" y="42062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6课时 · 跨镜头角色形象统一核心技术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035040" y="5303520"/>
            <a:ext cx="5486400" cy="6400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722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43F5E"/>
                </a:solidFill>
                <a:latin typeface="Microsoft YaHei"/>
              </a:defRPr>
            </a:pPr>
            <a:r>
              <a:t>124课时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609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438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43F5E"/>
                </a:solidFill>
                <a:latin typeface="Microsoft YaHei"/>
              </a:defRPr>
            </a:pPr>
            <a:r>
              <a:t>17模块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7325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154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43F5E"/>
                </a:solidFill>
                <a:latin typeface="Microsoft YaHei"/>
              </a:defRPr>
            </a:pPr>
            <a:r>
              <a:t>8-16周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1041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2870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43F5E"/>
                </a:solidFill>
                <a:latin typeface="Microsoft YaHei"/>
              </a:defRPr>
            </a:pPr>
            <a:r>
              <a:t>全流程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155680" y="0"/>
            <a:ext cx="1036015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1978640" y="0"/>
            <a:ext cx="38100" cy="7315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521440" y="274320"/>
            <a:ext cx="137160" cy="137160"/>
          </a:xfrm>
          <a:prstGeom prst="ellipse">
            <a:avLst/>
          </a:prstGeom>
          <a:solidFill>
            <a:srgbClr val="FDA4A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43F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B7185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§  本节内容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DA4A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31520" y="1397000"/>
            <a:ext cx="274320" cy="27432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422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角色一致性技术全景</a:t>
            </a:r>
          </a:p>
        </p:txBody>
      </p:sp>
      <p:sp>
        <p:nvSpPr>
          <p:cNvPr id="44" name="Oval 43"/>
          <p:cNvSpPr/>
          <p:nvPr/>
        </p:nvSpPr>
        <p:spPr>
          <a:xfrm>
            <a:off x="731520" y="1963928"/>
            <a:ext cx="274320" cy="27432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422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ComfyUI IP-Adapter FaceID工作流</a:t>
            </a:r>
          </a:p>
        </p:txBody>
      </p:sp>
      <p:sp>
        <p:nvSpPr>
          <p:cNvPr id="47" name="Oval 46"/>
          <p:cNvSpPr/>
          <p:nvPr/>
        </p:nvSpPr>
        <p:spPr>
          <a:xfrm>
            <a:off x="731520" y="2530856"/>
            <a:ext cx="274320" cy="27432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422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LoRA微调训练实战</a:t>
            </a:r>
          </a:p>
        </p:txBody>
      </p:sp>
      <p:sp>
        <p:nvSpPr>
          <p:cNvPr id="50" name="Oval 49"/>
          <p:cNvSpPr/>
          <p:nvPr/>
        </p:nvSpPr>
        <p:spPr>
          <a:xfrm>
            <a:off x="6400800" y="1397000"/>
            <a:ext cx="274320" cy="27432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1350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ADetailer面部偏移自动修复</a:t>
            </a:r>
          </a:p>
        </p:txBody>
      </p:sp>
      <p:sp>
        <p:nvSpPr>
          <p:cNvPr id="53" name="Oval 52"/>
          <p:cNvSpPr/>
          <p:nvPr/>
        </p:nvSpPr>
        <p:spPr>
          <a:xfrm>
            <a:off x="6400800" y="1963928"/>
            <a:ext cx="274320" cy="27432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1350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角色资产库工业化管理</a:t>
            </a:r>
          </a:p>
        </p:txBody>
      </p:sp>
      <p:sp>
        <p:nvSpPr>
          <p:cNvPr id="56" name="Oval 55"/>
          <p:cNvSpPr/>
          <p:nvPr/>
        </p:nvSpPr>
        <p:spPr>
          <a:xfrm>
            <a:off x="6400800" y="2530856"/>
            <a:ext cx="274320" cy="27432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1350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实战：建立完整角色资产体系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模块09 · 角色一致性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43F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B7185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◎ 六大一致性方案速览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DA4A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94360" y="1280160"/>
            <a:ext cx="3383280" cy="182880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94360" y="1280160"/>
            <a:ext cx="422911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17270" y="1280160"/>
            <a:ext cx="422910" cy="3810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440180" y="1280160"/>
            <a:ext cx="422910" cy="3810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863090" y="1280160"/>
            <a:ext cx="422910" cy="3810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286000" y="1280160"/>
            <a:ext cx="422910" cy="3810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708910" y="1280160"/>
            <a:ext cx="422910" cy="3810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131820" y="1280160"/>
            <a:ext cx="422910" cy="3810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554730" y="1280160"/>
            <a:ext cx="422910" cy="381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724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43F5E"/>
                </a:solidFill>
                <a:latin typeface="Microsoft YaHei"/>
              </a:defRPr>
            </a:pPr>
            <a:r>
              <a:t>◆️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1965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Microsoft YaHei"/>
              </a:defRPr>
            </a:pPr>
            <a:r>
              <a:t>角色参考图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" y="237744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7082"/>
                </a:solidFill>
                <a:latin typeface="Microsoft YaHei"/>
              </a:defRPr>
            </a:pPr>
            <a:r>
              <a:t>输入参考图约束生成，即梦AI/通义万相，难度★★☆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297680" y="1280160"/>
            <a:ext cx="3383280" cy="182880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97680" y="1280160"/>
            <a:ext cx="422911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720590" y="1280160"/>
            <a:ext cx="422910" cy="3810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143500" y="1280160"/>
            <a:ext cx="422910" cy="3810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566410" y="1280160"/>
            <a:ext cx="422910" cy="3810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989320" y="1280160"/>
            <a:ext cx="422910" cy="3810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412230" y="1280160"/>
            <a:ext cx="422910" cy="3810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835140" y="1280160"/>
            <a:ext cx="422910" cy="3810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258050" y="1280160"/>
            <a:ext cx="422910" cy="381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48056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43F5E"/>
                </a:solidFill>
                <a:latin typeface="Microsoft YaHei"/>
              </a:defRPr>
            </a:pPr>
            <a:r>
              <a:t>§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80560" y="1965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Microsoft YaHei"/>
              </a:defRPr>
            </a:pPr>
            <a:r>
              <a:t>角色档案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480560" y="237744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7082"/>
                </a:solidFill>
                <a:latin typeface="Microsoft YaHei"/>
              </a:defRPr>
            </a:pPr>
            <a:r>
              <a:t>多角度参考图集，Seedance 2.0，难度★★☆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001000" y="1280160"/>
            <a:ext cx="3383280" cy="182880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001000" y="1280160"/>
            <a:ext cx="422911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423910" y="1280160"/>
            <a:ext cx="422910" cy="3810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846820" y="1280160"/>
            <a:ext cx="422910" cy="3810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269730" y="1280160"/>
            <a:ext cx="422910" cy="3810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692640" y="1280160"/>
            <a:ext cx="422910" cy="3810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115550" y="1280160"/>
            <a:ext cx="422910" cy="3810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538460" y="1280160"/>
            <a:ext cx="422910" cy="3810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961370" y="1280160"/>
            <a:ext cx="422910" cy="381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18388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43F5E"/>
                </a:solidFill>
                <a:latin typeface="Microsoft YaHei"/>
              </a:defRPr>
            </a:pPr>
            <a:r>
              <a:t>◇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183880" y="1965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Microsoft YaHei"/>
              </a:defRPr>
            </a:pPr>
            <a:r>
              <a:t>IP-Adapter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183880" y="237744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7082"/>
                </a:solidFill>
                <a:latin typeface="Microsoft YaHei"/>
              </a:defRPr>
            </a:pPr>
            <a:r>
              <a:t>特征向量注入，ComfyUI，难度★★★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94360" y="3429000"/>
            <a:ext cx="3383280" cy="182880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94360" y="3429000"/>
            <a:ext cx="422911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017270" y="3429000"/>
            <a:ext cx="422910" cy="3810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440180" y="3429000"/>
            <a:ext cx="422910" cy="3810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863090" y="3429000"/>
            <a:ext cx="422910" cy="3810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286000" y="3429000"/>
            <a:ext cx="422910" cy="3810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708910" y="3429000"/>
            <a:ext cx="422910" cy="3810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131820" y="3429000"/>
            <a:ext cx="422910" cy="3810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554730" y="3429000"/>
            <a:ext cx="422910" cy="381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77240" y="3611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43F5E"/>
                </a:solidFill>
                <a:latin typeface="Microsoft YaHei"/>
              </a:defRPr>
            </a:pPr>
            <a:r>
              <a:t>◆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77240" y="4114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Microsoft YaHei"/>
              </a:defRPr>
            </a:pPr>
            <a:r>
              <a:t>LoRA微调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77240" y="452628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7082"/>
                </a:solidFill>
                <a:latin typeface="Microsoft YaHei"/>
              </a:defRPr>
            </a:pPr>
            <a:r>
              <a:t>训练专属模型，SD WebUI，难度★★★★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297680" y="3429000"/>
            <a:ext cx="3383280" cy="182880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297680" y="3429000"/>
            <a:ext cx="422911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720590" y="3429000"/>
            <a:ext cx="422910" cy="3810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143500" y="3429000"/>
            <a:ext cx="422910" cy="3810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5566410" y="3429000"/>
            <a:ext cx="422910" cy="3810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5989320" y="3429000"/>
            <a:ext cx="422910" cy="3810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412230" y="3429000"/>
            <a:ext cx="422910" cy="3810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835140" y="3429000"/>
            <a:ext cx="422910" cy="3810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258050" y="3429000"/>
            <a:ext cx="422910" cy="381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480560" y="3611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43F5E"/>
                </a:solidFill>
                <a:latin typeface="Microsoft YaHei"/>
              </a:defRPr>
            </a:pPr>
            <a:r>
              <a:t>◆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480560" y="4114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Microsoft YaHei"/>
              </a:defRPr>
            </a:pPr>
            <a:r>
              <a:t>ADetailer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480560" y="452628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7082"/>
                </a:solidFill>
                <a:latin typeface="Microsoft YaHei"/>
              </a:defRPr>
            </a:pPr>
            <a:r>
              <a:t>面部偏移自动修复，ComfyUI，难度★★☆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8001000" y="3429000"/>
            <a:ext cx="3383280" cy="182880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001000" y="3429000"/>
            <a:ext cx="422911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423910" y="3429000"/>
            <a:ext cx="422910" cy="3810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846820" y="3429000"/>
            <a:ext cx="422910" cy="3810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69730" y="3429000"/>
            <a:ext cx="422910" cy="3810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692640" y="3429000"/>
            <a:ext cx="422910" cy="3810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0115550" y="3429000"/>
            <a:ext cx="422910" cy="3810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0538460" y="3429000"/>
            <a:ext cx="422910" cy="3810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0961370" y="3429000"/>
            <a:ext cx="422910" cy="381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183880" y="3611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43F5E"/>
                </a:solidFill>
                <a:latin typeface="Microsoft YaHei"/>
              </a:defRPr>
            </a:pPr>
            <a:r>
              <a:t>■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183880" y="4114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  <a:latin typeface="Microsoft YaHei"/>
              </a:defRPr>
            </a:pPr>
            <a:r>
              <a:t>资产库管理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183880" y="452628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7082"/>
                </a:solidFill>
                <a:latin typeface="Microsoft YaHei"/>
              </a:defRPr>
            </a:pPr>
            <a:r>
              <a:t>工业化标准数据集，全工具通用，难度★★☆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模块09 · 角色一致性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0"/>
            <a:ext cx="6400800" cy="6400800"/>
          </a:xfrm>
          <a:prstGeom prst="ellipse">
            <a:avLst/>
          </a:prstGeom>
          <a:solidFill>
            <a:srgbClr val="F43F5E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2743200"/>
            <a:ext cx="4572000" cy="4572000"/>
          </a:xfrm>
          <a:prstGeom prst="ellipse">
            <a:avLst/>
          </a:prstGeom>
          <a:solidFill>
            <a:srgbClr val="FB7185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1097280"/>
            <a:ext cx="720091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920490" y="1097280"/>
            <a:ext cx="720090" cy="3810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40580" y="1097280"/>
            <a:ext cx="720090" cy="3810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60670" y="1097280"/>
            <a:ext cx="720090" cy="3810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80760" y="1097280"/>
            <a:ext cx="720090" cy="3810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00850" y="1097280"/>
            <a:ext cx="720090" cy="3810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20940" y="1097280"/>
            <a:ext cx="720090" cy="3810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41030" y="1097280"/>
            <a:ext cx="720090" cy="381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164592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AI模型每次生成都是从随机噪声开始，没有"记忆"能力，无法天然保证同一角色在不同镜头中长得一样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931920"/>
            <a:ext cx="262891" cy="254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3931920"/>
            <a:ext cx="262890" cy="2540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3931920"/>
            <a:ext cx="262890" cy="2540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3931920"/>
            <a:ext cx="262890" cy="2540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3931920"/>
            <a:ext cx="262890" cy="2540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3931920"/>
            <a:ext cx="262890" cy="2540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3931920"/>
            <a:ext cx="262890" cy="2540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3931920"/>
            <a:ext cx="262890" cy="254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297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不一致的具体表现：面部特征变化（最严重）、发型发色变化、服装颜色/款式变化、体型变化、配饰/武器变化、整体画风漂移。角色一致性的商业价值：品牌识别、粉丝粘性、IP价值、专业感。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模块09 · 角色一致性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43F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B7185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角色一致性解决方案对比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DA4A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48640" y="1280160"/>
          <a:ext cx="110642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方案</a:t>
                      </a:r>
                    </a:p>
                  </a:txBody>
                  <a:tcPr anchor="ctr">
                    <a:solidFill>
                      <a:srgbClr val="F43F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技术原理</a:t>
                      </a:r>
                    </a:p>
                  </a:txBody>
                  <a:tcPr anchor="ctr">
                    <a:solidFill>
                      <a:srgbClr val="F43F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适用工具</a:t>
                      </a:r>
                    </a:p>
                  </a:txBody>
                  <a:tcPr anchor="ctr">
                    <a:solidFill>
                      <a:srgbClr val="F43F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难度</a:t>
                      </a:r>
                    </a:p>
                  </a:txBody>
                  <a:tcPr anchor="ctr">
                    <a:solidFill>
                      <a:srgbClr val="F43F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一致性</a:t>
                      </a:r>
                    </a:p>
                  </a:txBody>
                  <a:tcPr anchor="ctr">
                    <a:solidFill>
                      <a:srgbClr val="F43F5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角色参考图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输入参考图约束生成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即梦AI/通义万相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★★☆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角色档案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多角度参考图集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Seedance 2.0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★★☆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IP-Adapter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图像特征注入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ComfyUI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★★★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LoRA微调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训练角色专属模型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ComfyUI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★★★★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最高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ADetailer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面部检测+重渲染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ComfyUI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★★★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中高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组合方案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IP-Adapter+LoRA+ADetailer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ComfyUI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最完美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模块09 · 角色一致性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43F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B7185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ComfyUI IP-Adapter FaceID 工作流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DA4A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原理：通过IP-Adapter模型注入面部特征，ControlNet固定姿态，ADetailer修复面部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核心参数：IP-Adapter权重0.7-0.85（推荐0.75）、ControlNet强度0.5-0.7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工作流连接：Checkpoint→IPAdapter FaceID→ControlNet→KSampler→ADetailer→Save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权重过高（0.95+）会过拟合，几乎复制参考图失去多样性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ADetailer参数：检测阈值0.3、重渲染强度0.4-0.6、使用与主模型相同的重渲染模型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模块09 · 角色一致性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43F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B7185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LoRA微调训练要点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DA4A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原理：在基础模型上添加小的"适配层"，只学习"这个角色长什么样"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训练数据：30-50张角色图片，覆盖正面/侧面/3/4角度/全身/特写，统一1024×1024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关键参数：network_dim 32-64、learning_rate 1e-4~5e-5、max_epochs 8-15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训练时间：40张图/10 epoch约2-4小时（RTX 3080）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使用时LoRA强度建议0.6-0.8，过高可能过拟合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1520" y="5468112"/>
            <a:ext cx="6859" cy="3657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38378" y="5468112"/>
            <a:ext cx="6858" cy="36576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45236" y="5468112"/>
            <a:ext cx="6858" cy="36576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52094" y="5468112"/>
            <a:ext cx="6858" cy="36576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58952" y="5468112"/>
            <a:ext cx="6858" cy="36576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65810" y="5468112"/>
            <a:ext cx="6858" cy="36576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72668" y="5468112"/>
            <a:ext cx="6858" cy="36576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79526" y="5468112"/>
            <a:ext cx="6858" cy="36576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32688" y="5394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过拟合判断：生成图与训练图完全一样、缺乏多样性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模块09 · 角色一致性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43F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B7185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角色资产库工业化管理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DA4A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标准化目录：角色A/参考图 + LoRA + 提示词 + 设定文档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图片规范：1024×1024 PNG、纯色背景、统一柔光、覆盖全部角度和表情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版本命名：角色名_v1.0_日期.safetensors，记录每次变化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提示词模板：base_prompt.txt（基础）+ scene_prompts.txt（场景）+ action_prompts.txt（动作）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跨项目复用：打包角色文件夹，复制到新项目后调整提示词适配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模块09 · 角色一致性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43F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B7185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一致性验收评分标准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DA4A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48640" y="1280160"/>
          <a:ext cx="110642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评分</a:t>
                      </a:r>
                    </a:p>
                  </a:txBody>
                  <a:tcPr anchor="ctr">
                    <a:solidFill>
                      <a:srgbClr val="F43F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通过场景数</a:t>
                      </a:r>
                    </a:p>
                  </a:txBody>
                  <a:tcPr anchor="ctr">
                    <a:solidFill>
                      <a:srgbClr val="F43F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 anchor="ctr">
                    <a:solidFill>
                      <a:srgbClr val="F43F5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优秀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10/10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角色高度一致，可直接用于正式项目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良好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8-9/10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角色基本一致，少量场景需微调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合格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6-7/10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需要优化训练数据或参数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不合格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&lt;6/10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需要重新训练或更换方案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模块09 · 角色一致性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43F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B7185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完整角色资产体系建设流程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DA4A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确定角色设定（外貌/服装/性格），编写角色设定文档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1371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221992"/>
            <a:ext cx="6859" cy="3657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8378" y="2221992"/>
            <a:ext cx="6858" cy="36576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45236" y="2221992"/>
            <a:ext cx="6858" cy="36576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2094" y="2221992"/>
            <a:ext cx="6858" cy="36576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58952" y="2221992"/>
            <a:ext cx="6858" cy="36576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65810" y="2221992"/>
            <a:ext cx="6858" cy="36576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2668" y="2221992"/>
            <a:ext cx="6858" cy="36576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79526" y="2221992"/>
            <a:ext cx="6858" cy="36576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2688" y="2148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用即梦AI生成初始参考图20-30张（正面×10、侧面×5、3/4×5、全身×5、特写×5）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21488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" y="2999232"/>
            <a:ext cx="6859" cy="3657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38378" y="2999232"/>
            <a:ext cx="6858" cy="36576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45236" y="2999232"/>
            <a:ext cx="6858" cy="36576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52094" y="2999232"/>
            <a:ext cx="6858" cy="36576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58952" y="2999232"/>
            <a:ext cx="6858" cy="36576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65810" y="2999232"/>
            <a:ext cx="6858" cy="36576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72668" y="2999232"/>
            <a:ext cx="6858" cy="36576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79526" y="2999232"/>
            <a:ext cx="6858" cy="36576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2688" y="2926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筛选最佳图片保留15-20张，检查角色一致性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1520" y="3776472"/>
            <a:ext cx="6859" cy="3657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8378" y="3776472"/>
            <a:ext cx="6858" cy="36576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45236" y="3776472"/>
            <a:ext cx="6858" cy="36576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52094" y="3776472"/>
            <a:ext cx="6858" cy="36576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58952" y="3776472"/>
            <a:ext cx="6858" cy="36576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5810" y="3776472"/>
            <a:ext cx="6858" cy="36576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72668" y="3776472"/>
            <a:ext cx="6858" cy="36576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79526" y="3776472"/>
            <a:ext cx="6858" cy="36576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32688" y="3703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用ComfyUI IP-Adapter测试10个不同场景的一致性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" y="3703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1520" y="4553712"/>
            <a:ext cx="6859" cy="3657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8378" y="4553712"/>
            <a:ext cx="6858" cy="36576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5236" y="4553712"/>
            <a:ext cx="6858" cy="36576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2094" y="4553712"/>
            <a:ext cx="6858" cy="36576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8952" y="4553712"/>
            <a:ext cx="6858" cy="36576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5810" y="4553712"/>
            <a:ext cx="6858" cy="36576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2668" y="4553712"/>
            <a:ext cx="6858" cy="36576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9526" y="4553712"/>
            <a:ext cx="6858" cy="36576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32688" y="4480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如效果不佳，准备30-50张训练集训练LoRA模型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1520" y="4480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31520" y="5330952"/>
            <a:ext cx="6859" cy="3657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38378" y="5330952"/>
            <a:ext cx="6858" cy="36576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45236" y="5330952"/>
            <a:ext cx="6858" cy="36576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52094" y="5330952"/>
            <a:ext cx="6858" cy="36576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58952" y="5330952"/>
            <a:ext cx="6858" cy="36576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65810" y="5330952"/>
            <a:ext cx="6858" cy="36576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72668" y="5330952"/>
            <a:ext cx="6858" cy="36576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79526" y="5330952"/>
            <a:ext cx="6858" cy="36576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32688" y="5257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建立角色资产文件夹结构，编写提示词模板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31520" y="5257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模块09 · 角色一致性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43F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B7185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DA4A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◆  本模块实操任务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EE7B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" y="144475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144475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8096" y="144475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4672" y="144475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41248" y="144475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77824" y="144475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" y="144475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50976" y="144475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7552" y="144475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8872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45920" y="1371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用AI工具生成同一角色的5张图片，观察并记录不一致的具体表现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222199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1520" y="222199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68096" y="222199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4672" y="222199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41248" y="222199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77824" y="222199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400" y="222199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50976" y="222199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87552" y="222199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8872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45920" y="21488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搭建ComfyUI IP-Adapter FaceID工作流，测试不同权重值（0.6/0.75/0.85）的效果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" y="299923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31520" y="299923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68096" y="299923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04672" y="299923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41248" y="299923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7824" y="299923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14400" y="299923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50976" y="299923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87552" y="299923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8872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645920" y="2926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为角色准备40张训练图片并编写标注，执行LoRA微调训练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31520" y="377647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31520" y="377647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8096" y="377647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04672" y="377647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41248" y="377647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77824" y="377647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14400" y="377647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50976" y="377647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87552" y="377647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188720" y="3703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645920" y="3703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使用ADetailer对有面部问题的图片进行自动修复，测试不同重渲染强度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31520" y="455371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31520" y="455371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8096" y="455371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4672" y="455371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41248" y="455371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77824" y="455371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14400" y="455371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50976" y="455371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87552" y="455371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88720" y="4480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645920" y="44805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建立标准化角色资产库目录，整理所有角色参考图、LoRA模型和提示词模板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31520" y="533095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31520" y="533095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68096" y="533095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04672" y="533095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41248" y="533095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7824" y="533095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14400" y="533095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50976" y="533095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87552" y="533095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188720" y="5257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645920" y="52578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完成2个主要角色的完整资产建设，通过一致性验收测试（≥8/10场景通过）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模块09 · 角色一致性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914400"/>
            <a:ext cx="6400800" cy="6400800"/>
          </a:xfrm>
          <a:prstGeom prst="ellipse">
            <a:avLst/>
          </a:prstGeom>
          <a:solidFill>
            <a:srgbClr val="F43F5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1371600"/>
            <a:ext cx="491491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06290" y="1371600"/>
            <a:ext cx="491490" cy="3810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97780" y="1371600"/>
            <a:ext cx="491490" cy="3810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9270" y="1371600"/>
            <a:ext cx="491490" cy="3810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80760" y="1371600"/>
            <a:ext cx="491490" cy="3810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72250" y="1371600"/>
            <a:ext cx="491490" cy="3810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63740" y="1371600"/>
            <a:ext cx="491490" cy="3810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55230" y="1371600"/>
            <a:ext cx="491490" cy="381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43F5E"/>
                </a:solidFill>
                <a:latin typeface="Microsoft YaHei"/>
              </a:defRPr>
            </a:pPr>
            <a: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320040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本模块结束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4023360"/>
            <a:ext cx="262891" cy="254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4023360"/>
            <a:ext cx="262890" cy="25400"/>
          </a:xfrm>
          <a:prstGeom prst="rect">
            <a:avLst/>
          </a:prstGeom>
          <a:solidFill>
            <a:srgbClr val="F54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4023360"/>
            <a:ext cx="262890" cy="25400"/>
          </a:xfrm>
          <a:prstGeom prst="rect">
            <a:avLst/>
          </a:prstGeom>
          <a:solidFill>
            <a:srgbClr val="F64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4023360"/>
            <a:ext cx="262890" cy="25400"/>
          </a:xfrm>
          <a:prstGeom prst="rect">
            <a:avLst/>
          </a:prstGeom>
          <a:solidFill>
            <a:srgbClr val="F75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4023360"/>
            <a:ext cx="262890" cy="25400"/>
          </a:xfrm>
          <a:prstGeom prst="rect">
            <a:avLst/>
          </a:prstGeom>
          <a:solidFill>
            <a:srgbClr val="F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4023360"/>
            <a:ext cx="262890" cy="25400"/>
          </a:xfrm>
          <a:prstGeom prst="rect">
            <a:avLst/>
          </a:prstGeom>
          <a:solidFill>
            <a:srgbClr val="F96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4023360"/>
            <a:ext cx="262890" cy="25400"/>
          </a:xfrm>
          <a:prstGeom prst="rect">
            <a:avLst/>
          </a:prstGeom>
          <a:solidFill>
            <a:srgbClr val="FA6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4023360"/>
            <a:ext cx="262890" cy="254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8BAC8"/>
                </a:solidFill>
                <a:latin typeface="Microsoft YaHei"/>
              </a:defRPr>
            </a:pPr>
            <a:r>
              <a:t>下一模块：配音配乐与音画同步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E7082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F59E0B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2743200"/>
            <a:ext cx="5486400" cy="5486400"/>
          </a:xfrm>
          <a:prstGeom prst="ellipse">
            <a:avLst/>
          </a:prstGeom>
          <a:solidFill>
            <a:srgbClr val="FABB31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4572000"/>
            <a:ext cx="3657600" cy="3657600"/>
          </a:xfrm>
          <a:prstGeom prst="ellipse">
            <a:avLst/>
          </a:prstGeom>
          <a:solidFill>
            <a:srgbClr val="FDE047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0"/>
            <a:ext cx="182880" cy="68580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91440" cy="6858000"/>
          </a:xfrm>
          <a:prstGeom prst="rect">
            <a:avLst/>
          </a:prstGeom>
          <a:solidFill>
            <a:srgbClr val="7D5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8016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5448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1031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774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8016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55448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8288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031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3774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2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58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8016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8288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1031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3774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7315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0" b="1">
                <a:solidFill>
                  <a:srgbClr val="FFFF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657600"/>
            <a:ext cx="1828800" cy="329184"/>
          </a:xfrm>
          <a:prstGeom prst="round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657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DE047"/>
                </a:solidFill>
                <a:latin typeface="Microsoft YaHei"/>
              </a:defRPr>
            </a:pPr>
            <a:r>
              <a:t>M O D U L 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114800"/>
            <a:ext cx="285751" cy="38100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2950" y="4114800"/>
            <a:ext cx="285750" cy="38100"/>
          </a:xfrm>
          <a:prstGeom prst="rect">
            <a:avLst/>
          </a:prstGeom>
          <a:solidFill>
            <a:srgbClr val="FBD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28700" y="4114800"/>
            <a:ext cx="285750" cy="38100"/>
          </a:xfrm>
          <a:prstGeom prst="rect">
            <a:avLst/>
          </a:prstGeom>
          <a:solidFill>
            <a:srgbClr val="FAC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314450" y="4114800"/>
            <a:ext cx="285750" cy="38100"/>
          </a:xfrm>
          <a:prstGeom prst="rect">
            <a:avLst/>
          </a:prstGeom>
          <a:solidFill>
            <a:srgbClr val="F9C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600200" y="4114800"/>
            <a:ext cx="285750" cy="38100"/>
          </a:xfrm>
          <a:prstGeom prst="rect">
            <a:avLst/>
          </a:prstGeom>
          <a:solidFill>
            <a:srgbClr val="F8B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885950" y="4114800"/>
            <a:ext cx="285750" cy="38100"/>
          </a:xfrm>
          <a:prstGeom prst="rect">
            <a:avLst/>
          </a:prstGeom>
          <a:solidFill>
            <a:srgbClr val="F7B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171700" y="4114800"/>
            <a:ext cx="285750" cy="38100"/>
          </a:xfrm>
          <a:prstGeom prst="rect">
            <a:avLst/>
          </a:prstGeom>
          <a:solidFill>
            <a:srgbClr val="F6A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457450" y="4114800"/>
            <a:ext cx="28575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035040" y="1097280"/>
            <a:ext cx="5486400" cy="457200"/>
          </a:xfrm>
          <a:prstGeom prst="roundRect">
            <a:avLst/>
          </a:prstGeom>
          <a:solidFill>
            <a:srgbClr val="4A3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DE047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20116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F0F5"/>
                </a:solidFill>
                <a:latin typeface="Microsoft YaHei"/>
              </a:defRPr>
            </a:pPr>
            <a:r>
              <a:t>模块10：AI音频——配音、配乐与音画同步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3840480"/>
            <a:ext cx="400051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5090" y="3840480"/>
            <a:ext cx="400050" cy="381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835140" y="3840480"/>
            <a:ext cx="400050" cy="381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35190" y="3840480"/>
            <a:ext cx="400050" cy="381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635240" y="3840480"/>
            <a:ext cx="400050" cy="381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35290" y="3840480"/>
            <a:ext cx="400050" cy="381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435340" y="3840480"/>
            <a:ext cx="400050" cy="381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35390" y="3840480"/>
            <a:ext cx="400050" cy="381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35040" y="42062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8课时 · 掌握AI配音、配乐、音效与音画同步的全套音频制作技能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035040" y="5303520"/>
            <a:ext cx="5486400" cy="6400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722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Microsoft YaHei"/>
              </a:defRPr>
            </a:pPr>
            <a:r>
              <a:t>124课时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609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438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Microsoft YaHei"/>
              </a:defRPr>
            </a:pPr>
            <a:r>
              <a:t>17模块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7325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154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Microsoft YaHei"/>
              </a:defRPr>
            </a:pPr>
            <a:r>
              <a:t>8-16周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1041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2870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Microsoft YaHei"/>
              </a:defRPr>
            </a:pPr>
            <a:r>
              <a:t>全流程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155680" y="0"/>
            <a:ext cx="1036015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1978640" y="0"/>
            <a:ext cx="38100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521440" y="274320"/>
            <a:ext cx="137160" cy="137160"/>
          </a:xfrm>
          <a:prstGeom prst="ellipse">
            <a:avLst/>
          </a:prstGeom>
          <a:solidFill>
            <a:srgbClr val="FDE04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59E0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ABB31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§  本节内容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DE04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31520" y="1397000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422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火山引擎TTS——中文深度适配的AI配音</a:t>
            </a:r>
          </a:p>
        </p:txBody>
      </p:sp>
      <p:sp>
        <p:nvSpPr>
          <p:cNvPr id="44" name="Oval 43"/>
          <p:cNvSpPr/>
          <p:nvPr/>
        </p:nvSpPr>
        <p:spPr>
          <a:xfrm>
            <a:off x="731520" y="1963928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422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Fish Audio——表情标签精准情感控制</a:t>
            </a:r>
          </a:p>
        </p:txBody>
      </p:sp>
      <p:sp>
        <p:nvSpPr>
          <p:cNvPr id="47" name="Oval 46"/>
          <p:cNvSpPr/>
          <p:nvPr/>
        </p:nvSpPr>
        <p:spPr>
          <a:xfrm>
            <a:off x="731520" y="2530856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422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剪映AI克隆音色——30秒训练专属配音</a:t>
            </a:r>
          </a:p>
        </p:txBody>
      </p:sp>
      <p:sp>
        <p:nvSpPr>
          <p:cNvPr id="50" name="Oval 49"/>
          <p:cNvSpPr/>
          <p:nvPr/>
        </p:nvSpPr>
        <p:spPr>
          <a:xfrm>
            <a:off x="731520" y="3097784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4220" y="30977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" y="307238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MiniMax Music-2.0——AI音乐生成</a:t>
            </a:r>
          </a:p>
        </p:txBody>
      </p:sp>
      <p:sp>
        <p:nvSpPr>
          <p:cNvPr id="53" name="Oval 52"/>
          <p:cNvSpPr/>
          <p:nvPr/>
        </p:nvSpPr>
        <p:spPr>
          <a:xfrm>
            <a:off x="6400800" y="1397000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1350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SkyReels-V4——音画同步</a:t>
            </a:r>
          </a:p>
        </p:txBody>
      </p:sp>
      <p:sp>
        <p:nvSpPr>
          <p:cNvPr id="56" name="Oval 55"/>
          <p:cNvSpPr/>
          <p:nvPr/>
        </p:nvSpPr>
        <p:spPr>
          <a:xfrm>
            <a:off x="6400800" y="1963928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1350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AI音效与环境音</a:t>
            </a:r>
          </a:p>
        </p:txBody>
      </p:sp>
      <p:sp>
        <p:nvSpPr>
          <p:cNvPr id="59" name="Oval 58"/>
          <p:cNvSpPr/>
          <p:nvPr/>
        </p:nvSpPr>
        <p:spPr>
          <a:xfrm>
            <a:off x="6400800" y="2530856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1350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6656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拟声字特效制作</a:t>
            </a:r>
          </a:p>
        </p:txBody>
      </p:sp>
      <p:sp>
        <p:nvSpPr>
          <p:cNvPr id="62" name="Oval 61"/>
          <p:cNvSpPr/>
          <p:nvPr/>
        </p:nvSpPr>
        <p:spPr>
          <a:xfrm>
            <a:off x="6400800" y="3097784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13500" y="30977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66560" y="307238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实战项目——一集完整漫剧音频制作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模块10 · 音频制作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▤  ◓ AI音频工具核心参数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DE04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1371600"/>
            <a:ext cx="262890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371600"/>
            <a:ext cx="328613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5812" y="1371600"/>
            <a:ext cx="328612" cy="381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14424" y="1371600"/>
            <a:ext cx="328612" cy="381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443036" y="1371600"/>
            <a:ext cx="328612" cy="381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71648" y="1371600"/>
            <a:ext cx="328612" cy="381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100260" y="1371600"/>
            <a:ext cx="328612" cy="381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428872" y="1371600"/>
            <a:ext cx="328612" cy="381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57484" y="1371600"/>
            <a:ext cx="328612" cy="381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7250" y="914400"/>
            <a:ext cx="1828800" cy="1828800"/>
          </a:xfrm>
          <a:prstGeom prst="ellipse">
            <a:avLst/>
          </a:prstGeom>
          <a:solidFill>
            <a:srgbClr val="F59E0B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1371600"/>
            <a:ext cx="328613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5812" y="1371600"/>
            <a:ext cx="328612" cy="508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424" y="1371600"/>
            <a:ext cx="328612" cy="508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43036" y="1371600"/>
            <a:ext cx="328612" cy="508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771648" y="1371600"/>
            <a:ext cx="328612" cy="508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100260" y="1371600"/>
            <a:ext cx="328612" cy="508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428872" y="1371600"/>
            <a:ext cx="328612" cy="508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57484" y="1371600"/>
            <a:ext cx="328612" cy="508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1737360"/>
            <a:ext cx="24460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59E0B"/>
                </a:solidFill>
                <a:latin typeface="Microsoft YaHei"/>
              </a:defRPr>
            </a:pPr>
            <a:r>
              <a:t>30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2926080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E7082"/>
                </a:solidFill>
                <a:latin typeface="Microsoft YaHei"/>
              </a:defRPr>
            </a:pPr>
            <a:r>
              <a:t>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3337560"/>
            <a:ext cx="2080260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3520440"/>
            <a:ext cx="24460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0F5"/>
                </a:solidFill>
                <a:latin typeface="Microsoft YaHei"/>
              </a:defRPr>
            </a:pPr>
            <a:r>
              <a:t>音色克隆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4023360"/>
            <a:ext cx="23545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E7082"/>
                </a:solidFill>
                <a:latin typeface="Microsoft YaHei"/>
              </a:defRPr>
            </a:pPr>
            <a:r>
              <a:t>剪映AI克隆音色，极短样本训练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14700" y="1371600"/>
            <a:ext cx="262890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314700" y="1371600"/>
            <a:ext cx="328613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43312" y="1371600"/>
            <a:ext cx="328612" cy="381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971924" y="1371600"/>
            <a:ext cx="328612" cy="381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00536" y="1371600"/>
            <a:ext cx="328612" cy="381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629148" y="1371600"/>
            <a:ext cx="328612" cy="381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957760" y="1371600"/>
            <a:ext cx="328612" cy="381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286372" y="1371600"/>
            <a:ext cx="328612" cy="381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614984" y="1371600"/>
            <a:ext cx="328612" cy="381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714750" y="914400"/>
            <a:ext cx="1828800" cy="1828800"/>
          </a:xfrm>
          <a:prstGeom prst="ellipse">
            <a:avLst/>
          </a:prstGeom>
          <a:solidFill>
            <a:srgbClr val="F59E0B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314700" y="1371600"/>
            <a:ext cx="328613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643312" y="1371600"/>
            <a:ext cx="328612" cy="508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971924" y="1371600"/>
            <a:ext cx="328612" cy="508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300536" y="1371600"/>
            <a:ext cx="328612" cy="508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629148" y="1371600"/>
            <a:ext cx="328612" cy="508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957760" y="1371600"/>
            <a:ext cx="328612" cy="508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286372" y="1371600"/>
            <a:ext cx="328612" cy="508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614984" y="1371600"/>
            <a:ext cx="328612" cy="508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06140" y="1737360"/>
            <a:ext cx="24460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59E0B"/>
                </a:solidFill>
                <a:latin typeface="Microsoft YaHei"/>
              </a:defRPr>
            </a:pPr>
            <a:r>
              <a:t>50+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06140" y="2926080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E7082"/>
                </a:solidFill>
                <a:latin typeface="Microsoft YaHei"/>
              </a:defRPr>
            </a:pPr>
            <a:r>
              <a:t>种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589020" y="3337560"/>
            <a:ext cx="2080260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06140" y="3520440"/>
            <a:ext cx="24460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0F5"/>
                </a:solidFill>
                <a:latin typeface="Microsoft YaHei"/>
              </a:defRPr>
            </a:pPr>
            <a:r>
              <a:t>情感维度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51860" y="4023360"/>
            <a:ext cx="23545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E7082"/>
                </a:solidFill>
                <a:latin typeface="Microsoft YaHei"/>
              </a:defRPr>
            </a:pPr>
            <a:r>
              <a:t>Fish Audio表情标签精准控制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172200" y="1371600"/>
            <a:ext cx="262890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172200" y="1371600"/>
            <a:ext cx="328613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500812" y="1371600"/>
            <a:ext cx="328612" cy="381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829424" y="1371600"/>
            <a:ext cx="328612" cy="381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158036" y="1371600"/>
            <a:ext cx="328612" cy="381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486648" y="1371600"/>
            <a:ext cx="328612" cy="381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815260" y="1371600"/>
            <a:ext cx="328612" cy="381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143872" y="1371600"/>
            <a:ext cx="328612" cy="381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472484" y="1371600"/>
            <a:ext cx="328612" cy="381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572250" y="914400"/>
            <a:ext cx="1828800" cy="1828800"/>
          </a:xfrm>
          <a:prstGeom prst="ellipse">
            <a:avLst/>
          </a:prstGeom>
          <a:solidFill>
            <a:srgbClr val="F59E0B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72200" y="1371600"/>
            <a:ext cx="328613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500812" y="1371600"/>
            <a:ext cx="328612" cy="508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29424" y="1371600"/>
            <a:ext cx="328612" cy="508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158036" y="1371600"/>
            <a:ext cx="328612" cy="508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486648" y="1371600"/>
            <a:ext cx="328612" cy="508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815260" y="1371600"/>
            <a:ext cx="328612" cy="508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143872" y="1371600"/>
            <a:ext cx="328612" cy="508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472484" y="1371600"/>
            <a:ext cx="328612" cy="508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63640" y="1737360"/>
            <a:ext cx="24460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59E0B"/>
                </a:solidFill>
                <a:latin typeface="Microsoft YaHei"/>
              </a:defRPr>
            </a:pPr>
            <a:r>
              <a:t>ms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63640" y="2926080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E7082"/>
                </a:solidFill>
                <a:latin typeface="Microsoft YaHei"/>
              </a:defRPr>
            </a:pPr>
            <a:r>
              <a:t>级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46520" y="3337560"/>
            <a:ext cx="2080260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263640" y="3520440"/>
            <a:ext cx="24460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0F5"/>
                </a:solidFill>
                <a:latin typeface="Microsoft YaHei"/>
              </a:defRPr>
            </a:pPr>
            <a:r>
              <a:t>口型对齐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309360" y="4023360"/>
            <a:ext cx="23545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E7082"/>
                </a:solidFill>
                <a:latin typeface="Microsoft YaHei"/>
              </a:defRPr>
            </a:pPr>
            <a:r>
              <a:t>SkyReels-V4毫秒级同步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029700" y="1371600"/>
            <a:ext cx="262890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029700" y="1371600"/>
            <a:ext cx="328613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358312" y="1371600"/>
            <a:ext cx="328612" cy="381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686924" y="1371600"/>
            <a:ext cx="328612" cy="381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015536" y="1371600"/>
            <a:ext cx="328612" cy="381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344148" y="1371600"/>
            <a:ext cx="328612" cy="381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672760" y="1371600"/>
            <a:ext cx="328612" cy="381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1001372" y="1371600"/>
            <a:ext cx="328612" cy="381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1329984" y="1371600"/>
            <a:ext cx="328612" cy="381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429750" y="914400"/>
            <a:ext cx="1828800" cy="1828800"/>
          </a:xfrm>
          <a:prstGeom prst="ellipse">
            <a:avLst/>
          </a:prstGeom>
          <a:solidFill>
            <a:srgbClr val="F59E0B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029700" y="1371600"/>
            <a:ext cx="328613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358312" y="1371600"/>
            <a:ext cx="328612" cy="508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9686924" y="1371600"/>
            <a:ext cx="328612" cy="508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015536" y="1371600"/>
            <a:ext cx="328612" cy="508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344148" y="1371600"/>
            <a:ext cx="328612" cy="508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0672760" y="1371600"/>
            <a:ext cx="328612" cy="508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1001372" y="1371600"/>
            <a:ext cx="328612" cy="508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1329984" y="1371600"/>
            <a:ext cx="328612" cy="508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121140" y="1737360"/>
            <a:ext cx="24460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59E0B"/>
                </a:solidFill>
                <a:latin typeface="Microsoft YaHei"/>
              </a:defRPr>
            </a:pPr>
            <a:r>
              <a:t>100+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121140" y="2926080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E7082"/>
                </a:solidFill>
                <a:latin typeface="Microsoft YaHei"/>
              </a:defRPr>
            </a:pPr>
            <a:r>
              <a:t>种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304020" y="3337560"/>
            <a:ext cx="2080260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121140" y="3520440"/>
            <a:ext cx="24460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0F5"/>
                </a:solidFill>
                <a:latin typeface="Microsoft YaHei"/>
              </a:defRPr>
            </a:pPr>
            <a:r>
              <a:t>音乐风格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166860" y="4023360"/>
            <a:ext cx="23545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E7082"/>
                </a:solidFill>
                <a:latin typeface="Microsoft YaHei"/>
              </a:defRPr>
            </a:pPr>
            <a:r>
              <a:t>MiniMax Music-2.0多风格生成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模块10 · 音频制作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59E0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ABB31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音频制作工具全景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DE04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火山引擎TTS：中文发音准确度行业领先，支持SSML精细控制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Fish Audio：表情标签系统精准控制情感，30秒声音克隆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剪映AI配音：操作简单，内置多种音色，适合快速配音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MiniMax Music-2.0：文生音乐，支持多种风格BGM生成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SkyReels-V4：毫秒级口型对齐，面部表情同步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1520" y="5468112"/>
            <a:ext cx="6859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38378" y="5468112"/>
            <a:ext cx="6858" cy="36576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45236" y="5468112"/>
            <a:ext cx="6858" cy="36576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52094" y="5468112"/>
            <a:ext cx="6858" cy="36576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58952" y="5468112"/>
            <a:ext cx="6858" cy="36576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65810" y="5468112"/>
            <a:ext cx="6858" cy="36576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72668" y="5468112"/>
            <a:ext cx="6858" cy="36576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79526" y="5468112"/>
            <a:ext cx="6858" cy="36576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32688" y="5394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剪映音效库：丰富的环境音、动作音效、情感音效资源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模块10 · 音频制作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59E0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ABB31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三大AI配音工具对比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DE04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720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1371600"/>
            <a:ext cx="668656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25855" y="1371600"/>
            <a:ext cx="668655" cy="381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794510" y="1371600"/>
            <a:ext cx="668655" cy="381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463165" y="1371600"/>
            <a:ext cx="668655" cy="381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131820" y="1371600"/>
            <a:ext cx="668655" cy="381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00475" y="1371600"/>
            <a:ext cx="668655" cy="381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469130" y="1371600"/>
            <a:ext cx="668655" cy="381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137785" y="1371600"/>
            <a:ext cx="668655" cy="381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Microsoft YaHei"/>
              </a:defRPr>
            </a:pPr>
            <a:r>
              <a:t>火山引擎TTS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103120"/>
            <a:ext cx="205741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37260" y="2103120"/>
            <a:ext cx="205740" cy="254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43000" y="2103120"/>
            <a:ext cx="205740" cy="254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348740" y="2103120"/>
            <a:ext cx="205740" cy="254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554480" y="2103120"/>
            <a:ext cx="205740" cy="254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60220" y="2103120"/>
            <a:ext cx="205740" cy="254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965960" y="2103120"/>
            <a:ext cx="205740" cy="254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171700" y="2103120"/>
            <a:ext cx="205740" cy="254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31520" y="2386584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584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中文适配最好，发音准确</a:t>
            </a:r>
          </a:p>
        </p:txBody>
      </p:sp>
      <p:sp>
        <p:nvSpPr>
          <p:cNvPr id="61" name="Oval 60"/>
          <p:cNvSpPr/>
          <p:nvPr/>
        </p:nvSpPr>
        <p:spPr>
          <a:xfrm>
            <a:off x="731520" y="2916936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584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SSML精细控制语速/语调/停顿</a:t>
            </a:r>
          </a:p>
        </p:txBody>
      </p:sp>
      <p:sp>
        <p:nvSpPr>
          <p:cNvPr id="63" name="Oval 62"/>
          <p:cNvSpPr/>
          <p:nvPr/>
        </p:nvSpPr>
        <p:spPr>
          <a:xfrm>
            <a:off x="731520" y="344728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584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支持批量文本转语音</a:t>
            </a:r>
          </a:p>
        </p:txBody>
      </p:sp>
      <p:sp>
        <p:nvSpPr>
          <p:cNvPr id="65" name="Oval 64"/>
          <p:cNvSpPr/>
          <p:nvPr/>
        </p:nvSpPr>
        <p:spPr>
          <a:xfrm>
            <a:off x="731520" y="3977640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5840" y="39227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适合：中文漫剧批量配音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26364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63640" y="1371600"/>
            <a:ext cx="668656" cy="381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932295" y="1371600"/>
            <a:ext cx="668655" cy="38100"/>
          </a:xfrm>
          <a:prstGeom prst="rect">
            <a:avLst/>
          </a:prstGeom>
          <a:solidFill>
            <a:srgbClr val="FAC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600950" y="1371600"/>
            <a:ext cx="668655" cy="38100"/>
          </a:xfrm>
          <a:prstGeom prst="rect">
            <a:avLst/>
          </a:prstGeom>
          <a:solidFill>
            <a:srgbClr val="FAC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269605" y="1371600"/>
            <a:ext cx="668655" cy="38100"/>
          </a:xfrm>
          <a:prstGeom prst="rect">
            <a:avLst/>
          </a:prstGeom>
          <a:solidFill>
            <a:srgbClr val="FBC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938260" y="1371600"/>
            <a:ext cx="668655" cy="38100"/>
          </a:xfrm>
          <a:prstGeom prst="rect">
            <a:avLst/>
          </a:prstGeom>
          <a:solidFill>
            <a:srgbClr val="FBD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606915" y="1371600"/>
            <a:ext cx="668655" cy="38100"/>
          </a:xfrm>
          <a:prstGeom prst="rect">
            <a:avLst/>
          </a:prstGeom>
          <a:solidFill>
            <a:srgbClr val="FCD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275570" y="1371600"/>
            <a:ext cx="668655" cy="38100"/>
          </a:xfrm>
          <a:prstGeom prst="rect">
            <a:avLst/>
          </a:prstGeom>
          <a:solidFill>
            <a:srgbClr val="FCD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944225" y="1371600"/>
            <a:ext cx="668655" cy="38100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53796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ABB31"/>
                </a:solidFill>
                <a:latin typeface="Microsoft YaHei"/>
              </a:defRPr>
            </a:pPr>
            <a:r>
              <a:t>Fish Audio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537960" y="2103120"/>
            <a:ext cx="205741" cy="254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743700" y="2103120"/>
            <a:ext cx="205740" cy="25400"/>
          </a:xfrm>
          <a:prstGeom prst="rect">
            <a:avLst/>
          </a:prstGeom>
          <a:solidFill>
            <a:srgbClr val="FAC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949440" y="2103120"/>
            <a:ext cx="205740" cy="25400"/>
          </a:xfrm>
          <a:prstGeom prst="rect">
            <a:avLst/>
          </a:prstGeom>
          <a:solidFill>
            <a:srgbClr val="FAC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155180" y="2103120"/>
            <a:ext cx="205740" cy="25400"/>
          </a:xfrm>
          <a:prstGeom prst="rect">
            <a:avLst/>
          </a:prstGeom>
          <a:solidFill>
            <a:srgbClr val="FBC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60920" y="2103120"/>
            <a:ext cx="205740" cy="25400"/>
          </a:xfrm>
          <a:prstGeom prst="rect">
            <a:avLst/>
          </a:prstGeom>
          <a:solidFill>
            <a:srgbClr val="FBD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66660" y="2103120"/>
            <a:ext cx="205740" cy="25400"/>
          </a:xfrm>
          <a:prstGeom prst="rect">
            <a:avLst/>
          </a:prstGeom>
          <a:solidFill>
            <a:srgbClr val="FCD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72400" y="2103120"/>
            <a:ext cx="205740" cy="25400"/>
          </a:xfrm>
          <a:prstGeom prst="rect">
            <a:avLst/>
          </a:prstGeom>
          <a:solidFill>
            <a:srgbClr val="FCD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978140" y="2103120"/>
            <a:ext cx="205740" cy="25400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6537960" y="2386584"/>
            <a:ext cx="146304" cy="146304"/>
          </a:xfrm>
          <a:prstGeom prst="ellipse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81228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表情标签精准控制情感</a:t>
            </a:r>
          </a:p>
        </p:txBody>
      </p:sp>
      <p:sp>
        <p:nvSpPr>
          <p:cNvPr id="87" name="Oval 86"/>
          <p:cNvSpPr/>
          <p:nvPr/>
        </p:nvSpPr>
        <p:spPr>
          <a:xfrm>
            <a:off x="6537960" y="2916936"/>
            <a:ext cx="146304" cy="146304"/>
          </a:xfrm>
          <a:prstGeom prst="ellipse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1228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[开心][愤怒][悲伤] 标签嵌套</a:t>
            </a:r>
          </a:p>
        </p:txBody>
      </p:sp>
      <p:sp>
        <p:nvSpPr>
          <p:cNvPr id="89" name="Oval 88"/>
          <p:cNvSpPr/>
          <p:nvPr/>
        </p:nvSpPr>
        <p:spPr>
          <a:xfrm>
            <a:off x="6537960" y="3447288"/>
            <a:ext cx="146304" cy="146304"/>
          </a:xfrm>
          <a:prstGeom prst="ellipse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81228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30秒音频即可克隆音色</a:t>
            </a:r>
          </a:p>
        </p:txBody>
      </p:sp>
      <p:sp>
        <p:nvSpPr>
          <p:cNvPr id="91" name="Oval 90"/>
          <p:cNvSpPr/>
          <p:nvPr/>
        </p:nvSpPr>
        <p:spPr>
          <a:xfrm>
            <a:off x="6537960" y="3977640"/>
            <a:ext cx="146304" cy="146304"/>
          </a:xfrm>
          <a:prstGeom prst="ellipse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812280" y="39227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适合：情感丰富的角色配音</a:t>
            </a:r>
          </a:p>
        </p:txBody>
      </p:sp>
      <p:sp>
        <p:nvSpPr>
          <p:cNvPr id="93" name="Rectangle 92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模块10 · 音频制作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59E0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ABB31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角色音色推荐对照表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DE04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48640" y="1280160"/>
          <a:ext cx="110642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角色类型</a:t>
                      </a:r>
                    </a:p>
                  </a:txBody>
                  <a:tcPr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推荐音色</a:t>
                      </a:r>
                    </a:p>
                  </a:txBody>
                  <a:tcPr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配音工具</a:t>
                      </a:r>
                    </a:p>
                  </a:txBody>
                  <a:tcPr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情感风格</a:t>
                      </a:r>
                    </a:p>
                  </a:txBody>
                  <a:tcPr anchor="ctr">
                    <a:solidFill>
                      <a:srgbClr val="F59E0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男主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磁性男声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火山引擎/Fish Audio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沉稳有力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女主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温柔女声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火山引擎/Fish Audio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柔美动听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反派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低沉男声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Fish Audio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阴沉冷酷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少年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少年音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火山引擎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清脆活泼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旁白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标准男声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剪映AI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清晰标准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模块10 · 音频制作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59E0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ABB31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批量配音完整流程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DE04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整理剧本对白，按角色分类，标注情感和语气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1371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221992"/>
            <a:ext cx="6859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8378" y="2221992"/>
            <a:ext cx="6858" cy="36576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45236" y="2221992"/>
            <a:ext cx="6858" cy="36576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2094" y="2221992"/>
            <a:ext cx="6858" cy="36576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58952" y="2221992"/>
            <a:ext cx="6858" cy="36576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65810" y="2221992"/>
            <a:ext cx="6858" cy="36576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2668" y="2221992"/>
            <a:ext cx="6858" cy="36576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79526" y="2221992"/>
            <a:ext cx="6858" cy="36576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2688" y="2148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为每个角色分配音色，建立音色对照表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21488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" y="2999232"/>
            <a:ext cx="6859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38378" y="2999232"/>
            <a:ext cx="6858" cy="36576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45236" y="2999232"/>
            <a:ext cx="6858" cy="36576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52094" y="2999232"/>
            <a:ext cx="6858" cy="36576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58952" y="2999232"/>
            <a:ext cx="6858" cy="36576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65810" y="2999232"/>
            <a:ext cx="6858" cy="36576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72668" y="2999232"/>
            <a:ext cx="6858" cy="36576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79526" y="2999232"/>
            <a:ext cx="6858" cy="36576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2688" y="2926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使用火山引擎/Fish Audio批量生成对白配音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1520" y="3776472"/>
            <a:ext cx="6859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8378" y="3776472"/>
            <a:ext cx="6858" cy="36576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45236" y="3776472"/>
            <a:ext cx="6858" cy="36576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52094" y="3776472"/>
            <a:ext cx="6858" cy="36576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58952" y="3776472"/>
            <a:ext cx="6858" cy="36576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5810" y="3776472"/>
            <a:ext cx="6858" cy="36576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72668" y="3776472"/>
            <a:ext cx="6858" cy="36576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79526" y="3776472"/>
            <a:ext cx="6858" cy="36576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32688" y="3703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逐句试听检查发音和情感，修正错误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" y="3703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1520" y="4553712"/>
            <a:ext cx="6859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8378" y="4553712"/>
            <a:ext cx="6858" cy="36576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5236" y="4553712"/>
            <a:ext cx="6858" cy="36576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2094" y="4553712"/>
            <a:ext cx="6858" cy="36576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8952" y="4553712"/>
            <a:ext cx="6858" cy="36576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5810" y="4553712"/>
            <a:ext cx="6858" cy="36576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2668" y="4553712"/>
            <a:ext cx="6858" cy="36576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9526" y="4553712"/>
            <a:ext cx="6858" cy="36576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32688" y="4480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导入剪映时间轴，按镜头编号排列对齐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1520" y="4480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模块10 · 音频制作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59E0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ABB31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BGM场景匹配指南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DE04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日常对话 → 轻音乐/钢琴，BPM 60-80，温馨轻松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紧张对峙 → 电子/低音弦乐，BPM 90-120，紧张悬疑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打斗场景 → 史诗/管弦乐，BPM 120-160，激昂热血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悲伤场景 → 钢琴/大提琴，BPM 50-70，悲伤沉重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搞笑场景 → 欢快/卡通风，BPM 100-130，轻松搞笑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1520" y="5468112"/>
            <a:ext cx="6859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38378" y="5468112"/>
            <a:ext cx="6858" cy="36576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45236" y="5468112"/>
            <a:ext cx="6858" cy="36576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52094" y="5468112"/>
            <a:ext cx="6858" cy="36576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58952" y="5468112"/>
            <a:ext cx="6858" cy="36576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65810" y="5468112"/>
            <a:ext cx="6858" cy="36576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72668" y="5468112"/>
            <a:ext cx="6858" cy="36576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79526" y="5468112"/>
            <a:ext cx="6858" cy="36576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32688" y="5394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高潮场景 → 史诗/摇滚，BPM 140-180，震撼史诗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模块10 · 音频制作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0"/>
            <a:ext cx="6400800" cy="6400800"/>
          </a:xfrm>
          <a:prstGeom prst="ellipse">
            <a:avLst/>
          </a:prstGeom>
          <a:solidFill>
            <a:srgbClr val="F59E0B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2743200"/>
            <a:ext cx="4572000" cy="4572000"/>
          </a:xfrm>
          <a:prstGeom prst="ellipse">
            <a:avLst/>
          </a:prstGeom>
          <a:solidFill>
            <a:srgbClr val="FABB31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1097280"/>
            <a:ext cx="720091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920490" y="1097280"/>
            <a:ext cx="720090" cy="381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40580" y="1097280"/>
            <a:ext cx="720090" cy="381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60670" y="1097280"/>
            <a:ext cx="720090" cy="381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80760" y="1097280"/>
            <a:ext cx="720090" cy="381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00850" y="1097280"/>
            <a:ext cx="720090" cy="381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20940" y="1097280"/>
            <a:ext cx="720090" cy="381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41030" y="1097280"/>
            <a:ext cx="720090" cy="381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164592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对白必须最清晰，BGM不能干扰对白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931920"/>
            <a:ext cx="262891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3931920"/>
            <a:ext cx="262890" cy="254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3931920"/>
            <a:ext cx="262890" cy="254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3931920"/>
            <a:ext cx="262890" cy="254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3931920"/>
            <a:ext cx="262890" cy="254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3931920"/>
            <a:ext cx="262890" cy="254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3931920"/>
            <a:ext cx="262890" cy="254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3931920"/>
            <a:ext cx="262890" cy="254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297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音量层级：对白配音 0dB（基准）&gt; 动作音效 -6~-12dB &gt; BGM -12~-18dB &gt; 环境音 -18~-24dB。对白处自动降低BGM音量，高潮处提升整体音量，安静处突出环境音。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模块10 · 音频制作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59E0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ABB31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拟声字特效设计要点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DE04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爆炸类："轰""嘭" → 粗体/毛笔字，红/橙色，缩放+震动，0.3秒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打击类："砰""啪" → 粗体，白/黄色，弹出+震动，0.2秒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技能类："斩""破" → 毛笔字，蓝/紫色，划过+拖尾，0.5秒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搞笑类："duang""pia" → 卡通字体，彩色，弹跳+旋转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关键：与音效时间轴精确对齐，提前0.1秒显示补偿反应时间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模块10 · 音频制作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59E0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ABB31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DE04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◆  本模块实操任务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EE7B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" y="144475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144475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8096" y="144475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4672" y="144475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41248" y="144475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77824" y="144475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" y="144475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50976" y="144475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7552" y="144475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8872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45920" y="1371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注册火山引擎账号，测试5种不同音色的配音效果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222199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1520" y="222199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68096" y="222199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4672" y="222199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41248" y="222199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77824" y="222199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400" y="222199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50976" y="222199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87552" y="222199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8872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45920" y="21488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使用Fish Audio表情标签系统，生成10种不同情感的配音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" y="299923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31520" y="299923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68096" y="299923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04672" y="299923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41248" y="299923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7824" y="299923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14400" y="299923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50976" y="299923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87552" y="299923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8872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645920" y="2926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使用MiniMax Music为5种不同场景生成BGM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31520" y="377647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31520" y="377647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8096" y="377647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04672" y="377647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41248" y="377647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77824" y="377647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14400" y="377647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50976" y="377647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87552" y="377647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188720" y="3703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645920" y="3703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为一集漫剧添加完整的音效（20+个）和拟声字特效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31520" y="455371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31520" y="455371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8096" y="455371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4672" y="455371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41248" y="455371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77824" y="455371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14400" y="455371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50976" y="455371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87552" y="455371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88720" y="4480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645920" y="44805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完成一集漫剧的完整音频制作，包括配音+BGM+音效+混音</a:t>
            </a:r>
          </a:p>
        </p:txBody>
      </p:sp>
      <p:sp>
        <p:nvSpPr>
          <p:cNvPr id="96" name="Rectangle 9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模块10 · 音频制作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914400"/>
            <a:ext cx="6400800" cy="6400800"/>
          </a:xfrm>
          <a:prstGeom prst="ellipse">
            <a:avLst/>
          </a:prstGeom>
          <a:solidFill>
            <a:srgbClr val="F59E0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1371600"/>
            <a:ext cx="491491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06290" y="1371600"/>
            <a:ext cx="491490" cy="381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97780" y="1371600"/>
            <a:ext cx="491490" cy="381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9270" y="1371600"/>
            <a:ext cx="491490" cy="381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80760" y="1371600"/>
            <a:ext cx="491490" cy="381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72250" y="1371600"/>
            <a:ext cx="491490" cy="381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63740" y="1371600"/>
            <a:ext cx="491490" cy="381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55230" y="1371600"/>
            <a:ext cx="491490" cy="381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59E0B"/>
                </a:solidFill>
                <a:latin typeface="Microsoft YaHei"/>
              </a:defRPr>
            </a:pPr>
            <a: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320040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本模块结束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4023360"/>
            <a:ext cx="262891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4023360"/>
            <a:ext cx="262890" cy="25400"/>
          </a:xfrm>
          <a:prstGeom prst="rect">
            <a:avLst/>
          </a:prstGeom>
          <a:solidFill>
            <a:srgbClr val="F5A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4023360"/>
            <a:ext cx="262890" cy="25400"/>
          </a:xfrm>
          <a:prstGeom prst="rect">
            <a:avLst/>
          </a:prstGeom>
          <a:solidFill>
            <a:srgbClr val="F6A6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4023360"/>
            <a:ext cx="262890" cy="25400"/>
          </a:xfrm>
          <a:prstGeom prst="rect">
            <a:avLst/>
          </a:prstGeom>
          <a:solidFill>
            <a:srgbClr val="F7A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4023360"/>
            <a:ext cx="262890" cy="25400"/>
          </a:xfrm>
          <a:prstGeom prst="rect">
            <a:avLst/>
          </a:prstGeom>
          <a:solidFill>
            <a:srgbClr val="F7A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4023360"/>
            <a:ext cx="262890" cy="25400"/>
          </a:xfrm>
          <a:prstGeom prst="rect">
            <a:avLst/>
          </a:prstGeom>
          <a:solidFill>
            <a:srgbClr val="F8B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4023360"/>
            <a:ext cx="262890" cy="25400"/>
          </a:xfrm>
          <a:prstGeom prst="rect">
            <a:avLst/>
          </a:prstGeom>
          <a:solidFill>
            <a:srgbClr val="F9B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4023360"/>
            <a:ext cx="262890" cy="25400"/>
          </a:xfrm>
          <a:prstGeom prst="rect">
            <a:avLst/>
          </a:prstGeom>
          <a:solidFill>
            <a:srgbClr val="FAB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8BAC8"/>
                </a:solidFill>
                <a:latin typeface="Microsoft YaHei"/>
              </a:defRPr>
            </a:pPr>
            <a:r>
              <a:t>下一模块：剪辑与后期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E7082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10B981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2743200"/>
            <a:ext cx="5486400" cy="5486400"/>
          </a:xfrm>
          <a:prstGeom prst="ellipse">
            <a:avLst/>
          </a:prstGeom>
          <a:solidFill>
            <a:srgbClr val="34D399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4572000"/>
            <a:ext cx="3657600" cy="3657600"/>
          </a:xfrm>
          <a:prstGeom prst="ellipse">
            <a:avLst/>
          </a:prstGeom>
          <a:solidFill>
            <a:srgbClr val="6EE7B7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0"/>
            <a:ext cx="182880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91440" cy="6858000"/>
          </a:xfrm>
          <a:prstGeom prst="rect">
            <a:avLst/>
          </a:prstGeom>
          <a:solidFill>
            <a:srgbClr val="1A6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8016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5448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1031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774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8016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55448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8288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031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3774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2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58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8016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8288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1031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3774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7315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0" b="1">
                <a:solidFill>
                  <a:srgbClr val="FFFFFF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657600"/>
            <a:ext cx="1828800" cy="329184"/>
          </a:xfrm>
          <a:prstGeom prst="round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657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EE7B7"/>
                </a:solidFill>
                <a:latin typeface="Microsoft YaHei"/>
              </a:defRPr>
            </a:pPr>
            <a:r>
              <a:t>M O D U L 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114800"/>
            <a:ext cx="285751" cy="3810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2950" y="4114800"/>
            <a:ext cx="285750" cy="38100"/>
          </a:xfrm>
          <a:prstGeom prst="rect">
            <a:avLst/>
          </a:prstGeom>
          <a:solidFill>
            <a:srgbClr val="60E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28700" y="4114800"/>
            <a:ext cx="285750" cy="38100"/>
          </a:xfrm>
          <a:prstGeom prst="rect">
            <a:avLst/>
          </a:prstGeom>
          <a:solidFill>
            <a:srgbClr val="53D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314450" y="4114800"/>
            <a:ext cx="285750" cy="38100"/>
          </a:xfrm>
          <a:prstGeom prst="rect">
            <a:avLst/>
          </a:prstGeom>
          <a:solidFill>
            <a:srgbClr val="45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600200" y="4114800"/>
            <a:ext cx="285750" cy="38100"/>
          </a:xfrm>
          <a:prstGeom prst="rect">
            <a:avLst/>
          </a:prstGeom>
          <a:solidFill>
            <a:srgbClr val="38C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885950" y="4114800"/>
            <a:ext cx="285750" cy="38100"/>
          </a:xfrm>
          <a:prstGeom prst="rect">
            <a:avLst/>
          </a:prstGeom>
          <a:solidFill>
            <a:srgbClr val="2AC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171700" y="4114800"/>
            <a:ext cx="285750" cy="38100"/>
          </a:xfrm>
          <a:prstGeom prst="rect">
            <a:avLst/>
          </a:prstGeom>
          <a:solidFill>
            <a:srgbClr val="1DB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457450" y="4114800"/>
            <a:ext cx="28575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035040" y="1097280"/>
            <a:ext cx="5486400" cy="457200"/>
          </a:xfrm>
          <a:prstGeom prst="roundRect">
            <a:avLst/>
          </a:prstGeom>
          <a:solidFill>
            <a:srgbClr val="0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EE7B7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20116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F0F5"/>
                </a:solidFill>
                <a:latin typeface="Microsoft YaHei"/>
              </a:defRPr>
            </a:pPr>
            <a:r>
              <a:t>模块11：剪辑与后期——剪映专业版全流程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3840480"/>
            <a:ext cx="400051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5090" y="3840480"/>
            <a:ext cx="400050" cy="3810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835140" y="3840480"/>
            <a:ext cx="400050" cy="3810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35190" y="3840480"/>
            <a:ext cx="400050" cy="3810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635240" y="3840480"/>
            <a:ext cx="400050" cy="3810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35290" y="3840480"/>
            <a:ext cx="400050" cy="3810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435340" y="3840480"/>
            <a:ext cx="400050" cy="3810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35390" y="3840480"/>
            <a:ext cx="40005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35040" y="42062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6课时 · 掌握剪映核心功能、剪辑节奏设计、画面修复与调色统一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035040" y="5303520"/>
            <a:ext cx="5486400" cy="6400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722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Microsoft YaHei"/>
              </a:defRPr>
            </a:pPr>
            <a:r>
              <a:t>124课时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609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438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Microsoft YaHei"/>
              </a:defRPr>
            </a:pPr>
            <a:r>
              <a:t>17模块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7325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154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Microsoft YaHei"/>
              </a:defRPr>
            </a:pPr>
            <a:r>
              <a:t>8-16周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1041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2870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Microsoft YaHei"/>
              </a:defRPr>
            </a:pPr>
            <a:r>
              <a:t>全流程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155680" y="0"/>
            <a:ext cx="1036015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1978640" y="0"/>
            <a:ext cx="3810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521440" y="274320"/>
            <a:ext cx="137160" cy="137160"/>
          </a:xfrm>
          <a:prstGeom prst="ellipse">
            <a:avLst/>
          </a:prstGeom>
          <a:solidFill>
            <a:srgbClr val="6EE7B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10B981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34D399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§  本节内容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EE7B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31520" y="1397000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422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剪映专业版AI功能全解</a:t>
            </a:r>
          </a:p>
        </p:txBody>
      </p:sp>
      <p:sp>
        <p:nvSpPr>
          <p:cNvPr id="44" name="Oval 43"/>
          <p:cNvSpPr/>
          <p:nvPr/>
        </p:nvSpPr>
        <p:spPr>
          <a:xfrm>
            <a:off x="731520" y="1963928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422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漫剧剪辑节奏设计</a:t>
            </a:r>
          </a:p>
        </p:txBody>
      </p:sp>
      <p:sp>
        <p:nvSpPr>
          <p:cNvPr id="47" name="Oval 46"/>
          <p:cNvSpPr/>
          <p:nvPr/>
        </p:nvSpPr>
        <p:spPr>
          <a:xfrm>
            <a:off x="731520" y="2530856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422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剪映AI配音实战</a:t>
            </a:r>
          </a:p>
        </p:txBody>
      </p:sp>
      <p:sp>
        <p:nvSpPr>
          <p:cNvPr id="50" name="Oval 49"/>
          <p:cNvSpPr/>
          <p:nvPr/>
        </p:nvSpPr>
        <p:spPr>
          <a:xfrm>
            <a:off x="6400800" y="1397000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1350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画面修复与增强</a:t>
            </a:r>
          </a:p>
        </p:txBody>
      </p:sp>
      <p:sp>
        <p:nvSpPr>
          <p:cNvPr id="53" name="Oval 52"/>
          <p:cNvSpPr/>
          <p:nvPr/>
        </p:nvSpPr>
        <p:spPr>
          <a:xfrm>
            <a:off x="6400800" y="1963928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1350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调色与视觉风格统一</a:t>
            </a:r>
          </a:p>
        </p:txBody>
      </p:sp>
      <p:sp>
        <p:nvSpPr>
          <p:cNvPr id="56" name="Oval 55"/>
          <p:cNvSpPr/>
          <p:nvPr/>
        </p:nvSpPr>
        <p:spPr>
          <a:xfrm>
            <a:off x="6400800" y="2530856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1350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从素材到成片的完整流程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模块11 · 剪辑后期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10B981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34D399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剪映专业版核心AI功能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EE7B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48640" y="1280160"/>
          <a:ext cx="110642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功能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漫剧应用场景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智能字幕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自动识别语音生成字幕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对白字幕/旁白字幕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AI混剪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自动匹配画面与音频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快速粗剪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自动踩点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BGM节拍自动标记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卡点视频/动作场景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AI修复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提升画质、去噪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画质增强/瑕疵修复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AI配音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文本转语音+音色克隆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角色对白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模块11 · 剪辑后期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0"/>
            <a:ext cx="6400800" cy="6400800"/>
          </a:xfrm>
          <a:prstGeom prst="ellipse">
            <a:avLst/>
          </a:prstGeom>
          <a:solidFill>
            <a:srgbClr val="10B981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2743200"/>
            <a:ext cx="4572000" cy="4572000"/>
          </a:xfrm>
          <a:prstGeom prst="ellipse">
            <a:avLst/>
          </a:prstGeom>
          <a:solidFill>
            <a:srgbClr val="34D399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1097280"/>
            <a:ext cx="720091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920490" y="1097280"/>
            <a:ext cx="720090" cy="3810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40580" y="1097280"/>
            <a:ext cx="720090" cy="3810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60670" y="1097280"/>
            <a:ext cx="720090" cy="3810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80760" y="1097280"/>
            <a:ext cx="720090" cy="3810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00850" y="1097280"/>
            <a:ext cx="720090" cy="3810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20940" y="1097280"/>
            <a:ext cx="720090" cy="3810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41030" y="1097280"/>
            <a:ext cx="72009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164592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第1秒视觉冲击 → 第2秒情绪建立 → 第3秒信息传达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931920"/>
            <a:ext cx="262891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3931920"/>
            <a:ext cx="262890" cy="2540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3931920"/>
            <a:ext cx="262890" cy="2540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3931920"/>
            <a:ext cx="262890" cy="2540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3931920"/>
            <a:ext cx="262890" cy="2540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3931920"/>
            <a:ext cx="262890" cy="2540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3931920"/>
            <a:ext cx="262890" cy="2540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3931920"/>
            <a:ext cx="262890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297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第1秒用震撼画面/冲突场景抓住注意力；第2秒呈现核心冲突激发好奇心；第3秒告诉用户"这是什么故事"建立观看预期。避免缓慢开场，必须在3秒内留下继续观看的理由。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模块11 · 剪辑后期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10B981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34D399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5分钟漫剧节奏模板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EE7B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00:00-00:03 钩子开场（吸引注意力）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00:03-00:10 上集回顾/背景铺垫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00:10-01:30 剧情推进A（建立矛盾）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01:30-01:35 小高潮/转折点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01:35-03:00 剧情推进B（矛盾升级）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1520" y="5468112"/>
            <a:ext cx="6859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38378" y="5468112"/>
            <a:ext cx="6858" cy="36576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45236" y="5468112"/>
            <a:ext cx="6858" cy="36576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52094" y="5468112"/>
            <a:ext cx="6858" cy="36576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58952" y="5468112"/>
            <a:ext cx="6858" cy="36576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65810" y="5468112"/>
            <a:ext cx="6858" cy="36576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72668" y="5468112"/>
            <a:ext cx="6858" cy="36576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79526" y="5468112"/>
            <a:ext cx="6858" cy="365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32688" y="5394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03:00-04:30 高潮段落（爽点爆发）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模块11 · 剪辑后期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10B981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34D399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不同场景的剪辑节奏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EE7B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720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1371600"/>
            <a:ext cx="668656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25855" y="1371600"/>
            <a:ext cx="668655" cy="3810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794510" y="1371600"/>
            <a:ext cx="668655" cy="3810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463165" y="1371600"/>
            <a:ext cx="668655" cy="3810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131820" y="1371600"/>
            <a:ext cx="668655" cy="3810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00475" y="1371600"/>
            <a:ext cx="668655" cy="3810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469130" y="1371600"/>
            <a:ext cx="668655" cy="3810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137785" y="1371600"/>
            <a:ext cx="668655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Microsoft YaHei"/>
              </a:defRPr>
            </a:pPr>
            <a:r>
              <a:t>快节奏场景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103120"/>
            <a:ext cx="205741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37260" y="2103120"/>
            <a:ext cx="205740" cy="2540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43000" y="2103120"/>
            <a:ext cx="205740" cy="2540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348740" y="2103120"/>
            <a:ext cx="205740" cy="2540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554480" y="2103120"/>
            <a:ext cx="205740" cy="2540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60220" y="2103120"/>
            <a:ext cx="205740" cy="2540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965960" y="2103120"/>
            <a:ext cx="205740" cy="2540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171700" y="2103120"/>
            <a:ext cx="205740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31520" y="2386584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584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动作场景：镜头1-3秒，快切/闪白转场</a:t>
            </a:r>
          </a:p>
        </p:txBody>
      </p:sp>
      <p:sp>
        <p:nvSpPr>
          <p:cNvPr id="61" name="Oval 60"/>
          <p:cNvSpPr/>
          <p:nvPr/>
        </p:nvSpPr>
        <p:spPr>
          <a:xfrm>
            <a:off x="731520" y="2916936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584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搞笑场景：镜头1-2秒，快切/定格</a:t>
            </a:r>
          </a:p>
        </p:txBody>
      </p:sp>
      <p:sp>
        <p:nvSpPr>
          <p:cNvPr id="63" name="Oval 62"/>
          <p:cNvSpPr/>
          <p:nvPr/>
        </p:nvSpPr>
        <p:spPr>
          <a:xfrm>
            <a:off x="731520" y="344728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584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悬疑场景：镜头2-4秒，黑场/闪回</a:t>
            </a:r>
          </a:p>
        </p:txBody>
      </p:sp>
      <p:sp>
        <p:nvSpPr>
          <p:cNvPr id="65" name="Oval 64"/>
          <p:cNvSpPr/>
          <p:nvPr/>
        </p:nvSpPr>
        <p:spPr>
          <a:xfrm>
            <a:off x="731520" y="3977640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5840" y="39227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追逐场景：镜头1-2秒，快速剪辑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26364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63640" y="1371600"/>
            <a:ext cx="668656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932295" y="1371600"/>
            <a:ext cx="668655" cy="38100"/>
          </a:xfrm>
          <a:prstGeom prst="rect">
            <a:avLst/>
          </a:prstGeom>
          <a:solidFill>
            <a:srgbClr val="3CD5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600950" y="1371600"/>
            <a:ext cx="668655" cy="38100"/>
          </a:xfrm>
          <a:prstGeom prst="rect">
            <a:avLst/>
          </a:prstGeom>
          <a:solidFill>
            <a:srgbClr val="44D8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269605" y="1371600"/>
            <a:ext cx="668655" cy="38100"/>
          </a:xfrm>
          <a:prstGeom prst="rect">
            <a:avLst/>
          </a:prstGeom>
          <a:solidFill>
            <a:srgbClr val="4CD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938260" y="1371600"/>
            <a:ext cx="668655" cy="38100"/>
          </a:xfrm>
          <a:prstGeom prst="rect">
            <a:avLst/>
          </a:prstGeom>
          <a:solidFill>
            <a:srgbClr val="55D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606915" y="1371600"/>
            <a:ext cx="668655" cy="38100"/>
          </a:xfrm>
          <a:prstGeom prst="rect">
            <a:avLst/>
          </a:prstGeom>
          <a:solidFill>
            <a:srgbClr val="5DE1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275570" y="1371600"/>
            <a:ext cx="668655" cy="38100"/>
          </a:xfrm>
          <a:prstGeom prst="rect">
            <a:avLst/>
          </a:prstGeom>
          <a:solidFill>
            <a:srgbClr val="65E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944225" y="1371600"/>
            <a:ext cx="668655" cy="3810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53796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Microsoft YaHei"/>
              </a:defRPr>
            </a:pPr>
            <a:r>
              <a:t>慢节奏场景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537960" y="2103120"/>
            <a:ext cx="205741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743700" y="2103120"/>
            <a:ext cx="205740" cy="25400"/>
          </a:xfrm>
          <a:prstGeom prst="rect">
            <a:avLst/>
          </a:prstGeom>
          <a:solidFill>
            <a:srgbClr val="3CD5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949440" y="2103120"/>
            <a:ext cx="205740" cy="25400"/>
          </a:xfrm>
          <a:prstGeom prst="rect">
            <a:avLst/>
          </a:prstGeom>
          <a:solidFill>
            <a:srgbClr val="44D8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155180" y="2103120"/>
            <a:ext cx="205740" cy="25400"/>
          </a:xfrm>
          <a:prstGeom prst="rect">
            <a:avLst/>
          </a:prstGeom>
          <a:solidFill>
            <a:srgbClr val="4CD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60920" y="2103120"/>
            <a:ext cx="205740" cy="25400"/>
          </a:xfrm>
          <a:prstGeom prst="rect">
            <a:avLst/>
          </a:prstGeom>
          <a:solidFill>
            <a:srgbClr val="55D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66660" y="2103120"/>
            <a:ext cx="205740" cy="25400"/>
          </a:xfrm>
          <a:prstGeom prst="rect">
            <a:avLst/>
          </a:prstGeom>
          <a:solidFill>
            <a:srgbClr val="5DE1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72400" y="2103120"/>
            <a:ext cx="205740" cy="25400"/>
          </a:xfrm>
          <a:prstGeom prst="rect">
            <a:avLst/>
          </a:prstGeom>
          <a:solidFill>
            <a:srgbClr val="65E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978140" y="2103120"/>
            <a:ext cx="205740" cy="2540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6537960" y="2386584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81228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对话场景：镜头3-5秒，硬切/淡入淡出</a:t>
            </a:r>
          </a:p>
        </p:txBody>
      </p:sp>
      <p:sp>
        <p:nvSpPr>
          <p:cNvPr id="87" name="Oval 86"/>
          <p:cNvSpPr/>
          <p:nvPr/>
        </p:nvSpPr>
        <p:spPr>
          <a:xfrm>
            <a:off x="6537960" y="2916936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1228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情感场景：镜头4-6秒，慢dissolve</a:t>
            </a:r>
          </a:p>
        </p:txBody>
      </p:sp>
      <p:sp>
        <p:nvSpPr>
          <p:cNvPr id="89" name="Oval 88"/>
          <p:cNvSpPr/>
          <p:nvPr/>
        </p:nvSpPr>
        <p:spPr>
          <a:xfrm>
            <a:off x="6537960" y="3447288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81228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回忆场景：镜头3-5秒，柔焦/慢动作</a:t>
            </a:r>
          </a:p>
        </p:txBody>
      </p:sp>
      <p:sp>
        <p:nvSpPr>
          <p:cNvPr id="91" name="Oval 90"/>
          <p:cNvSpPr/>
          <p:nvPr/>
        </p:nvSpPr>
        <p:spPr>
          <a:xfrm>
            <a:off x="6537960" y="3977640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812280" y="39227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日常场景：镜头3-4秒，自然过渡</a:t>
            </a:r>
          </a:p>
        </p:txBody>
      </p:sp>
      <p:sp>
        <p:nvSpPr>
          <p:cNvPr id="93" name="Rectangle 92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模块11 · 剪辑后期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10B981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34D399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AI视频常见瑕疵与修复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EE7B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闪烁：画面明暗跳动 → AI去闪烁功能，预防：降低运动幅度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变形：角色形状异常 → 裁剪或重新生成，预防：简化动作描述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模糊：画面不清晰 → AI超分辨率，预防：使用1080P输出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抖动：镜头不稳定 → 视频稳定功能，预防：使用固定镜头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穿模：身体部位重叠 → 裁剪或重新生成，预防：降低运动幅度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1520" y="5468112"/>
            <a:ext cx="6859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38378" y="5468112"/>
            <a:ext cx="6858" cy="36576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45236" y="5468112"/>
            <a:ext cx="6858" cy="36576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52094" y="5468112"/>
            <a:ext cx="6858" cy="36576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58952" y="5468112"/>
            <a:ext cx="6858" cy="36576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65810" y="5468112"/>
            <a:ext cx="6858" cy="36576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72668" y="5468112"/>
            <a:ext cx="6858" cy="36576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79526" y="5468112"/>
            <a:ext cx="6858" cy="365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32688" y="5394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色彩失真：颜色不准确 → 调色修复，预防：提示词指定色调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模块11 · 剪辑后期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10B981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34D399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常见风格调色参数速查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EE7B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48640" y="1280160"/>
          <a:ext cx="110642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风格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色温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对比度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饱和度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效果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玄幻/仙侠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偏冷 -10~-20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中高 +15~+25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中 +5~+10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神秘仙气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都市/现代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自然 0~+5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中 +10~+15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中高 +10~+15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清新明亮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古风/武侠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偏暖 +5~+15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中 +10~+15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中低 -5~+5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古朴典雅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赛博朋克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偏冷 -15~-25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高 +20~+30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高 +15~+25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科幻霓虹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模块11 · 剪辑后期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10B981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34D399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从素材到成片的完整流程（约60分钟）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EE7B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整理素材（5分钟）：按镜头编号命名，整理配音/BGM/音效文件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1371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221992"/>
            <a:ext cx="6859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8378" y="2221992"/>
            <a:ext cx="6858" cy="36576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45236" y="2221992"/>
            <a:ext cx="6858" cy="36576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2094" y="2221992"/>
            <a:ext cx="6858" cy="36576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58952" y="2221992"/>
            <a:ext cx="6858" cy="36576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65810" y="2221992"/>
            <a:ext cx="6858" cy="36576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2668" y="2221992"/>
            <a:ext cx="6858" cy="36576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79526" y="2221992"/>
            <a:ext cx="6858" cy="365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2688" y="2148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粗剪（10分钟）：按分镜脚本排列视频片段，确定大致时长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21488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" y="2999232"/>
            <a:ext cx="6859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38378" y="2999232"/>
            <a:ext cx="6858" cy="36576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45236" y="2999232"/>
            <a:ext cx="6858" cy="36576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52094" y="2999232"/>
            <a:ext cx="6858" cy="36576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58952" y="2999232"/>
            <a:ext cx="6858" cy="36576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65810" y="2999232"/>
            <a:ext cx="6858" cy="36576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72668" y="2999232"/>
            <a:ext cx="6858" cy="36576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79526" y="2999232"/>
            <a:ext cx="6858" cy="365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2688" y="2926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精剪（15分钟）：调整入出点，添加转场，调整衔接节奏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1520" y="3776472"/>
            <a:ext cx="6859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8378" y="3776472"/>
            <a:ext cx="6858" cy="36576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45236" y="3776472"/>
            <a:ext cx="6858" cy="36576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52094" y="3776472"/>
            <a:ext cx="6858" cy="36576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58952" y="3776472"/>
            <a:ext cx="6858" cy="36576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5810" y="3776472"/>
            <a:ext cx="6858" cy="36576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72668" y="3776472"/>
            <a:ext cx="6858" cy="36576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79526" y="3776472"/>
            <a:ext cx="6858" cy="365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32688" y="3703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音频处理（10分钟）：添加配音/BGM/音效，音量平衡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" y="3703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1520" y="4553712"/>
            <a:ext cx="6859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8378" y="4553712"/>
            <a:ext cx="6858" cy="36576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5236" y="4553712"/>
            <a:ext cx="6858" cy="36576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2094" y="4553712"/>
            <a:ext cx="6858" cy="36576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8952" y="4553712"/>
            <a:ext cx="6858" cy="36576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5810" y="4553712"/>
            <a:ext cx="6858" cy="36576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2668" y="4553712"/>
            <a:ext cx="6858" cy="36576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9526" y="4553712"/>
            <a:ext cx="6858" cy="365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32688" y="4480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字幕与特效（10分钟）：智能字幕+拟声字特效+画面特效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1520" y="4480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31520" y="5330952"/>
            <a:ext cx="6859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38378" y="5330952"/>
            <a:ext cx="6858" cy="36576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45236" y="5330952"/>
            <a:ext cx="6858" cy="36576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52094" y="5330952"/>
            <a:ext cx="6858" cy="36576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58952" y="5330952"/>
            <a:ext cx="6858" cy="36576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65810" y="5330952"/>
            <a:ext cx="6858" cy="36576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72668" y="5330952"/>
            <a:ext cx="6858" cy="36576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79526" y="5330952"/>
            <a:ext cx="6858" cy="365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32688" y="5257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调色（5分钟）：统一画面色调，应用滤镜预设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31520" y="5257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模块11 · 剪辑后期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10B981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34D399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各平台导出参数速查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EE7B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抖音/快手：1080×1920竖屏，30fps，8-10Mbps，H.264编码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B站：1920×1080横屏，24fps，10-12Mbps，H.264编码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红果：1080×1920竖屏，30fps，8-10Mbps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YouTube：1920×1080横屏，30fps，12-15Mbps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音频统一：AAC 320kbps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1520" y="5468112"/>
            <a:ext cx="6859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38378" y="5468112"/>
            <a:ext cx="6858" cy="36576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45236" y="5468112"/>
            <a:ext cx="6858" cy="36576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52094" y="5468112"/>
            <a:ext cx="6858" cy="36576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58952" y="5468112"/>
            <a:ext cx="6858" cy="36576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65810" y="5468112"/>
            <a:ext cx="6858" cy="36576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72668" y="5468112"/>
            <a:ext cx="6858" cy="36576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79526" y="5468112"/>
            <a:ext cx="6858" cy="365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32688" y="5394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文件命名：[项目名]_[集数]_[版本]_[日期].mp4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模块11 · 剪辑后期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10B981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34D399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EE7B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◆  本模块实操任务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EE7B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" y="144475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144475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8096" y="144475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4672" y="144475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41248" y="144475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77824" y="144475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" y="144475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50976" y="144475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7552" y="144475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8872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45920" y="1371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使用剪映智能字幕功能为一集漫剧生成对白字幕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222199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1520" y="222199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68096" y="222199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4672" y="222199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41248" y="222199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77824" y="222199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400" y="222199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50976" y="222199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87552" y="222199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8872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45920" y="21488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为漫剧设计3种不同的前3秒开场方案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" y="299923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31520" y="299923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68096" y="299923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04672" y="299923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41248" y="299923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7824" y="299923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14400" y="299923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50976" y="299923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87552" y="299923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8872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645920" y="2926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使用AI修复功能修复视频中的闪烁和模糊问题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31520" y="377647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31520" y="377647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8096" y="377647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04672" y="377647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41248" y="377647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77824" y="377647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14400" y="377647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50976" y="377647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87552" y="377647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188720" y="3703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645920" y="3703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创建玄幻/都市/古风3种不同风格的调色预设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31520" y="455371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31520" y="455371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8096" y="455371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4672" y="455371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41248" y="455371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77824" y="455371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14400" y="455371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50976" y="455371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87552" y="455371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88720" y="4480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645920" y="44805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完成一集漫剧的完整剪辑（粗剪→精剪→音频→字幕→调色→导出）</a:t>
            </a:r>
          </a:p>
        </p:txBody>
      </p:sp>
      <p:sp>
        <p:nvSpPr>
          <p:cNvPr id="96" name="Rectangle 9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模块11 · 剪辑后期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914400"/>
            <a:ext cx="6400800" cy="6400800"/>
          </a:xfrm>
          <a:prstGeom prst="ellipse">
            <a:avLst/>
          </a:prstGeom>
          <a:solidFill>
            <a:srgbClr val="10B981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1371600"/>
            <a:ext cx="491491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06290" y="1371600"/>
            <a:ext cx="491490" cy="3810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97780" y="1371600"/>
            <a:ext cx="491490" cy="3810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9270" y="1371600"/>
            <a:ext cx="491490" cy="3810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80760" y="1371600"/>
            <a:ext cx="491490" cy="3810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72250" y="1371600"/>
            <a:ext cx="491490" cy="3810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63740" y="1371600"/>
            <a:ext cx="491490" cy="3810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55230" y="1371600"/>
            <a:ext cx="49149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10B981"/>
                </a:solidFill>
                <a:latin typeface="Microsoft YaHei"/>
              </a:defRPr>
            </a:pPr>
            <a: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320040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本模块结束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4023360"/>
            <a:ext cx="262891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4023360"/>
            <a:ext cx="262890" cy="25400"/>
          </a:xfrm>
          <a:prstGeom prst="rect">
            <a:avLst/>
          </a:prstGeom>
          <a:solidFill>
            <a:srgbClr val="15B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4023360"/>
            <a:ext cx="262890" cy="25400"/>
          </a:xfrm>
          <a:prstGeom prst="rect">
            <a:avLst/>
          </a:prstGeom>
          <a:solidFill>
            <a:srgbClr val="1AC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4023360"/>
            <a:ext cx="262890" cy="25400"/>
          </a:xfrm>
          <a:prstGeom prst="rect">
            <a:avLst/>
          </a:prstGeom>
          <a:solidFill>
            <a:srgbClr val="1FC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4023360"/>
            <a:ext cx="262890" cy="25400"/>
          </a:xfrm>
          <a:prstGeom prst="rect">
            <a:avLst/>
          </a:prstGeom>
          <a:solidFill>
            <a:srgbClr val="24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4023360"/>
            <a:ext cx="262890" cy="25400"/>
          </a:xfrm>
          <a:prstGeom prst="rect">
            <a:avLst/>
          </a:prstGeom>
          <a:solidFill>
            <a:srgbClr val="29C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4023360"/>
            <a:ext cx="262890" cy="25400"/>
          </a:xfrm>
          <a:prstGeom prst="rect">
            <a:avLst/>
          </a:prstGeom>
          <a:solidFill>
            <a:srgbClr val="2E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4023360"/>
            <a:ext cx="262890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8BAC8"/>
                </a:solidFill>
                <a:latin typeface="Microsoft YaHei"/>
              </a:defRPr>
            </a:pPr>
            <a:r>
              <a:t>下一模块：一站式AI漫剧平台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E7082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387A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2743200"/>
            <a:ext cx="5486400" cy="5486400"/>
          </a:xfrm>
          <a:prstGeom prst="ellipse">
            <a:avLst/>
          </a:prstGeom>
          <a:solidFill>
            <a:srgbClr val="60A5FA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4572000"/>
            <a:ext cx="3657600" cy="3657600"/>
          </a:xfrm>
          <a:prstGeom prst="ellipse">
            <a:avLst/>
          </a:prstGeom>
          <a:solidFill>
            <a:srgbClr val="93C5FD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0"/>
            <a:ext cx="182880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91440" cy="6858000"/>
          </a:xfrm>
          <a:prstGeom prst="rect">
            <a:avLst/>
          </a:prstGeom>
          <a:solidFill>
            <a:srgbClr val="305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8016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5448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1031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774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8016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55448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8288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031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3774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2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58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8016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8288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1031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3774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7315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0" b="1">
                <a:solidFill>
                  <a:srgbClr val="FFFFFF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657600"/>
            <a:ext cx="1828800" cy="329184"/>
          </a:xfrm>
          <a:prstGeom prst="round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657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3C5FD"/>
                </a:solidFill>
                <a:latin typeface="Microsoft YaHei"/>
              </a:defRPr>
            </a:pPr>
            <a:r>
              <a:t>M O D U L 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114800"/>
            <a:ext cx="285751" cy="38100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2950" y="4114800"/>
            <a:ext cx="285750" cy="38100"/>
          </a:xfrm>
          <a:prstGeom prst="rect">
            <a:avLst/>
          </a:prstGeom>
          <a:solidFill>
            <a:srgbClr val="86B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28700" y="4114800"/>
            <a:ext cx="285750" cy="38100"/>
          </a:xfrm>
          <a:prstGeom prst="rect">
            <a:avLst/>
          </a:prstGeom>
          <a:solidFill>
            <a:srgbClr val="79A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314450" y="4114800"/>
            <a:ext cx="285750" cy="38100"/>
          </a:xfrm>
          <a:prstGeom prst="rect">
            <a:avLst/>
          </a:prstGeom>
          <a:solidFill>
            <a:srgbClr val="6CA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600200" y="4114800"/>
            <a:ext cx="285750" cy="38100"/>
          </a:xfrm>
          <a:prstGeom prst="rect">
            <a:avLst/>
          </a:prstGeom>
          <a:solidFill>
            <a:srgbClr val="5F9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885950" y="4114800"/>
            <a:ext cx="285750" cy="38100"/>
          </a:xfrm>
          <a:prstGeom prst="rect">
            <a:avLst/>
          </a:prstGeom>
          <a:solidFill>
            <a:srgbClr val="528F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171700" y="4114800"/>
            <a:ext cx="285750" cy="38100"/>
          </a:xfrm>
          <a:prstGeom prst="rect">
            <a:avLst/>
          </a:prstGeom>
          <a:solidFill>
            <a:srgbClr val="458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457450" y="4114800"/>
            <a:ext cx="285750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035040" y="1097280"/>
            <a:ext cx="5486400" cy="457200"/>
          </a:xfrm>
          <a:prstGeom prst="round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3C5FD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20116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F0F5"/>
                </a:solidFill>
                <a:latin typeface="Microsoft YaHei"/>
              </a:defRPr>
            </a:pPr>
            <a:r>
              <a:t>模块12：一站式AI漫剧平台精讲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3840480"/>
            <a:ext cx="400051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5090" y="3840480"/>
            <a:ext cx="400050" cy="3810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835140" y="3840480"/>
            <a:ext cx="400050" cy="3810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35190" y="3840480"/>
            <a:ext cx="400050" cy="3810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635240" y="3840480"/>
            <a:ext cx="400050" cy="3810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35290" y="3840480"/>
            <a:ext cx="400050" cy="3810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435340" y="3840480"/>
            <a:ext cx="400050" cy="3810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35390" y="3840480"/>
            <a:ext cx="40005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35040" y="42062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8课时 · 掌握6大主流一站式平台的核心功能与选型策略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035040" y="5303520"/>
            <a:ext cx="5486400" cy="6400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722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87AFF"/>
                </a:solidFill>
                <a:latin typeface="Microsoft YaHei"/>
              </a:defRPr>
            </a:pPr>
            <a:r>
              <a:t>124课时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609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438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87AFF"/>
                </a:solidFill>
                <a:latin typeface="Microsoft YaHei"/>
              </a:defRPr>
            </a:pPr>
            <a:r>
              <a:t>17模块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7325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154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87AFF"/>
                </a:solidFill>
                <a:latin typeface="Microsoft YaHei"/>
              </a:defRPr>
            </a:pPr>
            <a:r>
              <a:t>8-16周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1041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2870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87AFF"/>
                </a:solidFill>
                <a:latin typeface="Microsoft YaHei"/>
              </a:defRPr>
            </a:pPr>
            <a:r>
              <a:t>全流程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155680" y="0"/>
            <a:ext cx="1036015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1978640" y="0"/>
            <a:ext cx="38100" cy="7315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521440" y="274320"/>
            <a:ext cx="137160" cy="137160"/>
          </a:xfrm>
          <a:prstGeom prst="ellipse">
            <a:avLst/>
          </a:prstGeom>
          <a:solidFill>
            <a:srgbClr val="93C5FD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387A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60A5F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§  本节内容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93C5F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31520" y="1397000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422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360纳米——全链路自动化</a:t>
            </a:r>
          </a:p>
        </p:txBody>
      </p:sp>
      <p:sp>
        <p:nvSpPr>
          <p:cNvPr id="44" name="Oval 43"/>
          <p:cNvSpPr/>
          <p:nvPr/>
        </p:nvSpPr>
        <p:spPr>
          <a:xfrm>
            <a:off x="731520" y="1963928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422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有戏AI——高角色一致性</a:t>
            </a:r>
          </a:p>
        </p:txBody>
      </p:sp>
      <p:sp>
        <p:nvSpPr>
          <p:cNvPr id="47" name="Oval 46"/>
          <p:cNvSpPr/>
          <p:nvPr/>
        </p:nvSpPr>
        <p:spPr>
          <a:xfrm>
            <a:off x="731520" y="2530856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422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商汤Seko 2.0——长篇连载</a:t>
            </a:r>
          </a:p>
        </p:txBody>
      </p:sp>
      <p:sp>
        <p:nvSpPr>
          <p:cNvPr id="50" name="Oval 49"/>
          <p:cNvSpPr/>
          <p:nvPr/>
        </p:nvSpPr>
        <p:spPr>
          <a:xfrm>
            <a:off x="731520" y="3097784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4220" y="30977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" y="307238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漫剧工场——创作与分发</a:t>
            </a:r>
          </a:p>
        </p:txBody>
      </p:sp>
      <p:sp>
        <p:nvSpPr>
          <p:cNvPr id="53" name="Oval 52"/>
          <p:cNvSpPr/>
          <p:nvPr/>
        </p:nvSpPr>
        <p:spPr>
          <a:xfrm>
            <a:off x="6400800" y="1397000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1350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橙星梦工厂——AI辅助创作</a:t>
            </a:r>
          </a:p>
        </p:txBody>
      </p:sp>
      <p:sp>
        <p:nvSpPr>
          <p:cNvPr id="56" name="Oval 55"/>
          <p:cNvSpPr/>
          <p:nvPr/>
        </p:nvSpPr>
        <p:spPr>
          <a:xfrm>
            <a:off x="6400800" y="1963928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1350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漫剧助手——IP驱动</a:t>
            </a:r>
          </a:p>
        </p:txBody>
      </p:sp>
      <p:sp>
        <p:nvSpPr>
          <p:cNvPr id="59" name="Oval 58"/>
          <p:cNvSpPr/>
          <p:nvPr/>
        </p:nvSpPr>
        <p:spPr>
          <a:xfrm>
            <a:off x="6400800" y="2530856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1350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6656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白日梦AI——短视频专精</a:t>
            </a:r>
          </a:p>
        </p:txBody>
      </p:sp>
      <p:sp>
        <p:nvSpPr>
          <p:cNvPr id="62" name="Oval 61"/>
          <p:cNvSpPr/>
          <p:nvPr/>
        </p:nvSpPr>
        <p:spPr>
          <a:xfrm>
            <a:off x="6400800" y="3097784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13500" y="30977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66560" y="307238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平台选型决策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模块12 · 一站式平台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387A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60A5F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6大平台核心能力对比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93C5F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48640" y="1280160"/>
          <a:ext cx="110642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平台</a:t>
                      </a:r>
                    </a:p>
                  </a:txBody>
                  <a:tcPr anchor="ctr">
                    <a:solidFill>
                      <a:srgbClr val="387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角色一致性</a:t>
                      </a:r>
                    </a:p>
                  </a:txBody>
                  <a:tcPr anchor="ctr">
                    <a:solidFill>
                      <a:srgbClr val="387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自定义</a:t>
                      </a:r>
                    </a:p>
                  </a:txBody>
                  <a:tcPr anchor="ctr">
                    <a:solidFill>
                      <a:srgbClr val="387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适合人群</a:t>
                      </a:r>
                    </a:p>
                  </a:txBody>
                  <a:tcPr anchor="ctr">
                    <a:solidFill>
                      <a:srgbClr val="387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价格</a:t>
                      </a:r>
                    </a:p>
                  </a:txBody>
                  <a:tcPr anchor="ctr">
                    <a:solidFill>
                      <a:srgbClr val="387A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360纳米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★★☆☆☆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零基础/快速生产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低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有戏AI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品质优先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中高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商汤Seko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长篇连载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漫剧工场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多平台分发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橙星梦工厂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创意型创作者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中高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漫剧助手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IP驱动型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模块12 · 一站式平台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387A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60A5F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360纳米——工业级全链路自动化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93C5F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国内首个工业级AI漫剧智能体平台，由360集团推出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全链路自动化：剧本→AI分镜→AI生图→AI视频→AI配音→成片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核心优势：操作简单零基础可用，效率极高，成本低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局限：自定义程度有限，画质中等，角色一致性一般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适用场景：快速原型验证、批量生产短剧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1520" y="5468112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38378" y="5468112"/>
            <a:ext cx="6858" cy="36576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45236" y="5468112"/>
            <a:ext cx="6858" cy="36576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52094" y="5468112"/>
            <a:ext cx="6858" cy="36576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58952" y="5468112"/>
            <a:ext cx="6858" cy="36576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65810" y="5468112"/>
            <a:ext cx="6858" cy="36576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72668" y="5468112"/>
            <a:ext cx="6858" cy="36576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79526" y="5468112"/>
            <a:ext cx="6858" cy="3657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32688" y="5394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支持9:16竖屏短剧，内置分发渠道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模块12 · 一站式平台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387A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60A5F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效率型平台 vs 品质型平台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93C5F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720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1371600"/>
            <a:ext cx="668656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25855" y="1371600"/>
            <a:ext cx="668655" cy="3810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794510" y="1371600"/>
            <a:ext cx="668655" cy="3810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463165" y="1371600"/>
            <a:ext cx="668655" cy="3810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131820" y="1371600"/>
            <a:ext cx="668655" cy="3810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00475" y="1371600"/>
            <a:ext cx="668655" cy="3810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469130" y="1371600"/>
            <a:ext cx="668655" cy="3810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137785" y="1371600"/>
            <a:ext cx="668655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7AFF"/>
                </a:solidFill>
                <a:latin typeface="Microsoft YaHei"/>
              </a:defRPr>
            </a:pPr>
            <a:r>
              <a:t>效率型（360纳米/白日梦AI）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103120"/>
            <a:ext cx="20574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37260" y="2103120"/>
            <a:ext cx="205740" cy="2540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43000" y="2103120"/>
            <a:ext cx="205740" cy="2540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348740" y="2103120"/>
            <a:ext cx="205740" cy="2540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554480" y="2103120"/>
            <a:ext cx="205740" cy="2540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60220" y="2103120"/>
            <a:ext cx="205740" cy="2540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965960" y="2103120"/>
            <a:ext cx="205740" cy="2540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171700" y="2103120"/>
            <a:ext cx="20574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31520" y="2386584"/>
            <a:ext cx="146304" cy="146304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584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全链路自动化，分钟级出片</a:t>
            </a:r>
          </a:p>
        </p:txBody>
      </p:sp>
      <p:sp>
        <p:nvSpPr>
          <p:cNvPr id="61" name="Oval 60"/>
          <p:cNvSpPr/>
          <p:nvPr/>
        </p:nvSpPr>
        <p:spPr>
          <a:xfrm>
            <a:off x="731520" y="2916936"/>
            <a:ext cx="146304" cy="146304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584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操作简单，零基础可用</a:t>
            </a:r>
          </a:p>
        </p:txBody>
      </p:sp>
      <p:sp>
        <p:nvSpPr>
          <p:cNvPr id="63" name="Oval 62"/>
          <p:cNvSpPr/>
          <p:nvPr/>
        </p:nvSpPr>
        <p:spPr>
          <a:xfrm>
            <a:off x="731520" y="3447288"/>
            <a:ext cx="146304" cy="146304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584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适合快速原型和批量生产</a:t>
            </a:r>
          </a:p>
        </p:txBody>
      </p:sp>
      <p:sp>
        <p:nvSpPr>
          <p:cNvPr id="65" name="Oval 64"/>
          <p:cNvSpPr/>
          <p:nvPr/>
        </p:nvSpPr>
        <p:spPr>
          <a:xfrm>
            <a:off x="731520" y="3977640"/>
            <a:ext cx="146304" cy="146304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5840" y="39227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角色一致性和画质中等</a:t>
            </a:r>
          </a:p>
        </p:txBody>
      </p:sp>
      <p:sp>
        <p:nvSpPr>
          <p:cNvPr id="67" name="Oval 66"/>
          <p:cNvSpPr/>
          <p:nvPr/>
        </p:nvSpPr>
        <p:spPr>
          <a:xfrm>
            <a:off x="731520" y="4507992"/>
            <a:ext cx="146304" cy="146304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05840" y="44531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单集成本低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26364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63640" y="1371600"/>
            <a:ext cx="668656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932295" y="1371600"/>
            <a:ext cx="668655" cy="38100"/>
          </a:xfrm>
          <a:prstGeom prst="rect">
            <a:avLst/>
          </a:prstGeom>
          <a:solidFill>
            <a:srgbClr val="67A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600950" y="1371600"/>
            <a:ext cx="668655" cy="38100"/>
          </a:xfrm>
          <a:prstGeom prst="rect">
            <a:avLst/>
          </a:prstGeom>
          <a:solidFill>
            <a:srgbClr val="6EA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269605" y="1371600"/>
            <a:ext cx="668655" cy="38100"/>
          </a:xfrm>
          <a:prstGeom prst="rect">
            <a:avLst/>
          </a:prstGeom>
          <a:solidFill>
            <a:srgbClr val="75B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938260" y="1371600"/>
            <a:ext cx="668655" cy="38100"/>
          </a:xfrm>
          <a:prstGeom prst="rect">
            <a:avLst/>
          </a:prstGeom>
          <a:solidFill>
            <a:srgbClr val="7DB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606915" y="1371600"/>
            <a:ext cx="668655" cy="38100"/>
          </a:xfrm>
          <a:prstGeom prst="rect">
            <a:avLst/>
          </a:prstGeom>
          <a:solidFill>
            <a:srgbClr val="84B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275570" y="1371600"/>
            <a:ext cx="668655" cy="38100"/>
          </a:xfrm>
          <a:prstGeom prst="rect">
            <a:avLst/>
          </a:prstGeom>
          <a:solidFill>
            <a:srgbClr val="8BC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944225" y="1371600"/>
            <a:ext cx="668655" cy="38100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53796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0A5FA"/>
                </a:solidFill>
                <a:latin typeface="Microsoft YaHei"/>
              </a:defRPr>
            </a:pPr>
            <a:r>
              <a:t>品质型（有戏AI/Seko 2.0）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537960" y="2103120"/>
            <a:ext cx="205741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43700" y="2103120"/>
            <a:ext cx="205740" cy="25400"/>
          </a:xfrm>
          <a:prstGeom prst="rect">
            <a:avLst/>
          </a:prstGeom>
          <a:solidFill>
            <a:srgbClr val="67A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949440" y="2103120"/>
            <a:ext cx="205740" cy="25400"/>
          </a:xfrm>
          <a:prstGeom prst="rect">
            <a:avLst/>
          </a:prstGeom>
          <a:solidFill>
            <a:srgbClr val="6EA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155180" y="2103120"/>
            <a:ext cx="205740" cy="25400"/>
          </a:xfrm>
          <a:prstGeom prst="rect">
            <a:avLst/>
          </a:prstGeom>
          <a:solidFill>
            <a:srgbClr val="75B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60920" y="2103120"/>
            <a:ext cx="205740" cy="25400"/>
          </a:xfrm>
          <a:prstGeom prst="rect">
            <a:avLst/>
          </a:prstGeom>
          <a:solidFill>
            <a:srgbClr val="7DB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66660" y="2103120"/>
            <a:ext cx="205740" cy="25400"/>
          </a:xfrm>
          <a:prstGeom prst="rect">
            <a:avLst/>
          </a:prstGeom>
          <a:solidFill>
            <a:srgbClr val="84B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2103120"/>
            <a:ext cx="205740" cy="25400"/>
          </a:xfrm>
          <a:prstGeom prst="rect">
            <a:avLst/>
          </a:prstGeom>
          <a:solidFill>
            <a:srgbClr val="8BC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978140" y="2103120"/>
            <a:ext cx="205740" cy="25400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537960" y="2386584"/>
            <a:ext cx="146304" cy="146304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1228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角色一致性95%+，100集不崩</a:t>
            </a:r>
          </a:p>
        </p:txBody>
      </p:sp>
      <p:sp>
        <p:nvSpPr>
          <p:cNvPr id="89" name="Oval 88"/>
          <p:cNvSpPr/>
          <p:nvPr/>
        </p:nvSpPr>
        <p:spPr>
          <a:xfrm>
            <a:off x="6537960" y="2916936"/>
            <a:ext cx="146304" cy="146304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81228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数字人技术，真人级表情</a:t>
            </a:r>
          </a:p>
        </p:txBody>
      </p:sp>
      <p:sp>
        <p:nvSpPr>
          <p:cNvPr id="91" name="Oval 90"/>
          <p:cNvSpPr/>
          <p:nvPr/>
        </p:nvSpPr>
        <p:spPr>
          <a:xfrm>
            <a:off x="6537960" y="3447288"/>
            <a:ext cx="146304" cy="146304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81228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适合品质级和长篇连载</a:t>
            </a:r>
          </a:p>
        </p:txBody>
      </p:sp>
      <p:sp>
        <p:nvSpPr>
          <p:cNvPr id="93" name="Oval 92"/>
          <p:cNvSpPr/>
          <p:nvPr/>
        </p:nvSpPr>
        <p:spPr>
          <a:xfrm>
            <a:off x="6537960" y="3977640"/>
            <a:ext cx="146304" cy="146304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812280" y="39227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需要一定创作基础</a:t>
            </a:r>
          </a:p>
        </p:txBody>
      </p:sp>
      <p:sp>
        <p:nvSpPr>
          <p:cNvPr id="95" name="Oval 94"/>
          <p:cNvSpPr/>
          <p:nvPr/>
        </p:nvSpPr>
        <p:spPr>
          <a:xfrm>
            <a:off x="6537960" y="4507992"/>
            <a:ext cx="146304" cy="146304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812280" y="44531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单集成本较高</a:t>
            </a:r>
          </a:p>
        </p:txBody>
      </p:sp>
      <p:sp>
        <p:nvSpPr>
          <p:cNvPr id="97" name="Rectangle 96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模块12 · 一站式平台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387A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60A5F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推荐平台组合方案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93C5F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入门组合：360纳米（快速出片）+ 剪映（后期微调）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进阶组合：有戏AI（角色一致性）+ 可灵AI（特效镜头）+ 剪映（后期）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专业组合：商汤Seko（长篇连载）+ Seedance 2.0 + 可灵AI + 剪映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IP组合：漫剧助手（IP改编）+ 有戏AI（品质保障）+ 漫剧工场（分发）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核心思路：一站式平台做基础，专业工具做精细调整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模块12 · 一站式平台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387A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60A5F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有戏AI &amp; 商汤Seko 2.0 核心特色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93C5F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有戏AI：角色相似度95%+，数字人技术，真人级面部表情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有戏AI适合品质级漫剧、品牌定制、长篇连载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商汤Seko 2.0：创编一体，100集不崩角色，内置叙事引擎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Seko 2.0：团队协作支持，版本管理，角色资产库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两者共同点：角色一致性极强，品质优先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1520" y="5468112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38378" y="5468112"/>
            <a:ext cx="6858" cy="36576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45236" y="5468112"/>
            <a:ext cx="6858" cy="36576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52094" y="5468112"/>
            <a:ext cx="6858" cy="36576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58952" y="5468112"/>
            <a:ext cx="6858" cy="36576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65810" y="5468112"/>
            <a:ext cx="6858" cy="36576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72668" y="5468112"/>
            <a:ext cx="6858" cy="36576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79526" y="5468112"/>
            <a:ext cx="6858" cy="3657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32688" y="5394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选择建议：单集品质选有戏AI，长篇连载选Seko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模块12 · 一站式平台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387A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60A5F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分发平台与IP资源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93C5F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漫剧工场：内置抖音/快手/B站/视频号/红果多平台分发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漫剧工场：数据分析（播放量/完播率/互动率），版权保护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漫剧助手（阅文集团）：海量网文IP，AI自动改编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漫剧助手：IP授权管理，忠实改编/创新改编/浓缩改编策略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橙星梦工厂："漫剧领域Cursor"，AI辅助+创作者控制权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1520" y="5468112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38378" y="5468112"/>
            <a:ext cx="6858" cy="36576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45236" y="5468112"/>
            <a:ext cx="6858" cy="36576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52094" y="5468112"/>
            <a:ext cx="6858" cy="36576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58952" y="5468112"/>
            <a:ext cx="6858" cy="36576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65810" y="5468112"/>
            <a:ext cx="6858" cy="36576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72668" y="5468112"/>
            <a:ext cx="6858" cy="36576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79526" y="5468112"/>
            <a:ext cx="6858" cy="3657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32688" y="5394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白日梦AI：文生视频专精，零基础，适合1-3分钟短视频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模块12 · 一站式平台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0"/>
            <a:ext cx="6400800" cy="6400800"/>
          </a:xfrm>
          <a:prstGeom prst="ellipse">
            <a:avLst/>
          </a:prstGeom>
          <a:solidFill>
            <a:srgbClr val="387A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2743200"/>
            <a:ext cx="4572000" cy="4572000"/>
          </a:xfrm>
          <a:prstGeom prst="ellipse">
            <a:avLst/>
          </a:prstGeom>
          <a:solidFill>
            <a:srgbClr val="60A5FA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1097280"/>
            <a:ext cx="720091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920490" y="1097280"/>
            <a:ext cx="720090" cy="3810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40580" y="1097280"/>
            <a:ext cx="720090" cy="3810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60670" y="1097280"/>
            <a:ext cx="720090" cy="3810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80760" y="1097280"/>
            <a:ext cx="720090" cy="3810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00850" y="1097280"/>
            <a:ext cx="720090" cy="3810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20940" y="1097280"/>
            <a:ext cx="720090" cy="3810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41030" y="1097280"/>
            <a:ext cx="72009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164592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先明确需求，再选平台；不确定就用360纳米试水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931920"/>
            <a:ext cx="26289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3931920"/>
            <a:ext cx="262890" cy="2540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3931920"/>
            <a:ext cx="262890" cy="2540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3931920"/>
            <a:ext cx="262890" cy="2540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3931920"/>
            <a:ext cx="262890" cy="2540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3931920"/>
            <a:ext cx="262890" cy="2540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3931920"/>
            <a:ext cx="262890" cy="2540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3931920"/>
            <a:ext cx="26289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297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快速出片选360纳米/白日梦AI；品质优先选有戏AI/Seko；长篇连载选Seko；创意控制选橙星梦工厂；IP驱动选漫剧助手；多平台分发选漫剧工场。一站式平台与专业工具可以混用，取长补短。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模块12 · 一站式平台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387A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60A5F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93C5F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◆  本模块实操任务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EE7B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" y="144475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144475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8096" y="144475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4672" y="144475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41248" y="144475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77824" y="144475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" y="144475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50976" y="144475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7552" y="144475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8872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45920" y="1371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注册360纳米和有戏AI账号，熟悉界面和核心功能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222199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1520" y="222199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68096" y="222199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4672" y="222199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41248" y="222199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77824" y="222199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400" y="222199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50976" y="222199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87552" y="222199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8872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45920" y="21488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用同一剧本在360纳米和有戏AI分别生成，对比效果差异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" y="299923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31520" y="299923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68096" y="299923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04672" y="299923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41248" y="299923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7824" y="299923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14400" y="299923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50976" y="299923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87552" y="299923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8872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645920" y="2926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在商汤Seko 2.0中创建系列项目，建立角色资产库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31520" y="377647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31520" y="377647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8096" y="377647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04672" y="377647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41248" y="377647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77824" y="377647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14400" y="377647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50976" y="377647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87552" y="377647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188720" y="3703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645920" y="3703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尝试平台+剪映的组合工作流，完成一集漫剧制作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31520" y="455371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31520" y="455371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8096" y="455371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4672" y="455371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41248" y="455371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77824" y="455371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14400" y="455371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50976" y="455371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87552" y="455371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88720" y="4480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645920" y="44805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撰写一份平台选型报告，说明你的选择理由和适用场景</a:t>
            </a:r>
          </a:p>
        </p:txBody>
      </p:sp>
      <p:sp>
        <p:nvSpPr>
          <p:cNvPr id="96" name="Rectangle 9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模块12 · 一站式平台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914400"/>
            <a:ext cx="6400800" cy="6400800"/>
          </a:xfrm>
          <a:prstGeom prst="ellipse">
            <a:avLst/>
          </a:prstGeom>
          <a:solidFill>
            <a:srgbClr val="387A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1371600"/>
            <a:ext cx="491491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06290" y="1371600"/>
            <a:ext cx="491490" cy="3810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97780" y="1371600"/>
            <a:ext cx="491490" cy="3810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9270" y="1371600"/>
            <a:ext cx="491490" cy="3810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80760" y="1371600"/>
            <a:ext cx="491490" cy="3810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72250" y="1371600"/>
            <a:ext cx="491490" cy="3810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63740" y="1371600"/>
            <a:ext cx="491490" cy="3810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55230" y="1371600"/>
            <a:ext cx="49149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387AFF"/>
                </a:solidFill>
                <a:latin typeface="Microsoft YaHei"/>
              </a:defRPr>
            </a:pPr>
            <a: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320040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本模块结束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4023360"/>
            <a:ext cx="26289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4023360"/>
            <a:ext cx="262890" cy="25400"/>
          </a:xfrm>
          <a:prstGeom prst="rect">
            <a:avLst/>
          </a:prstGeom>
          <a:solidFill>
            <a:srgbClr val="3D8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4023360"/>
            <a:ext cx="262890" cy="25400"/>
          </a:xfrm>
          <a:prstGeom prst="rect">
            <a:avLst/>
          </a:prstGeom>
          <a:solidFill>
            <a:srgbClr val="438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4023360"/>
            <a:ext cx="262890" cy="25400"/>
          </a:xfrm>
          <a:prstGeom prst="rect">
            <a:avLst/>
          </a:prstGeom>
          <a:solidFill>
            <a:srgbClr val="498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4023360"/>
            <a:ext cx="262890" cy="25400"/>
          </a:xfrm>
          <a:prstGeom prst="rect">
            <a:avLst/>
          </a:prstGeom>
          <a:solidFill>
            <a:srgbClr val="4E9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4023360"/>
            <a:ext cx="262890" cy="25400"/>
          </a:xfrm>
          <a:prstGeom prst="rect">
            <a:avLst/>
          </a:prstGeom>
          <a:solidFill>
            <a:srgbClr val="549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4023360"/>
            <a:ext cx="262890" cy="25400"/>
          </a:xfrm>
          <a:prstGeom prst="rect">
            <a:avLst/>
          </a:prstGeom>
          <a:solidFill>
            <a:srgbClr val="5A9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4023360"/>
            <a:ext cx="26289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8BAC8"/>
                </a:solidFill>
                <a:latin typeface="Microsoft YaHei"/>
              </a:defRPr>
            </a:pPr>
            <a:r>
              <a:t>下一模块：ComfyUI工作流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E7082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A855F7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2743200"/>
            <a:ext cx="5486400" cy="5486400"/>
          </a:xfrm>
          <a:prstGeom prst="ellipse">
            <a:avLst/>
          </a:prstGeom>
          <a:solidFill>
            <a:srgbClr val="C084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4572000"/>
            <a:ext cx="3657600" cy="3657600"/>
          </a:xfrm>
          <a:prstGeom prst="ellipse">
            <a:avLst/>
          </a:prstGeom>
          <a:solidFill>
            <a:srgbClr val="DDD6FE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0"/>
            <a:ext cx="182880" cy="685800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91440" cy="6858000"/>
          </a:xfrm>
          <a:prstGeom prst="rect">
            <a:avLst/>
          </a:prstGeom>
          <a:solidFill>
            <a:srgbClr val="6042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8016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5448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1031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774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8016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55448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8288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031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3774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2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58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8016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8288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1031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3774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7315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0" b="1">
                <a:solidFill>
                  <a:srgbClr val="FFFFFF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657600"/>
            <a:ext cx="1828800" cy="329184"/>
          </a:xfrm>
          <a:prstGeom prst="round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657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DD6FE"/>
                </a:solidFill>
                <a:latin typeface="Microsoft YaHei"/>
              </a:defRPr>
            </a:pPr>
            <a:r>
              <a:t>M O D U L 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114800"/>
            <a:ext cx="285751" cy="38100"/>
          </a:xfrm>
          <a:prstGeom prst="rect">
            <a:avLst/>
          </a:prstGeom>
          <a:solidFill>
            <a:srgbClr val="DDD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2950" y="4114800"/>
            <a:ext cx="285750" cy="38100"/>
          </a:xfrm>
          <a:prstGeom prst="rect">
            <a:avLst/>
          </a:prstGeom>
          <a:solidFill>
            <a:srgbClr val="D5C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28700" y="4114800"/>
            <a:ext cx="285750" cy="38100"/>
          </a:xfrm>
          <a:prstGeom prst="rect">
            <a:avLst/>
          </a:prstGeom>
          <a:solidFill>
            <a:srgbClr val="CDB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314450" y="4114800"/>
            <a:ext cx="285750" cy="38100"/>
          </a:xfrm>
          <a:prstGeom prst="rect">
            <a:avLst/>
          </a:prstGeom>
          <a:solidFill>
            <a:srgbClr val="C69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600200" y="4114800"/>
            <a:ext cx="285750" cy="38100"/>
          </a:xfrm>
          <a:prstGeom prst="rect">
            <a:avLst/>
          </a:prstGeom>
          <a:solidFill>
            <a:srgbClr val="BE8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885950" y="4114800"/>
            <a:ext cx="285750" cy="38100"/>
          </a:xfrm>
          <a:prstGeom prst="rect">
            <a:avLst/>
          </a:prstGeom>
          <a:solidFill>
            <a:srgbClr val="B7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171700" y="4114800"/>
            <a:ext cx="285750" cy="38100"/>
          </a:xfrm>
          <a:prstGeom prst="rect">
            <a:avLst/>
          </a:prstGeom>
          <a:solidFill>
            <a:srgbClr val="AF6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457450" y="4114800"/>
            <a:ext cx="285750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035040" y="1097280"/>
            <a:ext cx="5486400" cy="457200"/>
          </a:xfrm>
          <a:prstGeom prst="roundRect">
            <a:avLst/>
          </a:prstGeom>
          <a:solidFill>
            <a:srgbClr val="2A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DD6FE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20116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F0F5"/>
                </a:solidFill>
                <a:latin typeface="Microsoft YaHei"/>
              </a:defRPr>
            </a:pPr>
            <a:r>
              <a:t>模块13：ComfyUI工作流——专业创作者进阶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3840480"/>
            <a:ext cx="400051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5090" y="3840480"/>
            <a:ext cx="400050" cy="3810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835140" y="3840480"/>
            <a:ext cx="400050" cy="3810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35190" y="3840480"/>
            <a:ext cx="400050" cy="3810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635240" y="3840480"/>
            <a:ext cx="400050" cy="3810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35290" y="3840480"/>
            <a:ext cx="400050" cy="3810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435340" y="3840480"/>
            <a:ext cx="400050" cy="3810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35390" y="3840480"/>
            <a:ext cx="400050" cy="3810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35040" y="42062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8课时 · 掌握ComfyUI环境搭建、核心插件与角色一致性工作流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035040" y="5303520"/>
            <a:ext cx="5486400" cy="6400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722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855F7"/>
                </a:solidFill>
                <a:latin typeface="Microsoft YaHei"/>
              </a:defRPr>
            </a:pPr>
            <a:r>
              <a:t>124课时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609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438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855F7"/>
                </a:solidFill>
                <a:latin typeface="Microsoft YaHei"/>
              </a:defRPr>
            </a:pPr>
            <a:r>
              <a:t>17模块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7325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154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855F7"/>
                </a:solidFill>
                <a:latin typeface="Microsoft YaHei"/>
              </a:defRPr>
            </a:pPr>
            <a:r>
              <a:t>8-16周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1041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2870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855F7"/>
                </a:solidFill>
                <a:latin typeface="Microsoft YaHei"/>
              </a:defRPr>
            </a:pPr>
            <a:r>
              <a:t>全流程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155680" y="0"/>
            <a:ext cx="1036015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1978640" y="0"/>
            <a:ext cx="38100" cy="7315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521440" y="274320"/>
            <a:ext cx="137160" cy="137160"/>
          </a:xfrm>
          <a:prstGeom prst="ellipse">
            <a:avLst/>
          </a:prstGeom>
          <a:solidFill>
            <a:srgbClr val="DDD6FE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A855F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C08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§  本节内容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DDD6FE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31520" y="1397000"/>
            <a:ext cx="274320" cy="274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422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ComfyUI环境搭建</a:t>
            </a:r>
          </a:p>
        </p:txBody>
      </p:sp>
      <p:sp>
        <p:nvSpPr>
          <p:cNvPr id="44" name="Oval 43"/>
          <p:cNvSpPr/>
          <p:nvPr/>
        </p:nvSpPr>
        <p:spPr>
          <a:xfrm>
            <a:off x="731520" y="1963928"/>
            <a:ext cx="274320" cy="274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422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核心插件安装</a:t>
            </a:r>
          </a:p>
        </p:txBody>
      </p:sp>
      <p:sp>
        <p:nvSpPr>
          <p:cNvPr id="47" name="Oval 46"/>
          <p:cNvSpPr/>
          <p:nvPr/>
        </p:nvSpPr>
        <p:spPr>
          <a:xfrm>
            <a:off x="731520" y="2530856"/>
            <a:ext cx="274320" cy="274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422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文生图工作流</a:t>
            </a:r>
          </a:p>
        </p:txBody>
      </p:sp>
      <p:sp>
        <p:nvSpPr>
          <p:cNvPr id="50" name="Oval 49"/>
          <p:cNvSpPr/>
          <p:nvPr/>
        </p:nvSpPr>
        <p:spPr>
          <a:xfrm>
            <a:off x="731520" y="3097784"/>
            <a:ext cx="274320" cy="274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4220" y="30977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" y="307238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图生图工作流</a:t>
            </a:r>
          </a:p>
        </p:txBody>
      </p:sp>
      <p:sp>
        <p:nvSpPr>
          <p:cNvPr id="53" name="Oval 52"/>
          <p:cNvSpPr/>
          <p:nvPr/>
        </p:nvSpPr>
        <p:spPr>
          <a:xfrm>
            <a:off x="6400800" y="1397000"/>
            <a:ext cx="274320" cy="274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1350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ControlNet深度应用</a:t>
            </a:r>
          </a:p>
        </p:txBody>
      </p:sp>
      <p:sp>
        <p:nvSpPr>
          <p:cNvPr id="56" name="Oval 55"/>
          <p:cNvSpPr/>
          <p:nvPr/>
        </p:nvSpPr>
        <p:spPr>
          <a:xfrm>
            <a:off x="6400800" y="1963928"/>
            <a:ext cx="274320" cy="274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1350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角色一致性工作流</a:t>
            </a:r>
          </a:p>
        </p:txBody>
      </p:sp>
      <p:sp>
        <p:nvSpPr>
          <p:cNvPr id="59" name="Oval 58"/>
          <p:cNvSpPr/>
          <p:nvPr/>
        </p:nvSpPr>
        <p:spPr>
          <a:xfrm>
            <a:off x="6400800" y="2530856"/>
            <a:ext cx="274320" cy="274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1350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6656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Z-Comics漫画工作流</a:t>
            </a:r>
          </a:p>
        </p:txBody>
      </p:sp>
      <p:sp>
        <p:nvSpPr>
          <p:cNvPr id="62" name="Oval 61"/>
          <p:cNvSpPr/>
          <p:nvPr/>
        </p:nvSpPr>
        <p:spPr>
          <a:xfrm>
            <a:off x="6400800" y="3097784"/>
            <a:ext cx="274320" cy="274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13500" y="30977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66560" y="307238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实战项目——搭建完整工作流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模块13 · ComfyUI工作流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A855F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C08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ComfyUI——节点式工作流引擎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DDD6FE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基于节点的Stable Diffusion图形界面，完全可定制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核心优势：可视化节点连接、工作流可复用、插件生态丰富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vs 传统WebUI：ComfyUI更灵活更强大，适合复杂任务和批量生产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支持工作流保存/加载/分享，实现生产级自动化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入门门槛较高，但上限远超传统界面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1520" y="5468112"/>
            <a:ext cx="6859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38378" y="5468112"/>
            <a:ext cx="6858" cy="36576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45236" y="5468112"/>
            <a:ext cx="6858" cy="36576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52094" y="5468112"/>
            <a:ext cx="6858" cy="36576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58952" y="5468112"/>
            <a:ext cx="6858" cy="36576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65810" y="5468112"/>
            <a:ext cx="6858" cy="36576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72668" y="5468112"/>
            <a:ext cx="6858" cy="36576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79526" y="5468112"/>
            <a:ext cx="6858" cy="36576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32688" y="5394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专业创作者的首选工具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模块13 · ComfyUI工作流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A855F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C08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ComfyUI硬件配置要求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DDD6FE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48640" y="1280160"/>
          <a:ext cx="110642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配置项</a:t>
                      </a:r>
                    </a:p>
                  </a:txBody>
                  <a:tcPr anchor="ctr"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最低要求</a:t>
                      </a:r>
                    </a:p>
                  </a:txBody>
                  <a:tcPr anchor="ctr"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推荐配置</a:t>
                      </a:r>
                    </a:p>
                  </a:txBody>
                  <a:tcPr anchor="ctr">
                    <a:solidFill>
                      <a:srgbClr val="A85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显卡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NVIDIA 8GB VRAM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NVIDIA 12GB+ VRAM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内存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16GB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32GB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硬盘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50GB可用空间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100GB+ SSD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Python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3.10+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3.10.x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操作系统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Windows 10 / Linux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Windows 11 / Ubuntu 22.04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模块13 · ComfyUI工作流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A855F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C08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必装核心插件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DDD6FE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ComfyUI Manager：插件管理器，一键安装/更新/卸载插件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IP-Adapter Plus：图像特征注入，实现角色一致性（核心！）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ControlNet：骨骼/边缘/深度精准控制，OpenPose/Canny/Depth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ADetailer：面部检测和自动修复，阈值0.3，重渲染0.4-0.6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FaceRestore：面部重建修复，使用GFPGAN/CodeFormer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1520" y="5468112"/>
            <a:ext cx="6859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38378" y="5468112"/>
            <a:ext cx="6858" cy="36576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45236" y="5468112"/>
            <a:ext cx="6858" cy="36576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52094" y="5468112"/>
            <a:ext cx="6858" cy="36576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58952" y="5468112"/>
            <a:ext cx="6858" cy="36576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65810" y="5468112"/>
            <a:ext cx="6858" cy="36576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72668" y="5468112"/>
            <a:ext cx="6858" cy="36576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79526" y="5468112"/>
            <a:ext cx="6858" cy="36576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32688" y="5394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Inspire Pack：工具集，提示词调度、批处理、区域条件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模块13 · ComfyUI工作流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A855F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C08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文生图工作流搭建步骤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DDD6FE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Load Checkpoint → 加载SDXL基础模型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1371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221992"/>
            <a:ext cx="6859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8378" y="2221992"/>
            <a:ext cx="6858" cy="36576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45236" y="2221992"/>
            <a:ext cx="6858" cy="36576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2094" y="2221992"/>
            <a:ext cx="6858" cy="36576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58952" y="2221992"/>
            <a:ext cx="6858" cy="36576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65810" y="2221992"/>
            <a:ext cx="6858" cy="36576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2668" y="2221992"/>
            <a:ext cx="6858" cy="36576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79526" y="2221992"/>
            <a:ext cx="6858" cy="36576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2688" y="2148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CLIP Text Encode → 编写正向/负向提示词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21488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" y="2999232"/>
            <a:ext cx="6859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38378" y="2999232"/>
            <a:ext cx="6858" cy="36576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45236" y="2999232"/>
            <a:ext cx="6858" cy="36576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52094" y="2999232"/>
            <a:ext cx="6858" cy="36576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58952" y="2999232"/>
            <a:ext cx="6858" cy="36576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65810" y="2999232"/>
            <a:ext cx="6858" cy="36576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72668" y="2999232"/>
            <a:ext cx="6858" cy="36576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79526" y="2999232"/>
            <a:ext cx="6858" cy="36576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2688" y="2926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Empty Latent Image → 设置输出尺寸（1024×1024）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1520" y="3776472"/>
            <a:ext cx="6859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8378" y="3776472"/>
            <a:ext cx="6858" cy="36576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45236" y="3776472"/>
            <a:ext cx="6858" cy="36576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52094" y="3776472"/>
            <a:ext cx="6858" cy="36576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58952" y="3776472"/>
            <a:ext cx="6858" cy="36576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5810" y="3776472"/>
            <a:ext cx="6858" cy="36576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72668" y="3776472"/>
            <a:ext cx="6858" cy="36576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79526" y="3776472"/>
            <a:ext cx="6858" cy="36576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32688" y="3703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KSampler → 设置Steps:30, CFG:7, Sampler:euler_a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" y="3703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1520" y="4553712"/>
            <a:ext cx="6859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8378" y="4553712"/>
            <a:ext cx="6858" cy="36576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5236" y="4553712"/>
            <a:ext cx="6858" cy="36576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2094" y="4553712"/>
            <a:ext cx="6858" cy="36576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8952" y="4553712"/>
            <a:ext cx="6858" cy="36576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5810" y="4553712"/>
            <a:ext cx="6858" cy="36576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2668" y="4553712"/>
            <a:ext cx="6858" cy="36576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9526" y="4553712"/>
            <a:ext cx="6858" cy="36576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32688" y="4480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VAE Decode → 解码潜空间为图像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1520" y="4480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31520" y="5330952"/>
            <a:ext cx="6859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38378" y="5330952"/>
            <a:ext cx="6858" cy="36576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45236" y="5330952"/>
            <a:ext cx="6858" cy="36576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52094" y="5330952"/>
            <a:ext cx="6858" cy="36576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58952" y="5330952"/>
            <a:ext cx="6858" cy="36576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65810" y="5330952"/>
            <a:ext cx="6858" cy="36576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72668" y="5330952"/>
            <a:ext cx="6858" cy="36576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79526" y="5330952"/>
            <a:ext cx="6858" cy="36576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32688" y="5257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Save Image → 保存输出结果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31520" y="5257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模块13 · ComfyUI工作流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A855F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C08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文生图核心参数调优指南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DDD6FE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48640" y="1280160"/>
          <a:ext cx="110642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参数</a:t>
                      </a:r>
                    </a:p>
                  </a:txBody>
                  <a:tcPr anchor="ctr"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推荐值</a:t>
                      </a:r>
                    </a:p>
                  </a:txBody>
                  <a:tcPr anchor="ctr"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效果说明</a:t>
                      </a:r>
                    </a:p>
                  </a:txBody>
                  <a:tcPr anchor="ctr">
                    <a:solidFill>
                      <a:srgbClr val="A85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Steps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25-30（日常）/ 35-40（精品）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采样步数，越多越精细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CFG Scale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7-9（推荐）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提示词遵循度，过高过饱和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Sampler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euler_a / dpmpp_2m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采样器类型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Seed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-1（随机）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随机种子，-1为随机生成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尺寸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1024×1024（SDXL）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输出图像尺寸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模块13 · ComfyUI工作流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A855F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C08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ControlNet精准控制类型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DDD6FE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OpenPose：骨骼姿态控制，精准控制人物动作和姿势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Canny：边缘线条控制，适合建筑、物体轮廓控制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Depth：深度图控制，管理空间关系和前后景层次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Scribble：手绘线稿控制，从草图生成精细画面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多ControlNet叠加：OpenPose+Canny（姿态+轮廓）推荐度最高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1520" y="5468112"/>
            <a:ext cx="6859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38378" y="5468112"/>
            <a:ext cx="6858" cy="36576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45236" y="5468112"/>
            <a:ext cx="6858" cy="36576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52094" y="5468112"/>
            <a:ext cx="6858" cy="36576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58952" y="5468112"/>
            <a:ext cx="6858" cy="36576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65810" y="5468112"/>
            <a:ext cx="6858" cy="36576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72668" y="5468112"/>
            <a:ext cx="6858" cy="36576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79526" y="5468112"/>
            <a:ext cx="6858" cy="36576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32688" y="5394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强度建议：0.5-0.7，过高会锁死细节缺乏创意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模块13 · ComfyUI工作流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0"/>
            <a:ext cx="6400800" cy="6400800"/>
          </a:xfrm>
          <a:prstGeom prst="ellipse">
            <a:avLst/>
          </a:prstGeom>
          <a:solidFill>
            <a:srgbClr val="A855F7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2743200"/>
            <a:ext cx="4572000" cy="4572000"/>
          </a:xfrm>
          <a:prstGeom prst="ellipse">
            <a:avLst/>
          </a:prstGeom>
          <a:solidFill>
            <a:srgbClr val="C084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1097280"/>
            <a:ext cx="720091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920490" y="1097280"/>
            <a:ext cx="720090" cy="3810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40580" y="1097280"/>
            <a:ext cx="720090" cy="3810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60670" y="1097280"/>
            <a:ext cx="720090" cy="3810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80760" y="1097280"/>
            <a:ext cx="720090" cy="3810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00850" y="1097280"/>
            <a:ext cx="720090" cy="3810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20940" y="1097280"/>
            <a:ext cx="720090" cy="3810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41030" y="1097280"/>
            <a:ext cx="720090" cy="3810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164592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IP-Adapter FaceID + LoRA + ADetailer = 角色一致性三件套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931920"/>
            <a:ext cx="262891" cy="25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3931920"/>
            <a:ext cx="262890" cy="2540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3931920"/>
            <a:ext cx="262890" cy="2540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3931920"/>
            <a:ext cx="262890" cy="2540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3931920"/>
            <a:ext cx="262890" cy="2540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3931920"/>
            <a:ext cx="262890" cy="2540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3931920"/>
            <a:ext cx="262890" cy="2540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3931920"/>
            <a:ext cx="262890" cy="2540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297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IP-Adapter FaceID注入面部特征（权重0.7-0.85）；LoRA角色专属模型锁定角色特征（权重0.6-0.8）；ADetailer面部检测修复确保面部质量（阈值0.3，重渲染0.5）。三者配合实现跨场景、跨镜头的角色高度一致。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模块13 · ComfyUI工作流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A855F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C08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ComfyUI核心工作流速查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DDD6FE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文生图：Checkpoint + CLIP + KSampler → 通用图像生成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图生图：Load Image + VAE Encode + KSampler → 基于参考图生成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角色一致性：IP-Adapter + LoRA + ADetailer → 角色一致图片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姿态控制：OpenPose + ControlNet → 人物动作精准控制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局部重绘：Inpaint + Mask + KSampler → 局部修改/修复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1520" y="5468112"/>
            <a:ext cx="6859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38378" y="5468112"/>
            <a:ext cx="6858" cy="36576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45236" y="5468112"/>
            <a:ext cx="6858" cy="36576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52094" y="5468112"/>
            <a:ext cx="6858" cy="36576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58952" y="5468112"/>
            <a:ext cx="6858" cy="36576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65810" y="5468112"/>
            <a:ext cx="6858" cy="36576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72668" y="5468112"/>
            <a:ext cx="6858" cy="36576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79526" y="5468112"/>
            <a:ext cx="6858" cy="36576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32688" y="5394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漫画生成：Z-Comics + 批量节点 → 多格漫画批量生成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模块13 · ComfyUI工作流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A855F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C08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DDD6F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◆  本模块实操任务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EE7B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" y="144475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144475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8096" y="144475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4672" y="144475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41248" y="144475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77824" y="144475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" y="144475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50976" y="144475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7552" y="144475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8872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45920" y="1371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完成ComfyUI环境搭建，安装ComfyUI Manager和3个核心插件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222199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1520" y="222199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68096" y="222199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4672" y="222199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41248" y="222199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77824" y="222199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400" y="222199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50976" y="222199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87552" y="222199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8872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45920" y="21488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搭建文生图工作流，使用不同提示词和参数生成10张图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" y="299923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31520" y="299923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68096" y="299923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04672" y="299923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41248" y="299923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7824" y="299923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14400" y="299923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50976" y="299923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87552" y="299923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8872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645920" y="2926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使用OpenPose ControlNet控制人物姿态，生成5张动作图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31520" y="377647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31520" y="377647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8096" y="377647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04672" y="377647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41248" y="377647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77824" y="377647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14400" y="377647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50976" y="377647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87552" y="377647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188720" y="3703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645920" y="3703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搭建完整角色一致性工作流，生成同一角色在5个不同场景的图片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31520" y="455371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31520" y="455371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8096" y="455371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4672" y="455371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41248" y="455371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77824" y="455371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14400" y="455371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50976" y="455371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87552" y="455371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88720" y="4480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645920" y="44805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从零搭建包含IP-Adapter+LoRA+ControlNet+ADetailer的完整工作流</a:t>
            </a:r>
          </a:p>
        </p:txBody>
      </p:sp>
      <p:sp>
        <p:nvSpPr>
          <p:cNvPr id="96" name="Rectangle 9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模块13 · ComfyUI工作流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914400"/>
            <a:ext cx="6400800" cy="6400800"/>
          </a:xfrm>
          <a:prstGeom prst="ellipse">
            <a:avLst/>
          </a:prstGeom>
          <a:solidFill>
            <a:srgbClr val="A855F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1371600"/>
            <a:ext cx="491491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06290" y="1371600"/>
            <a:ext cx="491490" cy="3810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97780" y="1371600"/>
            <a:ext cx="491490" cy="3810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9270" y="1371600"/>
            <a:ext cx="491490" cy="3810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80760" y="1371600"/>
            <a:ext cx="491490" cy="3810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72250" y="1371600"/>
            <a:ext cx="491490" cy="3810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63740" y="1371600"/>
            <a:ext cx="491490" cy="3810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55230" y="1371600"/>
            <a:ext cx="491490" cy="3810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A855F7"/>
                </a:solidFill>
                <a:latin typeface="Microsoft YaHei"/>
              </a:defRPr>
            </a:pPr>
            <a: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320040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本模块结束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4023360"/>
            <a:ext cx="262891" cy="25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4023360"/>
            <a:ext cx="262890" cy="25400"/>
          </a:xfrm>
          <a:prstGeom prst="rect">
            <a:avLst/>
          </a:prstGeom>
          <a:solidFill>
            <a:srgbClr val="AB5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4023360"/>
            <a:ext cx="262890" cy="25400"/>
          </a:xfrm>
          <a:prstGeom prst="rect">
            <a:avLst/>
          </a:prstGeom>
          <a:solidFill>
            <a:srgbClr val="AE6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4023360"/>
            <a:ext cx="262890" cy="25400"/>
          </a:xfrm>
          <a:prstGeom prst="rect">
            <a:avLst/>
          </a:prstGeom>
          <a:solidFill>
            <a:srgbClr val="B26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4023360"/>
            <a:ext cx="262890" cy="25400"/>
          </a:xfrm>
          <a:prstGeom prst="rect">
            <a:avLst/>
          </a:prstGeom>
          <a:solidFill>
            <a:srgbClr val="B56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4023360"/>
            <a:ext cx="262890" cy="25400"/>
          </a:xfrm>
          <a:prstGeom prst="rect">
            <a:avLst/>
          </a:prstGeom>
          <a:solidFill>
            <a:srgbClr val="B97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4023360"/>
            <a:ext cx="262890" cy="25400"/>
          </a:xfrm>
          <a:prstGeom prst="rect">
            <a:avLst/>
          </a:prstGeom>
          <a:solidFill>
            <a:srgbClr val="BC7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4023360"/>
            <a:ext cx="262890" cy="25400"/>
          </a:xfrm>
          <a:prstGeom prst="rect">
            <a:avLst/>
          </a:prstGeom>
          <a:solidFill>
            <a:srgbClr val="C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8BAC8"/>
                </a:solidFill>
                <a:latin typeface="Microsoft YaHei"/>
              </a:defRPr>
            </a:pPr>
            <a:r>
              <a:t>下一模块：工业化生产与团队协作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E7082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64748B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2743200"/>
            <a:ext cx="5486400" cy="5486400"/>
          </a:xfrm>
          <a:prstGeom prst="ellipse">
            <a:avLst/>
          </a:prstGeom>
          <a:solidFill>
            <a:srgbClr val="94A3B8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4572000"/>
            <a:ext cx="3657600" cy="3657600"/>
          </a:xfrm>
          <a:prstGeom prst="ellipse">
            <a:avLst/>
          </a:prstGeom>
          <a:solidFill>
            <a:srgbClr val="CBD5E1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0"/>
            <a:ext cx="182880" cy="68580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91440" cy="6858000"/>
          </a:xfrm>
          <a:prstGeom prst="rect">
            <a:avLst/>
          </a:prstGeom>
          <a:solidFill>
            <a:srgbClr val="4A5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8016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5448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1031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774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8016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55448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8288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031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3774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2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58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8016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8288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1031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3774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7315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0" b="1">
                <a:solidFill>
                  <a:srgbClr val="FFFFFF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657600"/>
            <a:ext cx="1828800" cy="329184"/>
          </a:xfrm>
          <a:prstGeom prst="round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657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Microsoft YaHei"/>
              </a:defRPr>
            </a:pPr>
            <a:r>
              <a:t>M O D U L 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114800"/>
            <a:ext cx="285751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2950" y="4114800"/>
            <a:ext cx="285750" cy="38100"/>
          </a:xfrm>
          <a:prstGeom prst="rect">
            <a:avLst/>
          </a:prstGeom>
          <a:solidFill>
            <a:srgbClr val="BCC7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28700" y="4114800"/>
            <a:ext cx="285750" cy="38100"/>
          </a:xfrm>
          <a:prstGeom prst="rect">
            <a:avLst/>
          </a:prstGeom>
          <a:solidFill>
            <a:srgbClr val="ADB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314450" y="4114800"/>
            <a:ext cx="285750" cy="38100"/>
          </a:xfrm>
          <a:prstGeom prst="rect">
            <a:avLst/>
          </a:prstGeom>
          <a:solidFill>
            <a:srgbClr val="9EAB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600200" y="4114800"/>
            <a:ext cx="285750" cy="38100"/>
          </a:xfrm>
          <a:prstGeom prst="rect">
            <a:avLst/>
          </a:prstGeom>
          <a:solidFill>
            <a:srgbClr val="909D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885950" y="4114800"/>
            <a:ext cx="285750" cy="38100"/>
          </a:xfrm>
          <a:prstGeom prst="rect">
            <a:avLst/>
          </a:prstGeom>
          <a:solidFill>
            <a:srgbClr val="81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171700" y="4114800"/>
            <a:ext cx="285750" cy="38100"/>
          </a:xfrm>
          <a:prstGeom prst="rect">
            <a:avLst/>
          </a:prstGeom>
          <a:solidFill>
            <a:srgbClr val="72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457450" y="4114800"/>
            <a:ext cx="285750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035040" y="1097280"/>
            <a:ext cx="5486400" cy="457200"/>
          </a:xfrm>
          <a:prstGeom prst="round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20116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F0F5"/>
                </a:solidFill>
                <a:latin typeface="Microsoft YaHei"/>
              </a:defRPr>
            </a:pPr>
            <a:r>
              <a:t>模块14：工业化生产流程与团队协作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3840480"/>
            <a:ext cx="400051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5090" y="3840480"/>
            <a:ext cx="400050" cy="381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835140" y="3840480"/>
            <a:ext cx="400050" cy="381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35190" y="3840480"/>
            <a:ext cx="400050" cy="381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635240" y="3840480"/>
            <a:ext cx="400050" cy="381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35290" y="3840480"/>
            <a:ext cx="400050" cy="381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435340" y="3840480"/>
            <a:ext cx="400050" cy="381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35390" y="3840480"/>
            <a:ext cx="400050" cy="381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35040" y="42062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6课时 · 从个人创作到团队协作，建立可持续的规模化生产能力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035040" y="5303520"/>
            <a:ext cx="5486400" cy="6400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722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  <a:latin typeface="Microsoft YaHei"/>
              </a:defRPr>
            </a:pPr>
            <a:r>
              <a:t>124课时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609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438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  <a:latin typeface="Microsoft YaHei"/>
              </a:defRPr>
            </a:pPr>
            <a:r>
              <a:t>17模块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7325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154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  <a:latin typeface="Microsoft YaHei"/>
              </a:defRPr>
            </a:pPr>
            <a:r>
              <a:t>8-16周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1041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2870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  <a:latin typeface="Microsoft YaHei"/>
              </a:defRPr>
            </a:pPr>
            <a:r>
              <a:t>全流程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155680" y="0"/>
            <a:ext cx="1036015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1978640" y="0"/>
            <a:ext cx="38100" cy="7315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521440" y="274320"/>
            <a:ext cx="137160" cy="137160"/>
          </a:xfrm>
          <a:prstGeom prst="ellipse">
            <a:avLst/>
          </a:prstGeom>
          <a:solidFill>
            <a:srgbClr val="CBD5E1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64748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94A3B8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§  本节内容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CBD5E1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31520" y="1397000"/>
            <a:ext cx="274320" cy="27432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422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五步流水线详解</a:t>
            </a:r>
          </a:p>
        </p:txBody>
      </p:sp>
      <p:sp>
        <p:nvSpPr>
          <p:cNvPr id="44" name="Oval 43"/>
          <p:cNvSpPr/>
          <p:nvPr/>
        </p:nvSpPr>
        <p:spPr>
          <a:xfrm>
            <a:off x="731520" y="1963928"/>
            <a:ext cx="274320" cy="27432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422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"极速流"工作流——1小时产出一集</a:t>
            </a:r>
          </a:p>
        </p:txBody>
      </p:sp>
      <p:sp>
        <p:nvSpPr>
          <p:cNvPr id="47" name="Oval 46"/>
          <p:cNvSpPr/>
          <p:nvPr/>
        </p:nvSpPr>
        <p:spPr>
          <a:xfrm>
            <a:off x="731520" y="2530856"/>
            <a:ext cx="274320" cy="27432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422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"精品IP流"工作流——15-30天打造精品</a:t>
            </a:r>
          </a:p>
        </p:txBody>
      </p:sp>
      <p:sp>
        <p:nvSpPr>
          <p:cNvPr id="50" name="Oval 49"/>
          <p:cNvSpPr/>
          <p:nvPr/>
        </p:nvSpPr>
        <p:spPr>
          <a:xfrm>
            <a:off x="6400800" y="1397000"/>
            <a:ext cx="274320" cy="27432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1350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团队架构设计——"1+4+2"模式</a:t>
            </a:r>
          </a:p>
        </p:txBody>
      </p:sp>
      <p:sp>
        <p:nvSpPr>
          <p:cNvPr id="53" name="Oval 52"/>
          <p:cNvSpPr/>
          <p:nvPr/>
        </p:nvSpPr>
        <p:spPr>
          <a:xfrm>
            <a:off x="6400800" y="1963928"/>
            <a:ext cx="274320" cy="27432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1350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资产库与剧情体系双轮驱动</a:t>
            </a:r>
          </a:p>
        </p:txBody>
      </p:sp>
      <p:sp>
        <p:nvSpPr>
          <p:cNvPr id="56" name="Oval 55"/>
          <p:cNvSpPr/>
          <p:nvPr/>
        </p:nvSpPr>
        <p:spPr>
          <a:xfrm>
            <a:off x="6400800" y="2530856"/>
            <a:ext cx="274320" cy="27432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1350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抽卡策略与成本控制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模块14 · 工业化生产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64748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94A3B8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§️  §️ AI漫剧工业化流水线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CBD5E1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4400" y="3200400"/>
            <a:ext cx="1291591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205990" y="3200400"/>
            <a:ext cx="1291590" cy="381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497580" y="3200400"/>
            <a:ext cx="1291590" cy="381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789170" y="3200400"/>
            <a:ext cx="1291590" cy="381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80760" y="3200400"/>
            <a:ext cx="1291590" cy="381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72350" y="3200400"/>
            <a:ext cx="1291590" cy="381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663940" y="3200400"/>
            <a:ext cx="1291590" cy="381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955530" y="3200400"/>
            <a:ext cx="1291590" cy="381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234440" y="3108960"/>
            <a:ext cx="201168" cy="201168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261872" y="3136392"/>
            <a:ext cx="146304" cy="146304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4400" y="26060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4748B"/>
                </a:solidFill>
                <a:latin typeface="Microsoft YaHei"/>
              </a:defRPr>
            </a:pPr>
            <a:r>
              <a:t>创意输入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68680" y="1463040"/>
            <a:ext cx="1371600" cy="10972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68680" y="1463040"/>
            <a:ext cx="171451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40130" y="1463040"/>
            <a:ext cx="171450" cy="381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211580" y="1463040"/>
            <a:ext cx="171450" cy="381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383030" y="1463040"/>
            <a:ext cx="171450" cy="381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554480" y="1463040"/>
            <a:ext cx="171450" cy="381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725930" y="1463040"/>
            <a:ext cx="171450" cy="381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897380" y="1463040"/>
            <a:ext cx="171450" cy="381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068830" y="1463040"/>
            <a:ext cx="171450" cy="381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60120" y="1600200"/>
            <a:ext cx="1188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8BAC8"/>
                </a:solidFill>
                <a:latin typeface="Microsoft YaHei"/>
              </a:defRPr>
            </a:pPr>
            <a:r>
              <a:t>剧本/选题/IP构思</a:t>
            </a:r>
            <a:br/>
            <a:r>
              <a:t>占比10%</a:t>
            </a:r>
          </a:p>
        </p:txBody>
      </p:sp>
      <p:sp>
        <p:nvSpPr>
          <p:cNvPr id="62" name="Oval 61"/>
          <p:cNvSpPr/>
          <p:nvPr/>
        </p:nvSpPr>
        <p:spPr>
          <a:xfrm>
            <a:off x="3300984" y="3108960"/>
            <a:ext cx="201168" cy="201168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3328416" y="3136392"/>
            <a:ext cx="146304" cy="146304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980944" y="26060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4748B"/>
                </a:solidFill>
                <a:latin typeface="Microsoft YaHei"/>
              </a:defRPr>
            </a:pPr>
            <a:r>
              <a:t>AI生成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935224" y="3657600"/>
            <a:ext cx="1371600" cy="10972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935224" y="3657600"/>
            <a:ext cx="171451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106674" y="3657600"/>
            <a:ext cx="171450" cy="381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278124" y="3657600"/>
            <a:ext cx="171450" cy="381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449574" y="3657600"/>
            <a:ext cx="171450" cy="381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621024" y="3657600"/>
            <a:ext cx="171450" cy="381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792474" y="3657600"/>
            <a:ext cx="171450" cy="381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963924" y="3657600"/>
            <a:ext cx="171450" cy="381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135374" y="3657600"/>
            <a:ext cx="171450" cy="381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26664" y="3794760"/>
            <a:ext cx="1188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8BAC8"/>
                </a:solidFill>
                <a:latin typeface="Microsoft YaHei"/>
              </a:defRPr>
            </a:pPr>
            <a:r>
              <a:t>分镜/图像/视频/音频</a:t>
            </a:r>
            <a:br/>
            <a:r>
              <a:t>占比50%</a:t>
            </a:r>
          </a:p>
        </p:txBody>
      </p:sp>
      <p:sp>
        <p:nvSpPr>
          <p:cNvPr id="75" name="Oval 74"/>
          <p:cNvSpPr/>
          <p:nvPr/>
        </p:nvSpPr>
        <p:spPr>
          <a:xfrm>
            <a:off x="5367528" y="3108960"/>
            <a:ext cx="201168" cy="201168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5394960" y="3136392"/>
            <a:ext cx="146304" cy="146304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047488" y="26060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4748B"/>
                </a:solidFill>
                <a:latin typeface="Microsoft YaHei"/>
              </a:defRPr>
            </a:pPr>
            <a:r>
              <a:t>人工优化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001768" y="1463040"/>
            <a:ext cx="1371600" cy="10972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001768" y="1463040"/>
            <a:ext cx="171451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173218" y="1463040"/>
            <a:ext cx="171450" cy="381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344668" y="1463040"/>
            <a:ext cx="171450" cy="381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5516118" y="1463040"/>
            <a:ext cx="171450" cy="381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687568" y="1463040"/>
            <a:ext cx="171450" cy="381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5859018" y="1463040"/>
            <a:ext cx="171450" cy="381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030468" y="1463040"/>
            <a:ext cx="171450" cy="381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201918" y="1463040"/>
            <a:ext cx="171450" cy="381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093208" y="1600200"/>
            <a:ext cx="1188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8BAC8"/>
                </a:solidFill>
                <a:latin typeface="Microsoft YaHei"/>
              </a:defRPr>
            </a:pPr>
            <a:r>
              <a:t>画面精修/视频修复</a:t>
            </a:r>
            <a:br/>
            <a:r>
              <a:t>占比25%</a:t>
            </a:r>
          </a:p>
        </p:txBody>
      </p:sp>
      <p:sp>
        <p:nvSpPr>
          <p:cNvPr id="88" name="Oval 87"/>
          <p:cNvSpPr/>
          <p:nvPr/>
        </p:nvSpPr>
        <p:spPr>
          <a:xfrm>
            <a:off x="7434072" y="3108960"/>
            <a:ext cx="201168" cy="201168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7461504" y="3136392"/>
            <a:ext cx="146304" cy="146304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114032" y="26060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4748B"/>
                </a:solidFill>
                <a:latin typeface="Microsoft YaHei"/>
              </a:defRPr>
            </a:pPr>
            <a:r>
              <a:t>质量审核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7068312" y="3657600"/>
            <a:ext cx="1371600" cy="10972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068312" y="3657600"/>
            <a:ext cx="171451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239762" y="3657600"/>
            <a:ext cx="171450" cy="381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411212" y="3657600"/>
            <a:ext cx="171450" cy="381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582662" y="3657600"/>
            <a:ext cx="171450" cy="381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754112" y="3657600"/>
            <a:ext cx="171450" cy="381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925562" y="3657600"/>
            <a:ext cx="171450" cy="381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097012" y="3657600"/>
            <a:ext cx="171450" cy="381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268462" y="3657600"/>
            <a:ext cx="171450" cy="381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159752" y="3794760"/>
            <a:ext cx="1188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8BAC8"/>
                </a:solidFill>
                <a:latin typeface="Microsoft YaHei"/>
              </a:defRPr>
            </a:pPr>
            <a:r>
              <a:t>一致性/节奏/同步</a:t>
            </a:r>
            <a:br/>
            <a:r>
              <a:t>占比10%</a:t>
            </a:r>
          </a:p>
        </p:txBody>
      </p:sp>
      <p:sp>
        <p:nvSpPr>
          <p:cNvPr id="101" name="Oval 100"/>
          <p:cNvSpPr/>
          <p:nvPr/>
        </p:nvSpPr>
        <p:spPr>
          <a:xfrm>
            <a:off x="9500616" y="3108960"/>
            <a:ext cx="201168" cy="201168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9528048" y="3136392"/>
            <a:ext cx="146304" cy="146304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180576" y="26060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4748B"/>
                </a:solidFill>
                <a:latin typeface="Microsoft YaHei"/>
              </a:defRPr>
            </a:pPr>
            <a:r>
              <a:t>成片输出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9134856" y="1463040"/>
            <a:ext cx="1371600" cy="10972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134856" y="1463040"/>
            <a:ext cx="171451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06306" y="1463040"/>
            <a:ext cx="171450" cy="381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77756" y="1463040"/>
            <a:ext cx="171450" cy="381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649206" y="1463040"/>
            <a:ext cx="171450" cy="381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820656" y="1463040"/>
            <a:ext cx="171450" cy="381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992106" y="1463040"/>
            <a:ext cx="171450" cy="381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0163556" y="1463040"/>
            <a:ext cx="171450" cy="381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335006" y="1463040"/>
            <a:ext cx="171450" cy="381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226296" y="1600200"/>
            <a:ext cx="1188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8BAC8"/>
                </a:solidFill>
                <a:latin typeface="Microsoft YaHei"/>
              </a:defRPr>
            </a:pPr>
            <a:r>
              <a:t>剪辑/配音/分发</a:t>
            </a:r>
            <a:br/>
            <a:r>
              <a:t>占比5%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模块14 · 工业化生产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64748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94A3B8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AI漫剧工业化五步流水线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CBD5E1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创意输入（10%）→ 剧本、选题、IP构思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AI生成（50%）→ 分镜、图像、视频、音频生成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人工优化（25%）→ 画面精修、视频修复、音频调整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质量审核（10%）→ 一致性、节奏、音画同步检查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成片输出（5%）→ 剪辑、配音、分发发布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模块14 · 工业化生产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64748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94A3B8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极速流 vs 精品IP流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CBD5E1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720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1371600"/>
            <a:ext cx="668656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25855" y="1371600"/>
            <a:ext cx="668655" cy="381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794510" y="1371600"/>
            <a:ext cx="668655" cy="381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463165" y="1371600"/>
            <a:ext cx="668655" cy="381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131820" y="1371600"/>
            <a:ext cx="668655" cy="381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00475" y="1371600"/>
            <a:ext cx="668655" cy="381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469130" y="1371600"/>
            <a:ext cx="668655" cy="381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137785" y="1371600"/>
            <a:ext cx="668655" cy="381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4748B"/>
                </a:solidFill>
                <a:latin typeface="Microsoft YaHei"/>
              </a:defRPr>
            </a:pPr>
            <a:r>
              <a:t>极速流（1小时/集）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103120"/>
            <a:ext cx="205741" cy="25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37260" y="2103120"/>
            <a:ext cx="205740" cy="254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43000" y="2103120"/>
            <a:ext cx="205740" cy="254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348740" y="2103120"/>
            <a:ext cx="205740" cy="254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554480" y="2103120"/>
            <a:ext cx="205740" cy="254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60220" y="2103120"/>
            <a:ext cx="205740" cy="254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965960" y="2103120"/>
            <a:ext cx="205740" cy="254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171700" y="2103120"/>
            <a:ext cx="205740" cy="254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31520" y="2386584"/>
            <a:ext cx="146304" cy="146304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584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适用：热点追踪、日更、测试市场</a:t>
            </a:r>
          </a:p>
        </p:txBody>
      </p:sp>
      <p:sp>
        <p:nvSpPr>
          <p:cNvPr id="61" name="Oval 60"/>
          <p:cNvSpPr/>
          <p:nvPr/>
        </p:nvSpPr>
        <p:spPr>
          <a:xfrm>
            <a:off x="731520" y="2916936"/>
            <a:ext cx="146304" cy="146304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584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模板化分镜（8镜头固定模板）</a:t>
            </a:r>
          </a:p>
        </p:txBody>
      </p:sp>
      <p:sp>
        <p:nvSpPr>
          <p:cNvPr id="63" name="Oval 62"/>
          <p:cNvSpPr/>
          <p:nvPr/>
        </p:nvSpPr>
        <p:spPr>
          <a:xfrm>
            <a:off x="731520" y="3447288"/>
            <a:ext cx="146304" cy="146304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584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批量生成+快速筛选</a:t>
            </a:r>
          </a:p>
        </p:txBody>
      </p:sp>
      <p:sp>
        <p:nvSpPr>
          <p:cNvPr id="65" name="Oval 64"/>
          <p:cNvSpPr/>
          <p:nvPr/>
        </p:nvSpPr>
        <p:spPr>
          <a:xfrm>
            <a:off x="731520" y="3977640"/>
            <a:ext cx="146304" cy="146304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5840" y="39227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单人作战，成本低</a:t>
            </a:r>
          </a:p>
        </p:txBody>
      </p:sp>
      <p:sp>
        <p:nvSpPr>
          <p:cNvPr id="67" name="Oval 66"/>
          <p:cNvSpPr/>
          <p:nvPr/>
        </p:nvSpPr>
        <p:spPr>
          <a:xfrm>
            <a:off x="731520" y="4507992"/>
            <a:ext cx="146304" cy="146304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05840" y="44531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品质中等，竞争激烈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26364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63640" y="1371600"/>
            <a:ext cx="668656" cy="381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932295" y="1371600"/>
            <a:ext cx="668655" cy="38100"/>
          </a:xfrm>
          <a:prstGeom prst="rect">
            <a:avLst/>
          </a:prstGeom>
          <a:solidFill>
            <a:srgbClr val="9BA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600950" y="1371600"/>
            <a:ext cx="668655" cy="38100"/>
          </a:xfrm>
          <a:prstGeom prst="rect">
            <a:avLst/>
          </a:prstGeom>
          <a:solidFill>
            <a:srgbClr val="A3B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269605" y="1371600"/>
            <a:ext cx="668655" cy="38100"/>
          </a:xfrm>
          <a:prstGeom prst="rect">
            <a:avLst/>
          </a:prstGeom>
          <a:solidFill>
            <a:srgbClr val="ABB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938260" y="1371600"/>
            <a:ext cx="668655" cy="38100"/>
          </a:xfrm>
          <a:prstGeom prst="rect">
            <a:avLst/>
          </a:prstGeom>
          <a:solidFill>
            <a:srgbClr val="B3B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606915" y="1371600"/>
            <a:ext cx="668655" cy="38100"/>
          </a:xfrm>
          <a:prstGeom prst="rect">
            <a:avLst/>
          </a:prstGeom>
          <a:solidFill>
            <a:srgbClr val="BBC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275570" y="1371600"/>
            <a:ext cx="668655" cy="38100"/>
          </a:xfrm>
          <a:prstGeom prst="rect">
            <a:avLst/>
          </a:prstGeom>
          <a:solidFill>
            <a:srgbClr val="C3C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944225" y="1371600"/>
            <a:ext cx="668655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53796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4A3B8"/>
                </a:solidFill>
                <a:latin typeface="Microsoft YaHei"/>
              </a:defRPr>
            </a:pPr>
            <a:r>
              <a:t>精品IP流（15-30天/集）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537960" y="2103120"/>
            <a:ext cx="205741" cy="254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43700" y="2103120"/>
            <a:ext cx="205740" cy="25400"/>
          </a:xfrm>
          <a:prstGeom prst="rect">
            <a:avLst/>
          </a:prstGeom>
          <a:solidFill>
            <a:srgbClr val="9BA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949440" y="2103120"/>
            <a:ext cx="205740" cy="25400"/>
          </a:xfrm>
          <a:prstGeom prst="rect">
            <a:avLst/>
          </a:prstGeom>
          <a:solidFill>
            <a:srgbClr val="A3B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155180" y="2103120"/>
            <a:ext cx="205740" cy="25400"/>
          </a:xfrm>
          <a:prstGeom prst="rect">
            <a:avLst/>
          </a:prstGeom>
          <a:solidFill>
            <a:srgbClr val="ABB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60920" y="2103120"/>
            <a:ext cx="205740" cy="25400"/>
          </a:xfrm>
          <a:prstGeom prst="rect">
            <a:avLst/>
          </a:prstGeom>
          <a:solidFill>
            <a:srgbClr val="B3B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66660" y="2103120"/>
            <a:ext cx="205740" cy="25400"/>
          </a:xfrm>
          <a:prstGeom prst="rect">
            <a:avLst/>
          </a:prstGeom>
          <a:solidFill>
            <a:srgbClr val="BBC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2103120"/>
            <a:ext cx="205740" cy="25400"/>
          </a:xfrm>
          <a:prstGeom prst="rect">
            <a:avLst/>
          </a:prstGeom>
          <a:solidFill>
            <a:srgbClr val="C3C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978140" y="2103120"/>
            <a:ext cx="205740" cy="25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537960" y="2386584"/>
            <a:ext cx="146304" cy="14630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1228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适用：IP连载、品质优先、商业项目</a:t>
            </a:r>
          </a:p>
        </p:txBody>
      </p:sp>
      <p:sp>
        <p:nvSpPr>
          <p:cNvPr id="89" name="Oval 88"/>
          <p:cNvSpPr/>
          <p:nvPr/>
        </p:nvSpPr>
        <p:spPr>
          <a:xfrm>
            <a:off x="6537960" y="2916936"/>
            <a:ext cx="146304" cy="14630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81228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LoRA训练+场景资产深度制作</a:t>
            </a:r>
          </a:p>
        </p:txBody>
      </p:sp>
      <p:sp>
        <p:nvSpPr>
          <p:cNvPr id="91" name="Oval 90"/>
          <p:cNvSpPr/>
          <p:nvPr/>
        </p:nvSpPr>
        <p:spPr>
          <a:xfrm>
            <a:off x="6537960" y="3447288"/>
            <a:ext cx="146304" cy="14630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81228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角色一致性 &gt;95%，画面质量 &gt;8/10</a:t>
            </a:r>
          </a:p>
        </p:txBody>
      </p:sp>
      <p:sp>
        <p:nvSpPr>
          <p:cNvPr id="93" name="Oval 92"/>
          <p:cNvSpPr/>
          <p:nvPr/>
        </p:nvSpPr>
        <p:spPr>
          <a:xfrm>
            <a:off x="6537960" y="3977640"/>
            <a:ext cx="146304" cy="14630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812280" y="39227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团队协作，成本高</a:t>
            </a:r>
          </a:p>
        </p:txBody>
      </p:sp>
      <p:sp>
        <p:nvSpPr>
          <p:cNvPr id="95" name="Oval 94"/>
          <p:cNvSpPr/>
          <p:nvPr/>
        </p:nvSpPr>
        <p:spPr>
          <a:xfrm>
            <a:off x="6537960" y="4507992"/>
            <a:ext cx="146304" cy="14630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812280" y="44531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品质高，差异化竞争</a:t>
            </a:r>
          </a:p>
        </p:txBody>
      </p:sp>
      <p:sp>
        <p:nvSpPr>
          <p:cNvPr id="97" name="Rectangle 96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模块14 · 工业化生产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64748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94A3B8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团队架构——"1+4+2"模式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CBD5E1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48640" y="128016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角色</a:t>
                      </a:r>
                    </a:p>
                  </a:txBody>
                  <a:tcPr anchor="ctr">
                    <a:solidFill>
                      <a:srgbClr val="6474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人数</a:t>
                      </a:r>
                    </a:p>
                  </a:txBody>
                  <a:tcPr anchor="ctr">
                    <a:solidFill>
                      <a:srgbClr val="6474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核心职责</a:t>
                      </a:r>
                    </a:p>
                  </a:txBody>
                  <a:tcPr anchor="ctr">
                    <a:solidFill>
                      <a:srgbClr val="64748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编剧/导演（核心）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1人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选题、剧本、分镜、质量把控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抽卡师A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1人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图像生成（即梦AI/ComfyUI）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抽卡师B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1人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视频生成（可灵/Seedance）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后期师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1人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剪辑配音（剪映）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运营师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1人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平台运营、数据分析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美术指导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1人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角色设定、风格把控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技术支持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1人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工具优化、工作流维护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模块14 · 工业化生产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64748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94A3B8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资产库与剧情体系双轮驱动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CBD5E1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资产库结构：角色资产 / 场景资产 / 道具资产 / 模板资产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资产复用价值：节省50%+时间，保持一致性，降低成本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剧情体系：角色档案 + 世界观设定 + 剧情大纲 + 爽点节奏模板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双轮协同：资产支撑剧情 → 剧情驱动资产 → 形成正向循环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剧情数据库：每集记录关键剧情点、角色变化、伏笔设置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模块14 · 工业化生产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64748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94A3B8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成本优化策略速查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CBD5E1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48640" y="1280160"/>
          <a:ext cx="110642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策略</a:t>
                      </a:r>
                    </a:p>
                  </a:txBody>
                  <a:tcPr anchor="ctr">
                    <a:solidFill>
                      <a:srgbClr val="6474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节省比例</a:t>
                      </a:r>
                    </a:p>
                  </a:txBody>
                  <a:tcPr anchor="ctr">
                    <a:solidFill>
                      <a:srgbClr val="6474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 anchor="ctr">
                    <a:solidFill>
                      <a:srgbClr val="64748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Draft模式先预览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60%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先480P预览，确认后渲染1080P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模板化流程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使用模板减少试错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资产复用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复用已有资产减少重复生成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精准提示词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减少重复生成次数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批量折扣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利用平台批量折扣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非高峰时段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平台低峰时段生成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模块14 · 工业化生产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0"/>
            <a:ext cx="6400800" cy="6400800"/>
          </a:xfrm>
          <a:prstGeom prst="ellipse">
            <a:avLst/>
          </a:prstGeom>
          <a:solidFill>
            <a:srgbClr val="64748B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2743200"/>
            <a:ext cx="4572000" cy="4572000"/>
          </a:xfrm>
          <a:prstGeom prst="ellipse">
            <a:avLst/>
          </a:prstGeom>
          <a:solidFill>
            <a:srgbClr val="94A3B8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1097280"/>
            <a:ext cx="720091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920490" y="1097280"/>
            <a:ext cx="720090" cy="381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40580" y="1097280"/>
            <a:ext cx="720090" cy="381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60670" y="1097280"/>
            <a:ext cx="720090" cy="381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80760" y="1097280"/>
            <a:ext cx="720090" cy="381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00850" y="1097280"/>
            <a:ext cx="720090" cy="381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20940" y="1097280"/>
            <a:ext cx="720090" cy="381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41030" y="1097280"/>
            <a:ext cx="720090" cy="381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164592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极速流约275-660元/集，精品流约760-2720元/集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931920"/>
            <a:ext cx="262891" cy="25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3931920"/>
            <a:ext cx="262890" cy="254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3931920"/>
            <a:ext cx="262890" cy="254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3931920"/>
            <a:ext cx="262890" cy="254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3931920"/>
            <a:ext cx="262890" cy="254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3931920"/>
            <a:ext cx="262890" cy="254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3931920"/>
            <a:ext cx="262890" cy="254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3931920"/>
            <a:ext cx="262890" cy="254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297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成本主要集中在视频生成环节（占比60-70%），通过Draft模式、资产复用、精准提示词等策略可有效降低单集成本。多工具交叉验证（即梦+通义万相、可灵+Seedance）可提高抽卡成功率。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模块14 · 工业化生产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64748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94A3B8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极速流1小时制作流程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CBD5E1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00:00-00:05 选题：查看热搜，确定题材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1371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221992"/>
            <a:ext cx="6859" cy="3657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8378" y="2221992"/>
            <a:ext cx="6858" cy="36576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45236" y="2221992"/>
            <a:ext cx="6858" cy="36576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2094" y="2221992"/>
            <a:ext cx="6858" cy="36576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58952" y="2221992"/>
            <a:ext cx="6858" cy="36576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65810" y="2221992"/>
            <a:ext cx="6858" cy="36576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2668" y="2221992"/>
            <a:ext cx="6858" cy="36576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79526" y="2221992"/>
            <a:ext cx="6858" cy="3657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2688" y="2148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00:05-00:15 剧本：AI生成+人工微调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21488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" y="2999232"/>
            <a:ext cx="6859" cy="3657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38378" y="2999232"/>
            <a:ext cx="6858" cy="36576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45236" y="2999232"/>
            <a:ext cx="6858" cy="36576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52094" y="2999232"/>
            <a:ext cx="6858" cy="36576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58952" y="2999232"/>
            <a:ext cx="6858" cy="36576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65810" y="2999232"/>
            <a:ext cx="6858" cy="36576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72668" y="2999232"/>
            <a:ext cx="6858" cy="36576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79526" y="2999232"/>
            <a:ext cx="6858" cy="3657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2688" y="2926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00:15-00:20 分镜：使用固定分镜模板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1520" y="3776472"/>
            <a:ext cx="6859" cy="3657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8378" y="3776472"/>
            <a:ext cx="6858" cy="36576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45236" y="3776472"/>
            <a:ext cx="6858" cy="36576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52094" y="3776472"/>
            <a:ext cx="6858" cy="36576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58952" y="3776472"/>
            <a:ext cx="6858" cy="36576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5810" y="3776472"/>
            <a:ext cx="6858" cy="36576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72668" y="3776472"/>
            <a:ext cx="6858" cy="36576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79526" y="3776472"/>
            <a:ext cx="6858" cy="3657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32688" y="3703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00:20-00:35 图像：即梦AI批量生成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" y="3703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1520" y="4553712"/>
            <a:ext cx="6859" cy="3657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8378" y="4553712"/>
            <a:ext cx="6858" cy="36576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5236" y="4553712"/>
            <a:ext cx="6858" cy="36576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2094" y="4553712"/>
            <a:ext cx="6858" cy="36576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8952" y="4553712"/>
            <a:ext cx="6858" cy="36576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5810" y="4553712"/>
            <a:ext cx="6858" cy="36576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2668" y="4553712"/>
            <a:ext cx="6858" cy="36576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9526" y="4553712"/>
            <a:ext cx="6858" cy="3657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32688" y="4480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00:35-00:50 视频：可灵/Seedance生成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1520" y="4480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31520" y="5330952"/>
            <a:ext cx="6859" cy="3657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38378" y="5330952"/>
            <a:ext cx="6858" cy="36576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45236" y="5330952"/>
            <a:ext cx="6858" cy="36576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52094" y="5330952"/>
            <a:ext cx="6858" cy="36576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58952" y="5330952"/>
            <a:ext cx="6858" cy="36576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65810" y="5330952"/>
            <a:ext cx="6858" cy="36576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72668" y="5330952"/>
            <a:ext cx="6858" cy="36576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79526" y="5330952"/>
            <a:ext cx="6858" cy="3657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32688" y="5257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00:50-00:55 配音：剪映AI配音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31520" y="5257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模块14 · 工业化生产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64748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94A3B8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CBD5E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◆  本模块实操任务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EE7B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" y="144475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144475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8096" y="144475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4672" y="144475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41248" y="144475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77824" y="144475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" y="144475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50976" y="144475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7552" y="144475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8872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45920" y="1371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搭建你自己的五步流水线，测试各环节时间消耗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222199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1520" y="222199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68096" y="222199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4672" y="222199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41248" y="222199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77824" y="222199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400" y="222199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50976" y="222199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87552" y="222199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8872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45920" y="21488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建立极速流模板体系（分镜模板+角色模板+剪辑模板）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" y="299923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31520" y="299923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68096" y="299923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04672" y="299923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41248" y="299923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7824" y="299923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14400" y="299923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50976" y="299923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87552" y="299923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8872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645920" y="2926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为你的项目制定30天精品流制作计划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31520" y="377647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31520" y="377647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8096" y="377647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04672" y="377647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41248" y="377647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77824" y="377647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14400" y="377647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50976" y="377647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87552" y="377647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188720" y="3703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645920" y="3703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设计团队配置方案和协作流程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31520" y="455371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31520" y="455371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8096" y="455371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4672" y="455371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41248" y="455371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77824" y="455371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14400" y="455371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50976" y="455371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87552" y="455371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88720" y="4480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645920" y="44805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建立资产库目录结构，整理角色/场景/道具资产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31520" y="533095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31520" y="533095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68096" y="533095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04672" y="533095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41248" y="533095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7824" y="533095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14400" y="533095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50976" y="533095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87552" y="533095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188720" y="5257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645920" y="52578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制作成本记录表，统计并分析你的制作成本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模块14 · 工业化生产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914400"/>
            <a:ext cx="6400800" cy="6400800"/>
          </a:xfrm>
          <a:prstGeom prst="ellipse">
            <a:avLst/>
          </a:prstGeom>
          <a:solidFill>
            <a:srgbClr val="64748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1371600"/>
            <a:ext cx="491491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06290" y="1371600"/>
            <a:ext cx="491490" cy="381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97780" y="1371600"/>
            <a:ext cx="491490" cy="381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9270" y="1371600"/>
            <a:ext cx="491490" cy="381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80760" y="1371600"/>
            <a:ext cx="491490" cy="381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72250" y="1371600"/>
            <a:ext cx="491490" cy="381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63740" y="1371600"/>
            <a:ext cx="491490" cy="381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55230" y="1371600"/>
            <a:ext cx="491490" cy="381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64748B"/>
                </a:solidFill>
                <a:latin typeface="Microsoft YaHei"/>
              </a:defRPr>
            </a:pPr>
            <a: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320040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本模块结束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4023360"/>
            <a:ext cx="262891" cy="25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4023360"/>
            <a:ext cx="262890" cy="25400"/>
          </a:xfrm>
          <a:prstGeom prst="rect">
            <a:avLst/>
          </a:prstGeom>
          <a:solidFill>
            <a:srgbClr val="6A7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4023360"/>
            <a:ext cx="262890" cy="25400"/>
          </a:xfrm>
          <a:prstGeom prst="rect">
            <a:avLst/>
          </a:prstGeom>
          <a:solidFill>
            <a:srgbClr val="718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4023360"/>
            <a:ext cx="262890" cy="25400"/>
          </a:xfrm>
          <a:prstGeom prst="rect">
            <a:avLst/>
          </a:prstGeom>
          <a:solidFill>
            <a:srgbClr val="78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4023360"/>
            <a:ext cx="262890" cy="25400"/>
          </a:xfrm>
          <a:prstGeom prst="rect">
            <a:avLst/>
          </a:prstGeom>
          <a:solidFill>
            <a:srgbClr val="7F8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4023360"/>
            <a:ext cx="262890" cy="25400"/>
          </a:xfrm>
          <a:prstGeom prst="rect">
            <a:avLst/>
          </a:prstGeom>
          <a:solidFill>
            <a:srgbClr val="869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4023360"/>
            <a:ext cx="262890" cy="25400"/>
          </a:xfrm>
          <a:prstGeom prst="rect">
            <a:avLst/>
          </a:prstGeom>
          <a:solidFill>
            <a:srgbClr val="8D9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4023360"/>
            <a:ext cx="262890" cy="254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8BAC8"/>
                </a:solidFill>
                <a:latin typeface="Microsoft YaHei"/>
              </a:defRPr>
            </a:pPr>
            <a:r>
              <a:t>下一模块：分发变现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E7082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EF4444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2743200"/>
            <a:ext cx="5486400" cy="5486400"/>
          </a:xfrm>
          <a:prstGeom prst="ellipse">
            <a:avLst/>
          </a:prstGeom>
          <a:solidFill>
            <a:srgbClr val="F87171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4572000"/>
            <a:ext cx="3657600" cy="3657600"/>
          </a:xfrm>
          <a:prstGeom prst="ellipse">
            <a:avLst/>
          </a:prstGeom>
          <a:solidFill>
            <a:srgbClr val="FCA5A5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0"/>
            <a:ext cx="182880" cy="68580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91440" cy="6858000"/>
          </a:xfrm>
          <a:prstGeom prst="rect">
            <a:avLst/>
          </a:prstGeom>
          <a:solidFill>
            <a:srgbClr val="7C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8016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5448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1031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774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8016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55448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8288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031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3774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2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58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8016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8288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1031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3774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7315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0" b="1">
                <a:solidFill>
                  <a:srgbClr val="FFFFFF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657600"/>
            <a:ext cx="1828800" cy="329184"/>
          </a:xfrm>
          <a:prstGeom prst="round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657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CA5A5"/>
                </a:solidFill>
                <a:latin typeface="Microsoft YaHei"/>
              </a:defRPr>
            </a:pPr>
            <a:r>
              <a:t>M O D U L 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114800"/>
            <a:ext cx="285751" cy="3810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2950" y="4114800"/>
            <a:ext cx="285750" cy="38100"/>
          </a:xfrm>
          <a:prstGeom prst="rect">
            <a:avLst/>
          </a:prstGeom>
          <a:solidFill>
            <a:srgbClr val="FA9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28700" y="4114800"/>
            <a:ext cx="285750" cy="38100"/>
          </a:xfrm>
          <a:prstGeom prst="rect">
            <a:avLst/>
          </a:prstGeom>
          <a:solidFill>
            <a:srgbClr val="F8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314450" y="4114800"/>
            <a:ext cx="285750" cy="38100"/>
          </a:xfrm>
          <a:prstGeom prst="rect">
            <a:avLst/>
          </a:prstGeom>
          <a:solidFill>
            <a:srgbClr val="F6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600200" y="4114800"/>
            <a:ext cx="285750" cy="38100"/>
          </a:xfrm>
          <a:prstGeom prst="rect">
            <a:avLst/>
          </a:prstGeom>
          <a:solidFill>
            <a:srgbClr val="F46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885950" y="4114800"/>
            <a:ext cx="285750" cy="38100"/>
          </a:xfrm>
          <a:prstGeom prst="rect">
            <a:avLst/>
          </a:prstGeom>
          <a:solidFill>
            <a:srgbClr val="F2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171700" y="4114800"/>
            <a:ext cx="285750" cy="38100"/>
          </a:xfrm>
          <a:prstGeom prst="rect">
            <a:avLst/>
          </a:prstGeom>
          <a:solidFill>
            <a:srgbClr val="F05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457450" y="4114800"/>
            <a:ext cx="28575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035040" y="1097280"/>
            <a:ext cx="5486400" cy="457200"/>
          </a:xfrm>
          <a:prstGeom prst="roundRect">
            <a:avLst/>
          </a:prstGeom>
          <a:solidFill>
            <a:srgbClr val="4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CA5A5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20116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F0F5"/>
                </a:solidFill>
                <a:latin typeface="Microsoft YaHei"/>
              </a:defRPr>
            </a:pPr>
            <a:r>
              <a:t>模块15：平台分发与商业变现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3840480"/>
            <a:ext cx="400051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5090" y="3840480"/>
            <a:ext cx="400050" cy="381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835140" y="3840480"/>
            <a:ext cx="400050" cy="381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35190" y="3840480"/>
            <a:ext cx="400050" cy="381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635240" y="3840480"/>
            <a:ext cx="400050" cy="381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35290" y="3840480"/>
            <a:ext cx="400050" cy="381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435340" y="3840480"/>
            <a:ext cx="400050" cy="381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35390" y="3840480"/>
            <a:ext cx="400050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35040" y="42062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8课时 · 主流平台运营策略与多元化变现路径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035040" y="5303520"/>
            <a:ext cx="5486400" cy="6400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722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Microsoft YaHei"/>
              </a:defRPr>
            </a:pPr>
            <a:r>
              <a:t>124课时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609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438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Microsoft YaHei"/>
              </a:defRPr>
            </a:pPr>
            <a:r>
              <a:t>17模块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7325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154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Microsoft YaHei"/>
              </a:defRPr>
            </a:pPr>
            <a:r>
              <a:t>8-16周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1041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2870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Microsoft YaHei"/>
              </a:defRPr>
            </a:pPr>
            <a:r>
              <a:t>全流程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155680" y="0"/>
            <a:ext cx="1036015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1978640" y="0"/>
            <a:ext cx="38100" cy="7315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521440" y="274320"/>
            <a:ext cx="137160" cy="137160"/>
          </a:xfrm>
          <a:prstGeom prst="ellipse">
            <a:avLst/>
          </a:prstGeom>
          <a:solidFill>
            <a:srgbClr val="FCA5A5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EF444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87171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§  本节内容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CA5A5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31520" y="1397000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422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抖音漫剧运营全攻略</a:t>
            </a:r>
          </a:p>
        </p:txBody>
      </p:sp>
      <p:sp>
        <p:nvSpPr>
          <p:cNvPr id="44" name="Oval 43"/>
          <p:cNvSpPr/>
          <p:nvPr/>
        </p:nvSpPr>
        <p:spPr>
          <a:xfrm>
            <a:off x="731520" y="1963928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422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红果短剧分账机制详解</a:t>
            </a:r>
          </a:p>
        </p:txBody>
      </p:sp>
      <p:sp>
        <p:nvSpPr>
          <p:cNvPr id="47" name="Oval 46"/>
          <p:cNvSpPr/>
          <p:nvPr/>
        </p:nvSpPr>
        <p:spPr>
          <a:xfrm>
            <a:off x="731520" y="2530856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422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快手漫剧分发</a:t>
            </a:r>
          </a:p>
        </p:txBody>
      </p:sp>
      <p:sp>
        <p:nvSpPr>
          <p:cNvPr id="50" name="Oval 49"/>
          <p:cNvSpPr/>
          <p:nvPr/>
        </p:nvSpPr>
        <p:spPr>
          <a:xfrm>
            <a:off x="731520" y="3097784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4220" y="30977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" y="307238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B站漫剧生态</a:t>
            </a:r>
          </a:p>
        </p:txBody>
      </p:sp>
      <p:sp>
        <p:nvSpPr>
          <p:cNvPr id="53" name="Oval 52"/>
          <p:cNvSpPr/>
          <p:nvPr/>
        </p:nvSpPr>
        <p:spPr>
          <a:xfrm>
            <a:off x="6400800" y="1397000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1350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火龙漫剧（腾讯）</a:t>
            </a:r>
          </a:p>
        </p:txBody>
      </p:sp>
      <p:sp>
        <p:nvSpPr>
          <p:cNvPr id="56" name="Oval 55"/>
          <p:cNvSpPr/>
          <p:nvPr/>
        </p:nvSpPr>
        <p:spPr>
          <a:xfrm>
            <a:off x="6400800" y="1963928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1350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AI漫剧出海变现</a:t>
            </a:r>
          </a:p>
        </p:txBody>
      </p:sp>
      <p:sp>
        <p:nvSpPr>
          <p:cNvPr id="59" name="Oval 58"/>
          <p:cNvSpPr/>
          <p:nvPr/>
        </p:nvSpPr>
        <p:spPr>
          <a:xfrm>
            <a:off x="6400800" y="2530856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1350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6656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IP授权与衍生开发</a:t>
            </a:r>
          </a:p>
        </p:txBody>
      </p:sp>
      <p:sp>
        <p:nvSpPr>
          <p:cNvPr id="62" name="Oval 61"/>
          <p:cNvSpPr/>
          <p:nvPr/>
        </p:nvSpPr>
        <p:spPr>
          <a:xfrm>
            <a:off x="6400800" y="3097784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13500" y="30977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66560" y="307238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实战——从制作到多平台分发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模块15 · 分发变现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▤  ¥ 变现阶梯与收入预期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CA5A5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1371600"/>
            <a:ext cx="262890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371600"/>
            <a:ext cx="328613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5812" y="1371600"/>
            <a:ext cx="328612" cy="381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14424" y="1371600"/>
            <a:ext cx="328612" cy="381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443036" y="1371600"/>
            <a:ext cx="328612" cy="381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71648" y="1371600"/>
            <a:ext cx="328612" cy="381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100260" y="1371600"/>
            <a:ext cx="328612" cy="381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428872" y="1371600"/>
            <a:ext cx="328612" cy="381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57484" y="1371600"/>
            <a:ext cx="328612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7250" y="914400"/>
            <a:ext cx="1828800" cy="1828800"/>
          </a:xfrm>
          <a:prstGeom prst="ellipse">
            <a:avLst/>
          </a:prstGeom>
          <a:solidFill>
            <a:srgbClr val="EF4444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1371600"/>
            <a:ext cx="328613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5812" y="1371600"/>
            <a:ext cx="328612" cy="508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4424" y="1371600"/>
            <a:ext cx="328612" cy="508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43036" y="1371600"/>
            <a:ext cx="328612" cy="508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771648" y="1371600"/>
            <a:ext cx="328612" cy="508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100260" y="1371600"/>
            <a:ext cx="328612" cy="508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428872" y="1371600"/>
            <a:ext cx="328612" cy="508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57484" y="1371600"/>
            <a:ext cx="328612" cy="508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1737360"/>
            <a:ext cx="24460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EF4444"/>
                </a:solidFill>
                <a:latin typeface="Microsoft YaHei"/>
              </a:defRPr>
            </a:pPr>
            <a:r>
              <a:t>1-10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2926080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E7082"/>
                </a:solidFill>
                <a:latin typeface="Microsoft YaHei"/>
              </a:defRPr>
            </a:pPr>
            <a:r>
              <a:t>万/月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3337560"/>
            <a:ext cx="2080260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3520440"/>
            <a:ext cx="24460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0F5"/>
                </a:solidFill>
                <a:latin typeface="Microsoft YaHei"/>
              </a:defRPr>
            </a:pPr>
            <a:r>
              <a:t>Level 1 平台分账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4023360"/>
            <a:ext cx="23545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E7082"/>
                </a:solidFill>
                <a:latin typeface="Microsoft YaHei"/>
              </a:defRPr>
            </a:pPr>
            <a:r>
              <a:t>入门级，抖音/红果/B站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14700" y="1371600"/>
            <a:ext cx="262890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314700" y="1371600"/>
            <a:ext cx="328613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43312" y="1371600"/>
            <a:ext cx="328612" cy="381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971924" y="1371600"/>
            <a:ext cx="328612" cy="381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00536" y="1371600"/>
            <a:ext cx="328612" cy="381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629148" y="1371600"/>
            <a:ext cx="328612" cy="381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957760" y="1371600"/>
            <a:ext cx="328612" cy="381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286372" y="1371600"/>
            <a:ext cx="328612" cy="381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614984" y="1371600"/>
            <a:ext cx="328612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714750" y="914400"/>
            <a:ext cx="1828800" cy="1828800"/>
          </a:xfrm>
          <a:prstGeom prst="ellipse">
            <a:avLst/>
          </a:prstGeom>
          <a:solidFill>
            <a:srgbClr val="EF4444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314700" y="1371600"/>
            <a:ext cx="328613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643312" y="1371600"/>
            <a:ext cx="328612" cy="508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971924" y="1371600"/>
            <a:ext cx="328612" cy="508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300536" y="1371600"/>
            <a:ext cx="328612" cy="508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629148" y="1371600"/>
            <a:ext cx="328612" cy="508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957760" y="1371600"/>
            <a:ext cx="328612" cy="508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286372" y="1371600"/>
            <a:ext cx="328612" cy="508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614984" y="1371600"/>
            <a:ext cx="328612" cy="508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06140" y="1737360"/>
            <a:ext cx="24460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EF4444"/>
                </a:solidFill>
                <a:latin typeface="Microsoft YaHei"/>
              </a:defRPr>
            </a:pPr>
            <a:r>
              <a:t>5-30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06140" y="2926080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E7082"/>
                </a:solidFill>
                <a:latin typeface="Microsoft YaHei"/>
              </a:defRPr>
            </a:pPr>
            <a:r>
              <a:t>万/月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589020" y="3337560"/>
            <a:ext cx="2080260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06140" y="3520440"/>
            <a:ext cx="24460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0F5"/>
                </a:solidFill>
                <a:latin typeface="Microsoft YaHei"/>
              </a:defRPr>
            </a:pPr>
            <a:r>
              <a:t>Level 2 付费解锁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51860" y="4023360"/>
            <a:ext cx="23545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E7082"/>
                </a:solidFill>
                <a:latin typeface="Microsoft YaHei"/>
              </a:defRPr>
            </a:pPr>
            <a:r>
              <a:t>进阶级，付费卡点设计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172200" y="1371600"/>
            <a:ext cx="262890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172200" y="1371600"/>
            <a:ext cx="328613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500812" y="1371600"/>
            <a:ext cx="328612" cy="381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829424" y="1371600"/>
            <a:ext cx="328612" cy="381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158036" y="1371600"/>
            <a:ext cx="328612" cy="381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486648" y="1371600"/>
            <a:ext cx="328612" cy="381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815260" y="1371600"/>
            <a:ext cx="328612" cy="381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143872" y="1371600"/>
            <a:ext cx="328612" cy="381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472484" y="1371600"/>
            <a:ext cx="328612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572250" y="914400"/>
            <a:ext cx="1828800" cy="1828800"/>
          </a:xfrm>
          <a:prstGeom prst="ellipse">
            <a:avLst/>
          </a:prstGeom>
          <a:solidFill>
            <a:srgbClr val="EF4444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72200" y="1371600"/>
            <a:ext cx="328613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500812" y="1371600"/>
            <a:ext cx="328612" cy="508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29424" y="1371600"/>
            <a:ext cx="328612" cy="508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158036" y="1371600"/>
            <a:ext cx="328612" cy="508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486648" y="1371600"/>
            <a:ext cx="328612" cy="508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815260" y="1371600"/>
            <a:ext cx="328612" cy="508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143872" y="1371600"/>
            <a:ext cx="328612" cy="508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472484" y="1371600"/>
            <a:ext cx="328612" cy="508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63640" y="1737360"/>
            <a:ext cx="24460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EF4444"/>
                </a:solidFill>
                <a:latin typeface="Microsoft YaHei"/>
              </a:defRPr>
            </a:pPr>
            <a:r>
              <a:t>10-50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63640" y="2926080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E7082"/>
                </a:solidFill>
                <a:latin typeface="Microsoft YaHei"/>
              </a:defRPr>
            </a:pPr>
            <a:r>
              <a:t>万/月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46520" y="3337560"/>
            <a:ext cx="2080260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263640" y="3520440"/>
            <a:ext cx="24460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0F5"/>
                </a:solidFill>
                <a:latin typeface="Microsoft YaHei"/>
              </a:defRPr>
            </a:pPr>
            <a:r>
              <a:t>Level 3 广告植入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309360" y="4023360"/>
            <a:ext cx="23545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E7082"/>
                </a:solidFill>
                <a:latin typeface="Microsoft YaHei"/>
              </a:defRPr>
            </a:pPr>
            <a:r>
              <a:t>品牌合作，剧情软植入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029700" y="1371600"/>
            <a:ext cx="262890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029700" y="1371600"/>
            <a:ext cx="328613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358312" y="1371600"/>
            <a:ext cx="328612" cy="381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686924" y="1371600"/>
            <a:ext cx="328612" cy="381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015536" y="1371600"/>
            <a:ext cx="328612" cy="381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344148" y="1371600"/>
            <a:ext cx="328612" cy="381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672760" y="1371600"/>
            <a:ext cx="328612" cy="381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1001372" y="1371600"/>
            <a:ext cx="328612" cy="381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1329984" y="1371600"/>
            <a:ext cx="328612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429750" y="914400"/>
            <a:ext cx="1828800" cy="1828800"/>
          </a:xfrm>
          <a:prstGeom prst="ellipse">
            <a:avLst/>
          </a:prstGeom>
          <a:solidFill>
            <a:srgbClr val="EF4444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029700" y="1371600"/>
            <a:ext cx="328613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358312" y="1371600"/>
            <a:ext cx="328612" cy="508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9686924" y="1371600"/>
            <a:ext cx="328612" cy="508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015536" y="1371600"/>
            <a:ext cx="328612" cy="508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344148" y="1371600"/>
            <a:ext cx="328612" cy="508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0672760" y="1371600"/>
            <a:ext cx="328612" cy="508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1001372" y="1371600"/>
            <a:ext cx="328612" cy="508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1329984" y="1371600"/>
            <a:ext cx="328612" cy="508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121140" y="1737360"/>
            <a:ext cx="24460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EF4444"/>
                </a:solidFill>
                <a:latin typeface="Microsoft YaHei"/>
              </a:defRPr>
            </a:pPr>
            <a:r>
              <a:t>500+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121140" y="2926080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E7082"/>
                </a:solidFill>
                <a:latin typeface="Microsoft YaHei"/>
              </a:defRPr>
            </a:pPr>
            <a:r>
              <a:t>万/年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304020" y="3337560"/>
            <a:ext cx="2080260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121140" y="3520440"/>
            <a:ext cx="24460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0F5"/>
                </a:solidFill>
                <a:latin typeface="Microsoft YaHei"/>
              </a:defRPr>
            </a:pPr>
            <a:r>
              <a:t>Level 5 品牌联名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166860" y="4023360"/>
            <a:ext cx="23545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E7082"/>
                </a:solidFill>
                <a:latin typeface="Microsoft YaHei"/>
              </a:defRPr>
            </a:pPr>
            <a:r>
              <a:t>跨界合作，联名产品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模块15 · 分发变现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EF444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87171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各平台核心指标对比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CA5A5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48640" y="1280160"/>
          <a:ext cx="110642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平台</a:t>
                      </a:r>
                    </a:p>
                  </a:txBody>
                  <a:tcPr anchor="ctr"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核心优势</a:t>
                      </a:r>
                    </a:p>
                  </a:txBody>
                  <a:tcPr anchor="ctr"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最佳题材</a:t>
                      </a:r>
                    </a:p>
                  </a:txBody>
                  <a:tcPr anchor="ctr"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变现方式</a:t>
                      </a:r>
                    </a:p>
                  </a:txBody>
                  <a:tcPr anchor="ctr">
                    <a:solidFill>
                      <a:srgbClr val="EF44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抖音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流量最大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玄幻/都市/逆袭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流量分账+星图广告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快手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用户粘性高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接地气/情感/家庭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流量分账+直播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B站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粉丝价值高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有深度/高品质/二次元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创作激励+充电+悬赏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红果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变现直接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付费短剧/爽剧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分账（S级3000-5000元/10万播放）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火龙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腾讯生态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全品类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流量分账+微信分发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模块15 · 分发变现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EF444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87171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抖音推荐算法核心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CA5A5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完播率（最重要）：前3秒决定生死，优化开头钩子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互动率：点赞、评论、分享，增加互动引导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关注率：看完后关注，优化结尾钩子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流量池递进：200→5000→10万→100万+播放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前3秒法则：第1秒视觉冲击 → 第2秒情绪建立 → 第3秒信息传达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模块15 · 分发变现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EF444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87171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封面设计四原则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CA5A5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7200" y="1371600"/>
            <a:ext cx="2628900" cy="457200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1371600"/>
            <a:ext cx="328613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85812" y="1371600"/>
            <a:ext cx="328612" cy="381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14424" y="1371600"/>
            <a:ext cx="328612" cy="381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443036" y="1371600"/>
            <a:ext cx="328612" cy="381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771648" y="1371600"/>
            <a:ext cx="328612" cy="381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100260" y="1371600"/>
            <a:ext cx="328612" cy="381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428872" y="1371600"/>
            <a:ext cx="328612" cy="381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757484" y="1371600"/>
            <a:ext cx="328612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1645920"/>
            <a:ext cx="22631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F4444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560320"/>
            <a:ext cx="260033" cy="25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91552" y="2560320"/>
            <a:ext cx="260032" cy="254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251584" y="2560320"/>
            <a:ext cx="260032" cy="254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511616" y="2560320"/>
            <a:ext cx="260032" cy="254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771648" y="2560320"/>
            <a:ext cx="260032" cy="254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031680" y="2560320"/>
            <a:ext cx="260032" cy="254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291712" y="2560320"/>
            <a:ext cx="260032" cy="254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551744" y="2560320"/>
            <a:ext cx="260032" cy="254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" y="2743200"/>
            <a:ext cx="22631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高对比色彩：使用红/黄/蓝等醒目颜色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95244" y="25603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F4444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314700" y="1371600"/>
            <a:ext cx="2628900" cy="457200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314700" y="1371600"/>
            <a:ext cx="328613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643312" y="1371600"/>
            <a:ext cx="328612" cy="381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971924" y="1371600"/>
            <a:ext cx="328612" cy="381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300536" y="1371600"/>
            <a:ext cx="328612" cy="381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629148" y="1371600"/>
            <a:ext cx="328612" cy="381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957760" y="1371600"/>
            <a:ext cx="328612" cy="381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286372" y="1371600"/>
            <a:ext cx="328612" cy="381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614984" y="1371600"/>
            <a:ext cx="328612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497580" y="1645920"/>
            <a:ext cx="22631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F4444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589020" y="2560320"/>
            <a:ext cx="260033" cy="25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849052" y="2560320"/>
            <a:ext cx="260032" cy="254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109084" y="2560320"/>
            <a:ext cx="260032" cy="254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369116" y="2560320"/>
            <a:ext cx="260032" cy="254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629148" y="2560320"/>
            <a:ext cx="260032" cy="254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889180" y="2560320"/>
            <a:ext cx="260032" cy="254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149212" y="2560320"/>
            <a:ext cx="260032" cy="254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409244" y="2560320"/>
            <a:ext cx="260032" cy="254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497580" y="2743200"/>
            <a:ext cx="22631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大字标题：6-10个字，清晰可读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952744" y="25603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F4444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172200" y="1371600"/>
            <a:ext cx="2628900" cy="457200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172200" y="1371600"/>
            <a:ext cx="328613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500812" y="1371600"/>
            <a:ext cx="328612" cy="381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829424" y="1371600"/>
            <a:ext cx="328612" cy="381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158036" y="1371600"/>
            <a:ext cx="328612" cy="381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486648" y="1371600"/>
            <a:ext cx="328612" cy="381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815260" y="1371600"/>
            <a:ext cx="328612" cy="381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143872" y="1371600"/>
            <a:ext cx="328612" cy="381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472484" y="1371600"/>
            <a:ext cx="328612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355080" y="1645920"/>
            <a:ext cx="22631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F4444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446520" y="2560320"/>
            <a:ext cx="260033" cy="25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706552" y="2560320"/>
            <a:ext cx="260032" cy="254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966584" y="2560320"/>
            <a:ext cx="260032" cy="254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226616" y="2560320"/>
            <a:ext cx="260032" cy="254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486648" y="2560320"/>
            <a:ext cx="260032" cy="254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746680" y="2560320"/>
            <a:ext cx="260032" cy="254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006712" y="2560320"/>
            <a:ext cx="260032" cy="254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266744" y="2560320"/>
            <a:ext cx="260032" cy="254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355080" y="2743200"/>
            <a:ext cx="22631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角色突出：表情夸张，主体占画面60%+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810244" y="25603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F4444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9029700" y="1371600"/>
            <a:ext cx="2628900" cy="457200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29700" y="1371600"/>
            <a:ext cx="328613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358312" y="1371600"/>
            <a:ext cx="328612" cy="381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686924" y="1371600"/>
            <a:ext cx="328612" cy="381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0015536" y="1371600"/>
            <a:ext cx="328612" cy="381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344148" y="1371600"/>
            <a:ext cx="328612" cy="381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0672760" y="1371600"/>
            <a:ext cx="328612" cy="381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1001372" y="1371600"/>
            <a:ext cx="328612" cy="381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1329984" y="1371600"/>
            <a:ext cx="328612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212580" y="1645920"/>
            <a:ext cx="22631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F4444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304020" y="2560320"/>
            <a:ext cx="260033" cy="25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564052" y="2560320"/>
            <a:ext cx="260032" cy="254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824084" y="2560320"/>
            <a:ext cx="260032" cy="254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0084116" y="2560320"/>
            <a:ext cx="260032" cy="254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0344148" y="2560320"/>
            <a:ext cx="260032" cy="254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0604180" y="2560320"/>
            <a:ext cx="260032" cy="254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0864212" y="2560320"/>
            <a:ext cx="260032" cy="254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1124244" y="2560320"/>
            <a:ext cx="260032" cy="254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212580" y="2743200"/>
            <a:ext cx="22631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冲突感：展示矛盾或悬念，系列风格统一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模块15 · 分发变现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EF444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87171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红果分账与评级体系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CA5A5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收益公式：有效播放量 × 单价 × 分成系数 × 评级系数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S级（完播率&gt;50%，互动率&gt;8%）：分成系数1.0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A级（完播率&gt;40%，互动率&gt;5%）：分成系数0.7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B级（完播率&gt;30%，互动率&gt;3%）：分成系数0.5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发布策略：首批发3-5集建立追剧习惯，之后日更/隔日更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模块15 · 分发变现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EF444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87171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国内平台 vs 出海平台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CA5A5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720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1371600"/>
            <a:ext cx="668656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25855" y="1371600"/>
            <a:ext cx="668655" cy="381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794510" y="1371600"/>
            <a:ext cx="668655" cy="381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463165" y="1371600"/>
            <a:ext cx="668655" cy="381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131820" y="1371600"/>
            <a:ext cx="668655" cy="381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00475" y="1371600"/>
            <a:ext cx="668655" cy="381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469130" y="1371600"/>
            <a:ext cx="668655" cy="381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137785" y="1371600"/>
            <a:ext cx="668655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Microsoft YaHei"/>
              </a:defRPr>
            </a:pPr>
            <a:r>
              <a:t>国内平台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103120"/>
            <a:ext cx="205741" cy="25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37260" y="2103120"/>
            <a:ext cx="205740" cy="254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43000" y="2103120"/>
            <a:ext cx="205740" cy="254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348740" y="2103120"/>
            <a:ext cx="205740" cy="254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554480" y="2103120"/>
            <a:ext cx="205740" cy="254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60220" y="2103120"/>
            <a:ext cx="205740" cy="254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965960" y="2103120"/>
            <a:ext cx="205740" cy="254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171700" y="2103120"/>
            <a:ext cx="205740" cy="254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31520" y="2386584"/>
            <a:ext cx="146304" cy="14630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584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抖音/快手/B站/红果/火龙</a:t>
            </a:r>
          </a:p>
        </p:txBody>
      </p:sp>
      <p:sp>
        <p:nvSpPr>
          <p:cNvPr id="61" name="Oval 60"/>
          <p:cNvSpPr/>
          <p:nvPr/>
        </p:nvSpPr>
        <p:spPr>
          <a:xfrm>
            <a:off x="731520" y="2916936"/>
            <a:ext cx="146304" cy="14630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584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中文内容，本地用户</a:t>
            </a:r>
          </a:p>
        </p:txBody>
      </p:sp>
      <p:sp>
        <p:nvSpPr>
          <p:cNvPr id="63" name="Oval 62"/>
          <p:cNvSpPr/>
          <p:nvPr/>
        </p:nvSpPr>
        <p:spPr>
          <a:xfrm>
            <a:off x="731520" y="3447288"/>
            <a:ext cx="146304" cy="14630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584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流量分账+广告+付费</a:t>
            </a:r>
          </a:p>
        </p:txBody>
      </p:sp>
      <p:sp>
        <p:nvSpPr>
          <p:cNvPr id="65" name="Oval 64"/>
          <p:cNvSpPr/>
          <p:nvPr/>
        </p:nvSpPr>
        <p:spPr>
          <a:xfrm>
            <a:off x="731520" y="3977640"/>
            <a:ext cx="146304" cy="14630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5840" y="39227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竞争激烈，审核严格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26364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63640" y="1371600"/>
            <a:ext cx="668656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932295" y="1371600"/>
            <a:ext cx="668655" cy="38100"/>
          </a:xfrm>
          <a:prstGeom prst="rect">
            <a:avLst/>
          </a:prstGeom>
          <a:solidFill>
            <a:srgbClr val="F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600950" y="1371600"/>
            <a:ext cx="668655" cy="38100"/>
          </a:xfrm>
          <a:prstGeom prst="rect">
            <a:avLst/>
          </a:prstGeom>
          <a:solidFill>
            <a:srgbClr val="F9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269605" y="1371600"/>
            <a:ext cx="668655" cy="38100"/>
          </a:xfrm>
          <a:prstGeom prst="rect">
            <a:avLst/>
          </a:prstGeom>
          <a:solidFill>
            <a:srgbClr val="F9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938260" y="1371600"/>
            <a:ext cx="668655" cy="38100"/>
          </a:xfrm>
          <a:prstGeom prst="rect">
            <a:avLst/>
          </a:prstGeom>
          <a:solidFill>
            <a:srgbClr val="FA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606915" y="1371600"/>
            <a:ext cx="668655" cy="38100"/>
          </a:xfrm>
          <a:prstGeom prst="rect">
            <a:avLst/>
          </a:prstGeom>
          <a:solidFill>
            <a:srgbClr val="FA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275570" y="1371600"/>
            <a:ext cx="668655" cy="38100"/>
          </a:xfrm>
          <a:prstGeom prst="rect">
            <a:avLst/>
          </a:prstGeom>
          <a:solidFill>
            <a:srgbClr val="FB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944225" y="1371600"/>
            <a:ext cx="668655" cy="3810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53796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7171"/>
                </a:solidFill>
                <a:latin typeface="Microsoft YaHei"/>
              </a:defRPr>
            </a:pPr>
            <a:r>
              <a:t>出海平台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537960" y="2103120"/>
            <a:ext cx="205741" cy="254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743700" y="2103120"/>
            <a:ext cx="205740" cy="25400"/>
          </a:xfrm>
          <a:prstGeom prst="rect">
            <a:avLst/>
          </a:prstGeom>
          <a:solidFill>
            <a:srgbClr val="F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949440" y="2103120"/>
            <a:ext cx="205740" cy="25400"/>
          </a:xfrm>
          <a:prstGeom prst="rect">
            <a:avLst/>
          </a:prstGeom>
          <a:solidFill>
            <a:srgbClr val="F9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155180" y="2103120"/>
            <a:ext cx="205740" cy="25400"/>
          </a:xfrm>
          <a:prstGeom prst="rect">
            <a:avLst/>
          </a:prstGeom>
          <a:solidFill>
            <a:srgbClr val="F9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60920" y="2103120"/>
            <a:ext cx="205740" cy="25400"/>
          </a:xfrm>
          <a:prstGeom prst="rect">
            <a:avLst/>
          </a:prstGeom>
          <a:solidFill>
            <a:srgbClr val="FA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66660" y="2103120"/>
            <a:ext cx="205740" cy="25400"/>
          </a:xfrm>
          <a:prstGeom prst="rect">
            <a:avLst/>
          </a:prstGeom>
          <a:solidFill>
            <a:srgbClr val="FA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72400" y="2103120"/>
            <a:ext cx="205740" cy="25400"/>
          </a:xfrm>
          <a:prstGeom prst="rect">
            <a:avLst/>
          </a:prstGeom>
          <a:solidFill>
            <a:srgbClr val="FB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978140" y="2103120"/>
            <a:ext cx="205740" cy="2540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6537960" y="2386584"/>
            <a:ext cx="146304" cy="146304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81228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TikTok/YouTube/Instagram Reels</a:t>
            </a:r>
          </a:p>
        </p:txBody>
      </p:sp>
      <p:sp>
        <p:nvSpPr>
          <p:cNvPr id="87" name="Oval 86"/>
          <p:cNvSpPr/>
          <p:nvPr/>
        </p:nvSpPr>
        <p:spPr>
          <a:xfrm>
            <a:off x="6537960" y="2916936"/>
            <a:ext cx="146304" cy="146304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1228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多语言本地化（AI翻译+AI配音+AI换口型）</a:t>
            </a:r>
          </a:p>
        </p:txBody>
      </p:sp>
      <p:sp>
        <p:nvSpPr>
          <p:cNvPr id="89" name="Oval 88"/>
          <p:cNvSpPr/>
          <p:nvPr/>
        </p:nvSpPr>
        <p:spPr>
          <a:xfrm>
            <a:off x="6537960" y="3447288"/>
            <a:ext cx="146304" cy="146304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81228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东南亚推荐度最高，竞争低</a:t>
            </a:r>
          </a:p>
        </p:txBody>
      </p:sp>
      <p:sp>
        <p:nvSpPr>
          <p:cNvPr id="91" name="Oval 90"/>
          <p:cNvSpPr/>
          <p:nvPr/>
        </p:nvSpPr>
        <p:spPr>
          <a:xfrm>
            <a:off x="6537960" y="3977640"/>
            <a:ext cx="146304" cy="146304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812280" y="39227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欧美CPM更高但竞争激烈</a:t>
            </a:r>
          </a:p>
        </p:txBody>
      </p:sp>
      <p:sp>
        <p:nvSpPr>
          <p:cNvPr id="93" name="Rectangle 92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模块15 · 分发变现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EF444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87171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五级变现体系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CA5A5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Level 1 平台分账：月入1-10万（起步期）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Level 2 付费解锁：月入5-30万（成长期）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Level 3 广告植入：月入10-50万（成熟期）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Level 4 IP授权：年入100万+（品牌期）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Level 5 品牌联名：年入500万+（头部期）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模块15 · 分发变现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0"/>
            <a:ext cx="6400800" cy="6400800"/>
          </a:xfrm>
          <a:prstGeom prst="ellipse">
            <a:avLst/>
          </a:prstGeom>
          <a:solidFill>
            <a:srgbClr val="EF4444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2743200"/>
            <a:ext cx="4572000" cy="4572000"/>
          </a:xfrm>
          <a:prstGeom prst="ellipse">
            <a:avLst/>
          </a:prstGeom>
          <a:solidFill>
            <a:srgbClr val="F87171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1097280"/>
            <a:ext cx="720091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920490" y="1097280"/>
            <a:ext cx="720090" cy="381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40580" y="1097280"/>
            <a:ext cx="720090" cy="381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60670" y="1097280"/>
            <a:ext cx="720090" cy="381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80760" y="1097280"/>
            <a:ext cx="720090" cy="381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00850" y="1097280"/>
            <a:ext cx="720090" cy="381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20940" y="1097280"/>
            <a:ext cx="720090" cy="381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41030" y="1097280"/>
            <a:ext cx="720090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164592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使用可灵AI生成内容可获得快手额外流量推荐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931920"/>
            <a:ext cx="262891" cy="25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3931920"/>
            <a:ext cx="262890" cy="254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3931920"/>
            <a:ext cx="262890" cy="254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3931920"/>
            <a:ext cx="262890" cy="254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3931920"/>
            <a:ext cx="262890" cy="254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3931920"/>
            <a:ext cx="262890" cy="254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3931920"/>
            <a:ext cx="262890" cy="254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3931920"/>
            <a:ext cx="262890" cy="254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297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快手对可灵AI生成的内容有流量倾斜和创作者激励。获取扶持的方法：1.使用可灵AI创作并直接发布到快手；2.添加"可灵AI创作"标签；3.保持内容质量达标和更新频率。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模块15 · 分发变现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EF444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87171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多平台分发实操流程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CA5A5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制作完成漫剧（至少5集，1080P，完成AIGC标识）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1371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221992"/>
            <a:ext cx="6859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8378" y="2221992"/>
            <a:ext cx="6858" cy="36576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45236" y="2221992"/>
            <a:ext cx="6858" cy="36576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2094" y="2221992"/>
            <a:ext cx="6858" cy="36576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58952" y="2221992"/>
            <a:ext cx="6858" cy="36576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65810" y="2221992"/>
            <a:ext cx="6858" cy="36576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2668" y="2221992"/>
            <a:ext cx="6858" cy="36576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79526" y="2221992"/>
            <a:ext cx="6858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2688" y="2148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准备各平台素材（封面/标题/简介，注意尺寸差异）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21488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" y="2999232"/>
            <a:ext cx="6859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38378" y="2999232"/>
            <a:ext cx="6858" cy="36576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45236" y="2999232"/>
            <a:ext cx="6858" cy="36576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52094" y="2999232"/>
            <a:ext cx="6858" cy="36576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58952" y="2999232"/>
            <a:ext cx="6858" cy="36576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65810" y="2999232"/>
            <a:ext cx="6858" cy="36576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72668" y="2999232"/>
            <a:ext cx="6858" cy="36576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79526" y="2999232"/>
            <a:ext cx="6858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2688" y="2926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注册各平台账号并提交备案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1520" y="3776472"/>
            <a:ext cx="6859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8378" y="3776472"/>
            <a:ext cx="6858" cy="36576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45236" y="3776472"/>
            <a:ext cx="6858" cy="36576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52094" y="3776472"/>
            <a:ext cx="6858" cy="36576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58952" y="3776472"/>
            <a:ext cx="6858" cy="36576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5810" y="3776472"/>
            <a:ext cx="6858" cy="36576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72668" y="3776472"/>
            <a:ext cx="6858" cy="36576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79526" y="3776472"/>
            <a:ext cx="6858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32688" y="3703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按平台要求调整格式（竖屏9:16 vs 横屏16:9）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" y="3703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1520" y="4553712"/>
            <a:ext cx="6859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8378" y="4553712"/>
            <a:ext cx="6858" cy="36576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5236" y="4553712"/>
            <a:ext cx="6858" cy="36576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2094" y="4553712"/>
            <a:ext cx="6858" cy="36576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8952" y="4553712"/>
            <a:ext cx="6858" cy="36576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5810" y="4553712"/>
            <a:ext cx="6858" cy="36576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2668" y="4553712"/>
            <a:ext cx="6858" cy="36576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9526" y="4553712"/>
            <a:ext cx="6858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32688" y="4480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选择最佳时间段发布，错开各平台时间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1520" y="4480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31520" y="5330952"/>
            <a:ext cx="6859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38378" y="5330952"/>
            <a:ext cx="6858" cy="36576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45236" y="5330952"/>
            <a:ext cx="6858" cy="36576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52094" y="5330952"/>
            <a:ext cx="6858" cy="36576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58952" y="5330952"/>
            <a:ext cx="6858" cy="36576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65810" y="5330952"/>
            <a:ext cx="6858" cy="36576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72668" y="5330952"/>
            <a:ext cx="6858" cy="36576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79526" y="5330952"/>
            <a:ext cx="6858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32688" y="5257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每日监控数据，每周分析核心指标并优化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31520" y="5257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模块15 · 分发变现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EF444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87171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CA5A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◆  本模块实操任务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EE7B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" y="144475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144475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8096" y="144475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4672" y="144475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41248" y="144475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77824" y="144475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" y="144475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50976" y="144475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7552" y="144475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8872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45920" y="1371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为你的漫剧设计3款封面，撰写5个备选标题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222199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1520" y="222199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68096" y="222199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4672" y="222199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41248" y="222199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77824" y="222199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400" y="222199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50976" y="222199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87552" y="222199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8872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45920" y="21488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在抖音/快手/B站各注册创作者账号并熟悉规则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" y="299923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31520" y="299923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68096" y="299923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04672" y="299923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41248" y="299923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7824" y="299923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14400" y="299923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50976" y="299923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87552" y="299923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8872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645920" y="2926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将你的漫剧发布到至少3个平台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31520" y="377647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31520" y="377647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8096" y="377647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04672" y="377647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41248" y="377647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77824" y="377647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14400" y="377647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50976" y="377647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87552" y="377647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188720" y="3703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645920" y="3703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监控2周数据，分析完播率/互动率/关注率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31520" y="455371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31520" y="455371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8096" y="455371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4672" y="455371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41248" y="455371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77824" y="455371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14400" y="455371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50976" y="455371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87552" y="455371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88720" y="4480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645920" y="44805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根据数据差异制定针对性优化计划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31520" y="533095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31520" y="533095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68096" y="533095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04672" y="533095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41248" y="533095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7824" y="533095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14400" y="533095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50976" y="533095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87552" y="533095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188720" y="5257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645920" y="52578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研究红果平台S级作品的共同特点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模块15 · 分发变现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914400"/>
            <a:ext cx="6400800" cy="6400800"/>
          </a:xfrm>
          <a:prstGeom prst="ellipse">
            <a:avLst/>
          </a:prstGeom>
          <a:solidFill>
            <a:srgbClr val="EF444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1371600"/>
            <a:ext cx="491491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06290" y="1371600"/>
            <a:ext cx="491490" cy="381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97780" y="1371600"/>
            <a:ext cx="491490" cy="381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9270" y="1371600"/>
            <a:ext cx="491490" cy="381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80760" y="1371600"/>
            <a:ext cx="491490" cy="381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72250" y="1371600"/>
            <a:ext cx="491490" cy="381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63740" y="1371600"/>
            <a:ext cx="491490" cy="381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55230" y="1371600"/>
            <a:ext cx="491490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EF4444"/>
                </a:solidFill>
                <a:latin typeface="Microsoft YaHei"/>
              </a:defRPr>
            </a:pPr>
            <a: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320040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本模块结束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4023360"/>
            <a:ext cx="262891" cy="25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4023360"/>
            <a:ext cx="262890" cy="25400"/>
          </a:xfrm>
          <a:prstGeom prst="rect">
            <a:avLst/>
          </a:prstGeom>
          <a:solidFill>
            <a:srgbClr val="F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4023360"/>
            <a:ext cx="262890" cy="25400"/>
          </a:xfrm>
          <a:prstGeom prst="rect">
            <a:avLst/>
          </a:prstGeom>
          <a:solidFill>
            <a:srgbClr val="F1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4023360"/>
            <a:ext cx="262890" cy="25400"/>
          </a:xfrm>
          <a:prstGeom prst="rect">
            <a:avLst/>
          </a:prstGeom>
          <a:solidFill>
            <a:srgbClr val="F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4023360"/>
            <a:ext cx="262890" cy="25400"/>
          </a:xfrm>
          <a:prstGeom prst="rect">
            <a:avLst/>
          </a:prstGeom>
          <a:solidFill>
            <a:srgbClr val="F4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4023360"/>
            <a:ext cx="262890" cy="25400"/>
          </a:xfrm>
          <a:prstGeom prst="rect">
            <a:avLst/>
          </a:prstGeom>
          <a:solidFill>
            <a:srgbClr val="F5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4023360"/>
            <a:ext cx="262890" cy="25400"/>
          </a:xfrm>
          <a:prstGeom prst="rect">
            <a:avLst/>
          </a:prstGeom>
          <a:solidFill>
            <a:srgbClr val="F6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4023360"/>
            <a:ext cx="262890" cy="254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8BAC8"/>
                </a:solidFill>
                <a:latin typeface="Microsoft YaHei"/>
              </a:defRPr>
            </a:pPr>
            <a:r>
              <a:t>下一模块：合规规范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E7082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1E40A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2743200"/>
            <a:ext cx="5486400" cy="5486400"/>
          </a:xfrm>
          <a:prstGeom prst="ellipse">
            <a:avLst/>
          </a:prstGeom>
          <a:solidFill>
            <a:srgbClr val="385EE0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4572000"/>
            <a:ext cx="3657600" cy="3657600"/>
          </a:xfrm>
          <a:prstGeom prst="ellipse">
            <a:avLst/>
          </a:prstGeom>
          <a:solidFill>
            <a:srgbClr val="60A5FA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0"/>
            <a:ext cx="182880" cy="68580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91440" cy="6858000"/>
          </a:xfrm>
          <a:prstGeom prst="rect">
            <a:avLst/>
          </a:prstGeom>
          <a:solidFill>
            <a:srgbClr val="1C2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8016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5448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1031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774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8016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55448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8288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031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3774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2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58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8016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8288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1031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3774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7315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0" b="1">
                <a:solidFill>
                  <a:srgbClr val="FFFFFF"/>
                </a:solidFill>
                <a:latin typeface="Microsoft YaHei"/>
              </a:defRPr>
            </a:pPr>
            <a:r>
              <a:t>16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657600"/>
            <a:ext cx="1828800" cy="329184"/>
          </a:xfrm>
          <a:prstGeom prst="round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657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0A5FA"/>
                </a:solidFill>
                <a:latin typeface="Microsoft YaHei"/>
              </a:defRPr>
            </a:pPr>
            <a:r>
              <a:t>M O D U L 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114800"/>
            <a:ext cx="285751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2950" y="4114800"/>
            <a:ext cx="285750" cy="38100"/>
          </a:xfrm>
          <a:prstGeom prst="rect">
            <a:avLst/>
          </a:prstGeom>
          <a:solidFill>
            <a:srgbClr val="569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28700" y="4114800"/>
            <a:ext cx="285750" cy="38100"/>
          </a:xfrm>
          <a:prstGeom prst="rect">
            <a:avLst/>
          </a:prstGeom>
          <a:solidFill>
            <a:srgbClr val="4D8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314450" y="4114800"/>
            <a:ext cx="285750" cy="38100"/>
          </a:xfrm>
          <a:prstGeom prst="rect">
            <a:avLst/>
          </a:prstGeom>
          <a:solidFill>
            <a:srgbClr val="437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600200" y="4114800"/>
            <a:ext cx="285750" cy="38100"/>
          </a:xfrm>
          <a:prstGeom prst="rect">
            <a:avLst/>
          </a:prstGeom>
          <a:solidFill>
            <a:srgbClr val="3A6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885950" y="4114800"/>
            <a:ext cx="285750" cy="38100"/>
          </a:xfrm>
          <a:prstGeom prst="rect">
            <a:avLst/>
          </a:prstGeom>
          <a:solidFill>
            <a:srgbClr val="305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171700" y="4114800"/>
            <a:ext cx="285750" cy="38100"/>
          </a:xfrm>
          <a:prstGeom prst="rect">
            <a:avLst/>
          </a:prstGeom>
          <a:solidFill>
            <a:srgbClr val="274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457450" y="4114800"/>
            <a:ext cx="285750" cy="381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035040" y="1097280"/>
            <a:ext cx="5486400" cy="457200"/>
          </a:xfrm>
          <a:prstGeom prst="round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A5FA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20116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F0F5"/>
                </a:solidFill>
                <a:latin typeface="Microsoft YaHei"/>
              </a:defRPr>
            </a:pPr>
            <a:r>
              <a:t>模块16：合规要求与行业规范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3840480"/>
            <a:ext cx="400051" cy="381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5090" y="3840480"/>
            <a:ext cx="400050" cy="381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835140" y="3840480"/>
            <a:ext cx="400050" cy="381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35190" y="3840480"/>
            <a:ext cx="400050" cy="381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635240" y="3840480"/>
            <a:ext cx="400050" cy="381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35290" y="3840480"/>
            <a:ext cx="400050" cy="381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435340" y="3840480"/>
            <a:ext cx="400050" cy="381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35390" y="3840480"/>
            <a:ext cx="400050" cy="381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35040" y="42062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4课时 · 备案要求、AIGC标识、版权保护与行业伦理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035040" y="5303520"/>
            <a:ext cx="5486400" cy="6400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722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40AF"/>
                </a:solidFill>
                <a:latin typeface="Microsoft YaHei"/>
              </a:defRPr>
            </a:pPr>
            <a:r>
              <a:t>124课时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609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438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40AF"/>
                </a:solidFill>
                <a:latin typeface="Microsoft YaHei"/>
              </a:defRPr>
            </a:pPr>
            <a:r>
              <a:t>17模块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7325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154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40AF"/>
                </a:solidFill>
                <a:latin typeface="Microsoft YaHei"/>
              </a:defRPr>
            </a:pPr>
            <a:r>
              <a:t>8-16周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1041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2870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40AF"/>
                </a:solidFill>
                <a:latin typeface="Microsoft YaHei"/>
              </a:defRPr>
            </a:pPr>
            <a:r>
              <a:t>全流程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155680" y="0"/>
            <a:ext cx="1036015" cy="381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1978640" y="0"/>
            <a:ext cx="38100" cy="7315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521440" y="274320"/>
            <a:ext cx="137160" cy="137160"/>
          </a:xfrm>
          <a:prstGeom prst="ellipse">
            <a:avLst/>
          </a:prstGeom>
          <a:solidFill>
            <a:srgbClr val="60A5F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1E40A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385EE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§  本节内容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0A5FA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31520" y="1397000"/>
            <a:ext cx="274320" cy="27432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422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2026年广电总局新规解读</a:t>
            </a:r>
          </a:p>
        </p:txBody>
      </p:sp>
      <p:sp>
        <p:nvSpPr>
          <p:cNvPr id="44" name="Oval 43"/>
          <p:cNvSpPr/>
          <p:nvPr/>
        </p:nvSpPr>
        <p:spPr>
          <a:xfrm>
            <a:off x="731520" y="1963928"/>
            <a:ext cx="274320" cy="27432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422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AI内容标识办法</a:t>
            </a:r>
          </a:p>
        </p:txBody>
      </p:sp>
      <p:sp>
        <p:nvSpPr>
          <p:cNvPr id="47" name="Oval 46"/>
          <p:cNvSpPr/>
          <p:nvPr/>
        </p:nvSpPr>
        <p:spPr>
          <a:xfrm>
            <a:off x="6400800" y="1397000"/>
            <a:ext cx="274320" cy="27432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1350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6656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版权与原创性</a:t>
            </a:r>
          </a:p>
        </p:txBody>
      </p:sp>
      <p:sp>
        <p:nvSpPr>
          <p:cNvPr id="50" name="Oval 49"/>
          <p:cNvSpPr/>
          <p:nvPr/>
        </p:nvSpPr>
        <p:spPr>
          <a:xfrm>
            <a:off x="6400800" y="1963928"/>
            <a:ext cx="274320" cy="27432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1350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行业伦理与可持续发展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模块16 · 合规规范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1E40A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385EE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AI漫剧监管框架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0A5FA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48640" y="1280160"/>
          <a:ext cx="110642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法规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发布机构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核心要求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《生成式AI服务管理暂行办法》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网信办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AIGC内容标识、安全评估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《网络短视频内容审核标准细则》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广电总局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内容红线、审核标准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《深度合成管理规定》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网信办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深度合成标识、备案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《网络视听节目服务管理规定》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广电总局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节目备案、内容审核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《未成年人网络保护条例》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国务院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未成年人保护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模块16 · 合规规范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1E40A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385EE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内容红线——绝对禁止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0A5FA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暴力血腥：过度暴力、血腥画面、残忍行为 → 下架+封号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色情内容：色情画面、性暗示、裸露 → 下架+封号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政治敏感：政治人物、敏感事件、意识形态 → 下架+封号+追责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仇恨歧视：种族/性别/宗教歧视 → 下架+封号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未成年不当：未成年人暴力/色情/危险行为 → 下架+封号+追责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1520" y="5468112"/>
            <a:ext cx="6859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38378" y="5468112"/>
            <a:ext cx="6858" cy="36576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45236" y="5468112"/>
            <a:ext cx="6858" cy="36576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52094" y="5468112"/>
            <a:ext cx="6858" cy="36576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58952" y="5468112"/>
            <a:ext cx="6858" cy="36576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65810" y="5468112"/>
            <a:ext cx="6858" cy="36576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72668" y="5468112"/>
            <a:ext cx="6858" cy="36576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79526" y="5468112"/>
            <a:ext cx="6858" cy="36576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32688" y="5394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违法内容：赌博、毒品、传销、诈骗 → 下架+封号+追责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模块16 · 合规规范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1E40A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385EE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备案流程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0A5FA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7200" y="1371600"/>
            <a:ext cx="2628900" cy="457200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1371600"/>
            <a:ext cx="328613" cy="381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85812" y="1371600"/>
            <a:ext cx="328612" cy="381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14424" y="1371600"/>
            <a:ext cx="328612" cy="381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443036" y="1371600"/>
            <a:ext cx="328612" cy="381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771648" y="1371600"/>
            <a:ext cx="328612" cy="381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100260" y="1371600"/>
            <a:ext cx="328612" cy="381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428872" y="1371600"/>
            <a:ext cx="328612" cy="381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757484" y="1371600"/>
            <a:ext cx="328612" cy="381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1645920"/>
            <a:ext cx="22631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E40A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560320"/>
            <a:ext cx="260033" cy="25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91552" y="2560320"/>
            <a:ext cx="260032" cy="254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251584" y="2560320"/>
            <a:ext cx="260032" cy="254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511616" y="2560320"/>
            <a:ext cx="260032" cy="254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771648" y="2560320"/>
            <a:ext cx="260032" cy="254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031680" y="2560320"/>
            <a:ext cx="260032" cy="254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291712" y="2560320"/>
            <a:ext cx="260032" cy="254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551744" y="2560320"/>
            <a:ext cx="260032" cy="254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" y="2743200"/>
            <a:ext cx="22631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准备材料：作品名称/简介、制作方信息、AI工具说明、安全承诺书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95244" y="25603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40AF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314700" y="1371600"/>
            <a:ext cx="2628900" cy="457200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314700" y="1371600"/>
            <a:ext cx="328613" cy="381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643312" y="1371600"/>
            <a:ext cx="328612" cy="381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971924" y="1371600"/>
            <a:ext cx="328612" cy="381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300536" y="1371600"/>
            <a:ext cx="328612" cy="381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629148" y="1371600"/>
            <a:ext cx="328612" cy="381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957760" y="1371600"/>
            <a:ext cx="328612" cy="381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286372" y="1371600"/>
            <a:ext cx="328612" cy="381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614984" y="1371600"/>
            <a:ext cx="328612" cy="381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497580" y="1645920"/>
            <a:ext cx="22631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E40A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589020" y="2560320"/>
            <a:ext cx="260033" cy="25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849052" y="2560320"/>
            <a:ext cx="260032" cy="254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109084" y="2560320"/>
            <a:ext cx="260032" cy="254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369116" y="2560320"/>
            <a:ext cx="260032" cy="254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629148" y="2560320"/>
            <a:ext cx="260032" cy="254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889180" y="2560320"/>
            <a:ext cx="260032" cy="254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149212" y="2560320"/>
            <a:ext cx="260032" cy="254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409244" y="2560320"/>
            <a:ext cx="260032" cy="254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497580" y="2743200"/>
            <a:ext cx="22631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平台备案：在发布平台提交备案，填写信息表，上传材料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952744" y="25603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40AF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172200" y="1371600"/>
            <a:ext cx="2628900" cy="457200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172200" y="1371600"/>
            <a:ext cx="328613" cy="381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500812" y="1371600"/>
            <a:ext cx="328612" cy="381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829424" y="1371600"/>
            <a:ext cx="328612" cy="381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158036" y="1371600"/>
            <a:ext cx="328612" cy="381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486648" y="1371600"/>
            <a:ext cx="328612" cy="381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815260" y="1371600"/>
            <a:ext cx="328612" cy="381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143872" y="1371600"/>
            <a:ext cx="328612" cy="381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472484" y="1371600"/>
            <a:ext cx="328612" cy="381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355080" y="1645920"/>
            <a:ext cx="22631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E40A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446520" y="2560320"/>
            <a:ext cx="260033" cy="25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706552" y="2560320"/>
            <a:ext cx="260032" cy="254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966584" y="2560320"/>
            <a:ext cx="260032" cy="254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226616" y="2560320"/>
            <a:ext cx="260032" cy="254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486648" y="2560320"/>
            <a:ext cx="260032" cy="254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746680" y="2560320"/>
            <a:ext cx="260032" cy="254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006712" y="2560320"/>
            <a:ext cx="260032" cy="254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266744" y="2560320"/>
            <a:ext cx="260032" cy="254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355080" y="2743200"/>
            <a:ext cx="22631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审核通过：平台审核1-3个工作日，获得备案号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810244" y="25603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40AF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9029700" y="1371600"/>
            <a:ext cx="2628900" cy="457200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29700" y="1371600"/>
            <a:ext cx="328613" cy="381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358312" y="1371600"/>
            <a:ext cx="328612" cy="381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686924" y="1371600"/>
            <a:ext cx="328612" cy="381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0015536" y="1371600"/>
            <a:ext cx="328612" cy="381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344148" y="1371600"/>
            <a:ext cx="328612" cy="381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0672760" y="1371600"/>
            <a:ext cx="328612" cy="381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1001372" y="1371600"/>
            <a:ext cx="328612" cy="381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1329984" y="1371600"/>
            <a:ext cx="328612" cy="381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212580" y="1645920"/>
            <a:ext cx="22631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E40A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304020" y="2560320"/>
            <a:ext cx="260033" cy="25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564052" y="2560320"/>
            <a:ext cx="260032" cy="254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824084" y="2560320"/>
            <a:ext cx="260032" cy="254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0084116" y="2560320"/>
            <a:ext cx="260032" cy="254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0344148" y="2560320"/>
            <a:ext cx="260032" cy="254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0604180" y="2560320"/>
            <a:ext cx="260032" cy="254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0864212" y="2560320"/>
            <a:ext cx="260032" cy="254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1124244" y="2560320"/>
            <a:ext cx="260032" cy="254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212580" y="2743200"/>
            <a:ext cx="22631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发布内容：在内容中标注备案号，添加AIGC标识，正式发布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模块16 · 合规规范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1E40A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385EE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AIGC标识要求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0A5FA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720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1371600"/>
            <a:ext cx="668656" cy="381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25855" y="1371600"/>
            <a:ext cx="668655" cy="381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794510" y="1371600"/>
            <a:ext cx="668655" cy="381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463165" y="1371600"/>
            <a:ext cx="668655" cy="381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131820" y="1371600"/>
            <a:ext cx="668655" cy="381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00475" y="1371600"/>
            <a:ext cx="668655" cy="381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469130" y="1371600"/>
            <a:ext cx="668655" cy="381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137785" y="1371600"/>
            <a:ext cx="668655" cy="381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0AF"/>
                </a:solidFill>
                <a:latin typeface="Microsoft YaHei"/>
              </a:defRPr>
            </a:pPr>
            <a:r>
              <a:t>必须标识的内容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103120"/>
            <a:ext cx="205741" cy="25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37260" y="2103120"/>
            <a:ext cx="205740" cy="254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43000" y="2103120"/>
            <a:ext cx="205740" cy="254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348740" y="2103120"/>
            <a:ext cx="205740" cy="254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554480" y="2103120"/>
            <a:ext cx="205740" cy="254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60220" y="2103120"/>
            <a:ext cx="205740" cy="254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965960" y="2103120"/>
            <a:ext cx="205740" cy="254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171700" y="2103120"/>
            <a:ext cx="205740" cy="254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31520" y="2386584"/>
            <a:ext cx="146304" cy="146304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584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所有AI生成或辅助生成的内容</a:t>
            </a:r>
          </a:p>
        </p:txBody>
      </p:sp>
      <p:sp>
        <p:nvSpPr>
          <p:cNvPr id="61" name="Oval 60"/>
          <p:cNvSpPr/>
          <p:nvPr/>
        </p:nvSpPr>
        <p:spPr>
          <a:xfrm>
            <a:off x="731520" y="2916936"/>
            <a:ext cx="146304" cy="146304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584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视觉标识：水印、角标、片头文字</a:t>
            </a:r>
          </a:p>
        </p:txBody>
      </p:sp>
      <p:sp>
        <p:nvSpPr>
          <p:cNvPr id="63" name="Oval 62"/>
          <p:cNvSpPr/>
          <p:nvPr/>
        </p:nvSpPr>
        <p:spPr>
          <a:xfrm>
            <a:off x="731520" y="3447288"/>
            <a:ext cx="146304" cy="146304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584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音频标识：语音声明</a:t>
            </a:r>
          </a:p>
        </p:txBody>
      </p:sp>
      <p:sp>
        <p:nvSpPr>
          <p:cNvPr id="65" name="Oval 64"/>
          <p:cNvSpPr/>
          <p:nvPr/>
        </p:nvSpPr>
        <p:spPr>
          <a:xfrm>
            <a:off x="731520" y="3977640"/>
            <a:ext cx="146304" cy="146304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5840" y="39227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文字标识：简介说明、字幕标注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26364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63640" y="1371600"/>
            <a:ext cx="668656" cy="381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932295" y="1371600"/>
            <a:ext cx="668655" cy="38100"/>
          </a:xfrm>
          <a:prstGeom prst="rect">
            <a:avLst/>
          </a:prstGeom>
          <a:solidFill>
            <a:srgbClr val="3D6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600950" y="1371600"/>
            <a:ext cx="668655" cy="38100"/>
          </a:xfrm>
          <a:prstGeom prst="rect">
            <a:avLst/>
          </a:prstGeom>
          <a:solidFill>
            <a:srgbClr val="437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269605" y="1371600"/>
            <a:ext cx="668655" cy="38100"/>
          </a:xfrm>
          <a:prstGeom prst="rect">
            <a:avLst/>
          </a:prstGeom>
          <a:solidFill>
            <a:srgbClr val="497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938260" y="1371600"/>
            <a:ext cx="668655" cy="38100"/>
          </a:xfrm>
          <a:prstGeom prst="rect">
            <a:avLst/>
          </a:prstGeom>
          <a:solidFill>
            <a:srgbClr val="4E8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606915" y="1371600"/>
            <a:ext cx="668655" cy="38100"/>
          </a:xfrm>
          <a:prstGeom prst="rect">
            <a:avLst/>
          </a:prstGeom>
          <a:solidFill>
            <a:srgbClr val="549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275570" y="1371600"/>
            <a:ext cx="668655" cy="38100"/>
          </a:xfrm>
          <a:prstGeom prst="rect">
            <a:avLst/>
          </a:prstGeom>
          <a:solidFill>
            <a:srgbClr val="5A9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944225" y="1371600"/>
            <a:ext cx="668655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53796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5EE0"/>
                </a:solidFill>
                <a:latin typeface="Microsoft YaHei"/>
              </a:defRPr>
            </a:pPr>
            <a:r>
              <a:t>各平台标识规则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537960" y="2103120"/>
            <a:ext cx="205741" cy="254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743700" y="2103120"/>
            <a:ext cx="205740" cy="25400"/>
          </a:xfrm>
          <a:prstGeom prst="rect">
            <a:avLst/>
          </a:prstGeom>
          <a:solidFill>
            <a:srgbClr val="3D6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949440" y="2103120"/>
            <a:ext cx="205740" cy="25400"/>
          </a:xfrm>
          <a:prstGeom prst="rect">
            <a:avLst/>
          </a:prstGeom>
          <a:solidFill>
            <a:srgbClr val="437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155180" y="2103120"/>
            <a:ext cx="205740" cy="25400"/>
          </a:xfrm>
          <a:prstGeom prst="rect">
            <a:avLst/>
          </a:prstGeom>
          <a:solidFill>
            <a:srgbClr val="497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60920" y="2103120"/>
            <a:ext cx="205740" cy="25400"/>
          </a:xfrm>
          <a:prstGeom prst="rect">
            <a:avLst/>
          </a:prstGeom>
          <a:solidFill>
            <a:srgbClr val="4E8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66660" y="2103120"/>
            <a:ext cx="205740" cy="25400"/>
          </a:xfrm>
          <a:prstGeom prst="rect">
            <a:avLst/>
          </a:prstGeom>
          <a:solidFill>
            <a:srgbClr val="549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72400" y="2103120"/>
            <a:ext cx="205740" cy="25400"/>
          </a:xfrm>
          <a:prstGeom prst="rect">
            <a:avLst/>
          </a:prstGeom>
          <a:solidFill>
            <a:srgbClr val="5A9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978140" y="2103120"/>
            <a:ext cx="20574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6537960" y="2386584"/>
            <a:ext cx="146304" cy="146304"/>
          </a:xfrm>
          <a:prstGeom prst="ellipse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81228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抖音：右下角自动"AI生成"水印+简介注明</a:t>
            </a:r>
          </a:p>
        </p:txBody>
      </p:sp>
      <p:sp>
        <p:nvSpPr>
          <p:cNvPr id="87" name="Oval 86"/>
          <p:cNvSpPr/>
          <p:nvPr/>
        </p:nvSpPr>
        <p:spPr>
          <a:xfrm>
            <a:off x="6537960" y="2916936"/>
            <a:ext cx="146304" cy="146304"/>
          </a:xfrm>
          <a:prstGeom prst="ellipse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1228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快手：可灵AI自动标识，其他需手动</a:t>
            </a:r>
          </a:p>
        </p:txBody>
      </p:sp>
      <p:sp>
        <p:nvSpPr>
          <p:cNvPr id="89" name="Oval 88"/>
          <p:cNvSpPr/>
          <p:nvPr/>
        </p:nvSpPr>
        <p:spPr>
          <a:xfrm>
            <a:off x="6537960" y="3447288"/>
            <a:ext cx="146304" cy="146304"/>
          </a:xfrm>
          <a:prstGeom prst="ellipse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81228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B站：简介注明+标签#AI生成</a:t>
            </a:r>
          </a:p>
        </p:txBody>
      </p:sp>
      <p:sp>
        <p:nvSpPr>
          <p:cNvPr id="91" name="Oval 90"/>
          <p:cNvSpPr/>
          <p:nvPr/>
        </p:nvSpPr>
        <p:spPr>
          <a:xfrm>
            <a:off x="6537960" y="3977640"/>
            <a:ext cx="146304" cy="146304"/>
          </a:xfrm>
          <a:prstGeom prst="ellipse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812280" y="39227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红果：片头"本内容由AI辅助制作"+备案号</a:t>
            </a:r>
          </a:p>
        </p:txBody>
      </p:sp>
      <p:sp>
        <p:nvSpPr>
          <p:cNvPr id="93" name="Rectangle 92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模块16 · 合规规范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0"/>
            <a:ext cx="6400800" cy="6400800"/>
          </a:xfrm>
          <a:prstGeom prst="ellipse">
            <a:avLst/>
          </a:prstGeom>
          <a:solidFill>
            <a:srgbClr val="1E40A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2743200"/>
            <a:ext cx="4572000" cy="4572000"/>
          </a:xfrm>
          <a:prstGeom prst="ellipse">
            <a:avLst/>
          </a:prstGeom>
          <a:solidFill>
            <a:srgbClr val="385EE0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1097280"/>
            <a:ext cx="720091" cy="381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920490" y="1097280"/>
            <a:ext cx="720090" cy="381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40580" y="1097280"/>
            <a:ext cx="720090" cy="381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60670" y="1097280"/>
            <a:ext cx="720090" cy="381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80760" y="1097280"/>
            <a:ext cx="720090" cy="381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00850" y="1097280"/>
            <a:ext cx="720090" cy="381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20940" y="1097280"/>
            <a:ext cx="720090" cy="381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41030" y="1097280"/>
            <a:ext cx="720090" cy="381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164592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未标识/删除标识/伪造标识将面临限流、下架、封号、追责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931920"/>
            <a:ext cx="262891" cy="25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3931920"/>
            <a:ext cx="262890" cy="254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3931920"/>
            <a:ext cx="262890" cy="254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3931920"/>
            <a:ext cx="262890" cy="254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3931920"/>
            <a:ext cx="262890" cy="254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3931920"/>
            <a:ext cx="262890" cy="254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3931920"/>
            <a:ext cx="262890" cy="254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3931920"/>
            <a:ext cx="262890" cy="254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297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推荐方案：片头3-5秒文字声明"本作品使用AI技术辅助制作" + 右下角持续水印 + 简介详细说明AI工具使用情况。主动标识是合规底线，也是建立用户信任的基础。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模块16 · 合规规范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1E40A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385EE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AI生成内容著作权现状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0A5FA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48640" y="1280160"/>
          <a:ext cx="11064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内容类型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著作权状态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 anchor="ctr">
                    <a:solidFill>
                      <a:srgbClr val="1E40A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纯AI生成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◆ 不受保护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无人类创作贡献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AI辅助创作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◆ 可获保护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有人类创意贡献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AI改编作品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! 视情况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需获得原作授权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模块16 · 合规规范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1E40A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385EE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侵权风险防范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0A5FA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剧本层面：使用原创剧本或已授权IP，禁止直接使用他人剧本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角色层面：设计原创角色形象，不模仿他人角色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音乐层面：使用版权免费音乐/AI生成音乐/正版授权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素材层面：使用原创素材或正版素材库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版权保护：及时申请版权登记，保留完整创作过程记录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模块16 · 合规规范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1E40A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385EE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从流量思维到IP思维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0A5FA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流量思维（不可持续）：短期流量、低质批量、标题党、同质化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IP思维（可持续）：长期IP、精品运营、角色品牌化、粉丝社群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行业自律：内容自律 + 竞争自律 + 技术自律 + 商业自律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精品化路径：基础制作 → 品质提升 → IP打造 → 品牌建设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模块16 · 合规规范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1E40A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385EE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◆  本模块实操任务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EE7B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" y="144475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144475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8096" y="144475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4672" y="144475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41248" y="144475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77824" y="144475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" y="144475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50976" y="144475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7552" y="144475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8872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45920" y="1371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阅读《生成式人工智能服务管理暂行办法》全文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222199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1520" y="222199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68096" y="222199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4672" y="222199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41248" y="222199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77824" y="222199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400" y="222199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50976" y="222199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87552" y="222199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8872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45920" y="21488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在一个平台完成AI漫剧备案流程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" y="299923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31520" y="299923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68096" y="299923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04672" y="299923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41248" y="299923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7824" y="299923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14400" y="299923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50976" y="299923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87552" y="299923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8872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645920" y="2926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检查已发布内容的AIGC标识是否完整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31520" y="377647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31520" y="377647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8096" y="377647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04672" y="377647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41248" y="377647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77824" y="377647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14400" y="377647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50976" y="377647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87552" y="377647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188720" y="3703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645920" y="3703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为你的漫剧设计一套完整的AIGC标识方案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31520" y="455371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31520" y="455371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8096" y="455371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4672" y="455371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41248" y="455371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77824" y="455371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14400" y="455371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50976" y="455371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87552" y="455371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88720" y="4480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645920" y="44805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检查作品是否存在侵权风险并整改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31520" y="533095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31520" y="533095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68096" y="533095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04672" y="533095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41248" y="533095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7824" y="533095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14400" y="533095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50976" y="533095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87552" y="533095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188720" y="5257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645920" y="52578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保留完整的创作过程记录（剧本/角色/AI生成记录）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模块16 · 合规规范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914400"/>
            <a:ext cx="6400800" cy="6400800"/>
          </a:xfrm>
          <a:prstGeom prst="ellipse">
            <a:avLst/>
          </a:prstGeom>
          <a:solidFill>
            <a:srgbClr val="1E40A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1371600"/>
            <a:ext cx="491491" cy="381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06290" y="1371600"/>
            <a:ext cx="491490" cy="381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97780" y="1371600"/>
            <a:ext cx="491490" cy="381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9270" y="1371600"/>
            <a:ext cx="491490" cy="381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80760" y="1371600"/>
            <a:ext cx="491490" cy="381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72250" y="1371600"/>
            <a:ext cx="491490" cy="381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63740" y="1371600"/>
            <a:ext cx="491490" cy="381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55230" y="1371600"/>
            <a:ext cx="491490" cy="381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1E40AF"/>
                </a:solidFill>
                <a:latin typeface="Microsoft YaHei"/>
              </a:defRPr>
            </a:pPr>
            <a: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320040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本模块结束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4023360"/>
            <a:ext cx="262891" cy="25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4023360"/>
            <a:ext cx="262890" cy="25400"/>
          </a:xfrm>
          <a:prstGeom prst="rect">
            <a:avLst/>
          </a:prstGeom>
          <a:solidFill>
            <a:srgbClr val="214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4023360"/>
            <a:ext cx="262890" cy="25400"/>
          </a:xfrm>
          <a:prstGeom prst="rect">
            <a:avLst/>
          </a:prstGeom>
          <a:solidFill>
            <a:srgbClr val="254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4023360"/>
            <a:ext cx="262890" cy="25400"/>
          </a:xfrm>
          <a:prstGeom prst="rect">
            <a:avLst/>
          </a:prstGeom>
          <a:solidFill>
            <a:srgbClr val="294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4023360"/>
            <a:ext cx="262890" cy="25400"/>
          </a:xfrm>
          <a:prstGeom prst="rect">
            <a:avLst/>
          </a:prstGeom>
          <a:solidFill>
            <a:srgbClr val="2C5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4023360"/>
            <a:ext cx="262890" cy="25400"/>
          </a:xfrm>
          <a:prstGeom prst="rect">
            <a:avLst/>
          </a:prstGeom>
          <a:solidFill>
            <a:srgbClr val="305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4023360"/>
            <a:ext cx="262890" cy="25400"/>
          </a:xfrm>
          <a:prstGeom prst="rect">
            <a:avLst/>
          </a:prstGeom>
          <a:solidFill>
            <a:srgbClr val="34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4023360"/>
            <a:ext cx="262890" cy="25400"/>
          </a:xfrm>
          <a:prstGeom prst="rect">
            <a:avLst/>
          </a:prstGeom>
          <a:solidFill>
            <a:srgbClr val="385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8BAC8"/>
                </a:solidFill>
                <a:latin typeface="Microsoft YaHei"/>
              </a:defRPr>
            </a:pPr>
            <a:r>
              <a:t>下一模块：综合实战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E7082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FFB800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2743200"/>
            <a:ext cx="5486400" cy="5486400"/>
          </a:xfrm>
          <a:prstGeom prst="ellipse">
            <a:avLst/>
          </a:prstGeom>
          <a:solidFill>
            <a:srgbClr val="FF8C00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4572000"/>
            <a:ext cx="3657600" cy="3657600"/>
          </a:xfrm>
          <a:prstGeom prst="ellipse">
            <a:avLst/>
          </a:prstGeom>
          <a:solidFill>
            <a:srgbClr val="FFD700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0"/>
            <a:ext cx="18288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91440" cy="6858000"/>
          </a:xfrm>
          <a:prstGeom prst="rect">
            <a:avLst/>
          </a:prstGeom>
          <a:solidFill>
            <a:srgbClr val="7F4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8016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5448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1031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774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8016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55448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8288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031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3774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2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58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8016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8288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1031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3774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7315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0" b="1">
                <a:solidFill>
                  <a:srgbClr val="FFFFFF"/>
                </a:solidFill>
                <a:latin typeface="Microsoft YaHei"/>
              </a:defRPr>
            </a:pPr>
            <a:r>
              <a:t>17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657600"/>
            <a:ext cx="1828800" cy="329184"/>
          </a:xfrm>
          <a:prstGeom prst="round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657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D700"/>
                </a:solidFill>
                <a:latin typeface="Microsoft YaHei"/>
              </a:defRPr>
            </a:pPr>
            <a:r>
              <a:t>M O D U L 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114800"/>
            <a:ext cx="285751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2950" y="4114800"/>
            <a:ext cx="285750" cy="381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28700" y="4114800"/>
            <a:ext cx="285750" cy="38100"/>
          </a:xfrm>
          <a:prstGeom prst="rect">
            <a:avLst/>
          </a:prstGeom>
          <a:solidFill>
            <a:srgbClr val="FFC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314450" y="4114800"/>
            <a:ext cx="285750" cy="38100"/>
          </a:xfrm>
          <a:prstGeom prst="rect">
            <a:avLst/>
          </a:prstGeom>
          <a:solidFill>
            <a:srgbClr val="FFC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600200" y="4114800"/>
            <a:ext cx="285750" cy="38100"/>
          </a:xfrm>
          <a:prstGeom prst="rect">
            <a:avLst/>
          </a:prstGeom>
          <a:solidFill>
            <a:srgbClr val="FFC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885950" y="4114800"/>
            <a:ext cx="285750" cy="381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171700" y="4114800"/>
            <a:ext cx="285750" cy="3810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457450" y="4114800"/>
            <a:ext cx="285750" cy="381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035040" y="1097280"/>
            <a:ext cx="5486400" cy="457200"/>
          </a:xfrm>
          <a:prstGeom prst="roundRect">
            <a:avLst/>
          </a:prstGeom>
          <a:solidFill>
            <a:srgbClr val="4A3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D700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20116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F0F5"/>
                </a:solidFill>
                <a:latin typeface="Microsoft YaHei"/>
              </a:defRPr>
            </a:pPr>
            <a:r>
              <a:t>模块17：综合实战——完整漫剧项目制作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3840480"/>
            <a:ext cx="400051" cy="381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5090" y="3840480"/>
            <a:ext cx="400050" cy="381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835140" y="3840480"/>
            <a:ext cx="400050" cy="381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35190" y="3840480"/>
            <a:ext cx="400050" cy="381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635240" y="3840480"/>
            <a:ext cx="400050" cy="381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35290" y="3840480"/>
            <a:ext cx="400050" cy="381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435340" y="3840480"/>
            <a:ext cx="400050" cy="381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35390" y="3840480"/>
            <a:ext cx="40005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35040" y="42062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8课时 · 从零到一完成一部完整AI漫剧的全链路实战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035040" y="5303520"/>
            <a:ext cx="5486400" cy="6400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722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B800"/>
                </a:solidFill>
                <a:latin typeface="Microsoft YaHei"/>
              </a:defRPr>
            </a:pPr>
            <a:r>
              <a:t>124课时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609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438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B800"/>
                </a:solidFill>
                <a:latin typeface="Microsoft YaHei"/>
              </a:defRPr>
            </a:pPr>
            <a:r>
              <a:t>17模块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7325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154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B800"/>
                </a:solidFill>
                <a:latin typeface="Microsoft YaHei"/>
              </a:defRPr>
            </a:pPr>
            <a:r>
              <a:t>8-16周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1041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2870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B800"/>
                </a:solidFill>
                <a:latin typeface="Microsoft YaHei"/>
              </a:defRPr>
            </a:pPr>
            <a:r>
              <a:t>全流程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155680" y="0"/>
            <a:ext cx="1036015" cy="381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1978640" y="0"/>
            <a:ext cx="38100" cy="73152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521440" y="274320"/>
            <a:ext cx="137160" cy="137160"/>
          </a:xfrm>
          <a:prstGeom prst="ellipse">
            <a:avLst/>
          </a:prstGeom>
          <a:solidFill>
            <a:srgbClr val="FFD7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B8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8C0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§  本节内容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FD700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31520" y="1397000"/>
            <a:ext cx="274320" cy="274320"/>
          </a:xfrm>
          <a:prstGeom prst="ellipse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422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综合项目启动与选题定位</a:t>
            </a:r>
          </a:p>
        </p:txBody>
      </p:sp>
      <p:sp>
        <p:nvSpPr>
          <p:cNvPr id="44" name="Oval 43"/>
          <p:cNvSpPr/>
          <p:nvPr/>
        </p:nvSpPr>
        <p:spPr>
          <a:xfrm>
            <a:off x="731520" y="1963928"/>
            <a:ext cx="274320" cy="274320"/>
          </a:xfrm>
          <a:prstGeom prst="ellipse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422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剧本创作阶段</a:t>
            </a:r>
          </a:p>
        </p:txBody>
      </p:sp>
      <p:sp>
        <p:nvSpPr>
          <p:cNvPr id="47" name="Oval 46"/>
          <p:cNvSpPr/>
          <p:nvPr/>
        </p:nvSpPr>
        <p:spPr>
          <a:xfrm>
            <a:off x="731520" y="2530856"/>
            <a:ext cx="274320" cy="274320"/>
          </a:xfrm>
          <a:prstGeom prst="ellipse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422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角色与场景资产建设</a:t>
            </a:r>
          </a:p>
        </p:txBody>
      </p:sp>
      <p:sp>
        <p:nvSpPr>
          <p:cNvPr id="50" name="Oval 49"/>
          <p:cNvSpPr/>
          <p:nvPr/>
        </p:nvSpPr>
        <p:spPr>
          <a:xfrm>
            <a:off x="731520" y="3097784"/>
            <a:ext cx="274320" cy="274320"/>
          </a:xfrm>
          <a:prstGeom prst="ellipse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4220" y="30977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" y="307238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图像生成阶段</a:t>
            </a:r>
          </a:p>
        </p:txBody>
      </p:sp>
      <p:sp>
        <p:nvSpPr>
          <p:cNvPr id="53" name="Oval 52"/>
          <p:cNvSpPr/>
          <p:nvPr/>
        </p:nvSpPr>
        <p:spPr>
          <a:xfrm>
            <a:off x="6400800" y="1397000"/>
            <a:ext cx="274320" cy="274320"/>
          </a:xfrm>
          <a:prstGeom prst="ellipse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1350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视频生成阶段</a:t>
            </a:r>
          </a:p>
        </p:txBody>
      </p:sp>
      <p:sp>
        <p:nvSpPr>
          <p:cNvPr id="56" name="Oval 55"/>
          <p:cNvSpPr/>
          <p:nvPr/>
        </p:nvSpPr>
        <p:spPr>
          <a:xfrm>
            <a:off x="6400800" y="1963928"/>
            <a:ext cx="274320" cy="274320"/>
          </a:xfrm>
          <a:prstGeom prst="ellipse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1350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音频制作阶段</a:t>
            </a:r>
          </a:p>
        </p:txBody>
      </p:sp>
      <p:sp>
        <p:nvSpPr>
          <p:cNvPr id="59" name="Oval 58"/>
          <p:cNvSpPr/>
          <p:nvPr/>
        </p:nvSpPr>
        <p:spPr>
          <a:xfrm>
            <a:off x="6400800" y="2530856"/>
            <a:ext cx="274320" cy="274320"/>
          </a:xfrm>
          <a:prstGeom prst="ellipse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1350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6656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剪辑成片阶段</a:t>
            </a:r>
          </a:p>
        </p:txBody>
      </p:sp>
      <p:sp>
        <p:nvSpPr>
          <p:cNvPr id="62" name="Oval 61"/>
          <p:cNvSpPr/>
          <p:nvPr/>
        </p:nvSpPr>
        <p:spPr>
          <a:xfrm>
            <a:off x="6400800" y="3097784"/>
            <a:ext cx="274320" cy="274320"/>
          </a:xfrm>
          <a:prstGeom prst="ellipse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13500" y="30977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66560" y="307238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发布运营阶段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模块17 · 综合实战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B8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8C0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项目交付物清单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FD700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剧本层：完整剧本（3-5集）+ 分集大纲 + 分镜脚本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资产层：角色资产体系 + 场景资产库 + 道具资产库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制作层：关键帧图像100+张 + 视频片段50+个 + 完整音频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运营层：各平台发布素材 + 数据监控表 + 迭代优化计划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模块17 · 综合实战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B8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8C0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选题决策流程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FD700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7200" y="1371600"/>
            <a:ext cx="2628900" cy="457200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1371600"/>
            <a:ext cx="328613" cy="381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85812" y="1371600"/>
            <a:ext cx="328612" cy="381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14424" y="1371600"/>
            <a:ext cx="328612" cy="381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443036" y="1371600"/>
            <a:ext cx="328612" cy="381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771648" y="1371600"/>
            <a:ext cx="328612" cy="381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100260" y="1371600"/>
            <a:ext cx="328612" cy="381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428872" y="1371600"/>
            <a:ext cx="328612" cy="381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757484" y="1371600"/>
            <a:ext cx="328612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1645920"/>
            <a:ext cx="22631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B800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560320"/>
            <a:ext cx="260033" cy="254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91552" y="2560320"/>
            <a:ext cx="260032" cy="254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251584" y="2560320"/>
            <a:ext cx="260032" cy="254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511616" y="2560320"/>
            <a:ext cx="260032" cy="254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771648" y="2560320"/>
            <a:ext cx="260032" cy="254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031680" y="2560320"/>
            <a:ext cx="260032" cy="254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291712" y="2560320"/>
            <a:ext cx="260032" cy="254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551744" y="2560320"/>
            <a:ext cx="260032" cy="25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" y="2743200"/>
            <a:ext cx="22631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平台数据收集：抖音/快手/B站/红果搜索热门漫剧题材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95244" y="25603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B800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314700" y="1371600"/>
            <a:ext cx="2628900" cy="457200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314700" y="1371600"/>
            <a:ext cx="328613" cy="381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643312" y="1371600"/>
            <a:ext cx="328612" cy="381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971924" y="1371600"/>
            <a:ext cx="328612" cy="381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300536" y="1371600"/>
            <a:ext cx="328612" cy="381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629148" y="1371600"/>
            <a:ext cx="328612" cy="381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957760" y="1371600"/>
            <a:ext cx="328612" cy="381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286372" y="1371600"/>
            <a:ext cx="328612" cy="381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614984" y="1371600"/>
            <a:ext cx="328612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497580" y="1645920"/>
            <a:ext cx="22631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B800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589020" y="2560320"/>
            <a:ext cx="260033" cy="254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849052" y="2560320"/>
            <a:ext cx="260032" cy="254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109084" y="2560320"/>
            <a:ext cx="260032" cy="254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369116" y="2560320"/>
            <a:ext cx="260032" cy="254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629148" y="2560320"/>
            <a:ext cx="260032" cy="254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889180" y="2560320"/>
            <a:ext cx="260032" cy="254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149212" y="2560320"/>
            <a:ext cx="260032" cy="254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409244" y="2560320"/>
            <a:ext cx="260032" cy="25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497580" y="2743200"/>
            <a:ext cx="22631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竞品分析：选择3-5个同题材竞品，记录数据并分析优缺点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952744" y="25603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B800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172200" y="1371600"/>
            <a:ext cx="2628900" cy="457200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172200" y="1371600"/>
            <a:ext cx="328613" cy="381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500812" y="1371600"/>
            <a:ext cx="328612" cy="381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829424" y="1371600"/>
            <a:ext cx="328612" cy="381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158036" y="1371600"/>
            <a:ext cx="328612" cy="381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486648" y="1371600"/>
            <a:ext cx="328612" cy="381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815260" y="1371600"/>
            <a:ext cx="328612" cy="381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143872" y="1371600"/>
            <a:ext cx="328612" cy="381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472484" y="1371600"/>
            <a:ext cx="328612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355080" y="1645920"/>
            <a:ext cx="22631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B800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446520" y="2560320"/>
            <a:ext cx="260033" cy="254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706552" y="2560320"/>
            <a:ext cx="260032" cy="254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966584" y="2560320"/>
            <a:ext cx="260032" cy="254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226616" y="2560320"/>
            <a:ext cx="260032" cy="254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486648" y="2560320"/>
            <a:ext cx="260032" cy="254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746680" y="2560320"/>
            <a:ext cx="260032" cy="254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006712" y="2560320"/>
            <a:ext cx="260032" cy="254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266744" y="2560320"/>
            <a:ext cx="260032" cy="25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355080" y="2743200"/>
            <a:ext cx="22631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用户调研：查看评论区/弹幕/私信了解用户需求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810244" y="25603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B800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9029700" y="1371600"/>
            <a:ext cx="2628900" cy="457200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29700" y="1371600"/>
            <a:ext cx="328613" cy="381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358312" y="1371600"/>
            <a:ext cx="328612" cy="381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686924" y="1371600"/>
            <a:ext cx="328612" cy="381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0015536" y="1371600"/>
            <a:ext cx="328612" cy="381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344148" y="1371600"/>
            <a:ext cx="328612" cy="381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0672760" y="1371600"/>
            <a:ext cx="328612" cy="381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1001372" y="1371600"/>
            <a:ext cx="328612" cy="381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1329984" y="1371600"/>
            <a:ext cx="328612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212580" y="1645920"/>
            <a:ext cx="22631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B800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304020" y="2560320"/>
            <a:ext cx="260033" cy="254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564052" y="2560320"/>
            <a:ext cx="260032" cy="254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824084" y="2560320"/>
            <a:ext cx="260032" cy="254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0084116" y="2560320"/>
            <a:ext cx="260032" cy="254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0344148" y="2560320"/>
            <a:ext cx="260032" cy="254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0604180" y="2560320"/>
            <a:ext cx="260032" cy="254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0864212" y="2560320"/>
            <a:ext cx="260032" cy="254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1124244" y="2560320"/>
            <a:ext cx="260032" cy="25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212580" y="2743200"/>
            <a:ext cx="22631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决策评分：题材热度 × 竞争程度 × 制作难度 × 变现潜力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模块17 · 综合实战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B8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8C0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2026年推荐题材方向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FD700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48640" y="1280160"/>
          <a:ext cx="110642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题材</a:t>
                      </a:r>
                    </a:p>
                  </a:txBody>
                  <a:tcPr anchor="ctr">
                    <a:solidFill>
                      <a:srgbClr val="FFB8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热度</a:t>
                      </a:r>
                    </a:p>
                  </a:txBody>
                  <a:tcPr anchor="ctr">
                    <a:solidFill>
                      <a:srgbClr val="FFB8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竞争</a:t>
                      </a:r>
                    </a:p>
                  </a:txBody>
                  <a:tcPr anchor="ctr">
                    <a:solidFill>
                      <a:srgbClr val="FFB8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变现</a:t>
                      </a:r>
                    </a:p>
                  </a:txBody>
                  <a:tcPr anchor="ctr">
                    <a:solidFill>
                      <a:srgbClr val="FFB8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 anchor="ctr">
                    <a:solidFill>
                      <a:srgbClr val="FFB80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玄幻/仙侠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激烈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最大品类，竞争激烈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都市逆袭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中等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用户基础大，制作简单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科幻/赛博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低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新兴品类，潜力大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搞笑/日常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中等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制作简单，适合新手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悬疑/推理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较低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粉丝粘性高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模块17 · 综合实战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B8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8C0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剧本创作核心要点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FD700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使用DeepSeek分步创作：先大纲 → 再分集 → 再分镜脚本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爽点设计：打脸/逆袭/隐藏实力/升级/揭秘，每集至少1个大爽点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节奏模板：钩子(3s) → 铺垫(60s) → 小爽点(30s) → 升级(90s) → 大爽点(90s) → 钩子结尾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分镜脚本：每集15-20个镜头，含景别/画面描述/时长/镜头运动/配音/音效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质量检查：前3秒有钩子、每集有爽点、结尾有悬念、对白自然、逻辑通顺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模块17 · 综合实战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B8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8C0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角色与场景资产建设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FD700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角色资产：每个角色15-20张参考图（全身/侧面/3/4角度/特写/表情变体/动作姿态）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角色设定表：姓名/性别/年龄/身份/性格/外貌/服装/代表色/口头禅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场景资产：每个场景3-5张母版图（全景/中景/特写，覆盖不同时间和光线）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工具：即梦AI生成参考图，可选LoRA训练增强一致性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资产检查：参考图数量充足、角度覆盖全面、风格统一、提示词模板完整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模块17 · 综合实战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B8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8C0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视频生成工具分配策略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FD700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720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1371600"/>
            <a:ext cx="668656" cy="381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25855" y="1371600"/>
            <a:ext cx="668655" cy="381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794510" y="1371600"/>
            <a:ext cx="668655" cy="381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463165" y="1371600"/>
            <a:ext cx="668655" cy="381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131820" y="1371600"/>
            <a:ext cx="668655" cy="381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00475" y="1371600"/>
            <a:ext cx="668655" cy="381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469130" y="1371600"/>
            <a:ext cx="668655" cy="381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137785" y="1371600"/>
            <a:ext cx="668655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B800"/>
                </a:solidFill>
                <a:latin typeface="Microsoft YaHei"/>
              </a:defRPr>
            </a:pPr>
            <a:r>
              <a:t>按镜头类型选择工具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103120"/>
            <a:ext cx="205741" cy="254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37260" y="2103120"/>
            <a:ext cx="205740" cy="254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43000" y="2103120"/>
            <a:ext cx="205740" cy="254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348740" y="2103120"/>
            <a:ext cx="205740" cy="254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554480" y="2103120"/>
            <a:ext cx="205740" cy="254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60220" y="2103120"/>
            <a:ext cx="205740" cy="254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965960" y="2103120"/>
            <a:ext cx="205740" cy="254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171700" y="2103120"/>
            <a:ext cx="205740" cy="25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31520" y="2386584"/>
            <a:ext cx="146304" cy="146304"/>
          </a:xfrm>
          <a:prstGeom prst="ellipse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584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对话镜头（40%）→ Vidu Q3（音画同步）</a:t>
            </a:r>
          </a:p>
        </p:txBody>
      </p:sp>
      <p:sp>
        <p:nvSpPr>
          <p:cNvPr id="61" name="Oval 60"/>
          <p:cNvSpPr/>
          <p:nvPr/>
        </p:nvSpPr>
        <p:spPr>
          <a:xfrm>
            <a:off x="731520" y="2916936"/>
            <a:ext cx="146304" cy="146304"/>
          </a:xfrm>
          <a:prstGeom prst="ellipse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584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动作镜头（30%）→ 可灵AI/海螺AI（物理仿真）</a:t>
            </a:r>
          </a:p>
        </p:txBody>
      </p:sp>
      <p:sp>
        <p:nvSpPr>
          <p:cNvPr id="63" name="Oval 62"/>
          <p:cNvSpPr/>
          <p:nvPr/>
        </p:nvSpPr>
        <p:spPr>
          <a:xfrm>
            <a:off x="731520" y="3447288"/>
            <a:ext cx="146304" cy="146304"/>
          </a:xfrm>
          <a:prstGeom prst="ellipse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584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参考驱动（20%）→ Seedance 2.0（角色档案驱动）</a:t>
            </a:r>
          </a:p>
        </p:txBody>
      </p:sp>
      <p:sp>
        <p:nvSpPr>
          <p:cNvPr id="65" name="Oval 64"/>
          <p:cNvSpPr/>
          <p:nvPr/>
        </p:nvSpPr>
        <p:spPr>
          <a:xfrm>
            <a:off x="731520" y="3977640"/>
            <a:ext cx="146304" cy="146304"/>
          </a:xfrm>
          <a:prstGeom prst="ellipse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5840" y="39227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环境镜头（10%）→ 任意工具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26364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63640" y="1371600"/>
            <a:ext cx="668656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932295" y="1371600"/>
            <a:ext cx="668655" cy="38100"/>
          </a:xfrm>
          <a:prstGeom prst="rect">
            <a:avLst/>
          </a:prstGeom>
          <a:solidFill>
            <a:srgbClr val="FF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600950" y="1371600"/>
            <a:ext cx="668655" cy="38100"/>
          </a:xfrm>
          <a:prstGeom prst="rect">
            <a:avLst/>
          </a:prstGeom>
          <a:solidFill>
            <a:srgbClr val="FF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269605" y="1371600"/>
            <a:ext cx="668655" cy="38100"/>
          </a:xfrm>
          <a:prstGeom prst="rect">
            <a:avLst/>
          </a:prstGeom>
          <a:solidFill>
            <a:srgbClr val="FFA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938260" y="1371600"/>
            <a:ext cx="668655" cy="381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606915" y="1371600"/>
            <a:ext cx="668655" cy="38100"/>
          </a:xfrm>
          <a:prstGeom prst="rect">
            <a:avLst/>
          </a:prstGeom>
          <a:solidFill>
            <a:srgbClr val="FFC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275570" y="1371600"/>
            <a:ext cx="668655" cy="381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944225" y="1371600"/>
            <a:ext cx="668655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53796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Microsoft YaHei"/>
              </a:defRPr>
            </a:pPr>
            <a:r>
              <a:t>批量生产流程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537960" y="2103120"/>
            <a:ext cx="205741" cy="25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743700" y="2103120"/>
            <a:ext cx="205740" cy="25400"/>
          </a:xfrm>
          <a:prstGeom prst="rect">
            <a:avLst/>
          </a:prstGeom>
          <a:solidFill>
            <a:srgbClr val="FF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949440" y="2103120"/>
            <a:ext cx="205740" cy="25400"/>
          </a:xfrm>
          <a:prstGeom prst="rect">
            <a:avLst/>
          </a:prstGeom>
          <a:solidFill>
            <a:srgbClr val="FF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155180" y="2103120"/>
            <a:ext cx="205740" cy="25400"/>
          </a:xfrm>
          <a:prstGeom prst="rect">
            <a:avLst/>
          </a:prstGeom>
          <a:solidFill>
            <a:srgbClr val="FFA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60920" y="2103120"/>
            <a:ext cx="205740" cy="254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66660" y="2103120"/>
            <a:ext cx="205740" cy="25400"/>
          </a:xfrm>
          <a:prstGeom prst="rect">
            <a:avLst/>
          </a:prstGeom>
          <a:solidFill>
            <a:srgbClr val="FFC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72400" y="2103120"/>
            <a:ext cx="205740" cy="254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978140" y="2103120"/>
            <a:ext cx="20574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6537960" y="2386584"/>
            <a:ext cx="146304" cy="146304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81228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为每个镜头选择最优工具</a:t>
            </a:r>
          </a:p>
        </p:txBody>
      </p:sp>
      <p:sp>
        <p:nvSpPr>
          <p:cNvPr id="87" name="Oval 86"/>
          <p:cNvSpPr/>
          <p:nvPr/>
        </p:nvSpPr>
        <p:spPr>
          <a:xfrm>
            <a:off x="6537960" y="2916936"/>
            <a:ext cx="146304" cy="146304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1228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Draft模式480P预览 → 确认后1080P渲染</a:t>
            </a:r>
          </a:p>
        </p:txBody>
      </p:sp>
      <p:sp>
        <p:nvSpPr>
          <p:cNvPr id="89" name="Oval 88"/>
          <p:cNvSpPr/>
          <p:nvPr/>
        </p:nvSpPr>
        <p:spPr>
          <a:xfrm>
            <a:off x="6537960" y="3447288"/>
            <a:ext cx="146304" cy="146304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81228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检查质量，不满意则重新生成</a:t>
            </a:r>
          </a:p>
        </p:txBody>
      </p:sp>
      <p:sp>
        <p:nvSpPr>
          <p:cNvPr id="91" name="Oval 90"/>
          <p:cNvSpPr/>
          <p:nvPr/>
        </p:nvSpPr>
        <p:spPr>
          <a:xfrm>
            <a:off x="6537960" y="3977640"/>
            <a:ext cx="146304" cy="146304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812280" y="39227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统一命名：集数_镜头编号_类型_工具.mp4</a:t>
            </a:r>
          </a:p>
        </p:txBody>
      </p:sp>
      <p:sp>
        <p:nvSpPr>
          <p:cNvPr id="93" name="Rectangle 92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模块17 · 综合实战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B8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8C0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剪辑成片12步流程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FFD700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导入所有素材（视频/配音/BGM/音效）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1371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221992"/>
            <a:ext cx="6859" cy="36576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8378" y="2221992"/>
            <a:ext cx="6858" cy="36576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45236" y="2221992"/>
            <a:ext cx="6858" cy="36576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2094" y="2221992"/>
            <a:ext cx="6858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58952" y="2221992"/>
            <a:ext cx="6858" cy="36576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65810" y="2221992"/>
            <a:ext cx="6858" cy="365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2668" y="2221992"/>
            <a:ext cx="6858" cy="36576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79526" y="2221992"/>
            <a:ext cx="6858" cy="365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2688" y="2148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按分镜脚本在时间轴排列视频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21488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" y="2999232"/>
            <a:ext cx="6859" cy="36576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38378" y="2999232"/>
            <a:ext cx="6858" cy="36576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45236" y="2999232"/>
            <a:ext cx="6858" cy="36576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52094" y="2999232"/>
            <a:ext cx="6858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58952" y="2999232"/>
            <a:ext cx="6858" cy="36576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65810" y="2999232"/>
            <a:ext cx="6858" cy="365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72668" y="2999232"/>
            <a:ext cx="6858" cy="36576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79526" y="2999232"/>
            <a:ext cx="6858" cy="365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2688" y="2926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粗剪：调整每个镜头入出点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1520" y="3776472"/>
            <a:ext cx="6859" cy="36576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8378" y="3776472"/>
            <a:ext cx="6858" cy="36576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45236" y="3776472"/>
            <a:ext cx="6858" cy="36576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52094" y="3776472"/>
            <a:ext cx="6858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58952" y="3776472"/>
            <a:ext cx="6858" cy="36576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5810" y="3776472"/>
            <a:ext cx="6858" cy="365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72668" y="3776472"/>
            <a:ext cx="6858" cy="36576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79526" y="3776472"/>
            <a:ext cx="6858" cy="365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32688" y="3703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精剪：微调衔接，添加转场效果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" y="3703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1520" y="4553712"/>
            <a:ext cx="6859" cy="36576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8378" y="4553712"/>
            <a:ext cx="6858" cy="36576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5236" y="4553712"/>
            <a:ext cx="6858" cy="36576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2094" y="4553712"/>
            <a:ext cx="6858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8952" y="4553712"/>
            <a:ext cx="6858" cy="36576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5810" y="4553712"/>
            <a:ext cx="6858" cy="365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2668" y="4553712"/>
            <a:ext cx="6858" cy="36576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9526" y="4553712"/>
            <a:ext cx="6858" cy="365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32688" y="4480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添加配音并调整音画同步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1520" y="4480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31520" y="5330952"/>
            <a:ext cx="6859" cy="36576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38378" y="5330952"/>
            <a:ext cx="6858" cy="36576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45236" y="5330952"/>
            <a:ext cx="6858" cy="36576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52094" y="5330952"/>
            <a:ext cx="6858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58952" y="5330952"/>
            <a:ext cx="6858" cy="36576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65810" y="5330952"/>
            <a:ext cx="6858" cy="365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72668" y="5330952"/>
            <a:ext cx="6858" cy="36576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79526" y="5330952"/>
            <a:ext cx="6858" cy="365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32688" y="5257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添加BGM并调整音量（-12dB~-18dB）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31520" y="5257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模块17 · 综合实战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0"/>
            <a:ext cx="6400800" cy="6400800"/>
          </a:xfrm>
          <a:prstGeom prst="ellipse">
            <a:avLst/>
          </a:prstGeom>
          <a:solidFill>
            <a:srgbClr val="FFB800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2743200"/>
            <a:ext cx="4572000" cy="4572000"/>
          </a:xfrm>
          <a:prstGeom prst="ellipse">
            <a:avLst/>
          </a:prstGeom>
          <a:solidFill>
            <a:srgbClr val="FF8C00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1097280"/>
            <a:ext cx="720091" cy="381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920490" y="1097280"/>
            <a:ext cx="720090" cy="381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40580" y="1097280"/>
            <a:ext cx="720090" cy="381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60670" y="1097280"/>
            <a:ext cx="720090" cy="381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80760" y="1097280"/>
            <a:ext cx="720090" cy="381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00850" y="1097280"/>
            <a:ext cx="720090" cy="381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20940" y="1097280"/>
            <a:ext cx="720090" cy="381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41030" y="1097280"/>
            <a:ext cx="72009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164592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完播率&gt;30%、互动率&gt;5%、关注率&gt;2%为健康值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931920"/>
            <a:ext cx="262891" cy="254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3931920"/>
            <a:ext cx="262890" cy="254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3931920"/>
            <a:ext cx="262890" cy="254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3931920"/>
            <a:ext cx="262890" cy="254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3931920"/>
            <a:ext cx="262890" cy="254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3931920"/>
            <a:ext cx="262890" cy="254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3931920"/>
            <a:ext cx="262890" cy="254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3931920"/>
            <a:ext cx="262890" cy="25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297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每日检查播放量趋势，每周分析哪集表现最好/最差及原因，每月总结整体趋势并制定优化计划。完播率低优化前3秒，互动率低增加引导，关注率低优化结尾钩子。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模块17 · 综合实战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FFB8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FF8C0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◆  本模块实操任务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EE7B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" y="144475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144475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8096" y="144475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4672" y="144475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41248" y="144475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77824" y="144475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" y="144475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50976" y="144475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7552" y="144475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8872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45920" y="1371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在3个平台调研热门题材，使用决策矩阵选定你的项目题材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222199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1520" y="222199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68096" y="222199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4672" y="222199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41248" y="222199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77824" y="222199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400" y="222199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50976" y="222199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87552" y="222199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8872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45920" y="21488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完成3-5集完整剧本（含分集大纲+分镜脚本）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" y="299923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31520" y="299923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68096" y="299923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04672" y="299923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41248" y="299923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7824" y="299923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14400" y="299923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50976" y="299923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87552" y="299923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8872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645920" y="2926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为主要角色建立完整资产（参考图15+张+提示词模板）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31520" y="377647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31520" y="377647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8096" y="377647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04672" y="377647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41248" y="377647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77824" y="377647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14400" y="377647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50976" y="377647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87552" y="377647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188720" y="3703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645920" y="3703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完成所有镜头的关键帧图像和视频片段生成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31520" y="455371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31520" y="455371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8096" y="455371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4672" y="455371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41248" y="455371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77824" y="455371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14400" y="455371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50976" y="455371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87552" y="455371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88720" y="4480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645920" y="44805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完成完整音频制作（配音+BGM+音效）并剪辑成片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31520" y="533095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31520" y="533095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68096" y="533095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04672" y="533095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41248" y="533095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7824" y="533095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14400" y="533095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50976" y="533095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87552" y="533095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188720" y="5257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645920" y="52578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将成片发布到3个以上平台，监控7天数据并制定优化计划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模块17 · 综合实战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914400"/>
            <a:ext cx="6400800" cy="6400800"/>
          </a:xfrm>
          <a:prstGeom prst="ellipse">
            <a:avLst/>
          </a:prstGeom>
          <a:solidFill>
            <a:srgbClr val="FFB80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1371600"/>
            <a:ext cx="491491" cy="381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06290" y="1371600"/>
            <a:ext cx="491490" cy="381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97780" y="1371600"/>
            <a:ext cx="491490" cy="381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9270" y="1371600"/>
            <a:ext cx="491490" cy="381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80760" y="1371600"/>
            <a:ext cx="491490" cy="381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72250" y="1371600"/>
            <a:ext cx="491490" cy="381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63740" y="1371600"/>
            <a:ext cx="491490" cy="381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55230" y="1371600"/>
            <a:ext cx="49149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B800"/>
                </a:solidFill>
                <a:latin typeface="Microsoft YaHei"/>
              </a:defRPr>
            </a:pPr>
            <a: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320040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本模块结束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4023360"/>
            <a:ext cx="262891" cy="254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4023360"/>
            <a:ext cx="262890" cy="254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4023360"/>
            <a:ext cx="262890" cy="254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4023360"/>
            <a:ext cx="262890" cy="254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4023360"/>
            <a:ext cx="262890" cy="25400"/>
          </a:xfrm>
          <a:prstGeom prst="rect">
            <a:avLst/>
          </a:prstGeom>
          <a:solidFill>
            <a:srgbClr val="FF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4023360"/>
            <a:ext cx="262890" cy="254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4023360"/>
            <a:ext cx="262890" cy="2540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4023360"/>
            <a:ext cx="262890" cy="25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E7082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387A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2743200"/>
            <a:ext cx="5486400" cy="5486400"/>
          </a:xfrm>
          <a:prstGeom prst="ellipse">
            <a:avLst/>
          </a:prstGeom>
          <a:solidFill>
            <a:srgbClr val="6C5C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4572000"/>
            <a:ext cx="3657600" cy="3657600"/>
          </a:xfrm>
          <a:prstGeom prst="ellipse">
            <a:avLst/>
          </a:prstGeom>
          <a:solidFill>
            <a:srgbClr val="00D4FF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0"/>
            <a:ext cx="182880" cy="68580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91440" cy="6858000"/>
          </a:xfrm>
          <a:prstGeom prst="rect">
            <a:avLst/>
          </a:prstGeom>
          <a:solidFill>
            <a:srgbClr val="362E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8016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5448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1031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774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8016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55448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8288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031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3774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2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58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8016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8288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1031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3774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7315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0" b="1">
                <a:solidFill>
                  <a:srgbClr val="FFFFFF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657600"/>
            <a:ext cx="1828800" cy="329184"/>
          </a:xfrm>
          <a:prstGeom prst="round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657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D4FF"/>
                </a:solidFill>
                <a:latin typeface="Microsoft YaHei"/>
              </a:defRPr>
            </a:pPr>
            <a:r>
              <a:t>M O D U L 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114800"/>
            <a:ext cx="285751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2950" y="4114800"/>
            <a:ext cx="285750" cy="38100"/>
          </a:xfrm>
          <a:prstGeom prst="rect">
            <a:avLst/>
          </a:prstGeom>
          <a:solidFill>
            <a:srgbClr val="07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28700" y="4114800"/>
            <a:ext cx="285750" cy="38100"/>
          </a:xfrm>
          <a:prstGeom prst="rect">
            <a:avLst/>
          </a:prstGeom>
          <a:solidFill>
            <a:srgbClr val="10B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314450" y="4114800"/>
            <a:ext cx="285750" cy="38100"/>
          </a:xfrm>
          <a:prstGeom prst="rect">
            <a:avLst/>
          </a:prstGeom>
          <a:solidFill>
            <a:srgbClr val="18A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600200" y="4114800"/>
            <a:ext cx="285750" cy="38100"/>
          </a:xfrm>
          <a:prstGeom prst="rect">
            <a:avLst/>
          </a:prstGeom>
          <a:solidFill>
            <a:srgbClr val="20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885950" y="4114800"/>
            <a:ext cx="285750" cy="38100"/>
          </a:xfrm>
          <a:prstGeom prst="rect">
            <a:avLst/>
          </a:prstGeom>
          <a:solidFill>
            <a:srgbClr val="289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171700" y="4114800"/>
            <a:ext cx="285750" cy="38100"/>
          </a:xfrm>
          <a:prstGeom prst="rect">
            <a:avLst/>
          </a:prstGeom>
          <a:solidFill>
            <a:srgbClr val="30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457450" y="4114800"/>
            <a:ext cx="285750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035040" y="1097280"/>
            <a:ext cx="5486400" cy="457200"/>
          </a:xfrm>
          <a:prstGeom prst="round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FF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20116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F0F5"/>
                </a:solidFill>
                <a:latin typeface="Microsoft YaHei"/>
              </a:defRPr>
            </a:pPr>
            <a:r>
              <a:t>模块 17.5：实战工作流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3840480"/>
            <a:ext cx="400051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5090" y="3840480"/>
            <a:ext cx="400050" cy="381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835140" y="3840480"/>
            <a:ext cx="400050" cy="381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35190" y="3840480"/>
            <a:ext cx="400050" cy="381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635240" y="3840480"/>
            <a:ext cx="400050" cy="381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35290" y="3840480"/>
            <a:ext cx="400050" cy="381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435340" y="3840480"/>
            <a:ext cx="400050" cy="381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35390" y="3840480"/>
            <a:ext cx="400050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35040" y="42062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Seedance 2.0 + 小云雀 + 剪映 — 5.5 小时/集 ¥40-80/集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035040" y="5303520"/>
            <a:ext cx="5486400" cy="6400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722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87AFF"/>
                </a:solidFill>
                <a:latin typeface="Microsoft YaHei"/>
              </a:defRPr>
            </a:pPr>
            <a:r>
              <a:t>124课时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609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438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87AFF"/>
                </a:solidFill>
                <a:latin typeface="Microsoft YaHei"/>
              </a:defRPr>
            </a:pPr>
            <a:r>
              <a:t>17模块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7325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154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87AFF"/>
                </a:solidFill>
                <a:latin typeface="Microsoft YaHei"/>
              </a:defRPr>
            </a:pPr>
            <a:r>
              <a:t>8-16周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1041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2870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87AFF"/>
                </a:solidFill>
                <a:latin typeface="Microsoft YaHei"/>
              </a:defRPr>
            </a:pPr>
            <a:r>
              <a:t>全流程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155680" y="0"/>
            <a:ext cx="1036015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1978640" y="0"/>
            <a:ext cx="38100" cy="7315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521440" y="274320"/>
            <a:ext cx="137160" cy="137160"/>
          </a:xfrm>
          <a:prstGeom prst="ellipse">
            <a:avLst/>
          </a:prstGeom>
          <a:solidFill>
            <a:srgbClr val="00D4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387A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6C5C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§  本节内容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00D4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31520" y="1397000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422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整体管线一图看清</a:t>
            </a:r>
          </a:p>
        </p:txBody>
      </p:sp>
      <p:sp>
        <p:nvSpPr>
          <p:cNvPr id="44" name="Oval 43"/>
          <p:cNvSpPr/>
          <p:nvPr/>
        </p:nvSpPr>
        <p:spPr>
          <a:xfrm>
            <a:off x="731520" y="1963928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422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70/30 工具分工策略</a:t>
            </a:r>
          </a:p>
        </p:txBody>
      </p:sp>
      <p:sp>
        <p:nvSpPr>
          <p:cNvPr id="47" name="Oval 46"/>
          <p:cNvSpPr/>
          <p:nvPr/>
        </p:nvSpPr>
        <p:spPr>
          <a:xfrm>
            <a:off x="731520" y="2530856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422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5.5 小时单集时间预算</a:t>
            </a:r>
          </a:p>
        </p:txBody>
      </p:sp>
      <p:sp>
        <p:nvSpPr>
          <p:cNvPr id="50" name="Oval 49"/>
          <p:cNvSpPr/>
          <p:nvPr/>
        </p:nvSpPr>
        <p:spPr>
          <a:xfrm>
            <a:off x="731520" y="3097784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4220" y="30977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" y="307238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¥40-80 单集成本拆解</a:t>
            </a:r>
          </a:p>
        </p:txBody>
      </p:sp>
      <p:sp>
        <p:nvSpPr>
          <p:cNvPr id="53" name="Oval 52"/>
          <p:cNvSpPr/>
          <p:nvPr/>
        </p:nvSpPr>
        <p:spPr>
          <a:xfrm>
            <a:off x="731520" y="3664712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4220" y="366471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" y="363931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即梦 AI 资产准备 SOP</a:t>
            </a:r>
          </a:p>
        </p:txBody>
      </p:sp>
      <p:sp>
        <p:nvSpPr>
          <p:cNvPr id="56" name="Oval 55"/>
          <p:cNvSpPr/>
          <p:nvPr/>
        </p:nvSpPr>
        <p:spPr>
          <a:xfrm>
            <a:off x="6400800" y="1397000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1350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Seedance 2.0 视频生成 SOP</a:t>
            </a:r>
          </a:p>
        </p:txBody>
      </p:sp>
      <p:sp>
        <p:nvSpPr>
          <p:cNvPr id="59" name="Oval 58"/>
          <p:cNvSpPr/>
          <p:nvPr/>
        </p:nvSpPr>
        <p:spPr>
          <a:xfrm>
            <a:off x="6400800" y="1963928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1350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6656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小云雀短剧 Agent SOP</a:t>
            </a:r>
          </a:p>
        </p:txBody>
      </p:sp>
      <p:sp>
        <p:nvSpPr>
          <p:cNvPr id="62" name="Oval 61"/>
          <p:cNvSpPr/>
          <p:nvPr/>
        </p:nvSpPr>
        <p:spPr>
          <a:xfrm>
            <a:off x="6400800" y="2530856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1350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6656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剪映合成 + 调色 + 字幕</a:t>
            </a:r>
          </a:p>
        </p:txBody>
      </p:sp>
      <p:sp>
        <p:nvSpPr>
          <p:cNvPr id="65" name="Oval 64"/>
          <p:cNvSpPr/>
          <p:nvPr/>
        </p:nvSpPr>
        <p:spPr>
          <a:xfrm>
            <a:off x="6400800" y="3097784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13500" y="30977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66560" y="307238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质量自检清单 5 大类</a:t>
            </a:r>
          </a:p>
        </p:txBody>
      </p:sp>
      <p:sp>
        <p:nvSpPr>
          <p:cNvPr id="68" name="Oval 67"/>
          <p:cNvSpPr/>
          <p:nvPr/>
        </p:nvSpPr>
        <p:spPr>
          <a:xfrm>
            <a:off x="6400800" y="3664712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13500" y="366471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66560" y="363931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量产排班 + 数据反馈循环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模块18 · 实战工作流-Seedance+小云雀+剪映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0"/>
            <a:ext cx="6400800" cy="6400800"/>
          </a:xfrm>
          <a:prstGeom prst="ellipse">
            <a:avLst/>
          </a:prstGeom>
          <a:solidFill>
            <a:srgbClr val="387A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2743200"/>
            <a:ext cx="4572000" cy="4572000"/>
          </a:xfrm>
          <a:prstGeom prst="ellipse">
            <a:avLst/>
          </a:prstGeom>
          <a:solidFill>
            <a:srgbClr val="6C5C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1097280"/>
            <a:ext cx="720091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920490" y="1097280"/>
            <a:ext cx="720090" cy="381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40580" y="1097280"/>
            <a:ext cx="720090" cy="381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60670" y="1097280"/>
            <a:ext cx="720090" cy="381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80760" y="1097280"/>
            <a:ext cx="720090" cy="381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00850" y="1097280"/>
            <a:ext cx="720090" cy="381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20940" y="1097280"/>
            <a:ext cx="720090" cy="381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41030" y="1097280"/>
            <a:ext cx="720090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164592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AI 漫剧不是技术活，是生产流程管理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931920"/>
            <a:ext cx="26289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3931920"/>
            <a:ext cx="262890" cy="254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3931920"/>
            <a:ext cx="262890" cy="254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3931920"/>
            <a:ext cx="262890" cy="254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3931920"/>
            <a:ext cx="262890" cy="254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3931920"/>
            <a:ext cx="262890" cy="254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3931920"/>
            <a:ext cx="262890" cy="254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3931920"/>
            <a:ext cx="262890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297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你掌握的不是工具，是把 4 个工具变成一条流水线的能力。流水线建好后，每周稳定出 3 集就比 95% 的同行强。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模块18 · 实战工作流-Seedance+小云雀+剪映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387A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6C5C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整体管线（5 步流水线）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00D4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Step 1 · DeepSeek/文心：剧本 + 25-30 切片清单（30 min）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1371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221992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8378" y="2221992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45236" y="2221992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2094" y="2221992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58952" y="2221992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65810" y="2221992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2668" y="2221992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79526" y="2221992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2688" y="2148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Step 2 · 即梦 AI：角色基准图 + 场景母版 + 关键帧（60 min）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21488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" y="2999232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38378" y="2999232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45236" y="2999232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52094" y="2999232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58952" y="2999232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65810" y="2999232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72668" y="2999232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79526" y="2999232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2688" y="2926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Step 3 · Seedance 2.0：6-10 段关键剧情视频（90 min）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1520" y="3776472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8378" y="3776472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45236" y="3776472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52094" y="3776472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58952" y="3776472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5810" y="3776472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72668" y="3776472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79526" y="3776472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32688" y="3703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Step 4 · 小云雀：14-22 段对话/旁白/空镜视频（60 min）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" y="3703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1520" y="4553712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8378" y="4553712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5236" y="4553712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2094" y="4553712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8952" y="4553712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5810" y="4553712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2668" y="4553712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9526" y="4553712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32688" y="4480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Step 5 · 剪映：合成 + 调色 + 字幕 + 配乐 + 音效（90 min）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1520" y="4480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模块18 · 实战工作流-Seedance+小云雀+剪映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387A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6C5C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70/30 工具分工策略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00D4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720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1371600"/>
            <a:ext cx="668656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25855" y="1371600"/>
            <a:ext cx="668655" cy="381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794510" y="1371600"/>
            <a:ext cx="668655" cy="381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463165" y="1371600"/>
            <a:ext cx="668655" cy="381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131820" y="1371600"/>
            <a:ext cx="668655" cy="381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00475" y="1371600"/>
            <a:ext cx="668655" cy="381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469130" y="1371600"/>
            <a:ext cx="668655" cy="381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137785" y="1371600"/>
            <a:ext cx="668655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7AFF"/>
                </a:solidFill>
                <a:latin typeface="Microsoft YaHei"/>
              </a:defRPr>
            </a:pPr>
            <a:r>
              <a:t>Seedance 2.0（30%）质量优先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103120"/>
            <a:ext cx="20574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37260" y="2103120"/>
            <a:ext cx="205740" cy="254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43000" y="2103120"/>
            <a:ext cx="205740" cy="254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348740" y="2103120"/>
            <a:ext cx="205740" cy="254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554480" y="2103120"/>
            <a:ext cx="205740" cy="254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60220" y="2103120"/>
            <a:ext cx="205740" cy="254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965960" y="2103120"/>
            <a:ext cx="205740" cy="254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171700" y="2103120"/>
            <a:ext cx="205740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31520" y="2386584"/>
            <a:ext cx="146304" cy="146304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584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角色情绪特写（脸部到位）</a:t>
            </a:r>
          </a:p>
        </p:txBody>
      </p:sp>
      <p:sp>
        <p:nvSpPr>
          <p:cNvPr id="61" name="Oval 60"/>
          <p:cNvSpPr/>
          <p:nvPr/>
        </p:nvSpPr>
        <p:spPr>
          <a:xfrm>
            <a:off x="731520" y="2916936"/>
            <a:ext cx="146304" cy="146304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584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动作戏（打斗 / 追车 / 跳跃）</a:t>
            </a:r>
          </a:p>
        </p:txBody>
      </p:sp>
      <p:sp>
        <p:nvSpPr>
          <p:cNvPr id="63" name="Oval 62"/>
          <p:cNvSpPr/>
          <p:nvPr/>
        </p:nvSpPr>
        <p:spPr>
          <a:xfrm>
            <a:off x="731520" y="3447288"/>
            <a:ext cx="146304" cy="146304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584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关键转折（对峙 / 表白）</a:t>
            </a:r>
          </a:p>
        </p:txBody>
      </p:sp>
      <p:sp>
        <p:nvSpPr>
          <p:cNvPr id="65" name="Oval 64"/>
          <p:cNvSpPr/>
          <p:nvPr/>
        </p:nvSpPr>
        <p:spPr>
          <a:xfrm>
            <a:off x="731520" y="3977640"/>
            <a:ext cx="146304" cy="146304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5840" y="39227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高难度运镜（环绕 / 推拉）</a:t>
            </a:r>
          </a:p>
        </p:txBody>
      </p:sp>
      <p:sp>
        <p:nvSpPr>
          <p:cNvPr id="67" name="Oval 66"/>
          <p:cNvSpPr/>
          <p:nvPr/>
        </p:nvSpPr>
        <p:spPr>
          <a:xfrm>
            <a:off x="731520" y="4507992"/>
            <a:ext cx="146304" cy="146304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05840" y="44531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6-10 段 / 集 · ¥30-60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26364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63640" y="1371600"/>
            <a:ext cx="668656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932295" y="1371600"/>
            <a:ext cx="668655" cy="38100"/>
          </a:xfrm>
          <a:prstGeom prst="rect">
            <a:avLst/>
          </a:prstGeom>
          <a:solidFill>
            <a:srgbClr val="5C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600950" y="1371600"/>
            <a:ext cx="668655" cy="38100"/>
          </a:xfrm>
          <a:prstGeom prst="rect">
            <a:avLst/>
          </a:prstGeom>
          <a:solidFill>
            <a:srgbClr val="4D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269605" y="1371600"/>
            <a:ext cx="668655" cy="38100"/>
          </a:xfrm>
          <a:prstGeom prst="rect">
            <a:avLst/>
          </a:prstGeom>
          <a:solidFill>
            <a:srgbClr val="3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938260" y="1371600"/>
            <a:ext cx="668655" cy="38100"/>
          </a:xfrm>
          <a:prstGeom prst="rect">
            <a:avLst/>
          </a:prstGeom>
          <a:solidFill>
            <a:srgbClr val="2E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606915" y="1371600"/>
            <a:ext cx="668655" cy="38100"/>
          </a:xfrm>
          <a:prstGeom prst="rect">
            <a:avLst/>
          </a:prstGeom>
          <a:solidFill>
            <a:srgbClr val="1E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275570" y="1371600"/>
            <a:ext cx="668655" cy="38100"/>
          </a:xfrm>
          <a:prstGeom prst="rect">
            <a:avLst/>
          </a:prstGeom>
          <a:solidFill>
            <a:srgbClr val="0F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944225" y="1371600"/>
            <a:ext cx="66865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53796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5CFF"/>
                </a:solidFill>
                <a:latin typeface="Microsoft YaHei"/>
              </a:defRPr>
            </a:pPr>
            <a:r>
              <a:t>小云雀（70%）效率优先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537960" y="2103120"/>
            <a:ext cx="205741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43700" y="2103120"/>
            <a:ext cx="205740" cy="25400"/>
          </a:xfrm>
          <a:prstGeom prst="rect">
            <a:avLst/>
          </a:prstGeom>
          <a:solidFill>
            <a:srgbClr val="5C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949440" y="2103120"/>
            <a:ext cx="205740" cy="25400"/>
          </a:xfrm>
          <a:prstGeom prst="rect">
            <a:avLst/>
          </a:prstGeom>
          <a:solidFill>
            <a:srgbClr val="4D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155180" y="2103120"/>
            <a:ext cx="205740" cy="25400"/>
          </a:xfrm>
          <a:prstGeom prst="rect">
            <a:avLst/>
          </a:prstGeom>
          <a:solidFill>
            <a:srgbClr val="3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60920" y="2103120"/>
            <a:ext cx="205740" cy="25400"/>
          </a:xfrm>
          <a:prstGeom prst="rect">
            <a:avLst/>
          </a:prstGeom>
          <a:solidFill>
            <a:srgbClr val="2E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66660" y="2103120"/>
            <a:ext cx="205740" cy="25400"/>
          </a:xfrm>
          <a:prstGeom prst="rect">
            <a:avLst/>
          </a:prstGeom>
          <a:solidFill>
            <a:srgbClr val="1E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2103120"/>
            <a:ext cx="205740" cy="25400"/>
          </a:xfrm>
          <a:prstGeom prst="rect">
            <a:avLst/>
          </a:prstGeom>
          <a:solidFill>
            <a:srgbClr val="0F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978140" y="2103120"/>
            <a:ext cx="20574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537960" y="2386584"/>
            <a:ext cx="146304" cy="146304"/>
          </a:xfrm>
          <a:prstGeom prst="ellipse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1228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对话戏（双人 / 三人对白）</a:t>
            </a:r>
          </a:p>
        </p:txBody>
      </p:sp>
      <p:sp>
        <p:nvSpPr>
          <p:cNvPr id="89" name="Oval 88"/>
          <p:cNvSpPr/>
          <p:nvPr/>
        </p:nvSpPr>
        <p:spPr>
          <a:xfrm>
            <a:off x="6537960" y="2916936"/>
            <a:ext cx="146304" cy="146304"/>
          </a:xfrm>
          <a:prstGeom prst="ellipse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81228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旁白叙事（独白 + 切换）</a:t>
            </a:r>
          </a:p>
        </p:txBody>
      </p:sp>
      <p:sp>
        <p:nvSpPr>
          <p:cNvPr id="91" name="Oval 90"/>
          <p:cNvSpPr/>
          <p:nvPr/>
        </p:nvSpPr>
        <p:spPr>
          <a:xfrm>
            <a:off x="6537960" y="3447288"/>
            <a:ext cx="146304" cy="146304"/>
          </a:xfrm>
          <a:prstGeom prst="ellipse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81228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风景空镜（建立场景）</a:t>
            </a:r>
          </a:p>
        </p:txBody>
      </p:sp>
      <p:sp>
        <p:nvSpPr>
          <p:cNvPr id="93" name="Oval 92"/>
          <p:cNvSpPr/>
          <p:nvPr/>
        </p:nvSpPr>
        <p:spPr>
          <a:xfrm>
            <a:off x="6537960" y="3977640"/>
            <a:ext cx="146304" cy="146304"/>
          </a:xfrm>
          <a:prstGeom prst="ellipse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812280" y="39227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过渡转场</a:t>
            </a:r>
          </a:p>
        </p:txBody>
      </p:sp>
      <p:sp>
        <p:nvSpPr>
          <p:cNvPr id="95" name="Oval 94"/>
          <p:cNvSpPr/>
          <p:nvPr/>
        </p:nvSpPr>
        <p:spPr>
          <a:xfrm>
            <a:off x="6537960" y="4507992"/>
            <a:ext cx="146304" cy="146304"/>
          </a:xfrm>
          <a:prstGeom prst="ellipse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812280" y="44531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14-22 段 / 集 · 免费 + ¥6-12 充会员</a:t>
            </a:r>
          </a:p>
        </p:txBody>
      </p:sp>
      <p:sp>
        <p:nvSpPr>
          <p:cNvPr id="97" name="Rectangle 96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模块18 · 实战工作流-Seedance+小云雀+剪映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387A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6C5C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单集时间预算（5-8 分钟漫剧）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00D4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48640" y="1280160"/>
          <a:ext cx="110642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阶段</a:t>
                      </a:r>
                    </a:p>
                  </a:txBody>
                  <a:tcPr anchor="ctr">
                    <a:solidFill>
                      <a:srgbClr val="387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工具</a:t>
                      </a:r>
                    </a:p>
                  </a:txBody>
                  <a:tcPr anchor="ctr">
                    <a:solidFill>
                      <a:srgbClr val="387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时长</a:t>
                      </a:r>
                    </a:p>
                  </a:txBody>
                  <a:tcPr anchor="ctr">
                    <a:solidFill>
                      <a:srgbClr val="387A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选题 + 剧本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DeepSeek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30 min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资产准备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即梦 AI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60 min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关键视频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Seedance 2.0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90 min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文戏视频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小云雀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60 min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后期合成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剪映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90 min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合计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5.5 小时 / 集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模块18 · 实战工作流-Seedance+小云雀+剪映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387A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6C5C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单集成本拆解 ¥40-80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00D4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48640" y="1280160"/>
          <a:ext cx="110642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工具</a:t>
                      </a:r>
                    </a:p>
                  </a:txBody>
                  <a:tcPr anchor="ctr">
                    <a:solidFill>
                      <a:srgbClr val="387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用量</a:t>
                      </a:r>
                    </a:p>
                  </a:txBody>
                  <a:tcPr anchor="ctr">
                    <a:solidFill>
                      <a:srgbClr val="387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成本</a:t>
                      </a:r>
                    </a:p>
                  </a:txBody>
                  <a:tcPr anchor="ctr">
                    <a:solidFill>
                      <a:srgbClr val="387A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DeepSeek API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50K tokens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¥1-2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即梦 AI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30 张图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免费 / ¥5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Seedance 2.0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6-10 段视频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¥30-60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小云雀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14-22 段视频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免费 / ¥6-12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剪映专业版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后期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¥0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对比传统漫剧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¥5-20 万 / 集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模块18 · 实战工作流-Seedance+小云雀+剪映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387A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6C5C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即梦 AI 资产准备 SOP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00D4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每个主要角色出 3 张基准图：正面 / 半侧 3/4 / 全身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每个核心场景出 1 张母版图（白底纯净）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每个 [SD] 切片出 1 张关键帧（作为 Seedance 首帧）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Prompt 公式：[人物特征] + [服饰细节] + [姿态] + [画风] + [镜头] + [光线]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关键技巧：服饰描述精确到颜色 + 款式 + 配件，确保跨镜头一致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模块18 · 实战工作流-Seedance+小云雀+剪映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387A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6C5C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Seedance 2.0 视频生成 SOP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00D4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强烈用图生视频：上传即梦关键帧作为首帧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绑定角色档案（每角色 3-8 张高清图）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动作描述按 3-5 秒一段，最多 4 段动作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时长固定 15s（高级设置 → 视频时长）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验收四看：脸不变形 / 手指 5 根 / 镜头流畅 / 物理通顺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1520" y="5468112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38378" y="5468112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45236" y="5468112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52094" y="5468112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58952" y="5468112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65810" y="5468112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72668" y="5468112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79526" y="5468112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32688" y="5394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质量不行时：调 prompt 重生 → 仍不行换小云雀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模块18 · 实战工作流-Seedance+小云雀+剪映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387A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6C5C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小云雀短剧 Agent SOP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00D4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剧本 docx 标准格式：角色表 + 场景表 + 切片标注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每切片包含：[镜头描述] + 旁白 + (动作) + 角色台词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上传 docx → 选「自动分镜 + 智能配音 + 自动配图」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在故事蓝图编辑器：把角色形象改成与即梦一致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每天 120 免费积分 ≈ 12 段，分 2 天或 ¥6-12 充会员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1520" y="5468112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38378" y="5468112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45236" y="5468112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52094" y="5468112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58952" y="5468112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65810" y="5468112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72668" y="5468112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79526" y="5468112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32688" y="5394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设置：时长 15s / 比例 9:16 / 关闭字幕（剪映加）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模块18 · 实战工作流-Seedance+小云雀+剪映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387A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6C5C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剪映合成 6 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00D4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Step 1 · 项目设置：1080×1920 / 30fps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1371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221992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8378" y="2221992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45236" y="2221992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2094" y="2221992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58952" y="2221992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65810" y="2221992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2668" y="2221992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79526" y="2221992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2688" y="2148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Step 2 · 素材排序：按命名 ep01_01_xyq.mp4 严格排序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21488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" y="2999232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38378" y="2999232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45236" y="2999232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52094" y="2999232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58952" y="2999232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65810" y="2999232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72668" y="2999232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79526" y="2999232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2688" y="2926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Step 3 · 切口处理：每两段加 0.3-0.5s 转场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1520" y="3776472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8378" y="3776472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45236" y="3776472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52094" y="3776472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58952" y="3776472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5810" y="3776472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72668" y="3776472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79526" y="3776472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32688" y="3703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Step 4 · 全局调色：加 LUT「电影感-暖调」+ 饱和度+10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" y="3703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1520" y="4553712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8378" y="4553712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5236" y="4553712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2094" y="4553712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8952" y="4553712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5810" y="4553712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2668" y="4553712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9526" y="4553712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32688" y="4480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Step 5 · 字幕配音：智能字幕 + 关键台词金色加粗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1520" y="4480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31520" y="5330952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38378" y="5330952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45236" y="5330952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52094" y="5330952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58952" y="5330952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65810" y="5330952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72668" y="5330952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79526" y="5330952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32688" y="5257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Step 6 · 配乐音效：铺底 BGM + 转场 whoosh + 高潮重音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31520" y="5257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模块18 · 实战工作流-Seedance+小云雀+剪映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387A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6C5C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质量自检 5 大类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00D4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720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1371600"/>
            <a:ext cx="668656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25855" y="1371600"/>
            <a:ext cx="668655" cy="381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794510" y="1371600"/>
            <a:ext cx="668655" cy="381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463165" y="1371600"/>
            <a:ext cx="668655" cy="381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131820" y="1371600"/>
            <a:ext cx="668655" cy="381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00475" y="1371600"/>
            <a:ext cx="668655" cy="381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469130" y="1371600"/>
            <a:ext cx="668655" cy="381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137785" y="1371600"/>
            <a:ext cx="668655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7AFF"/>
                </a:solidFill>
                <a:latin typeface="Microsoft YaHei"/>
              </a:defRPr>
            </a:pPr>
            <a:r>
              <a:t>前 3 类（必过）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103120"/>
            <a:ext cx="20574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37260" y="2103120"/>
            <a:ext cx="205740" cy="254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43000" y="2103120"/>
            <a:ext cx="205740" cy="254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348740" y="2103120"/>
            <a:ext cx="205740" cy="254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554480" y="2103120"/>
            <a:ext cx="205740" cy="254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60220" y="2103120"/>
            <a:ext cx="205740" cy="254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965960" y="2103120"/>
            <a:ext cx="205740" cy="254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171700" y="2103120"/>
            <a:ext cx="205740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31520" y="2386584"/>
            <a:ext cx="146304" cy="146304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584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画面：无闪烁 / 脸不变形 / 手指对 / 不穿模</a:t>
            </a:r>
          </a:p>
        </p:txBody>
      </p:sp>
      <p:sp>
        <p:nvSpPr>
          <p:cNvPr id="61" name="Oval 60"/>
          <p:cNvSpPr/>
          <p:nvPr/>
        </p:nvSpPr>
        <p:spPr>
          <a:xfrm>
            <a:off x="731520" y="2916936"/>
            <a:ext cx="146304" cy="146304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584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剧情：前 3 秒钩子 / 30 秒小高潮 / 结尾留钩</a:t>
            </a:r>
          </a:p>
        </p:txBody>
      </p:sp>
      <p:sp>
        <p:nvSpPr>
          <p:cNvPr id="63" name="Oval 62"/>
          <p:cNvSpPr/>
          <p:nvPr/>
        </p:nvSpPr>
        <p:spPr>
          <a:xfrm>
            <a:off x="731520" y="3447288"/>
            <a:ext cx="146304" cy="146304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584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音画：口型对得上 / BGM 不盖台词 / 音效对齐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26364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263640" y="1371600"/>
            <a:ext cx="668656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932295" y="1371600"/>
            <a:ext cx="668655" cy="38100"/>
          </a:xfrm>
          <a:prstGeom prst="rect">
            <a:avLst/>
          </a:prstGeom>
          <a:solidFill>
            <a:srgbClr val="5C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600950" y="1371600"/>
            <a:ext cx="668655" cy="38100"/>
          </a:xfrm>
          <a:prstGeom prst="rect">
            <a:avLst/>
          </a:prstGeom>
          <a:solidFill>
            <a:srgbClr val="4D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269605" y="1371600"/>
            <a:ext cx="668655" cy="38100"/>
          </a:xfrm>
          <a:prstGeom prst="rect">
            <a:avLst/>
          </a:prstGeom>
          <a:solidFill>
            <a:srgbClr val="3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938260" y="1371600"/>
            <a:ext cx="668655" cy="38100"/>
          </a:xfrm>
          <a:prstGeom prst="rect">
            <a:avLst/>
          </a:prstGeom>
          <a:solidFill>
            <a:srgbClr val="2E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606915" y="1371600"/>
            <a:ext cx="668655" cy="38100"/>
          </a:xfrm>
          <a:prstGeom prst="rect">
            <a:avLst/>
          </a:prstGeom>
          <a:solidFill>
            <a:srgbClr val="1E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275570" y="1371600"/>
            <a:ext cx="668655" cy="38100"/>
          </a:xfrm>
          <a:prstGeom prst="rect">
            <a:avLst/>
          </a:prstGeom>
          <a:solidFill>
            <a:srgbClr val="0F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944225" y="1371600"/>
            <a:ext cx="66865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53796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5CFF"/>
                </a:solidFill>
                <a:latin typeface="Microsoft YaHei"/>
              </a:defRPr>
            </a:pPr>
            <a:r>
              <a:t>后 2 类（建议过）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537960" y="2103120"/>
            <a:ext cx="205741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743700" y="2103120"/>
            <a:ext cx="205740" cy="25400"/>
          </a:xfrm>
          <a:prstGeom prst="rect">
            <a:avLst/>
          </a:prstGeom>
          <a:solidFill>
            <a:srgbClr val="5C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949440" y="2103120"/>
            <a:ext cx="205740" cy="25400"/>
          </a:xfrm>
          <a:prstGeom prst="rect">
            <a:avLst/>
          </a:prstGeom>
          <a:solidFill>
            <a:srgbClr val="4D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155180" y="2103120"/>
            <a:ext cx="205740" cy="25400"/>
          </a:xfrm>
          <a:prstGeom prst="rect">
            <a:avLst/>
          </a:prstGeom>
          <a:solidFill>
            <a:srgbClr val="3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60920" y="2103120"/>
            <a:ext cx="205740" cy="25400"/>
          </a:xfrm>
          <a:prstGeom prst="rect">
            <a:avLst/>
          </a:prstGeom>
          <a:solidFill>
            <a:srgbClr val="2E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66660" y="2103120"/>
            <a:ext cx="205740" cy="25400"/>
          </a:xfrm>
          <a:prstGeom prst="rect">
            <a:avLst/>
          </a:prstGeom>
          <a:solidFill>
            <a:srgbClr val="1E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772400" y="2103120"/>
            <a:ext cx="205740" cy="25400"/>
          </a:xfrm>
          <a:prstGeom prst="rect">
            <a:avLst/>
          </a:prstGeom>
          <a:solidFill>
            <a:srgbClr val="0F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978140" y="2103120"/>
            <a:ext cx="20574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6537960" y="2386584"/>
            <a:ext cx="146304" cy="146304"/>
          </a:xfrm>
          <a:prstGeom prst="ellipse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81228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字幕：无错别字 / 关键台词强调 / 不挡画面</a:t>
            </a:r>
          </a:p>
        </p:txBody>
      </p:sp>
      <p:sp>
        <p:nvSpPr>
          <p:cNvPr id="85" name="Oval 84"/>
          <p:cNvSpPr/>
          <p:nvPr/>
        </p:nvSpPr>
        <p:spPr>
          <a:xfrm>
            <a:off x="6537960" y="2916936"/>
            <a:ext cx="146304" cy="146304"/>
          </a:xfrm>
          <a:prstGeom prst="ellipse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81228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合规：第 1s 标注「AI 生成」 / 无敏感词 / 无侵权 IP</a:t>
            </a:r>
          </a:p>
        </p:txBody>
      </p:sp>
      <p:sp>
        <p:nvSpPr>
          <p:cNvPr id="87" name="Oval 86"/>
          <p:cNvSpPr/>
          <p:nvPr/>
        </p:nvSpPr>
        <p:spPr>
          <a:xfrm>
            <a:off x="6537960" y="3447288"/>
            <a:ext cx="146304" cy="146304"/>
          </a:xfrm>
          <a:prstGeom prst="ellipse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1228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不达标必返工，没有"大概"</a:t>
            </a:r>
          </a:p>
        </p:txBody>
      </p:sp>
      <p:sp>
        <p:nvSpPr>
          <p:cNvPr id="89" name="Rectangle 88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模块18 · 实战工作流-Seedance+小云雀+剪映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387A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6C5C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量产排班建议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00D4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48640" y="1280160"/>
          <a:ext cx="110642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模式</a:t>
                      </a:r>
                    </a:p>
                  </a:txBody>
                  <a:tcPr anchor="ctr">
                    <a:solidFill>
                      <a:srgbClr val="387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产量</a:t>
                      </a:r>
                    </a:p>
                  </a:txBody>
                  <a:tcPr anchor="ctr">
                    <a:solidFill>
                      <a:srgbClr val="387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 anchor="ctr">
                    <a:solidFill>
                      <a:srgbClr val="387A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单人 · 周 3 集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月 12 集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周一/三/五各 1 集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单人 · 日产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月 30 集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熟练后 3.5 小时/集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双人 · 你+剪辑助理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月 25-30 集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你 4h/集 + 助理 1.5h/集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团队 · 4 人流水线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月 60+集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剧本/资产/视频/剪辑各 1 人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模块18 · 实战工作流-Seedance+小云雀+剪映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387A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6C5C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数据反馈循环（24h 关键指标）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00D4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48640" y="1280160"/>
          <a:ext cx="110642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387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健康线</a:t>
                      </a:r>
                    </a:p>
                  </a:txBody>
                  <a:tcPr anchor="ctr">
                    <a:solidFill>
                      <a:srgbClr val="387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不达标处理</a:t>
                      </a:r>
                    </a:p>
                  </a:txBody>
                  <a:tcPr anchor="ctr">
                    <a:solidFill>
                      <a:srgbClr val="387A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完播率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&gt; 35%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&lt; 25% 弃坑换题材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点赞率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&gt; 3%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&lt; 1% 重写钩子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评论率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&gt; 0.8%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&lt; 0.3% 加爽点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5s 留存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&gt; 50%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&lt; 40% 换冲击画面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连续 3 集不达标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立刻换题材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连续 3 集 &gt; 50 万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拉 8-12 集长篇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模块18 · 实战工作流-Seedance+小云雀+剪映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0"/>
            <a:ext cx="6400800" cy="6400800"/>
          </a:xfrm>
          <a:prstGeom prst="ellipse">
            <a:avLst/>
          </a:prstGeom>
          <a:solidFill>
            <a:srgbClr val="387A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2743200"/>
            <a:ext cx="4572000" cy="4572000"/>
          </a:xfrm>
          <a:prstGeom prst="ellipse">
            <a:avLst/>
          </a:prstGeom>
          <a:solidFill>
            <a:srgbClr val="6C5C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1097280"/>
            <a:ext cx="720091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920490" y="1097280"/>
            <a:ext cx="720090" cy="381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40580" y="1097280"/>
            <a:ext cx="720090" cy="381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60670" y="1097280"/>
            <a:ext cx="720090" cy="381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80760" y="1097280"/>
            <a:ext cx="720090" cy="381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00850" y="1097280"/>
            <a:ext cx="720090" cy="381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20940" y="1097280"/>
            <a:ext cx="720090" cy="381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41030" y="1097280"/>
            <a:ext cx="720090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164592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不在视频里渲染中文 · 不让 Seedance 处理对话戏 · 不一次生成超 15s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931920"/>
            <a:ext cx="26289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3931920"/>
            <a:ext cx="262890" cy="254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3931920"/>
            <a:ext cx="262890" cy="254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3931920"/>
            <a:ext cx="262890" cy="254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3931920"/>
            <a:ext cx="262890" cy="254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3931920"/>
            <a:ext cx="262890" cy="254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3931920"/>
            <a:ext cx="262890" cy="254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3931920"/>
            <a:ext cx="262890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297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中文乱码 99% / Seedance 嘴型崩溃严重 / 超过 15s 角色一致性必崩。这三条违反任何一条，整集质量直接坍塌。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模块18 · 实战工作流-Seedance+小云雀+剪映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387A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6C5C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◆  本模块实操任务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EE7B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" y="144475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144475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8096" y="144475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4672" y="144475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41248" y="144475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77824" y="144475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" y="144475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50976" y="144475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7552" y="144475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8872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45920" y="1371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注册 4 个工具账号：即梦 / Seedance / 小云雀 / 剪映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222199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1520" y="222199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68096" y="222199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4672" y="222199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41248" y="222199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77824" y="222199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400" y="222199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50976" y="222199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87552" y="222199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8872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45920" y="21488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从《爆款剧本模板库》选 1 个模板写第 1 集 25 切片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" y="299923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31520" y="299923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68096" y="299923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04672" y="299923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41248" y="299923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7824" y="299923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14400" y="299923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50976" y="299923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87552" y="299923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8872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645920" y="2926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按《第 1 集完整可执行包 · 代码之外》产出第 1 集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31520" y="377647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31520" y="377647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8096" y="377647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04672" y="377647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41248" y="377647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77824" y="377647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14400" y="377647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50976" y="377647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87552" y="377647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188720" y="3703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645920" y="3703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发布到抖音 / 视频号，24 小时后看数据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31520" y="455371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31520" y="455371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8096" y="455371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4672" y="455371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41248" y="455371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77824" y="455371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14400" y="455371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50976" y="455371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87552" y="455371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88720" y="4480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645920" y="44805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根据数据反馈表决定：续做 / 换题材 / 加大投入</a:t>
            </a:r>
          </a:p>
        </p:txBody>
      </p:sp>
      <p:sp>
        <p:nvSpPr>
          <p:cNvPr id="96" name="Rectangle 9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模块18 · 实战工作流-Seedance+小云雀+剪映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914400"/>
            <a:ext cx="6400800" cy="6400800"/>
          </a:xfrm>
          <a:prstGeom prst="ellipse">
            <a:avLst/>
          </a:prstGeom>
          <a:solidFill>
            <a:srgbClr val="387A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1371600"/>
            <a:ext cx="491491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06290" y="1371600"/>
            <a:ext cx="491490" cy="381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97780" y="1371600"/>
            <a:ext cx="491490" cy="381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9270" y="1371600"/>
            <a:ext cx="491490" cy="381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80760" y="1371600"/>
            <a:ext cx="491490" cy="381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72250" y="1371600"/>
            <a:ext cx="491490" cy="381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63740" y="1371600"/>
            <a:ext cx="491490" cy="381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55230" y="1371600"/>
            <a:ext cx="491490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387AFF"/>
                </a:solidFill>
                <a:latin typeface="Microsoft YaHei"/>
              </a:defRPr>
            </a:pPr>
            <a: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320040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本模块结束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4023360"/>
            <a:ext cx="26289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4023360"/>
            <a:ext cx="262890" cy="254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4023360"/>
            <a:ext cx="262890" cy="254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4023360"/>
            <a:ext cx="262890" cy="254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4023360"/>
            <a:ext cx="262890" cy="254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4023360"/>
            <a:ext cx="262890" cy="254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4023360"/>
            <a:ext cx="262890" cy="254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4023360"/>
            <a:ext cx="262890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8BAC8"/>
                </a:solidFill>
                <a:latin typeface="Microsoft YaHei"/>
              </a:defRPr>
            </a:pPr>
            <a:r>
              <a:t>下一模块：完结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E7082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