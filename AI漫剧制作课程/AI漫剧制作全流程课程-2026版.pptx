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<Relationship Id="rId17" Type="http://schemas.openxmlformats.org/officeDocument/2006/relationships/slide" Target="slides/slide15.xml"/>
  <Relationship Id="rId18" Type="http://schemas.openxmlformats.org/officeDocument/2006/relationships/slide" Target="slides/slide16.xml"/>
  <Relationship Id="rId19" Type="http://schemas.openxmlformats.org/officeDocument/2006/relationships/slide" Target="slides/slide17.xml"/>
  <Relationship Id="rId20" Type="http://schemas.openxmlformats.org/officeDocument/2006/relationships/slide" Target="slides/slide18.xml"/>
  <Relationship Id="rId21" Type="http://schemas.openxmlformats.org/officeDocument/2006/relationships/slide" Target="slides/slide19.xml"/>
  <Relationship Id="rId22" Type="http://schemas.openxmlformats.org/officeDocument/2006/relationships/slide" Target="slides/slide20.xml"/>
  <Relationship Id="rId23" Type="http://schemas.openxmlformats.org/officeDocument/2006/relationships/slide" Target="slides/slide21.xml"/>
  <Relationship Id="rId24" Type="http://schemas.openxmlformats.org/officeDocument/2006/relationships/slide" Target="slides/slide22.xml"/>
  <Relationship Id="rId25" Type="http://schemas.openxmlformats.org/officeDocument/2006/relationships/slide" Target="slides/slide23.xml"/>
  <Relationship Id="rId26" Type="http://schemas.openxmlformats.org/officeDocument/2006/relationships/slide" Target="slides/slide24.xml"/>
  <Relationship Id="rId27" Type="http://schemas.openxmlformats.org/officeDocument/2006/relationships/slide" Target="slides/slide25.xml"/>
  <Relationship Id="rId28" Type="http://schemas.openxmlformats.org/officeDocument/2006/relationships/slide" Target="slides/slide26.xml"/>
  <Relationship Id="rId29" Type="http://schemas.openxmlformats.org/officeDocument/2006/relationships/slide" Target="slides/slide27.xml"/>
  <Relationship Id="rId30" Type="http://schemas.openxmlformats.org/officeDocument/2006/relationships/slide" Target="slides/slide28.xml"/>
  <Relationship Id="rId31" Type="http://schemas.openxmlformats.org/officeDocument/2006/relationships/slide" Target="slides/slide29.xml"/>
  <Relationship Id="rId32" Type="http://schemas.openxmlformats.org/officeDocument/2006/relationships/slide" Target="slides/slide30.xml"/>
  <Relationship Id="rId33" Type="http://schemas.openxmlformats.org/officeDocument/2006/relationships/slide" Target="slides/slide31.xml"/>
  <Relationship Id="rId34" Type="http://schemas.openxmlformats.org/officeDocument/2006/relationships/slide" Target="slides/slide32.xml"/>
  <Relationship Id="rId35" Type="http://schemas.openxmlformats.org/officeDocument/2006/relationships/slide" Target="slides/slide33.xml"/>
  <Relationship Id="rId36" Type="http://schemas.openxmlformats.org/officeDocument/2006/relationships/slide" Target="slides/slide34.xml"/>
  <Relationship Id="rId37" Type="http://schemas.openxmlformats.org/officeDocument/2006/relationships/slide" Target="slides/slide35.xml"/>
  <Relationship Id="rId38" Type="http://schemas.openxmlformats.org/officeDocument/2006/relationships/slide" Target="slides/slide36.xml"/>
  <Relationship Id="rId39" Type="http://schemas.openxmlformats.org/officeDocument/2006/relationships/slide" Target="slides/slide37.xml"/>
  <Relationship Id="rId40" Type="http://schemas.openxmlformats.org/officeDocument/2006/relationships/slide" Target="slides/slide38.xml"/>
  <Relationship Id="rId41" Type="http://schemas.openxmlformats.org/officeDocument/2006/relationships/slide" Target="slides/slide39.xml"/>
  <Relationship Id="rId42" Type="http://schemas.openxmlformats.org/officeDocument/2006/relationships/slide" Target="slides/slide40.xml"/>
  <Relationship Id="rId43" Type="http://schemas.openxmlformats.org/officeDocument/2006/relationships/slide" Target="slides/slide41.xml"/>
  <Relationship Id="rId44" Type="http://schemas.openxmlformats.org/officeDocument/2006/relationships/slide" Target="slides/slide4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2000" cy="12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leftbar"/>
          <p:cNvSpPr>
            <a:spLocks noGrp="1"/>
          </p:cNvSpPr>
          <p:nvPr/>
        </p:nvSpPr>
        <p:spPr>
          <a:xfrm>
            <a:off x="0" y="0"/>
            <a:ext cx="180000" cy="6858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accent_block"/>
          <p:cNvSpPr>
            <a:spLocks noGrp="1"/>
          </p:cNvSpPr>
          <p:nvPr/>
        </p:nvSpPr>
        <p:spPr>
          <a:xfrm>
            <a:off x="685800" y="2200000"/>
            <a:ext cx="500000" cy="800000"/>
          </a:xfrm>
          <a:solidFill>
            <a:srgbClr val="FF6B35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5" name="title"/>
          <p:cNvSpPr>
            <a:spLocks noGrp="1"/>
          </p:cNvSpPr>
          <p:nvPr/>
        </p:nvSpPr>
        <p:spPr>
          <a:xfrm>
            <a:off x="1400000" y="2200000"/>
            <a:ext cx="10000000" cy="1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4800" b="1" dirty="0">
                <a:solidFill>
                  <a:srgbClr val="FFFFFF"/>
                </a:solidFill>
                <a:latin typeface="Microsoft YaHei"/>
                <a:ea typeface="Microsoft YaHei"/>
              </a:rPr>
              <a:t>AI漫剧制作全流程课程</a:t>
            </a:r>
          </a:p>
        </p:txBody>
      </p:sp>
      <p:sp>
        <p:nvSpPr>
          <p:cNvPr id="6" name="divider"/>
          <p:cNvSpPr>
            <a:spLocks noGrp="1"/>
          </p:cNvSpPr>
          <p:nvPr/>
        </p:nvSpPr>
        <p:spPr>
          <a:xfrm>
            <a:off x="1400000" y="3500000"/>
            <a:ext cx="3000000" cy="0"/>
          </a:xfrm>
          <a:ln w="6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7" name="subtitle"/>
          <p:cNvSpPr>
            <a:spLocks noGrp="1"/>
          </p:cNvSpPr>
          <p:nvPr/>
        </p:nvSpPr>
        <p:spPr>
          <a:xfrm>
            <a:off x="1400000" y="3700000"/>
            <a:ext cx="9500000" cy="8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2200" dirty="0">
                <a:solidFill>
                  <a:srgbClr val="8899AA"/>
                </a:solidFill>
                <a:latin typeface="Microsoft YaHei"/>
                <a:ea typeface="Microsoft YaHei"/>
              </a:rPr>
              <a:t>2026版 · 124课时 · 17个模块 · 从零基础到独立制作完整AI漫剧</a:t>
            </a:r>
          </a:p>
        </p:txBody>
      </p:sp>
      <p:sp>
        <p:nvSpPr>
          <p:cNvPr id="8" name="bottom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9" name="bottom_text"/>
          <p:cNvSpPr>
            <a:spLocks noGrp="1"/>
          </p:cNvSpPr>
          <p:nvPr/>
        </p:nvSpPr>
        <p:spPr>
          <a:xfrm>
            <a:off x="685800" y="6658000"/>
            <a:ext cx="108204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ctr</a:algn>
            </a:pPr>
            <a:r>
              <a:rPr lang="zh-CN" sz="1000" dirty="0">
                <a:solidFill>
                  <a:srgbClr val="8899AA"/>
                </a:solidFill>
                <a:latin typeface="Microsoft YaHei"/>
                <a:ea typeface="Microsoft YaHei"/>
              </a:rPr>
              <a:t>2026版 · AI漫剧制作全流程课程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📊 课程概览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课程名称：AI漫剧制作全流程实战课程 · 2026版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总模块数：17个模块 · 总课时：124课时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学习周期：8-12周（全日制）/ 16-24周（业余制）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适用人群：零基础入门者、短视频创作者、漫画从业者、创业者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前置要求：基本电脑操作能力，无需编程或美术基础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行业背景：2026年市场规模240亿元，用户2.8亿，日均播放15亿次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🏗️ 课程架构全景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认知层（6课时）→ 模块1：行业认知与趋势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创作层（18课时）→ 模块2-3：剧本创作 + 分镜设计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图像层（16课时）→ 模块4-5：即梦AI + 其他图像工具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视频层（22课时）→ 模块6-8：可灵AI + Seedance 2.0 + 海螺/Vidu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核心技术（6课时）→ 模块9：角色一致性攻克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音频层（8课时）→ 模块10：配音配乐与音画同步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后期层（6课时）→ 模块11：剪辑与后期全流程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平台层（16课时）→ 模块12-13：一站式平台 + ComfyUI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工业化层（6课时）→ 模块14：工业化生产与团队协作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商业层（12课时）→ 模块15-16：分发变现 + 合规规范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实战层（8课时）→ 模块17：综合实战项目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01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AI漫剧行业认知与趋势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模块一：行业认知与趋势（6课时）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2026年市场规模240亿元，用户2.8亿，创作者120万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📈 四阶段演进：沙雕漫→动态漫→AI原生漫剧→AI仿真人剧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🔄 五步工业化：剧本→分镜→文生图→图生视频→剪辑配音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💡 爆款公式：精准题材 × 强节奏 × 高画质 × 稳更新 × 情感钩子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🚀 三种创业路径：个人(1-5万) / 小团队(10-30万) / 工作室(50万+)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📊 制作成本降幅50%（较2025年），日产30+集成为可能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02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大语言模型与AI剧本创作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模块二：大语言模型与AI剧本创作（8课时）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📝 五大AI模型深度使用：文心5.0 / DeepSeek / 豆包 / 通义千问 / 智谱清言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AI剧本方法论：热点抓取→选题决策→故事构建→剧本落地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🔥 DeepSeek杀手锏：联网搜索抓热点 + 长文本推理设计复杂剧情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💡 可视化描写技巧：把抽象变成具象，用"摄影机视角"写剧本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📐 AI适配要点：场景≤2-3人、动作可执行、包含完整视觉元素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实战：用多AI工具协作完成12集漫剧完整剧本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03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分镜设计与提示词工程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模块三：分镜设计与提示词工程（10课时）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五大景别：远景→全景→中景→近景→特写，掌握切换节奏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📐 六大构图法则：三分法 / 对角线 / 对称 / 框中框 / 前景遮挡 / 负空间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✨ 提示词六要素：主体 + 动作 + 环境 + 光线 + 视角 + 风格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📚 四大模板库：动作打斗 / 情感对话 / 情绪特写 / 场景展示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🚫 负面提示词：系统化排除低质量/变形/模糊等AI常见问题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🛠️ 工具链：Drawstory分镜 + DomoAI动态化 + 即梦AI智能多帧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04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即梦AI深度精通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模块四：即梦AI深度精通（10课时）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🖼️ 文生图：七步提示词法 + 参数调节(分辨率/风格/采样步数/CFG)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🎨 图生图：风格迁移(0.6-0.7) + 精修(0.2-0.3) + 换背景(0.5-0.6)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👤 角色一致性：角色参考功能 + 提示词锚定 + 图生图接力法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🏛️ 场景资产库：核心场景"母版图" + 白天/黄昏/深夜变体批量生成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🔀 多风格切换：日漫/国漫/赛博朋克/古风参数速查表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🔌 企业级API：火山引擎接入 + 批量生产工作流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05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其他图像生成工具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模块五：其他图像生成工具（6课时）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🟠 通义万相(阿里)：中文理解强，中式美学风格突出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🔵 腾讯混元：对话式迭代生成 + 数字人创作功能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🔴 百度文心一格：国风古风专精，30+种预设艺术风格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🟢 Kolors(快手)：开源免费，支持本地部署和深度定制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🧠 LoRA训练：30-50张图 → 角色专属模型，彻底解决一致性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决策矩阵：特写→SD+LoRA / 全景→MJ / 国风→文心一格 / 动作→SD+ControlNet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06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可灵AI深度精通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模块六：可灵AI深度精通（8课时）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🚀 可灵3.0：物理仿真引擎突破 + 影像级1080P/30fps输出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🖼️ 图生视频：静态关键帧→动态画面，运动幅度低/中/高三档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📝 文生视频：公式=主体+运动+场景+镜头+光影+氛围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🎭 高级运动控制：运动笔刷(可视化轨迹) + 动作大师(骨骼级)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首尾帧控制：精确设定起止状态，保障连续镜头衔接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⚔️ 打斗实战：近身格斗/武器对决/超能力战斗提示词模板库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07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Seedance 2.0深度精通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模块七：Seedance 2.0深度精通（8课时）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"导演之选"：多模态参考驱动 + 角色档案系统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📹 参考视频驱动：上传真人动作视频→AI角色完美复刻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📋 Draft模式：480P快速预览确认后再渲染1080P，省60%成本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📈 抽卡率革命：从20%→90%+，四大策略提升可用率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👤 角色档案：多角度参考图集 + 跨镜头形象锁定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🔗 生态整合：与即梦AI无缝配合，关键帧→视频→剪辑全链路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08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海螺AI与Vidu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模块八：海螺AI与Vidu（6课时）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🌊 海螺AI 02(MiniMax)：高难度物理动作生成行业领先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💃 复杂动作：打斗/舞蹈/极限运动等高难度场景最佳实践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Vidu Q3：全球首个16秒音画直出，多角色对话支持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👥 多角色同屏：2-3个角色自然对话和互动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四大工具选型：对话→Vidu / 参考→Seedance / 打斗→海螺 / 普通→可灵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09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角色一致性攻克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模块九：角色一致性攻克（6课时）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🔥 最大挑战：AI每次独立生成，角色天然不一致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💡 解决方案阶梯：固定提示词→参考图→IP-Adapter→LoRA微调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🛠️ ComfyUI工作流：IP-Adapter FaceID Plus v2 + ControlNet精准控制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🧠 LoRA训练：30-50张高质量图 → 训练角色专属模型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🔧 ADetailer：自动检测面部偏移并高分辨率重渲染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📦 资产库规范：多角度/多表情/多光照数据集标准化管理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10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配音、配乐与音画同步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模块十：配音、配乐与音画同步（8课时）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🎤 火山引擎TTS：中文语境深度适配，情感维度精准控制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🎭 Fish Audio：表情标签系统（开心/悲伤/愤怒）精准控制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✂️ 剪映AI克隆音色：30秒音频样本训练专属配音模型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🎵 MiniMax Music-2.0：多风格音乐生成 + 风格混合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🔊 SkyReels-V4：毫秒级口型对齐，实现精准音画同步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💥 拟声字特效："轰""啊""哇"等文字特效制作技巧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11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剪辑与后期全流程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模块十一：剪辑与后期全流程（6课时）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前3秒法则：视觉冲击→冲突呈现→信息传达，层层递进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🪝 黄金钩子：每集开头回顾+悬念，结尾必留钩子驱动追看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🤖 剪映AI功能：智能字幕/自动踩点/AI混剪/智能修复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🔧 画面修复：AI去闪烁/去变形/超分辨率/补帧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🎨 调色统一：玄幻偏冷/都市自然/古风暖色/赛博霓虹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📦 从素材到成片的完整剪辑工作流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12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一站式AI漫剧平台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模块十二：一站式AI漫剧平台精讲（8课时）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🏭 360纳米漫剧流水线：全链路自动化，零基础可用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🎭 有戏AI：角色相似度95%+，一站式短剧创作平台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🎬 商汤Seko 2.0：创编一体，连拍100集不崩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📚 漫剧助手(阅文)：AI驱动+海量IP库，IP到漫剧最短路径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🍊 橙星梦工厂 / 漫剧工场 / 白日梦AI 等平台横向对比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🎯 选型建议：快速出片→360纳米 / 品质→有戏AI / IP→漫剧助手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13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ComfyUI工作流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模块十三：ComfyUI工作流进阶（8课时）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⚙️ 环境搭建：Python 3.10+ / PyTorch 2.0+ / NVIDIA 8GB+ VRAM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🔌 核心插件：IP-Adapter / ControlNet / ADetailer / Kolors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🖼️ 文生图/图生图工作流：节点连接与参数优化详解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🎮 ControlNet：骨骼姿态/深度图/线稿/边缘精准控制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👤 角色一致性黄金组合：IP-Adapter + LoRA + ADetailer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📚 Z-Comics：多格漫画批量生成插件实战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14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工业化生产与团队协作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模块十四：工业化生产与团队协作（6课时）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⚡ 极速流：1小时/集热点漫剧，单人日更模式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💎 精品IP流：15-30天打造精品连载，团队协作模式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👥 "1+4+2"团队：编剧 + 2抽卡师 + 后期 + 运营 + 美术 + 技术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📦 资产沉淀复用：角色/场景/道具/模板资产库管理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💰 成本控制：单集275-660元，Draft模式省60%试错成本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📊 工业化评估矩阵：复杂度/质量/成本/时间四维决策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15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平台分发与商业变现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模块十五：平台分发与商业变现（8课时）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📱 抖音：完播率最重要，封面+前3秒决定生死，算法推荐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🍎 红果短剧：分账模式成熟，S/A/B级评级决定收入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⚡ 快手：可灵AI流量扶持，下沉市场优势明显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🎮 B站：二次元氛围浓厚，高品质内容偏好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🌏 出海变现：AI翻译+配音+换口型，全球化内容策略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💰 变现阶梯：分账(1-10万)→付费(5-30万)→广告→IP授权→品牌联名(500万+)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16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合规要求与行业规范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模块十六：合规要求与行业规范（4课时）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📋 备案要求：所有AI漫剧需在平台完成备案登记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🏷️ AIGC标识：必须在视频中标注"AI生成"，不得删除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⚖️ 版权保护：纯AI生成不受著作权法保护，保留创作过程记录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🚫 内容红线：暴力/色情/政治敏感/虚假信息绝对禁止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🔒 数据安全：训练数据合规、用户隐私保护、API密钥安全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🌱 可持续发展：从流量消耗→IP生态运营的长期主义转型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_accent"/>
          <p:cNvSpPr>
            <a:spLocks noGrp="1"/>
          </p:cNvSpPr>
          <p:nvPr/>
        </p:nvSpPr>
        <p:spPr>
          <a:xfrm>
            <a:off x="0" y="0"/>
            <a:ext cx="4500000" cy="6858000"/>
          </a:xfrm>
          <a:solidFill>
            <a:srgbClr val="FF6B35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num"/>
          <p:cNvSpPr>
            <a:spLocks noGrp="1"/>
          </p:cNvSpPr>
          <p:nvPr/>
        </p:nvSpPr>
        <p:spPr>
          <a:xfrm>
            <a:off x="685800" y="1500000"/>
            <a:ext cx="3200000" cy="1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7200" b="1" dirty="0">
                <a:solidFill>
                  <a:srgbClr val="FFFFFF"/>
                </a:solidFill>
                <a:latin typeface="Microsoft YaHei"/>
                <a:ea typeface="Microsoft YaHei"/>
              </a:rPr>
              <a:t>模块 17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685800" y="3200000"/>
            <a:ext cx="2500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label"/>
          <p:cNvSpPr>
            <a:spLocks noGrp="1"/>
          </p:cNvSpPr>
          <p:nvPr/>
        </p:nvSpPr>
        <p:spPr>
          <a:xfrm>
            <a:off x="685800" y="3400000"/>
            <a:ext cx="3200000" cy="5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l</a:algn>
            </a:pPr>
            <a:r>
              <a:rPr lang="zh-CN" sz="1400" dirty="0">
                <a:solidFill>
                  <a:srgbClr val="8899AA"/>
                </a:solidFill>
                <a:latin typeface="Microsoft YaHei"/>
                <a:ea typeface="Microsoft YaHei"/>
              </a:rPr>
              <a:t>MODULE</a:t>
            </a:r>
          </a:p>
        </p:txBody>
      </p:sp>
      <p:sp>
        <p:nvSpPr>
          <p:cNvPr id="6" name="title_right"/>
          <p:cNvSpPr>
            <a:spLocks noGrp="1"/>
          </p:cNvSpPr>
          <p:nvPr/>
        </p:nvSpPr>
        <p:spPr>
          <a:xfrm>
            <a:off x="5200000" y="2000000"/>
            <a:ext cx="6300000" cy="3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200" b="1" dirty="0">
                <a:solidFill>
                  <a:srgbClr val="FFFFFF"/>
                </a:solidFill>
                <a:latin typeface="Microsoft YaHei"/>
                <a:ea typeface="Microsoft YaHei"/>
              </a:rPr>
              <a:t>综合实战项目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模块十七：综合实战项目（8课时）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1：选题定位 — 市场调研 + 竞品分析 + 蓝海判断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2：剧本创作 — DeepSeek完成3-5集剧本 + 分镜脚本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3：角色资产 — 即梦AI + ComfyUI建立完整角色资产库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4：图像生成 — 批量生成所有关键帧画面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5：视频生成 — Seedance 2.0 + 可灵AI完成动态镜头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6：音频制作 — 火山引擎配音 + BGM + 音效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7：剪辑成片 — 剪映专业版精剪 + 调色 + 字幕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Step 8：发布运营 — 多平台分发 + 数据分析 + 迭代优化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🛠️ 核心工具速查表</a:t>
            </a:r>
          </a:p>
        </p:txBody>
      </p:sp>
      <p:sp>
        <p:nvSpPr>
          <p:cNvPr id="5" name="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left_card"/>
          <p:cNvSpPr>
            <a:spLocks noGrp="1"/>
          </p:cNvSpPr>
          <p:nvPr/>
        </p:nvSpPr>
        <p:spPr>
          <a:xfrm>
            <a:off x="457200" y="1500000"/>
            <a:ext cx="5400000" cy="49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7" name="left_title"/>
          <p:cNvSpPr>
            <a:spLocks noGrp="1"/>
          </p:cNvSpPr>
          <p:nvPr/>
        </p:nvSpPr>
        <p:spPr>
          <a:xfrm>
            <a:off x="650000" y="1600000"/>
            <a:ext cx="5000000" cy="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800" b="1" dirty="0">
                <a:solidFill>
                  <a:srgbClr val="FF6B35"/>
                </a:solidFill>
                <a:latin typeface="Microsoft YaHei"/>
                <a:ea typeface="Microsoft YaHei"/>
              </a:rPr>
              <a:t>创作工具</a:t>
            </a:r>
          </a:p>
        </p:txBody>
      </p:sp>
      <p:sp>
        <p:nvSpPr>
          <p:cNvPr id="8" name="left_bar"/>
          <p:cNvSpPr>
            <a:spLocks noGrp="1"/>
          </p:cNvSpPr>
          <p:nvPr/>
        </p:nvSpPr>
        <p:spPr>
          <a:xfrm>
            <a:off x="650000" y="2100000"/>
            <a:ext cx="1500000" cy="4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9" name="left_content"/>
          <p:cNvSpPr>
            <a:spLocks noGrp="1"/>
          </p:cNvSpPr>
          <p:nvPr/>
        </p:nvSpPr>
        <p:spPr>
          <a:xfrm>
            <a:off x="650000" y="2250000"/>
            <a:ext cx="5000000" cy="39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Char val="▸"/>
              <a:buClr>
                <a:srgbClr val="FF6B35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剧本：DeepSeek（首选）+ 文心5.0</a:t>
            </a:r>
          </a:p>
          <a:p>
            <a:pPr>
              <a:buChar val="▸"/>
              <a:buClr>
                <a:srgbClr val="FF6B35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分镜：Drawstory + 即梦AI</a:t>
            </a:r>
          </a:p>
          <a:p>
            <a:pPr>
              <a:buChar val="▸"/>
              <a:buClr>
                <a:srgbClr val="FF6B35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图像：即梦AI（首选）+ 通义万相</a:t>
            </a:r>
          </a:p>
          <a:p>
            <a:pPr>
              <a:buChar val="▸"/>
              <a:buClr>
                <a:srgbClr val="FF6B35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视频：可灵AI + Seedance 2.0</a:t>
            </a:r>
          </a:p>
          <a:p>
            <a:pPr>
              <a:buChar val="▸"/>
              <a:buClr>
                <a:srgbClr val="FF6B35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配音：火山引擎TTS + Fish Audio</a:t>
            </a:r>
          </a:p>
          <a:p>
            <a:pPr>
              <a:buChar val="▸"/>
              <a:buClr>
                <a:srgbClr val="FF6B35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配乐：MiniMax Music-2.0</a:t>
            </a:r>
          </a:p>
        </p:txBody>
      </p:sp>
      <p:sp>
        <p:nvSpPr>
          <p:cNvPr id="10" name="right_card"/>
          <p:cNvSpPr>
            <a:spLocks noGrp="1"/>
          </p:cNvSpPr>
          <p:nvPr/>
        </p:nvSpPr>
        <p:spPr>
          <a:xfrm>
            <a:off x="6200000" y="1500000"/>
            <a:ext cx="5400000" cy="49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11" name="right_title"/>
          <p:cNvSpPr>
            <a:spLocks noGrp="1"/>
          </p:cNvSpPr>
          <p:nvPr/>
        </p:nvSpPr>
        <p:spPr>
          <a:xfrm>
            <a:off x="6400000" y="1600000"/>
            <a:ext cx="5000000" cy="5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800" b="1" dirty="0">
                <a:solidFill>
                  <a:srgbClr val="00B4D8"/>
                </a:solidFill>
                <a:latin typeface="Microsoft YaHei"/>
                <a:ea typeface="Microsoft YaHei"/>
              </a:rPr>
              <a:t>进阶工具</a:t>
            </a:r>
          </a:p>
        </p:txBody>
      </p:sp>
      <p:sp>
        <p:nvSpPr>
          <p:cNvPr id="12" name="right_bar"/>
          <p:cNvSpPr>
            <a:spLocks noGrp="1"/>
          </p:cNvSpPr>
          <p:nvPr/>
        </p:nvSpPr>
        <p:spPr>
          <a:xfrm>
            <a:off x="6400000" y="2100000"/>
            <a:ext cx="1500000" cy="40000"/>
          </a:xfrm>
          <a:solidFill>
            <a:srgbClr val="00B4D8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13" name="right_content"/>
          <p:cNvSpPr>
            <a:spLocks noGrp="1"/>
          </p:cNvSpPr>
          <p:nvPr/>
        </p:nvSpPr>
        <p:spPr>
          <a:xfrm>
            <a:off x="6400000" y="2250000"/>
            <a:ext cx="5000000" cy="39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Char val="▸"/>
              <a:buClr>
                <a:srgbClr val="00B4D8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ComfyUI：专业工作流引擎</a:t>
            </a:r>
          </a:p>
          <a:p>
            <a:pPr>
              <a:buChar val="▸"/>
              <a:buClr>
                <a:srgbClr val="00B4D8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海螺AI：高难度物理动作</a:t>
            </a:r>
          </a:p>
          <a:p>
            <a:pPr>
              <a:buChar val="▸"/>
              <a:buClr>
                <a:srgbClr val="00B4D8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Vidu Q3：16秒音画直出</a:t>
            </a:r>
          </a:p>
          <a:p>
            <a:pPr>
              <a:buChar val="▸"/>
              <a:buClr>
                <a:srgbClr val="00B4D8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Kolors：开源图像生成</a:t>
            </a:r>
          </a:p>
          <a:p>
            <a:pPr>
              <a:buChar val="▸"/>
              <a:buClr>
                <a:srgbClr val="00B4D8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LoRA训练：角色一致性终极方案</a:t>
            </a:r>
          </a:p>
          <a:p>
            <a:pPr>
              <a:buChar val="▸"/>
              <a:buClr>
                <a:srgbClr val="00B4D8"/>
              </a:buClr>
              <a:spcBef>
                <a:spcPts val="500"/>
              </a:spcBef>
            </a:pPr>
            <a:r>
              <a:rPr lang="zh-CN" sz="1300" dirty="0">
                <a:solidFill>
                  <a:srgbClr val="E8EDF5"/>
                </a:solidFill>
                <a:latin typeface="Microsoft YaHei"/>
                <a:ea typeface="Microsoft YaHei"/>
              </a:rPr>
              <a:t>剪映：全流程后期制作</a:t>
            </a:r>
          </a:p>
        </p:txBody>
      </p:sp>
      <p:sp>
        <p:nvSpPr>
          <p:cNvPr id="14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📊 2026年AI漫剧市场数据</a:t>
            </a:r>
          </a:p>
        </p:txBody>
      </p:sp>
      <p:sp>
        <p:nvSpPr>
          <p:cNvPr id="5" name="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100" name="hdr0"/>
          <p:cNvSpPr>
            <a:spLocks noGrp="1"/>
          </p:cNvSpPr>
          <p:nvPr/>
        </p:nvSpPr>
        <p:spPr>
          <a:xfrm>
            <a:off x="685800" y="1450000"/>
            <a:ext cx="2685100" cy="60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200" name="htxt0"/>
          <p:cNvSpPr>
            <a:spLocks noGrp="1"/>
          </p:cNvSpPr>
          <p:nvPr/>
        </p:nvSpPr>
        <p:spPr>
          <a:xfrm>
            <a:off x="777240" y="14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300" b="1" dirty="0">
                <a:solidFill>
                  <a:srgbClr val="FFFFFF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1" name="hdr1"/>
          <p:cNvSpPr>
            <a:spLocks noGrp="1"/>
          </p:cNvSpPr>
          <p:nvPr/>
        </p:nvSpPr>
        <p:spPr>
          <a:xfrm>
            <a:off x="3390900" y="1450000"/>
            <a:ext cx="2685100" cy="60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201" name="htxt1"/>
          <p:cNvSpPr>
            <a:spLocks noGrp="1"/>
          </p:cNvSpPr>
          <p:nvPr/>
        </p:nvSpPr>
        <p:spPr>
          <a:xfrm>
            <a:off x="3482340" y="14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300" b="1" dirty="0">
                <a:solidFill>
                  <a:srgbClr val="FFFFFF"/>
                </a:solidFill>
                <a:latin typeface="Microsoft YaHei"/>
                <a:ea typeface="Microsoft YaHei"/>
              </a:rPr>
              <a:t>2025年</a:t>
            </a:r>
          </a:p>
        </p:txBody>
      </p:sp>
      <p:sp>
        <p:nvSpPr>
          <p:cNvPr id="102" name="hdr2"/>
          <p:cNvSpPr>
            <a:spLocks noGrp="1"/>
          </p:cNvSpPr>
          <p:nvPr/>
        </p:nvSpPr>
        <p:spPr>
          <a:xfrm>
            <a:off x="6096000" y="1450000"/>
            <a:ext cx="2685100" cy="60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202" name="htxt2"/>
          <p:cNvSpPr>
            <a:spLocks noGrp="1"/>
          </p:cNvSpPr>
          <p:nvPr/>
        </p:nvSpPr>
        <p:spPr>
          <a:xfrm>
            <a:off x="6187440" y="14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300" b="1" dirty="0">
                <a:solidFill>
                  <a:srgbClr val="FFFFFF"/>
                </a:solidFill>
                <a:latin typeface="Microsoft YaHei"/>
                <a:ea typeface="Microsoft YaHei"/>
              </a:rPr>
              <a:t>2026年</a:t>
            </a:r>
          </a:p>
        </p:txBody>
      </p:sp>
      <p:sp>
        <p:nvSpPr>
          <p:cNvPr id="103" name="hdr3"/>
          <p:cNvSpPr>
            <a:spLocks noGrp="1"/>
          </p:cNvSpPr>
          <p:nvPr/>
        </p:nvSpPr>
        <p:spPr>
          <a:xfrm>
            <a:off x="8801100" y="1450000"/>
            <a:ext cx="2685100" cy="60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203" name="htxt3"/>
          <p:cNvSpPr>
            <a:spLocks noGrp="1"/>
          </p:cNvSpPr>
          <p:nvPr/>
        </p:nvSpPr>
        <p:spPr>
          <a:xfrm>
            <a:off x="8892540" y="14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300" b="1" dirty="0">
                <a:solidFill>
                  <a:srgbClr val="FFFFFF"/>
                </a:solidFill>
                <a:latin typeface="Microsoft YaHei"/>
                <a:ea typeface="Microsoft YaHei"/>
              </a:rPr>
              <a:t>增长率</a:t>
            </a:r>
          </a:p>
        </p:txBody>
      </p:sp>
      <p:sp>
        <p:nvSpPr>
          <p:cNvPr id="300" name="rowbg0"/>
          <p:cNvSpPr>
            <a:spLocks noGrp="1"/>
          </p:cNvSpPr>
          <p:nvPr/>
        </p:nvSpPr>
        <p:spPr>
          <a:xfrm>
            <a:off x="685800" y="2100000"/>
            <a:ext cx="10820400" cy="6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00" name="cell0_0"/>
          <p:cNvSpPr>
            <a:spLocks noGrp="1"/>
          </p:cNvSpPr>
          <p:nvPr/>
        </p:nvSpPr>
        <p:spPr>
          <a:xfrm>
            <a:off x="777240" y="21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市场规模</a:t>
            </a:r>
          </a:p>
        </p:txBody>
      </p:sp>
      <p:sp>
        <p:nvSpPr>
          <p:cNvPr id="401" name="cell0_1"/>
          <p:cNvSpPr>
            <a:spLocks noGrp="1"/>
          </p:cNvSpPr>
          <p:nvPr/>
        </p:nvSpPr>
        <p:spPr>
          <a:xfrm>
            <a:off x="3482340" y="21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120亿元</a:t>
            </a:r>
          </a:p>
        </p:txBody>
      </p:sp>
      <p:sp>
        <p:nvSpPr>
          <p:cNvPr id="402" name="cell0_2"/>
          <p:cNvSpPr>
            <a:spLocks noGrp="1"/>
          </p:cNvSpPr>
          <p:nvPr/>
        </p:nvSpPr>
        <p:spPr>
          <a:xfrm>
            <a:off x="6187440" y="21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240亿元</a:t>
            </a:r>
          </a:p>
        </p:txBody>
      </p:sp>
      <p:sp>
        <p:nvSpPr>
          <p:cNvPr id="403" name="cell0_3"/>
          <p:cNvSpPr>
            <a:spLocks noGrp="1"/>
          </p:cNvSpPr>
          <p:nvPr/>
        </p:nvSpPr>
        <p:spPr>
          <a:xfrm>
            <a:off x="8892540" y="21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+100%</a:t>
            </a:r>
          </a:p>
        </p:txBody>
      </p:sp>
      <p:sp>
        <p:nvSpPr>
          <p:cNvPr id="301" name="rowbg1"/>
          <p:cNvSpPr>
            <a:spLocks noGrp="1"/>
          </p:cNvSpPr>
          <p:nvPr/>
        </p:nvSpPr>
        <p:spPr>
          <a:xfrm>
            <a:off x="685800" y="2750000"/>
            <a:ext cx="10820400" cy="600000"/>
          </a:xfrm>
          <a:solidFill>
            <a:srgbClr val="1525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10" name="cell1_0"/>
          <p:cNvSpPr>
            <a:spLocks noGrp="1"/>
          </p:cNvSpPr>
          <p:nvPr/>
        </p:nvSpPr>
        <p:spPr>
          <a:xfrm>
            <a:off x="777240" y="27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用户规模</a:t>
            </a:r>
          </a:p>
        </p:txBody>
      </p:sp>
      <p:sp>
        <p:nvSpPr>
          <p:cNvPr id="411" name="cell1_1"/>
          <p:cNvSpPr>
            <a:spLocks noGrp="1"/>
          </p:cNvSpPr>
          <p:nvPr/>
        </p:nvSpPr>
        <p:spPr>
          <a:xfrm>
            <a:off x="3482340" y="27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1.8亿</a:t>
            </a:r>
          </a:p>
        </p:txBody>
      </p:sp>
      <p:sp>
        <p:nvSpPr>
          <p:cNvPr id="412" name="cell1_2"/>
          <p:cNvSpPr>
            <a:spLocks noGrp="1"/>
          </p:cNvSpPr>
          <p:nvPr/>
        </p:nvSpPr>
        <p:spPr>
          <a:xfrm>
            <a:off x="6187440" y="27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2.8亿</a:t>
            </a:r>
          </a:p>
        </p:txBody>
      </p:sp>
      <p:sp>
        <p:nvSpPr>
          <p:cNvPr id="413" name="cell1_3"/>
          <p:cNvSpPr>
            <a:spLocks noGrp="1"/>
          </p:cNvSpPr>
          <p:nvPr/>
        </p:nvSpPr>
        <p:spPr>
          <a:xfrm>
            <a:off x="8892540" y="27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+55%</a:t>
            </a:r>
          </a:p>
        </p:txBody>
      </p:sp>
      <p:sp>
        <p:nvSpPr>
          <p:cNvPr id="302" name="rowbg2"/>
          <p:cNvSpPr>
            <a:spLocks noGrp="1"/>
          </p:cNvSpPr>
          <p:nvPr/>
        </p:nvSpPr>
        <p:spPr>
          <a:xfrm>
            <a:off x="685800" y="3400000"/>
            <a:ext cx="10820400" cy="6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20" name="cell2_0"/>
          <p:cNvSpPr>
            <a:spLocks noGrp="1"/>
          </p:cNvSpPr>
          <p:nvPr/>
        </p:nvSpPr>
        <p:spPr>
          <a:xfrm>
            <a:off x="777240" y="34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日均播放量</a:t>
            </a:r>
          </a:p>
        </p:txBody>
      </p:sp>
      <p:sp>
        <p:nvSpPr>
          <p:cNvPr id="421" name="cell2_1"/>
          <p:cNvSpPr>
            <a:spLocks noGrp="1"/>
          </p:cNvSpPr>
          <p:nvPr/>
        </p:nvSpPr>
        <p:spPr>
          <a:xfrm>
            <a:off x="3482340" y="34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8亿次</a:t>
            </a:r>
          </a:p>
        </p:txBody>
      </p:sp>
      <p:sp>
        <p:nvSpPr>
          <p:cNvPr id="422" name="cell2_2"/>
          <p:cNvSpPr>
            <a:spLocks noGrp="1"/>
          </p:cNvSpPr>
          <p:nvPr/>
        </p:nvSpPr>
        <p:spPr>
          <a:xfrm>
            <a:off x="6187440" y="34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15亿次</a:t>
            </a:r>
          </a:p>
        </p:txBody>
      </p:sp>
      <p:sp>
        <p:nvSpPr>
          <p:cNvPr id="423" name="cell2_3"/>
          <p:cNvSpPr>
            <a:spLocks noGrp="1"/>
          </p:cNvSpPr>
          <p:nvPr/>
        </p:nvSpPr>
        <p:spPr>
          <a:xfrm>
            <a:off x="8892540" y="34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+87%</a:t>
            </a:r>
          </a:p>
        </p:txBody>
      </p:sp>
      <p:sp>
        <p:nvSpPr>
          <p:cNvPr id="303" name="rowbg3"/>
          <p:cNvSpPr>
            <a:spLocks noGrp="1"/>
          </p:cNvSpPr>
          <p:nvPr/>
        </p:nvSpPr>
        <p:spPr>
          <a:xfrm>
            <a:off x="685800" y="4050000"/>
            <a:ext cx="10820400" cy="600000"/>
          </a:xfrm>
          <a:solidFill>
            <a:srgbClr val="1525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30" name="cell3_0"/>
          <p:cNvSpPr>
            <a:spLocks noGrp="1"/>
          </p:cNvSpPr>
          <p:nvPr/>
        </p:nvSpPr>
        <p:spPr>
          <a:xfrm>
            <a:off x="777240" y="40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创作者数量</a:t>
            </a:r>
          </a:p>
        </p:txBody>
      </p:sp>
      <p:sp>
        <p:nvSpPr>
          <p:cNvPr id="431" name="cell3_1"/>
          <p:cNvSpPr>
            <a:spLocks noGrp="1"/>
          </p:cNvSpPr>
          <p:nvPr/>
        </p:nvSpPr>
        <p:spPr>
          <a:xfrm>
            <a:off x="3482340" y="40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50万</a:t>
            </a:r>
          </a:p>
        </p:txBody>
      </p:sp>
      <p:sp>
        <p:nvSpPr>
          <p:cNvPr id="432" name="cell3_2"/>
          <p:cNvSpPr>
            <a:spLocks noGrp="1"/>
          </p:cNvSpPr>
          <p:nvPr/>
        </p:nvSpPr>
        <p:spPr>
          <a:xfrm>
            <a:off x="6187440" y="40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120万</a:t>
            </a:r>
          </a:p>
        </p:txBody>
      </p:sp>
      <p:sp>
        <p:nvSpPr>
          <p:cNvPr id="433" name="cell3_3"/>
          <p:cNvSpPr>
            <a:spLocks noGrp="1"/>
          </p:cNvSpPr>
          <p:nvPr/>
        </p:nvSpPr>
        <p:spPr>
          <a:xfrm>
            <a:off x="8892540" y="40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+140%</a:t>
            </a:r>
          </a:p>
        </p:txBody>
      </p:sp>
      <p:sp>
        <p:nvSpPr>
          <p:cNvPr id="304" name="rowbg4"/>
          <p:cNvSpPr>
            <a:spLocks noGrp="1"/>
          </p:cNvSpPr>
          <p:nvPr/>
        </p:nvSpPr>
        <p:spPr>
          <a:xfrm>
            <a:off x="685800" y="4700000"/>
            <a:ext cx="10820400" cy="6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40" name="cell4_0"/>
          <p:cNvSpPr>
            <a:spLocks noGrp="1"/>
          </p:cNvSpPr>
          <p:nvPr/>
        </p:nvSpPr>
        <p:spPr>
          <a:xfrm>
            <a:off x="777240" y="47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平均制作成本/集</a:t>
            </a:r>
          </a:p>
        </p:txBody>
      </p:sp>
      <p:sp>
        <p:nvSpPr>
          <p:cNvPr id="441" name="cell4_1"/>
          <p:cNvSpPr>
            <a:spLocks noGrp="1"/>
          </p:cNvSpPr>
          <p:nvPr/>
        </p:nvSpPr>
        <p:spPr>
          <a:xfrm>
            <a:off x="3482340" y="47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3000元</a:t>
            </a:r>
          </a:p>
        </p:txBody>
      </p:sp>
      <p:sp>
        <p:nvSpPr>
          <p:cNvPr id="442" name="cell4_2"/>
          <p:cNvSpPr>
            <a:spLocks noGrp="1"/>
          </p:cNvSpPr>
          <p:nvPr/>
        </p:nvSpPr>
        <p:spPr>
          <a:xfrm>
            <a:off x="6187440" y="47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1500元</a:t>
            </a:r>
          </a:p>
        </p:txBody>
      </p:sp>
      <p:sp>
        <p:nvSpPr>
          <p:cNvPr id="443" name="cell4_3"/>
          <p:cNvSpPr>
            <a:spLocks noGrp="1"/>
          </p:cNvSpPr>
          <p:nvPr/>
        </p:nvSpPr>
        <p:spPr>
          <a:xfrm>
            <a:off x="8892540" y="470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-50%</a:t>
            </a:r>
          </a:p>
        </p:txBody>
      </p:sp>
      <p:sp>
        <p:nvSpPr>
          <p:cNvPr id="305" name="rowbg5"/>
          <p:cNvSpPr>
            <a:spLocks noGrp="1"/>
          </p:cNvSpPr>
          <p:nvPr/>
        </p:nvSpPr>
        <p:spPr>
          <a:xfrm>
            <a:off x="685800" y="5350000"/>
            <a:ext cx="10820400" cy="600000"/>
          </a:xfrm>
          <a:solidFill>
            <a:srgbClr val="1525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50" name="cell5_0"/>
          <p:cNvSpPr>
            <a:spLocks noGrp="1"/>
          </p:cNvSpPr>
          <p:nvPr/>
        </p:nvSpPr>
        <p:spPr>
          <a:xfrm>
            <a:off x="777240" y="53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头部作品月收入</a:t>
            </a:r>
          </a:p>
        </p:txBody>
      </p:sp>
      <p:sp>
        <p:nvSpPr>
          <p:cNvPr id="451" name="cell5_1"/>
          <p:cNvSpPr>
            <a:spLocks noGrp="1"/>
          </p:cNvSpPr>
          <p:nvPr/>
        </p:nvSpPr>
        <p:spPr>
          <a:xfrm>
            <a:off x="3482340" y="53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50万</a:t>
            </a:r>
          </a:p>
        </p:txBody>
      </p:sp>
      <p:sp>
        <p:nvSpPr>
          <p:cNvPr id="452" name="cell5_2"/>
          <p:cNvSpPr>
            <a:spLocks noGrp="1"/>
          </p:cNvSpPr>
          <p:nvPr/>
        </p:nvSpPr>
        <p:spPr>
          <a:xfrm>
            <a:off x="6187440" y="53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120万</a:t>
            </a:r>
          </a:p>
        </p:txBody>
      </p:sp>
      <p:sp>
        <p:nvSpPr>
          <p:cNvPr id="453" name="cell5_3"/>
          <p:cNvSpPr>
            <a:spLocks noGrp="1"/>
          </p:cNvSpPr>
          <p:nvPr/>
        </p:nvSpPr>
        <p:spPr>
          <a:xfrm>
            <a:off x="8892540" y="5350000"/>
            <a:ext cx="2522220" cy="6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1200" dirty="0">
                <a:solidFill>
                  <a:srgbClr val="E8EDF5"/>
                </a:solidFill>
                <a:latin typeface="Microsoft YaHei"/>
                <a:ea typeface="Microsoft YaHei"/>
              </a:rPr>
              <a:t>+140%</a:t>
            </a:r>
          </a:p>
        </p:txBody>
      </p:sp>
      <p:sp>
        <p:nvSpPr>
          <p:cNvPr id="6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💰 变现路径与收入预期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1：平台分账 → 月入1-10万（入门级，抖音/红果/B站）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2：付费解锁 → 月入5-30万（进阶级，付费卡点设计）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3：广告植入 → 月入10-50万（品牌合作，剧情软植入）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4：IP授权 → 年入100万+（周边/游戏/影视改编）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Level 5：品牌联名 → 年入500万+（跨界合作，联名产品）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📊 收入来源占比：平台分账45% / 付费解锁30% / 广告15% / 其他10%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_accent"/>
          <p:cNvSpPr>
            <a:spLocks noGrp="1"/>
          </p:cNvSpPr>
          <p:nvPr/>
        </p:nvSpPr>
        <p:spPr>
          <a:xfrm>
            <a:off x="0" y="0"/>
            <a:ext cx="12192000" cy="80000"/>
          </a:xfr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header_bg"/>
          <p:cNvSpPr>
            <a:spLocks noGrp="1"/>
          </p:cNvSpPr>
          <p:nvPr/>
        </p:nvSpPr>
        <p:spPr>
          <a:xfrm>
            <a:off x="0" y="80000"/>
            <a:ext cx="12192000" cy="11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4" name="title"/>
          <p:cNvSpPr>
            <a:spLocks noGrp="1"/>
          </p:cNvSpPr>
          <p:nvPr/>
        </p:nvSpPr>
        <p:spPr>
          <a:xfrm>
            <a:off x="685800" y="180000"/>
            <a:ext cx="10820400" cy="9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l</a:algn>
            </a:pPr>
            <a:r>
              <a:rPr lang="zh-CN" sz="3000" b="1" dirty="0">
                <a:solidFill>
                  <a:srgbClr val="FFFFFF"/>
                </a:solidFill>
                <a:latin typeface="Microsoft YaHei"/>
                <a:ea typeface="Microsoft YaHei"/>
              </a:rPr>
              <a:t>🎯 学习路径选择</a:t>
            </a:r>
          </a:p>
        </p:txBody>
      </p:sp>
      <p:sp>
        <p:nvSpPr>
          <p:cNvPr id="5" name="accent_line"/>
          <p:cNvSpPr>
            <a:spLocks noGrp="1"/>
          </p:cNvSpPr>
          <p:nvPr/>
        </p:nvSpPr>
        <p:spPr>
          <a:xfrm>
            <a:off x="685800" y="1230000"/>
            <a:ext cx="2000000" cy="0"/>
          </a:xfrm>
          <a:ln w="50000">
            <a:solidFill>
              <a:srgbClr val="FF6B35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6" name="content"/>
          <p:cNvSpPr>
            <a:spLocks noGrp="1"/>
          </p:cNvSpPr>
          <p:nvPr/>
        </p:nvSpPr>
        <p:spPr>
          <a:xfrm>
            <a:off x="685800" y="1450000"/>
            <a:ext cx="10820400" cy="5000000"/>
          </a:xfrm>
          <a:noFill/>
          <a:ln>
            <a:noFill/>
          </a:ln>
        </p:spPr>
        <p:txBody>
          <a:bodyPr wrap="square" lIns="91440" tIns="45720" rIns="91440" bIns="45720"/>
          <a:lstStyle/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⚡ 零基础速成（8周）：模块1→2→3→4→6→10→11→12→17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    → 目标：快速上手，能独立产出基础漫剧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💎 专业进阶（16周）：全部17个模块按顺序学习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    → 目标：掌握全链路，能做精品漫剧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🚀 创业导向（12周）：模块1→2→4→6/7→9→10→11→14→15→16→17</a:t>
            </a:r>
          </a:p>
          <a:p>
            <a:pPr>
              <a:buFont typeface="Arial"/>
              <a:buChar val="▸"/>
              <a:buClr>
                <a:srgbClr val="FF6B35"/>
              </a:buClr>
              <a:spcBef>
                <a:spcPts val="600"/>
              </a:spcBef>
            </a:pPr>
            <a:r>
              <a:rPr lang="zh-CN" sz="1600" dirty="0">
                <a:solidFill>
                  <a:srgbClr val="E8EDF5"/>
                </a:solidFill>
                <a:latin typeface="Microsoft YaHei"/>
                <a:ea typeface="Microsoft YaHei"/>
              </a:rPr>
              <a:t>    → 目标：快速建立团队，投入商业化生产</a:t>
            </a:r>
          </a:p>
        </p:txBody>
      </p:sp>
      <p:sp>
        <p:nvSpPr>
          <p:cNvPr id="7" name="bottom_bar"/>
          <p:cNvSpPr>
            <a:spLocks noGrp="1"/>
          </p:cNvSpPr>
          <p:nvPr/>
        </p:nvSpPr>
        <p:spPr>
          <a:xfrm>
            <a:off x="0" y="6658000"/>
            <a:ext cx="12192000" cy="200000"/>
          </a:xfrm>
          <a:solidFill>
            <a:srgbClr val="1A2A3A"/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8" name="page"/>
          <p:cNvSpPr>
            <a:spLocks noGrp="1"/>
          </p:cNvSpPr>
          <p:nvPr/>
        </p:nvSpPr>
        <p:spPr>
          <a:xfrm>
            <a:off x="10500000" y="6658000"/>
            <a:ext cx="1000000" cy="2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r</a:algn>
            </a:pPr>
            <a:r>
              <a:rPr lang="zh-CN" sz="900" dirty="0">
                <a:solidFill>
                  <a:srgbClr val="8899AA"/>
                </a:solidFill>
                <a:latin typeface="Microsoft YaHei"/>
                <a:ea typeface="Microsoft YaHei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_bg"/>
          <p:cNvSpPr>
            <a:spLocks noGrp="1"/>
          </p:cNvSpPr>
          <p:nvPr/>
        </p:nvSpPr>
        <p:spPr>
          <a:xfrm>
            <a:off x="0" y="2400000"/>
            <a:ext cx="12192000" cy="2100000"/>
          </a:xfrm>
          <a:solidFill>
            <a:srgbClr val="FF6B35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zh-CN"/>
          </a:p>
        </p:txBody>
      </p:sp>
      <p:sp>
        <p:nvSpPr>
          <p:cNvPr id="3" name="title"/>
          <p:cNvSpPr>
            <a:spLocks noGrp="1"/>
          </p:cNvSpPr>
          <p:nvPr/>
        </p:nvSpPr>
        <p:spPr>
          <a:xfrm>
            <a:off x="685800" y="2600000"/>
            <a:ext cx="10820400" cy="1000000"/>
          </a:xfr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>
              <a:algn>ctr</a:algn>
            </a:pPr>
            <a:r>
              <a:rPr lang="zh-CN" sz="4400" b="1" dirty="0">
                <a:solidFill>
                  <a:srgbClr val="FFFFFF"/>
                </a:solidFill>
                <a:latin typeface="Microsoft YaHei"/>
                <a:ea typeface="Microsoft YaHei"/>
              </a:rPr>
              <a:t>开始你的AI漫剧创作之旅！</a:t>
            </a:r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5000000" y="3700000"/>
            <a:ext cx="2192000" cy="0"/>
          </a:xfrm>
          <a:ln w="40000">
            <a:solidFill>
              <a:srgbClr val="FFFFFF"/>
            </a:solidFill>
          </a:ln>
        </p:spPr>
        <p:txBody>
          <a:bodyPr/>
          <a:lstStyle/>
          <a:p>
            <a:endParaRPr lang="zh-CN"/>
          </a:p>
        </p:txBody>
      </p:sp>
      <p:sp>
        <p:nvSpPr>
          <p:cNvPr id="5" name="subtitle"/>
          <p:cNvSpPr>
            <a:spLocks noGrp="1"/>
          </p:cNvSpPr>
          <p:nvPr/>
        </p:nvSpPr>
        <p:spPr>
          <a:xfrm>
            <a:off x="685800" y="3900000"/>
            <a:ext cx="10820400" cy="600000"/>
          </a:xfr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algn>ctr</a:algn>
            </a:pPr>
            <a:r>
              <a:rPr lang="zh-CN" sz="1800" dirty="0">
                <a:solidFill>
                  <a:srgbClr val="8899AA"/>
                </a:solidFill>
                <a:latin typeface="Microsoft YaHei"/>
                <a:ea typeface="Microsoft YaHei"/>
              </a:rPr>
              <a:t>🎬 124课时 · 17个模块 · 从零到一 · 全流程实战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漫剧课程">
  <a:themeElements>
    <a:clrScheme name="Custom">
      <a:dk1>
        <a:srgbClr val="0F1923"/>
      </a:dk1>
      <a:lt1>
        <a:srgbClr val="FFFFFF"/>
      </a:lt1>
      <a:dk2>
        <a:srgbClr val="1A2A3A"/>
      </a:dk2>
      <a:lt2>
        <a:srgbClr val="E8EDF5"/>
      </a:lt2>
      <a:accent1>
        <a:srgbClr val="FF6B35"/>
      </a:accent1>
      <a:accent2>
        <a:srgbClr val="00B4D8"/>
      </a:accent2>
      <a:accent3>
        <a:srgbClr val="1A936F"/>
      </a:accent3>
      <a:accent4>
        <a:srgbClr val="F18F01"/>
      </a:accent4>
      <a:accent5>
        <a:srgbClr val="C73E1D"/>
      </a:accent5>
      <a:accent6>
        <a:srgbClr val="3E1F47"/>
      </a:accent6>
      <a:hlink>
        <a:srgbClr val="00B4D8"/>
      </a:hlink>
      <a:folHlink>
        <a:srgbClr val="8899AA"/>
      </a:folHlink>
    </a:clrScheme>
    <a:fontScheme name="Custom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