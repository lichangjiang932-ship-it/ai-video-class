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0" y="-1828800"/>
            <a:ext cx="7315200" cy="7315200"/>
          </a:xfrm>
          <a:prstGeom prst="ellipse">
            <a:avLst/>
          </a:prstGeom>
          <a:solidFill>
            <a:srgbClr val="FF5C8A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743200" y="2743200"/>
            <a:ext cx="5486400" cy="5486400"/>
          </a:xfrm>
          <a:prstGeom prst="ellipse">
            <a:avLst/>
          </a:prstGeom>
          <a:solidFill>
            <a:srgbClr val="FF7BA3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0" y="4572000"/>
            <a:ext cx="3657600" cy="3657600"/>
          </a:xfrm>
          <a:prstGeom prst="ellipse">
            <a:avLst/>
          </a:prstGeom>
          <a:solidFill>
            <a:srgbClr val="FFA0BC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03520" y="0"/>
            <a:ext cx="182880" cy="6858000"/>
          </a:xfrm>
          <a:prstGeom prst="rect">
            <a:avLst/>
          </a:prstGeom>
          <a:solidFill>
            <a:srgbClr val="FF7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0" y="0"/>
            <a:ext cx="91440" cy="6858000"/>
          </a:xfrm>
          <a:prstGeom prst="rect">
            <a:avLst/>
          </a:prstGeom>
          <a:solidFill>
            <a:srgbClr val="7F3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584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8016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55448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82880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10312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37744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584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28016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55448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82880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10312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37744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5720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152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0584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28016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55448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82880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10312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37744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73152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0" b="1">
                <a:solidFill>
                  <a:srgbClr val="FFFFF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3657600"/>
            <a:ext cx="1828800" cy="329184"/>
          </a:xfrm>
          <a:prstGeom prst="roundRect">
            <a:avLst/>
          </a:prstGeom>
          <a:solidFill>
            <a:srgbClr val="0A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365760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A0BC"/>
                </a:solidFill>
                <a:latin typeface="Microsoft YaHei"/>
              </a:defRPr>
            </a:pPr>
            <a:r>
              <a:t>M O D U L 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114800"/>
            <a:ext cx="285751" cy="38100"/>
          </a:xfrm>
          <a:prstGeom prst="rect">
            <a:avLst/>
          </a:prstGeom>
          <a:solidFill>
            <a:srgbClr val="FFA0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42950" y="4114800"/>
            <a:ext cx="285750" cy="38100"/>
          </a:xfrm>
          <a:prstGeom prst="rect">
            <a:avLst/>
          </a:prstGeom>
          <a:solidFill>
            <a:srgbClr val="FF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28700" y="4114800"/>
            <a:ext cx="285750" cy="38100"/>
          </a:xfrm>
          <a:prstGeom prst="rect">
            <a:avLst/>
          </a:prstGeom>
          <a:solidFill>
            <a:srgbClr val="FF8C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314450" y="4114800"/>
            <a:ext cx="285750" cy="38100"/>
          </a:xfrm>
          <a:prstGeom prst="rect">
            <a:avLst/>
          </a:prstGeom>
          <a:solidFill>
            <a:srgbClr val="FF8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600200" y="4114800"/>
            <a:ext cx="285750" cy="38100"/>
          </a:xfrm>
          <a:prstGeom prst="rect">
            <a:avLst/>
          </a:prstGeom>
          <a:solidFill>
            <a:srgbClr val="FF79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885950" y="4114800"/>
            <a:ext cx="285750" cy="38100"/>
          </a:xfrm>
          <a:prstGeom prst="rect">
            <a:avLst/>
          </a:prstGeom>
          <a:solidFill>
            <a:srgbClr val="FF6F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171700" y="4114800"/>
            <a:ext cx="285750" cy="38100"/>
          </a:xfrm>
          <a:prstGeom prst="rect">
            <a:avLst/>
          </a:prstGeom>
          <a:solidFill>
            <a:srgbClr val="FF6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457450" y="4114800"/>
            <a:ext cx="285750" cy="38100"/>
          </a:xfrm>
          <a:prstGeom prst="rect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035040" y="1097280"/>
            <a:ext cx="5486400" cy="457200"/>
          </a:xfrm>
          <a:prstGeom prst="roundRect">
            <a:avLst/>
          </a:prstGeom>
          <a:solidFill>
            <a:srgbClr val="4A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3504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A0BC"/>
                </a:solidFill>
                <a:latin typeface="Microsoft YaHei"/>
              </a:defRPr>
            </a:pPr>
            <a:r>
              <a:t>AI漫剧制作全流程课程 · 2026版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35040" y="20116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0F0F5"/>
                </a:solidFill>
                <a:latin typeface="Microsoft YaHei"/>
              </a:defRPr>
            </a:pPr>
            <a:r>
              <a:t>模块五：其他图像生成工具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35040" y="3840480"/>
            <a:ext cx="400051" cy="38100"/>
          </a:xfrm>
          <a:prstGeom prst="rect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35090" y="3840480"/>
            <a:ext cx="400050" cy="38100"/>
          </a:xfrm>
          <a:prstGeom prst="rect">
            <a:avLst/>
          </a:prstGeom>
          <a:solidFill>
            <a:srgbClr val="FF6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835140" y="3840480"/>
            <a:ext cx="400050" cy="38100"/>
          </a:xfrm>
          <a:prstGeom prst="rect">
            <a:avLst/>
          </a:prstGeom>
          <a:solidFill>
            <a:srgbClr val="FF6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235190" y="3840480"/>
            <a:ext cx="400050" cy="38100"/>
          </a:xfrm>
          <a:prstGeom prst="rect">
            <a:avLst/>
          </a:prstGeom>
          <a:solidFill>
            <a:srgbClr val="FF6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635240" y="3840480"/>
            <a:ext cx="400050" cy="38100"/>
          </a:xfrm>
          <a:prstGeom prst="rect">
            <a:avLst/>
          </a:prstGeom>
          <a:solidFill>
            <a:srgbClr val="FF6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035290" y="3840480"/>
            <a:ext cx="400050" cy="38100"/>
          </a:xfrm>
          <a:prstGeom prst="rect">
            <a:avLst/>
          </a:prstGeom>
          <a:solidFill>
            <a:srgbClr val="FF7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435340" y="3840480"/>
            <a:ext cx="400050" cy="38100"/>
          </a:xfrm>
          <a:prstGeom prst="rect">
            <a:avLst/>
          </a:prstGeom>
          <a:solidFill>
            <a:srgbClr val="FF76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835390" y="3840480"/>
            <a:ext cx="400050" cy="38100"/>
          </a:xfrm>
          <a:prstGeom prst="rect">
            <a:avLst/>
          </a:prstGeom>
          <a:solidFill>
            <a:srgbClr val="FF7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035040" y="420624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6课时 · 掌握国产AI图像工具与LoRA角色训练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035040" y="5303520"/>
            <a:ext cx="5486400" cy="6400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722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5C8A"/>
                </a:solidFill>
                <a:latin typeface="Microsoft YaHei"/>
              </a:defRPr>
            </a:pPr>
            <a:r>
              <a:t>124课时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60920" y="5486400"/>
            <a:ext cx="12700" cy="27432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5438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5C8A"/>
                </a:solidFill>
                <a:latin typeface="Microsoft YaHei"/>
              </a:defRPr>
            </a:pPr>
            <a:r>
              <a:t>17模块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732520" y="5486400"/>
            <a:ext cx="12700" cy="27432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9154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5C8A"/>
                </a:solidFill>
                <a:latin typeface="Microsoft YaHei"/>
              </a:defRPr>
            </a:pPr>
            <a:r>
              <a:t>8-16周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104120" y="5486400"/>
            <a:ext cx="12700" cy="27432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2870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5C8A"/>
                </a:solidFill>
                <a:latin typeface="Microsoft YaHei"/>
              </a:defRPr>
            </a:pPr>
            <a:r>
              <a:t>全流程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1155680" y="0"/>
            <a:ext cx="1036015" cy="38100"/>
          </a:xfrm>
          <a:prstGeom prst="rect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1978640" y="0"/>
            <a:ext cx="38100" cy="731520"/>
          </a:xfrm>
          <a:prstGeom prst="rect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1521440" y="274320"/>
            <a:ext cx="137160" cy="137160"/>
          </a:xfrm>
          <a:prstGeom prst="ellipse">
            <a:avLst/>
          </a:prstGeom>
          <a:solidFill>
            <a:srgbClr val="FFA0B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FF5C8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FF7BA3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FF6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FF6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FF6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FF6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FF7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FF76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FF7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§  本节内容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FFA0BC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31520" y="1397000"/>
            <a:ext cx="274320" cy="274320"/>
          </a:xfrm>
          <a:prstGeom prst="ellipse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4220" y="139700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通义万相（阿里）—— 文生图与图生图</a:t>
            </a:r>
          </a:p>
        </p:txBody>
      </p:sp>
      <p:sp>
        <p:nvSpPr>
          <p:cNvPr id="44" name="Oval 43"/>
          <p:cNvSpPr/>
          <p:nvPr/>
        </p:nvSpPr>
        <p:spPr>
          <a:xfrm>
            <a:off x="731520" y="1963928"/>
            <a:ext cx="274320" cy="274320"/>
          </a:xfrm>
          <a:prstGeom prst="ellipse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4220" y="196392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7280" y="193852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腾讯混元 —— 图像生成与数字人</a:t>
            </a:r>
          </a:p>
        </p:txBody>
      </p:sp>
      <p:sp>
        <p:nvSpPr>
          <p:cNvPr id="47" name="Oval 46"/>
          <p:cNvSpPr/>
          <p:nvPr/>
        </p:nvSpPr>
        <p:spPr>
          <a:xfrm>
            <a:off x="731520" y="2530856"/>
            <a:ext cx="274320" cy="274320"/>
          </a:xfrm>
          <a:prstGeom prst="ellipse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4220" y="253085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7280" y="250545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百度文心一格 —— AI绘画与中式美学</a:t>
            </a:r>
          </a:p>
        </p:txBody>
      </p:sp>
      <p:sp>
        <p:nvSpPr>
          <p:cNvPr id="50" name="Oval 49"/>
          <p:cNvSpPr/>
          <p:nvPr/>
        </p:nvSpPr>
        <p:spPr>
          <a:xfrm>
            <a:off x="6400800" y="1397000"/>
            <a:ext cx="274320" cy="274320"/>
          </a:xfrm>
          <a:prstGeom prst="ellipse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13500" y="139700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6656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Kolors（快手可图）—— 开源图像模型</a:t>
            </a:r>
          </a:p>
        </p:txBody>
      </p:sp>
      <p:sp>
        <p:nvSpPr>
          <p:cNvPr id="53" name="Oval 52"/>
          <p:cNvSpPr/>
          <p:nvPr/>
        </p:nvSpPr>
        <p:spPr>
          <a:xfrm>
            <a:off x="6400800" y="1963928"/>
            <a:ext cx="274320" cy="274320"/>
          </a:xfrm>
          <a:prstGeom prst="ellipse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13500" y="196392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66560" y="193852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角色LoRA训练实战</a:t>
            </a:r>
          </a:p>
        </p:txBody>
      </p:sp>
      <p:sp>
        <p:nvSpPr>
          <p:cNvPr id="56" name="Oval 55"/>
          <p:cNvSpPr/>
          <p:nvPr/>
        </p:nvSpPr>
        <p:spPr>
          <a:xfrm>
            <a:off x="6400800" y="2530856"/>
            <a:ext cx="274320" cy="274320"/>
          </a:xfrm>
          <a:prstGeom prst="ellipse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13500" y="253085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766560" y="250545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多工具协作策略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模块05 · 其他图像生成工具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F6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F6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F6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F6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F7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F76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F7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FF5C8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FF7BA3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FF6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FF6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FF6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FF6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FF7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FF76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FF7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四大国产AI图像工具对比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FFA0BC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548640" y="1280160"/>
          <a:ext cx="1106424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工具</a:t>
                      </a:r>
                    </a:p>
                  </a:txBody>
                  <a:tcPr anchor="ctr">
                    <a:solidFill>
                      <a:srgbClr val="FF5C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开发商</a:t>
                      </a:r>
                    </a:p>
                  </a:txBody>
                  <a:tcPr anchor="ctr">
                    <a:solidFill>
                      <a:srgbClr val="FF5C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核心优势</a:t>
                      </a:r>
                    </a:p>
                  </a:txBody>
                  <a:tcPr anchor="ctr">
                    <a:solidFill>
                      <a:srgbClr val="FF5C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适用场景</a:t>
                      </a:r>
                    </a:p>
                  </a:txBody>
                  <a:tcPr anchor="ctr">
                    <a:solidFill>
                      <a:srgbClr val="FF5C8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通义万相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阿里巴巴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中文理解强，图生图对话式修改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特写、中景、快速迭代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腾讯混元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腾讯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对话式交互，数字人功能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情感氛围、数字人创作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文心一格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百度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中式美学专精，30+艺术风格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国风场景、古风角色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Kolors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快手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开源免费，本地部署可控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批量生成、深度定制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</a:tr>
            </a:tbl>
          </a:graphicData>
        </a:graphic>
      </p:graphicFrame>
      <p:sp>
        <p:nvSpPr>
          <p:cNvPr id="42" name="Rectangle 41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模块05 · 其他图像生成工具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F6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F6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F6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F6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F7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F76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F7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FF5C8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FF7BA3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FF6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FF6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FF6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FF6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FF7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FF76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FF7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通义万相核心能力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FFA0BC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FF6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FF6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FF6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FF6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FF7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FF76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FF7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文生图：支持中英文提示词，创意力滑块控制自由度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2249424"/>
            <a:ext cx="6859" cy="365760"/>
          </a:xfrm>
          <a:prstGeom prst="rect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8378" y="2249424"/>
            <a:ext cx="6858" cy="365760"/>
          </a:xfrm>
          <a:prstGeom prst="rect">
            <a:avLst/>
          </a:prstGeom>
          <a:solidFill>
            <a:srgbClr val="FF6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5236" y="2249424"/>
            <a:ext cx="6858" cy="365760"/>
          </a:xfrm>
          <a:prstGeom prst="rect">
            <a:avLst/>
          </a:prstGeom>
          <a:solidFill>
            <a:srgbClr val="FF6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2094" y="2249424"/>
            <a:ext cx="6858" cy="365760"/>
          </a:xfrm>
          <a:prstGeom prst="rect">
            <a:avLst/>
          </a:prstGeom>
          <a:solidFill>
            <a:srgbClr val="FF6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8952" y="2249424"/>
            <a:ext cx="6858" cy="365760"/>
          </a:xfrm>
          <a:prstGeom prst="rect">
            <a:avLst/>
          </a:prstGeom>
          <a:solidFill>
            <a:srgbClr val="FF6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5810" y="2249424"/>
            <a:ext cx="6858" cy="365760"/>
          </a:xfrm>
          <a:prstGeom prst="rect">
            <a:avLst/>
          </a:prstGeom>
          <a:solidFill>
            <a:srgbClr val="FF7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2668" y="2249424"/>
            <a:ext cx="6858" cy="365760"/>
          </a:xfrm>
          <a:prstGeom prst="rect">
            <a:avLst/>
          </a:prstGeom>
          <a:solidFill>
            <a:srgbClr val="FF76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9526" y="2249424"/>
            <a:ext cx="6858" cy="365760"/>
          </a:xfrm>
          <a:prstGeom prst="rect">
            <a:avLst/>
          </a:prstGeom>
          <a:solidFill>
            <a:srgbClr val="FF7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688" y="21762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图生图：上传参考图+文字指令，实现风格迁移和内容修改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3054096"/>
            <a:ext cx="6859" cy="365760"/>
          </a:xfrm>
          <a:prstGeom prst="rect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8378" y="3054096"/>
            <a:ext cx="6858" cy="365760"/>
          </a:xfrm>
          <a:prstGeom prst="rect">
            <a:avLst/>
          </a:prstGeom>
          <a:solidFill>
            <a:srgbClr val="FF6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5236" y="3054096"/>
            <a:ext cx="6858" cy="365760"/>
          </a:xfrm>
          <a:prstGeom prst="rect">
            <a:avLst/>
          </a:prstGeom>
          <a:solidFill>
            <a:srgbClr val="FF6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52094" y="3054096"/>
            <a:ext cx="6858" cy="365760"/>
          </a:xfrm>
          <a:prstGeom prst="rect">
            <a:avLst/>
          </a:prstGeom>
          <a:solidFill>
            <a:srgbClr val="FF6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8952" y="3054096"/>
            <a:ext cx="6858" cy="365760"/>
          </a:xfrm>
          <a:prstGeom prst="rect">
            <a:avLst/>
          </a:prstGeom>
          <a:solidFill>
            <a:srgbClr val="FF6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5810" y="3054096"/>
            <a:ext cx="6858" cy="365760"/>
          </a:xfrm>
          <a:prstGeom prst="rect">
            <a:avLst/>
          </a:prstGeom>
          <a:solidFill>
            <a:srgbClr val="FF7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72668" y="3054096"/>
            <a:ext cx="6858" cy="365760"/>
          </a:xfrm>
          <a:prstGeom prst="rect">
            <a:avLst/>
          </a:prstGeom>
          <a:solidFill>
            <a:srgbClr val="FF76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9526" y="3054096"/>
            <a:ext cx="6858" cy="365760"/>
          </a:xfrm>
          <a:prstGeom prst="rect">
            <a:avLst/>
          </a:prstGeom>
          <a:solidFill>
            <a:srgbClr val="FF7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2688" y="298094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关键词加权：用括号强调重要元素，如(红色汉服)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3858768"/>
            <a:ext cx="6859" cy="365760"/>
          </a:xfrm>
          <a:prstGeom prst="rect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8378" y="3858768"/>
            <a:ext cx="6858" cy="365760"/>
          </a:xfrm>
          <a:prstGeom prst="rect">
            <a:avLst/>
          </a:prstGeom>
          <a:solidFill>
            <a:srgbClr val="FF6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45236" y="3858768"/>
            <a:ext cx="6858" cy="365760"/>
          </a:xfrm>
          <a:prstGeom prst="rect">
            <a:avLst/>
          </a:prstGeom>
          <a:solidFill>
            <a:srgbClr val="FF6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52094" y="3858768"/>
            <a:ext cx="6858" cy="365760"/>
          </a:xfrm>
          <a:prstGeom prst="rect">
            <a:avLst/>
          </a:prstGeom>
          <a:solidFill>
            <a:srgbClr val="FF6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58952" y="3858768"/>
            <a:ext cx="6858" cy="365760"/>
          </a:xfrm>
          <a:prstGeom prst="rect">
            <a:avLst/>
          </a:prstGeom>
          <a:solidFill>
            <a:srgbClr val="FF6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65810" y="3858768"/>
            <a:ext cx="6858" cy="365760"/>
          </a:xfrm>
          <a:prstGeom prst="rect">
            <a:avLst/>
          </a:prstGeom>
          <a:solidFill>
            <a:srgbClr val="FF7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2668" y="3858768"/>
            <a:ext cx="6858" cy="365760"/>
          </a:xfrm>
          <a:prstGeom prst="rect">
            <a:avLst/>
          </a:prstGeom>
          <a:solidFill>
            <a:srgbClr val="FF76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79526" y="3858768"/>
            <a:ext cx="6858" cy="365760"/>
          </a:xfrm>
          <a:prstGeom prst="rect">
            <a:avLst/>
          </a:prstGeom>
          <a:solidFill>
            <a:srgbClr val="FF7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2688" y="37856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表情序列制作：基于基准图用图生图生成喜怒哀惊系列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1520" y="4663440"/>
            <a:ext cx="6859" cy="365760"/>
          </a:xfrm>
          <a:prstGeom prst="rect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38378" y="4663440"/>
            <a:ext cx="6858" cy="365760"/>
          </a:xfrm>
          <a:prstGeom prst="rect">
            <a:avLst/>
          </a:prstGeom>
          <a:solidFill>
            <a:srgbClr val="FF6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45236" y="4663440"/>
            <a:ext cx="6858" cy="365760"/>
          </a:xfrm>
          <a:prstGeom prst="rect">
            <a:avLst/>
          </a:prstGeom>
          <a:solidFill>
            <a:srgbClr val="FF6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2094" y="4663440"/>
            <a:ext cx="6858" cy="365760"/>
          </a:xfrm>
          <a:prstGeom prst="rect">
            <a:avLst/>
          </a:prstGeom>
          <a:solidFill>
            <a:srgbClr val="FF6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58952" y="4663440"/>
            <a:ext cx="6858" cy="365760"/>
          </a:xfrm>
          <a:prstGeom prst="rect">
            <a:avLst/>
          </a:prstGeom>
          <a:solidFill>
            <a:srgbClr val="FF6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65810" y="4663440"/>
            <a:ext cx="6858" cy="365760"/>
          </a:xfrm>
          <a:prstGeom prst="rect">
            <a:avLst/>
          </a:prstGeom>
          <a:solidFill>
            <a:srgbClr val="FF7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72668" y="4663440"/>
            <a:ext cx="6858" cy="365760"/>
          </a:xfrm>
          <a:prstGeom prst="rect">
            <a:avLst/>
          </a:prstGeom>
          <a:solidFill>
            <a:srgbClr val="FF76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79526" y="4663440"/>
            <a:ext cx="6858" cy="365760"/>
          </a:xfrm>
          <a:prstGeom prst="rect">
            <a:avLst/>
          </a:prstGeom>
          <a:solidFill>
            <a:srgbClr val="FF7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32688" y="45902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参数推荐：漫剧角色创意力5-6，场景创意力7-8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31520" y="5468112"/>
            <a:ext cx="6859" cy="365760"/>
          </a:xfrm>
          <a:prstGeom prst="rect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38378" y="5468112"/>
            <a:ext cx="6858" cy="365760"/>
          </a:xfrm>
          <a:prstGeom prst="rect">
            <a:avLst/>
          </a:prstGeom>
          <a:solidFill>
            <a:srgbClr val="FF6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45236" y="5468112"/>
            <a:ext cx="6858" cy="365760"/>
          </a:xfrm>
          <a:prstGeom prst="rect">
            <a:avLst/>
          </a:prstGeom>
          <a:solidFill>
            <a:srgbClr val="FF6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52094" y="5468112"/>
            <a:ext cx="6858" cy="365760"/>
          </a:xfrm>
          <a:prstGeom prst="rect">
            <a:avLst/>
          </a:prstGeom>
          <a:solidFill>
            <a:srgbClr val="FF6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58952" y="5468112"/>
            <a:ext cx="6858" cy="365760"/>
          </a:xfrm>
          <a:prstGeom prst="rect">
            <a:avLst/>
          </a:prstGeom>
          <a:solidFill>
            <a:srgbClr val="FF6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65810" y="5468112"/>
            <a:ext cx="6858" cy="365760"/>
          </a:xfrm>
          <a:prstGeom prst="rect">
            <a:avLst/>
          </a:prstGeom>
          <a:solidFill>
            <a:srgbClr val="FF7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72668" y="5468112"/>
            <a:ext cx="6858" cy="365760"/>
          </a:xfrm>
          <a:prstGeom prst="rect">
            <a:avLst/>
          </a:prstGeom>
          <a:solidFill>
            <a:srgbClr val="FF76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79526" y="5468112"/>
            <a:ext cx="6858" cy="365760"/>
          </a:xfrm>
          <a:prstGeom prst="rect">
            <a:avLst/>
          </a:prstGeom>
          <a:solidFill>
            <a:srgbClr val="FF7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32688" y="53949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访问方式：tongyi.aliyun.com/wanxiang/</a:t>
            </a:r>
          </a:p>
        </p:txBody>
      </p:sp>
      <p:sp>
        <p:nvSpPr>
          <p:cNvPr id="95" name="Rectangle 94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模块05 · 其他图像生成工具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F6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F6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F6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F6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F7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F76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F7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FF5C8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FF7BA3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FF6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FF6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FF6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FF6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FF7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FF76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FF7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文心一格与中式美学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FFA0BC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FF6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FF6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FF6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FF6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FF7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FF76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FF7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核心特色：在国风、古风、水墨等中式美学风格上表现突出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2249424"/>
            <a:ext cx="6859" cy="365760"/>
          </a:xfrm>
          <a:prstGeom prst="rect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8378" y="2249424"/>
            <a:ext cx="6858" cy="365760"/>
          </a:xfrm>
          <a:prstGeom prst="rect">
            <a:avLst/>
          </a:prstGeom>
          <a:solidFill>
            <a:srgbClr val="FF6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5236" y="2249424"/>
            <a:ext cx="6858" cy="365760"/>
          </a:xfrm>
          <a:prstGeom prst="rect">
            <a:avLst/>
          </a:prstGeom>
          <a:solidFill>
            <a:srgbClr val="FF6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2094" y="2249424"/>
            <a:ext cx="6858" cy="365760"/>
          </a:xfrm>
          <a:prstGeom prst="rect">
            <a:avLst/>
          </a:prstGeom>
          <a:solidFill>
            <a:srgbClr val="FF6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8952" y="2249424"/>
            <a:ext cx="6858" cy="365760"/>
          </a:xfrm>
          <a:prstGeom prst="rect">
            <a:avLst/>
          </a:prstGeom>
          <a:solidFill>
            <a:srgbClr val="FF6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5810" y="2249424"/>
            <a:ext cx="6858" cy="365760"/>
          </a:xfrm>
          <a:prstGeom prst="rect">
            <a:avLst/>
          </a:prstGeom>
          <a:solidFill>
            <a:srgbClr val="FF7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2668" y="2249424"/>
            <a:ext cx="6858" cy="365760"/>
          </a:xfrm>
          <a:prstGeom prst="rect">
            <a:avLst/>
          </a:prstGeom>
          <a:solidFill>
            <a:srgbClr val="FF76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9526" y="2249424"/>
            <a:ext cx="6858" cy="365760"/>
          </a:xfrm>
          <a:prstGeom prst="rect">
            <a:avLst/>
          </a:prstGeom>
          <a:solidFill>
            <a:srgbClr val="FF7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688" y="21762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朝代风格：唐代华丽、宋代雅致、明代工笔、敦煌壁画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3054096"/>
            <a:ext cx="6859" cy="365760"/>
          </a:xfrm>
          <a:prstGeom prst="rect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8378" y="3054096"/>
            <a:ext cx="6858" cy="365760"/>
          </a:xfrm>
          <a:prstGeom prst="rect">
            <a:avLst/>
          </a:prstGeom>
          <a:solidFill>
            <a:srgbClr val="FF6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5236" y="3054096"/>
            <a:ext cx="6858" cy="365760"/>
          </a:xfrm>
          <a:prstGeom prst="rect">
            <a:avLst/>
          </a:prstGeom>
          <a:solidFill>
            <a:srgbClr val="FF6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52094" y="3054096"/>
            <a:ext cx="6858" cy="365760"/>
          </a:xfrm>
          <a:prstGeom prst="rect">
            <a:avLst/>
          </a:prstGeom>
          <a:solidFill>
            <a:srgbClr val="FF6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8952" y="3054096"/>
            <a:ext cx="6858" cy="365760"/>
          </a:xfrm>
          <a:prstGeom prst="rect">
            <a:avLst/>
          </a:prstGeom>
          <a:solidFill>
            <a:srgbClr val="FF6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5810" y="3054096"/>
            <a:ext cx="6858" cy="365760"/>
          </a:xfrm>
          <a:prstGeom prst="rect">
            <a:avLst/>
          </a:prstGeom>
          <a:solidFill>
            <a:srgbClr val="FF7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72668" y="3054096"/>
            <a:ext cx="6858" cy="365760"/>
          </a:xfrm>
          <a:prstGeom prst="rect">
            <a:avLst/>
          </a:prstGeom>
          <a:solidFill>
            <a:srgbClr val="FF76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9526" y="3054096"/>
            <a:ext cx="6858" cy="365760"/>
          </a:xfrm>
          <a:prstGeom prst="rect">
            <a:avLst/>
          </a:prstGeom>
          <a:solidFill>
            <a:srgbClr val="FF7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2688" y="298094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画种技法：水墨画、工笔画、写意画、白描、青绿山水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3858768"/>
            <a:ext cx="6859" cy="365760"/>
          </a:xfrm>
          <a:prstGeom prst="rect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8378" y="3858768"/>
            <a:ext cx="6858" cy="365760"/>
          </a:xfrm>
          <a:prstGeom prst="rect">
            <a:avLst/>
          </a:prstGeom>
          <a:solidFill>
            <a:srgbClr val="FF6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45236" y="3858768"/>
            <a:ext cx="6858" cy="365760"/>
          </a:xfrm>
          <a:prstGeom prst="rect">
            <a:avLst/>
          </a:prstGeom>
          <a:solidFill>
            <a:srgbClr val="FF6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52094" y="3858768"/>
            <a:ext cx="6858" cy="365760"/>
          </a:xfrm>
          <a:prstGeom prst="rect">
            <a:avLst/>
          </a:prstGeom>
          <a:solidFill>
            <a:srgbClr val="FF6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58952" y="3858768"/>
            <a:ext cx="6858" cy="365760"/>
          </a:xfrm>
          <a:prstGeom prst="rect">
            <a:avLst/>
          </a:prstGeom>
          <a:solidFill>
            <a:srgbClr val="FF6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65810" y="3858768"/>
            <a:ext cx="6858" cy="365760"/>
          </a:xfrm>
          <a:prstGeom prst="rect">
            <a:avLst/>
          </a:prstGeom>
          <a:solidFill>
            <a:srgbClr val="FF7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2668" y="3858768"/>
            <a:ext cx="6858" cy="365760"/>
          </a:xfrm>
          <a:prstGeom prst="rect">
            <a:avLst/>
          </a:prstGeom>
          <a:solidFill>
            <a:srgbClr val="FF76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79526" y="3858768"/>
            <a:ext cx="6858" cy="365760"/>
          </a:xfrm>
          <a:prstGeom prst="rect">
            <a:avLst/>
          </a:prstGeom>
          <a:solidFill>
            <a:srgbClr val="FF7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2688" y="37856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色彩体系：中国红、靛蓝、赭石、石绿、藤黄、胭脂、朱砂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1520" y="4663440"/>
            <a:ext cx="6859" cy="365760"/>
          </a:xfrm>
          <a:prstGeom prst="rect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38378" y="4663440"/>
            <a:ext cx="6858" cy="365760"/>
          </a:xfrm>
          <a:prstGeom prst="rect">
            <a:avLst/>
          </a:prstGeom>
          <a:solidFill>
            <a:srgbClr val="FF6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45236" y="4663440"/>
            <a:ext cx="6858" cy="365760"/>
          </a:xfrm>
          <a:prstGeom prst="rect">
            <a:avLst/>
          </a:prstGeom>
          <a:solidFill>
            <a:srgbClr val="FF6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2094" y="4663440"/>
            <a:ext cx="6858" cy="365760"/>
          </a:xfrm>
          <a:prstGeom prst="rect">
            <a:avLst/>
          </a:prstGeom>
          <a:solidFill>
            <a:srgbClr val="FF6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58952" y="4663440"/>
            <a:ext cx="6858" cy="365760"/>
          </a:xfrm>
          <a:prstGeom prst="rect">
            <a:avLst/>
          </a:prstGeom>
          <a:solidFill>
            <a:srgbClr val="FF6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65810" y="4663440"/>
            <a:ext cx="6858" cy="365760"/>
          </a:xfrm>
          <a:prstGeom prst="rect">
            <a:avLst/>
          </a:prstGeom>
          <a:solidFill>
            <a:srgbClr val="FF7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72668" y="4663440"/>
            <a:ext cx="6858" cy="365760"/>
          </a:xfrm>
          <a:prstGeom prst="rect">
            <a:avLst/>
          </a:prstGeom>
          <a:solidFill>
            <a:srgbClr val="FF76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79526" y="4663440"/>
            <a:ext cx="6858" cy="365760"/>
          </a:xfrm>
          <a:prstGeom prst="rect">
            <a:avLst/>
          </a:prstGeom>
          <a:solidFill>
            <a:srgbClr val="FF7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32688" y="45902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意境词汇：烟雨朦胧、月色如水、云雾缭绕、留白写意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31520" y="5468112"/>
            <a:ext cx="6859" cy="365760"/>
          </a:xfrm>
          <a:prstGeom prst="rect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38378" y="5468112"/>
            <a:ext cx="6858" cy="365760"/>
          </a:xfrm>
          <a:prstGeom prst="rect">
            <a:avLst/>
          </a:prstGeom>
          <a:solidFill>
            <a:srgbClr val="FF6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45236" y="5468112"/>
            <a:ext cx="6858" cy="365760"/>
          </a:xfrm>
          <a:prstGeom prst="rect">
            <a:avLst/>
          </a:prstGeom>
          <a:solidFill>
            <a:srgbClr val="FF6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52094" y="5468112"/>
            <a:ext cx="6858" cy="365760"/>
          </a:xfrm>
          <a:prstGeom prst="rect">
            <a:avLst/>
          </a:prstGeom>
          <a:solidFill>
            <a:srgbClr val="FF6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58952" y="5468112"/>
            <a:ext cx="6858" cy="365760"/>
          </a:xfrm>
          <a:prstGeom prst="rect">
            <a:avLst/>
          </a:prstGeom>
          <a:solidFill>
            <a:srgbClr val="FF6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65810" y="5468112"/>
            <a:ext cx="6858" cy="365760"/>
          </a:xfrm>
          <a:prstGeom prst="rect">
            <a:avLst/>
          </a:prstGeom>
          <a:solidFill>
            <a:srgbClr val="FF7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72668" y="5468112"/>
            <a:ext cx="6858" cy="365760"/>
          </a:xfrm>
          <a:prstGeom prst="rect">
            <a:avLst/>
          </a:prstGeom>
          <a:solidFill>
            <a:srgbClr val="FF76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79526" y="5468112"/>
            <a:ext cx="6858" cy="365760"/>
          </a:xfrm>
          <a:prstGeom prst="rect">
            <a:avLst/>
          </a:prstGeom>
          <a:solidFill>
            <a:srgbClr val="FF7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32688" y="53949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访问方式：yige.baidu.com/</a:t>
            </a:r>
          </a:p>
        </p:txBody>
      </p:sp>
      <p:sp>
        <p:nvSpPr>
          <p:cNvPr id="95" name="Rectangle 94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模块05 · 其他图像生成工具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F6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F6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F6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F6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F7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F76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F7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FF5C8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FF7BA3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FF6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FF6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FF6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FF6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FF7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FF76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FF7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Kolors开源模型优势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FFA0BC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57200" y="1371600"/>
            <a:ext cx="5349240" cy="47548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1371600"/>
            <a:ext cx="668656" cy="38100"/>
          </a:xfrm>
          <a:prstGeom prst="rect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125855" y="1371600"/>
            <a:ext cx="668655" cy="38100"/>
          </a:xfrm>
          <a:prstGeom prst="rect">
            <a:avLst/>
          </a:prstGeom>
          <a:solidFill>
            <a:srgbClr val="FF6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794510" y="1371600"/>
            <a:ext cx="668655" cy="38100"/>
          </a:xfrm>
          <a:prstGeom prst="rect">
            <a:avLst/>
          </a:prstGeom>
          <a:solidFill>
            <a:srgbClr val="FF6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463165" y="1371600"/>
            <a:ext cx="668655" cy="38100"/>
          </a:xfrm>
          <a:prstGeom prst="rect">
            <a:avLst/>
          </a:prstGeom>
          <a:solidFill>
            <a:srgbClr val="FF6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131820" y="1371600"/>
            <a:ext cx="668655" cy="38100"/>
          </a:xfrm>
          <a:prstGeom prst="rect">
            <a:avLst/>
          </a:prstGeom>
          <a:solidFill>
            <a:srgbClr val="FF6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800475" y="1371600"/>
            <a:ext cx="668655" cy="38100"/>
          </a:xfrm>
          <a:prstGeom prst="rect">
            <a:avLst/>
          </a:prstGeom>
          <a:solidFill>
            <a:srgbClr val="FF7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469130" y="1371600"/>
            <a:ext cx="668655" cy="38100"/>
          </a:xfrm>
          <a:prstGeom prst="rect">
            <a:avLst/>
          </a:prstGeom>
          <a:solidFill>
            <a:srgbClr val="FF76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137785" y="1371600"/>
            <a:ext cx="668655" cy="38100"/>
          </a:xfrm>
          <a:prstGeom prst="rect">
            <a:avLst/>
          </a:prstGeom>
          <a:solidFill>
            <a:srgbClr val="FF7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1520" y="1600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5C8A"/>
                </a:solidFill>
                <a:latin typeface="Microsoft YaHei"/>
              </a:defRPr>
            </a:pPr>
            <a:r>
              <a:t>核心优势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1520" y="2103120"/>
            <a:ext cx="205741" cy="25400"/>
          </a:xfrm>
          <a:prstGeom prst="rect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37260" y="2103120"/>
            <a:ext cx="205740" cy="25400"/>
          </a:xfrm>
          <a:prstGeom prst="rect">
            <a:avLst/>
          </a:prstGeom>
          <a:solidFill>
            <a:srgbClr val="FF6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143000" y="2103120"/>
            <a:ext cx="205740" cy="25400"/>
          </a:xfrm>
          <a:prstGeom prst="rect">
            <a:avLst/>
          </a:prstGeom>
          <a:solidFill>
            <a:srgbClr val="FF6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348740" y="2103120"/>
            <a:ext cx="205740" cy="25400"/>
          </a:xfrm>
          <a:prstGeom prst="rect">
            <a:avLst/>
          </a:prstGeom>
          <a:solidFill>
            <a:srgbClr val="FF6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554480" y="2103120"/>
            <a:ext cx="205740" cy="25400"/>
          </a:xfrm>
          <a:prstGeom prst="rect">
            <a:avLst/>
          </a:prstGeom>
          <a:solidFill>
            <a:srgbClr val="FF6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760220" y="2103120"/>
            <a:ext cx="205740" cy="25400"/>
          </a:xfrm>
          <a:prstGeom prst="rect">
            <a:avLst/>
          </a:prstGeom>
          <a:solidFill>
            <a:srgbClr val="FF7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965960" y="2103120"/>
            <a:ext cx="205740" cy="25400"/>
          </a:xfrm>
          <a:prstGeom prst="rect">
            <a:avLst/>
          </a:prstGeom>
          <a:solidFill>
            <a:srgbClr val="FF76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171700" y="2103120"/>
            <a:ext cx="205740" cy="25400"/>
          </a:xfrm>
          <a:prstGeom prst="rect">
            <a:avLst/>
          </a:prstGeom>
          <a:solidFill>
            <a:srgbClr val="FF7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31520" y="2386584"/>
            <a:ext cx="146304" cy="146304"/>
          </a:xfrm>
          <a:prstGeom prst="ellipse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05840" y="2331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开源免费，模型权重完全开放</a:t>
            </a:r>
          </a:p>
        </p:txBody>
      </p:sp>
      <p:sp>
        <p:nvSpPr>
          <p:cNvPr id="61" name="Oval 60"/>
          <p:cNvSpPr/>
          <p:nvPr/>
        </p:nvSpPr>
        <p:spPr>
          <a:xfrm>
            <a:off x="731520" y="2916936"/>
            <a:ext cx="146304" cy="146304"/>
          </a:xfrm>
          <a:prstGeom prst="ellipse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05840" y="286207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中文原生支持，理解能力出色</a:t>
            </a:r>
          </a:p>
        </p:txBody>
      </p:sp>
      <p:sp>
        <p:nvSpPr>
          <p:cNvPr id="63" name="Oval 62"/>
          <p:cNvSpPr/>
          <p:nvPr/>
        </p:nvSpPr>
        <p:spPr>
          <a:xfrm>
            <a:off x="731520" y="3447288"/>
            <a:ext cx="146304" cy="146304"/>
          </a:xfrm>
          <a:prstGeom prst="ellipse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05840" y="339242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图像质量媲美商业模型</a:t>
            </a:r>
          </a:p>
        </p:txBody>
      </p:sp>
      <p:sp>
        <p:nvSpPr>
          <p:cNvPr id="65" name="Oval 64"/>
          <p:cNvSpPr/>
          <p:nvPr/>
        </p:nvSpPr>
        <p:spPr>
          <a:xfrm>
            <a:off x="731520" y="3977640"/>
            <a:ext cx="146304" cy="146304"/>
          </a:xfrm>
          <a:prstGeom prst="ellipse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05840" y="392277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支持LoRA、ControlNet扩展</a:t>
            </a:r>
          </a:p>
        </p:txBody>
      </p:sp>
      <p:sp>
        <p:nvSpPr>
          <p:cNvPr id="67" name="Oval 66"/>
          <p:cNvSpPr/>
          <p:nvPr/>
        </p:nvSpPr>
        <p:spPr>
          <a:xfrm>
            <a:off x="731520" y="4507992"/>
            <a:ext cx="146304" cy="146304"/>
          </a:xfrm>
          <a:prstGeom prst="ellipse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05840" y="445312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可本地部署，无审核限制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263640" y="1371600"/>
            <a:ext cx="5349240" cy="47548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263640" y="1371600"/>
            <a:ext cx="668656" cy="38100"/>
          </a:xfrm>
          <a:prstGeom prst="rect">
            <a:avLst/>
          </a:prstGeom>
          <a:solidFill>
            <a:srgbClr val="FF7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932295" y="1371600"/>
            <a:ext cx="668655" cy="38100"/>
          </a:xfrm>
          <a:prstGeom prst="rect">
            <a:avLst/>
          </a:prstGeom>
          <a:solidFill>
            <a:srgbClr val="FF8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600950" y="1371600"/>
            <a:ext cx="668655" cy="38100"/>
          </a:xfrm>
          <a:prstGeom prst="rect">
            <a:avLst/>
          </a:prstGeom>
          <a:solidFill>
            <a:srgbClr val="FF8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269605" y="1371600"/>
            <a:ext cx="668655" cy="38100"/>
          </a:xfrm>
          <a:prstGeom prst="rect">
            <a:avLst/>
          </a:prstGeom>
          <a:solidFill>
            <a:srgbClr val="FF8A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938260" y="1371600"/>
            <a:ext cx="668655" cy="38100"/>
          </a:xfrm>
          <a:prstGeom prst="rect">
            <a:avLst/>
          </a:prstGeom>
          <a:solidFill>
            <a:srgbClr val="FF90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606915" y="1371600"/>
            <a:ext cx="668655" cy="38100"/>
          </a:xfrm>
          <a:prstGeom prst="rect">
            <a:avLst/>
          </a:prstGeom>
          <a:solidFill>
            <a:srgbClr val="FF9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0275570" y="1371600"/>
            <a:ext cx="668655" cy="38100"/>
          </a:xfrm>
          <a:prstGeom prst="rect">
            <a:avLst/>
          </a:prstGeom>
          <a:solidFill>
            <a:srgbClr val="FF9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0944225" y="1371600"/>
            <a:ext cx="668655" cy="38100"/>
          </a:xfrm>
          <a:prstGeom prst="rect">
            <a:avLst/>
          </a:prstGeom>
          <a:solidFill>
            <a:srgbClr val="FFA0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537960" y="1600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7BA3"/>
                </a:solidFill>
                <a:latin typeface="Microsoft YaHei"/>
              </a:defRPr>
            </a:pPr>
            <a:r>
              <a:t>部署方式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537960" y="2103120"/>
            <a:ext cx="205741" cy="25400"/>
          </a:xfrm>
          <a:prstGeom prst="rect">
            <a:avLst/>
          </a:prstGeom>
          <a:solidFill>
            <a:srgbClr val="FF7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743700" y="2103120"/>
            <a:ext cx="205740" cy="25400"/>
          </a:xfrm>
          <a:prstGeom prst="rect">
            <a:avLst/>
          </a:prstGeom>
          <a:solidFill>
            <a:srgbClr val="FF8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949440" y="2103120"/>
            <a:ext cx="205740" cy="25400"/>
          </a:xfrm>
          <a:prstGeom prst="rect">
            <a:avLst/>
          </a:prstGeom>
          <a:solidFill>
            <a:srgbClr val="FF8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155180" y="2103120"/>
            <a:ext cx="205740" cy="25400"/>
          </a:xfrm>
          <a:prstGeom prst="rect">
            <a:avLst/>
          </a:prstGeom>
          <a:solidFill>
            <a:srgbClr val="FF8A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360920" y="2103120"/>
            <a:ext cx="205740" cy="25400"/>
          </a:xfrm>
          <a:prstGeom prst="rect">
            <a:avLst/>
          </a:prstGeom>
          <a:solidFill>
            <a:srgbClr val="FF90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566660" y="2103120"/>
            <a:ext cx="205740" cy="25400"/>
          </a:xfrm>
          <a:prstGeom prst="rect">
            <a:avLst/>
          </a:prstGeom>
          <a:solidFill>
            <a:srgbClr val="FF9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772400" y="2103120"/>
            <a:ext cx="205740" cy="25400"/>
          </a:xfrm>
          <a:prstGeom prst="rect">
            <a:avLst/>
          </a:prstGeom>
          <a:solidFill>
            <a:srgbClr val="FF9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978140" y="2103120"/>
            <a:ext cx="205740" cy="25400"/>
          </a:xfrm>
          <a:prstGeom prst="rect">
            <a:avLst/>
          </a:prstGeom>
          <a:solidFill>
            <a:srgbClr val="FFA0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6537960" y="2386584"/>
            <a:ext cx="146304" cy="146304"/>
          </a:xfrm>
          <a:prstGeom prst="ellipse">
            <a:avLst/>
          </a:prstGeom>
          <a:solidFill>
            <a:srgbClr val="FF7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812280" y="2331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在线体验：kolors.kuaishou.com</a:t>
            </a:r>
          </a:p>
        </p:txBody>
      </p:sp>
      <p:sp>
        <p:nvSpPr>
          <p:cNvPr id="89" name="Oval 88"/>
          <p:cNvSpPr/>
          <p:nvPr/>
        </p:nvSpPr>
        <p:spPr>
          <a:xfrm>
            <a:off x="6537960" y="2916936"/>
            <a:ext cx="146304" cy="146304"/>
          </a:xfrm>
          <a:prstGeom prst="ellipse">
            <a:avLst/>
          </a:prstGeom>
          <a:solidFill>
            <a:srgbClr val="FF7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812280" y="286207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本地部署：ComfyUI集成</a:t>
            </a:r>
          </a:p>
        </p:txBody>
      </p:sp>
      <p:sp>
        <p:nvSpPr>
          <p:cNvPr id="91" name="Oval 90"/>
          <p:cNvSpPr/>
          <p:nvPr/>
        </p:nvSpPr>
        <p:spPr>
          <a:xfrm>
            <a:off x="6537960" y="3447288"/>
            <a:ext cx="146304" cy="146304"/>
          </a:xfrm>
          <a:prstGeom prst="ellipse">
            <a:avLst/>
          </a:prstGeom>
          <a:solidFill>
            <a:srgbClr val="FF7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812280" y="339242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批量生成：读取提示词列表自动出图</a:t>
            </a:r>
          </a:p>
        </p:txBody>
      </p:sp>
      <p:sp>
        <p:nvSpPr>
          <p:cNvPr id="93" name="Oval 92"/>
          <p:cNvSpPr/>
          <p:nvPr/>
        </p:nvSpPr>
        <p:spPr>
          <a:xfrm>
            <a:off x="6537960" y="3977640"/>
            <a:ext cx="146304" cy="146304"/>
          </a:xfrm>
          <a:prstGeom prst="ellipse">
            <a:avLst/>
          </a:prstGeom>
          <a:solidFill>
            <a:srgbClr val="FF7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812280" y="392277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角色一致性：IP-Adapter / 固定种子 / LoRA</a:t>
            </a:r>
          </a:p>
        </p:txBody>
      </p:sp>
      <p:sp>
        <p:nvSpPr>
          <p:cNvPr id="95" name="Oval 94"/>
          <p:cNvSpPr/>
          <p:nvPr/>
        </p:nvSpPr>
        <p:spPr>
          <a:xfrm>
            <a:off x="6537960" y="4507992"/>
            <a:ext cx="146304" cy="146304"/>
          </a:xfrm>
          <a:prstGeom prst="ellipse">
            <a:avLst/>
          </a:prstGeom>
          <a:solidFill>
            <a:srgbClr val="FF7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812280" y="445312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推荐显存：NVIDIA 8GB+ GPU</a:t>
            </a:r>
          </a:p>
        </p:txBody>
      </p:sp>
      <p:sp>
        <p:nvSpPr>
          <p:cNvPr id="97" name="Rectangle 96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模块05 · 其他图像生成工具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F6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F6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F6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F6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F7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F76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F7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0" y="0"/>
            <a:ext cx="6400800" cy="6400800"/>
          </a:xfrm>
          <a:prstGeom prst="ellipse">
            <a:avLst/>
          </a:prstGeom>
          <a:solidFill>
            <a:srgbClr val="FF5C8A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2743200"/>
            <a:ext cx="4572000" cy="4572000"/>
          </a:xfrm>
          <a:prstGeom prst="ellipse">
            <a:avLst/>
          </a:prstGeom>
          <a:solidFill>
            <a:srgbClr val="FF7BA3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1097280"/>
            <a:ext cx="720091" cy="38100"/>
          </a:xfrm>
          <a:prstGeom prst="rect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920490" y="1097280"/>
            <a:ext cx="720090" cy="38100"/>
          </a:xfrm>
          <a:prstGeom prst="rect">
            <a:avLst/>
          </a:prstGeom>
          <a:solidFill>
            <a:srgbClr val="FF6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40580" y="1097280"/>
            <a:ext cx="720090" cy="38100"/>
          </a:xfrm>
          <a:prstGeom prst="rect">
            <a:avLst/>
          </a:prstGeom>
          <a:solidFill>
            <a:srgbClr val="FF6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60670" y="1097280"/>
            <a:ext cx="720090" cy="38100"/>
          </a:xfrm>
          <a:prstGeom prst="rect">
            <a:avLst/>
          </a:prstGeom>
          <a:solidFill>
            <a:srgbClr val="FF6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80760" y="1097280"/>
            <a:ext cx="720090" cy="38100"/>
          </a:xfrm>
          <a:prstGeom prst="rect">
            <a:avLst/>
          </a:prstGeom>
          <a:solidFill>
            <a:srgbClr val="FF6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00850" y="1097280"/>
            <a:ext cx="720090" cy="38100"/>
          </a:xfrm>
          <a:prstGeom prst="rect">
            <a:avLst/>
          </a:prstGeom>
          <a:solidFill>
            <a:srgbClr val="FF7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20940" y="1097280"/>
            <a:ext cx="720090" cy="38100"/>
          </a:xfrm>
          <a:prstGeom prst="rect">
            <a:avLst/>
          </a:prstGeom>
          <a:solidFill>
            <a:srgbClr val="FF76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41030" y="1097280"/>
            <a:ext cx="720090" cy="38100"/>
          </a:xfrm>
          <a:prstGeom prst="rect">
            <a:avLst/>
          </a:prstGeom>
          <a:solidFill>
            <a:srgbClr val="FF7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1645920"/>
            <a:ext cx="9418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0F0F5"/>
                </a:solidFill>
                <a:latin typeface="Microsoft YaHei"/>
              </a:defRPr>
            </a:pPr>
            <a:r>
              <a:t>30-50张高质量训练图，几小时即可打造专属角色模型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3931920"/>
            <a:ext cx="262891" cy="25400"/>
          </a:xfrm>
          <a:prstGeom prst="rect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92090" y="3931920"/>
            <a:ext cx="262890" cy="25400"/>
          </a:xfrm>
          <a:prstGeom prst="rect">
            <a:avLst/>
          </a:prstGeom>
          <a:solidFill>
            <a:srgbClr val="FF6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554980" y="3931920"/>
            <a:ext cx="262890" cy="25400"/>
          </a:xfrm>
          <a:prstGeom prst="rect">
            <a:avLst/>
          </a:prstGeom>
          <a:solidFill>
            <a:srgbClr val="FF6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17870" y="3931920"/>
            <a:ext cx="262890" cy="25400"/>
          </a:xfrm>
          <a:prstGeom prst="rect">
            <a:avLst/>
          </a:prstGeom>
          <a:solidFill>
            <a:srgbClr val="FF6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60" y="3931920"/>
            <a:ext cx="262890" cy="25400"/>
          </a:xfrm>
          <a:prstGeom prst="rect">
            <a:avLst/>
          </a:prstGeom>
          <a:solidFill>
            <a:srgbClr val="FF6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43650" y="3931920"/>
            <a:ext cx="262890" cy="25400"/>
          </a:xfrm>
          <a:prstGeom prst="rect">
            <a:avLst/>
          </a:prstGeom>
          <a:solidFill>
            <a:srgbClr val="FF7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06540" y="3931920"/>
            <a:ext cx="262890" cy="25400"/>
          </a:xfrm>
          <a:prstGeom prst="rect">
            <a:avLst/>
          </a:prstGeom>
          <a:solidFill>
            <a:srgbClr val="FF76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69430" y="3931920"/>
            <a:ext cx="262890" cy="25400"/>
          </a:xfrm>
          <a:prstGeom prst="rect">
            <a:avLst/>
          </a:prstGeom>
          <a:solidFill>
            <a:srgbClr val="FF7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429768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LoRA（Low-Rank Adaptation）只训练一小部分"适配层"参数（几MB），效果接近完整微调。训练后每次生成都是同一个角色，彻底解决AI"换脸"问题。一个LoRA文件通常只有10-100MB，可灵活叠加多个LoRA（角色+风格+场景）。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模块05 · 其他图像生成工具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F6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F6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F6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F6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F7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F76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F7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FF5C8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FF7BA3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FF6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FF6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FF6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FF6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FF7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FF76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FF7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LoRA训练完整流程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FFA0BC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FF6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FF6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FF6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FF6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FF7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FF76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FF7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Step 1 准备数据：收集30-50张高质量角色图（多角度/多表情）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" y="13716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1520" y="2221992"/>
            <a:ext cx="6859" cy="365760"/>
          </a:xfrm>
          <a:prstGeom prst="rect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38378" y="2221992"/>
            <a:ext cx="6858" cy="365760"/>
          </a:xfrm>
          <a:prstGeom prst="rect">
            <a:avLst/>
          </a:prstGeom>
          <a:solidFill>
            <a:srgbClr val="FF6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45236" y="2221992"/>
            <a:ext cx="6858" cy="365760"/>
          </a:xfrm>
          <a:prstGeom prst="rect">
            <a:avLst/>
          </a:prstGeom>
          <a:solidFill>
            <a:srgbClr val="FF6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2094" y="2221992"/>
            <a:ext cx="6858" cy="365760"/>
          </a:xfrm>
          <a:prstGeom prst="rect">
            <a:avLst/>
          </a:prstGeom>
          <a:solidFill>
            <a:srgbClr val="FF6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58952" y="2221992"/>
            <a:ext cx="6858" cy="365760"/>
          </a:xfrm>
          <a:prstGeom prst="rect">
            <a:avLst/>
          </a:prstGeom>
          <a:solidFill>
            <a:srgbClr val="FF6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65810" y="2221992"/>
            <a:ext cx="6858" cy="365760"/>
          </a:xfrm>
          <a:prstGeom prst="rect">
            <a:avLst/>
          </a:prstGeom>
          <a:solidFill>
            <a:srgbClr val="FF7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2668" y="2221992"/>
            <a:ext cx="6858" cy="365760"/>
          </a:xfrm>
          <a:prstGeom prst="rect">
            <a:avLst/>
          </a:prstGeom>
          <a:solidFill>
            <a:srgbClr val="FF76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79526" y="2221992"/>
            <a:ext cx="6858" cy="365760"/>
          </a:xfrm>
          <a:prstGeom prst="rect">
            <a:avLst/>
          </a:prstGeom>
          <a:solidFill>
            <a:srgbClr val="FF7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2688" y="21488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Step 2 预处理：裁剪缩放到512×512，去除背景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1520" y="21488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31520" y="2999232"/>
            <a:ext cx="6859" cy="365760"/>
          </a:xfrm>
          <a:prstGeom prst="rect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38378" y="2999232"/>
            <a:ext cx="6858" cy="365760"/>
          </a:xfrm>
          <a:prstGeom prst="rect">
            <a:avLst/>
          </a:prstGeom>
          <a:solidFill>
            <a:srgbClr val="FF6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45236" y="2999232"/>
            <a:ext cx="6858" cy="365760"/>
          </a:xfrm>
          <a:prstGeom prst="rect">
            <a:avLst/>
          </a:prstGeom>
          <a:solidFill>
            <a:srgbClr val="FF6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52094" y="2999232"/>
            <a:ext cx="6858" cy="365760"/>
          </a:xfrm>
          <a:prstGeom prst="rect">
            <a:avLst/>
          </a:prstGeom>
          <a:solidFill>
            <a:srgbClr val="FF6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58952" y="2999232"/>
            <a:ext cx="6858" cy="365760"/>
          </a:xfrm>
          <a:prstGeom prst="rect">
            <a:avLst/>
          </a:prstGeom>
          <a:solidFill>
            <a:srgbClr val="FF6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65810" y="2999232"/>
            <a:ext cx="6858" cy="365760"/>
          </a:xfrm>
          <a:prstGeom prst="rect">
            <a:avLst/>
          </a:prstGeom>
          <a:solidFill>
            <a:srgbClr val="FF7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72668" y="2999232"/>
            <a:ext cx="6858" cy="365760"/>
          </a:xfrm>
          <a:prstGeom prst="rect">
            <a:avLst/>
          </a:prstGeom>
          <a:solidFill>
            <a:srgbClr val="FF76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79526" y="2999232"/>
            <a:ext cx="6858" cy="365760"/>
          </a:xfrm>
          <a:prstGeom prst="rect">
            <a:avLst/>
          </a:prstGeom>
          <a:solidFill>
            <a:srgbClr val="FF7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32688" y="2926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Step 3 自动打标：使用WD14 Tagger自动生成标签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31520" y="29260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31520" y="3776472"/>
            <a:ext cx="6859" cy="365760"/>
          </a:xfrm>
          <a:prstGeom prst="rect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38378" y="3776472"/>
            <a:ext cx="6858" cy="365760"/>
          </a:xfrm>
          <a:prstGeom prst="rect">
            <a:avLst/>
          </a:prstGeom>
          <a:solidFill>
            <a:srgbClr val="FF6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45236" y="3776472"/>
            <a:ext cx="6858" cy="365760"/>
          </a:xfrm>
          <a:prstGeom prst="rect">
            <a:avLst/>
          </a:prstGeom>
          <a:solidFill>
            <a:srgbClr val="FF6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52094" y="3776472"/>
            <a:ext cx="6858" cy="365760"/>
          </a:xfrm>
          <a:prstGeom prst="rect">
            <a:avLst/>
          </a:prstGeom>
          <a:solidFill>
            <a:srgbClr val="FF6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58952" y="3776472"/>
            <a:ext cx="6858" cy="365760"/>
          </a:xfrm>
          <a:prstGeom prst="rect">
            <a:avLst/>
          </a:prstGeom>
          <a:solidFill>
            <a:srgbClr val="FF6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65810" y="3776472"/>
            <a:ext cx="6858" cy="365760"/>
          </a:xfrm>
          <a:prstGeom prst="rect">
            <a:avLst/>
          </a:prstGeom>
          <a:solidFill>
            <a:srgbClr val="FF7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72668" y="3776472"/>
            <a:ext cx="6858" cy="365760"/>
          </a:xfrm>
          <a:prstGeom prst="rect">
            <a:avLst/>
          </a:prstGeom>
          <a:solidFill>
            <a:srgbClr val="FF76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79526" y="3776472"/>
            <a:ext cx="6858" cy="365760"/>
          </a:xfrm>
          <a:prstGeom prst="rect">
            <a:avLst/>
          </a:prstGeom>
          <a:solidFill>
            <a:srgbClr val="FF7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32688" y="3703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Step 4 手动校正：确保触发词一致，移除不准确标签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31520" y="37033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31520" y="4553712"/>
            <a:ext cx="6859" cy="365760"/>
          </a:xfrm>
          <a:prstGeom prst="rect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38378" y="4553712"/>
            <a:ext cx="6858" cy="365760"/>
          </a:xfrm>
          <a:prstGeom prst="rect">
            <a:avLst/>
          </a:prstGeom>
          <a:solidFill>
            <a:srgbClr val="FF6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45236" y="4553712"/>
            <a:ext cx="6858" cy="365760"/>
          </a:xfrm>
          <a:prstGeom prst="rect">
            <a:avLst/>
          </a:prstGeom>
          <a:solidFill>
            <a:srgbClr val="FF6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52094" y="4553712"/>
            <a:ext cx="6858" cy="365760"/>
          </a:xfrm>
          <a:prstGeom prst="rect">
            <a:avLst/>
          </a:prstGeom>
          <a:solidFill>
            <a:srgbClr val="FF6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58952" y="4553712"/>
            <a:ext cx="6858" cy="365760"/>
          </a:xfrm>
          <a:prstGeom prst="rect">
            <a:avLst/>
          </a:prstGeom>
          <a:solidFill>
            <a:srgbClr val="FF6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65810" y="4553712"/>
            <a:ext cx="6858" cy="365760"/>
          </a:xfrm>
          <a:prstGeom prst="rect">
            <a:avLst/>
          </a:prstGeom>
          <a:solidFill>
            <a:srgbClr val="FF7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72668" y="4553712"/>
            <a:ext cx="6858" cy="365760"/>
          </a:xfrm>
          <a:prstGeom prst="rect">
            <a:avLst/>
          </a:prstGeom>
          <a:solidFill>
            <a:srgbClr val="FF76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79526" y="4553712"/>
            <a:ext cx="6858" cy="365760"/>
          </a:xfrm>
          <a:prstGeom prst="rect">
            <a:avLst/>
          </a:prstGeom>
          <a:solidFill>
            <a:srgbClr val="FF7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32688" y="44805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Step 5 配置参数：学习率1e-4、dim=64、alpha=32、10个epoch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31520" y="44805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31520" y="5330952"/>
            <a:ext cx="6859" cy="365760"/>
          </a:xfrm>
          <a:prstGeom prst="rect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38378" y="5330952"/>
            <a:ext cx="6858" cy="365760"/>
          </a:xfrm>
          <a:prstGeom prst="rect">
            <a:avLst/>
          </a:prstGeom>
          <a:solidFill>
            <a:srgbClr val="FF6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45236" y="5330952"/>
            <a:ext cx="6858" cy="365760"/>
          </a:xfrm>
          <a:prstGeom prst="rect">
            <a:avLst/>
          </a:prstGeom>
          <a:solidFill>
            <a:srgbClr val="FF6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752094" y="5330952"/>
            <a:ext cx="6858" cy="365760"/>
          </a:xfrm>
          <a:prstGeom prst="rect">
            <a:avLst/>
          </a:prstGeom>
          <a:solidFill>
            <a:srgbClr val="FF6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758952" y="5330952"/>
            <a:ext cx="6858" cy="365760"/>
          </a:xfrm>
          <a:prstGeom prst="rect">
            <a:avLst/>
          </a:prstGeom>
          <a:solidFill>
            <a:srgbClr val="FF6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765810" y="5330952"/>
            <a:ext cx="6858" cy="365760"/>
          </a:xfrm>
          <a:prstGeom prst="rect">
            <a:avLst/>
          </a:prstGeom>
          <a:solidFill>
            <a:srgbClr val="FF7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772668" y="5330952"/>
            <a:ext cx="6858" cy="365760"/>
          </a:xfrm>
          <a:prstGeom prst="rect">
            <a:avLst/>
          </a:prstGeom>
          <a:solidFill>
            <a:srgbClr val="FF76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779526" y="5330952"/>
            <a:ext cx="6858" cy="365760"/>
          </a:xfrm>
          <a:prstGeom prst="rect">
            <a:avLst/>
          </a:prstGeom>
          <a:solidFill>
            <a:srgbClr val="FF7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932688" y="5257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Step 6 启动训练：使用kohya-ss/sd-scripts，监控loss下降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31520" y="52578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模块05 · 其他图像生成工具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F6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F6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F6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F6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F7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F76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F7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FF5C8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FF7BA3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FF6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FF6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FF6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FF6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FF7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FF76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FF7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镜头类型与最优工具匹配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FFA0BC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548640" y="1280160"/>
          <a:ext cx="1106424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镜头类型</a:t>
                      </a:r>
                    </a:p>
                  </a:txBody>
                  <a:tcPr anchor="ctr">
                    <a:solidFill>
                      <a:srgbClr val="FF5C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首选工具</a:t>
                      </a:r>
                    </a:p>
                  </a:txBody>
                  <a:tcPr anchor="ctr">
                    <a:solidFill>
                      <a:srgbClr val="FF5C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备选工具</a:t>
                      </a:r>
                    </a:p>
                  </a:txBody>
                  <a:tcPr anchor="ctr">
                    <a:solidFill>
                      <a:srgbClr val="FF5C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选择理由</a:t>
                      </a:r>
                    </a:p>
                  </a:txBody>
                  <a:tcPr anchor="ctr">
                    <a:solidFill>
                      <a:srgbClr val="FF5C8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角色特写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SD + LoRA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通义万相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角色一致性最强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全景场景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Midjourney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文心一格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场景构建能力最强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动作场景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SD + ControlNet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Kolors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姿态控制最精准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情感氛围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文心一格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腾讯混元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氛围渲染出色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国风古风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文心一格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通义万相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中式美学专精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快速迭代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腾讯混元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通义万相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对话式修改方便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批量生成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Kolors（本地）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SD（本地）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无审核限制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</a:tbl>
          </a:graphicData>
        </a:graphic>
      </p:graphicFrame>
      <p:sp>
        <p:nvSpPr>
          <p:cNvPr id="42" name="Rectangle 41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模块05 · 其他图像生成工具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F6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F6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F6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F6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F7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F76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F7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FF5C8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FF7BA3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◆  本模块实操任务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6EE7B7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31520" y="144475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1520" y="144475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68096" y="144475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4672" y="144475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41248" y="144475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77824" y="144475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14400" y="144475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50976" y="144475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87552" y="144475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88720" y="1371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645920" y="13716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用通义万相为漫剧生成3个不同场景的背景图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31520" y="222199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31520" y="222199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68096" y="222199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04672" y="222199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41248" y="222199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77824" y="222199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14400" y="222199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50976" y="222199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87552" y="222199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188720" y="2148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645920" y="21488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用文心一格制作一套"春夏秋冬"四季国风场景背景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31520" y="299923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31520" y="299923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68096" y="299923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04672" y="299923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41248" y="299923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77824" y="299923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14400" y="299923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50976" y="299923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87552" y="299923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188720" y="292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645920" y="2926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用Kolors在线版生成5个不同场景并对比效果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31520" y="377647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31520" y="377647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68096" y="377647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04672" y="377647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41248" y="377647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77824" y="377647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14400" y="377647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50976" y="377647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987552" y="377647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188720" y="3703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645920" y="37033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为漫剧主角准备40张训练数据并完成LoRA训练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731520" y="455371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31520" y="455371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68096" y="455371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04672" y="455371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41248" y="455371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77824" y="455371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914400" y="455371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950976" y="455371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987552" y="455371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188720" y="4480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645920" y="44805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在ComfyUI中加载LoRA，生成角色在不同场景中的图片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731520" y="533095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731520" y="533095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768096" y="533095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04672" y="533095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41248" y="533095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77824" y="533095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14400" y="533095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50976" y="533095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87552" y="533095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188720" y="5257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#6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645920" y="52578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为漫剧所有分镜选择最优工具并填写工具分配表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模块05 · 其他图像生成工具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F6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F6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F6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F6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F7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F76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F7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0" y="914400"/>
            <a:ext cx="6400800" cy="6400800"/>
          </a:xfrm>
          <a:prstGeom prst="ellipse">
            <a:avLst/>
          </a:prstGeom>
          <a:solidFill>
            <a:srgbClr val="FF5C8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1371600"/>
            <a:ext cx="491491" cy="38100"/>
          </a:xfrm>
          <a:prstGeom prst="rect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606290" y="1371600"/>
            <a:ext cx="491490" cy="38100"/>
          </a:xfrm>
          <a:prstGeom prst="rect">
            <a:avLst/>
          </a:prstGeom>
          <a:solidFill>
            <a:srgbClr val="FF6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97780" y="1371600"/>
            <a:ext cx="491490" cy="38100"/>
          </a:xfrm>
          <a:prstGeom prst="rect">
            <a:avLst/>
          </a:prstGeom>
          <a:solidFill>
            <a:srgbClr val="FF6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589270" y="1371600"/>
            <a:ext cx="491490" cy="38100"/>
          </a:xfrm>
          <a:prstGeom prst="rect">
            <a:avLst/>
          </a:prstGeom>
          <a:solidFill>
            <a:srgbClr val="FF6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80760" y="1371600"/>
            <a:ext cx="491490" cy="38100"/>
          </a:xfrm>
          <a:prstGeom prst="rect">
            <a:avLst/>
          </a:prstGeom>
          <a:solidFill>
            <a:srgbClr val="FF6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72250" y="1371600"/>
            <a:ext cx="491490" cy="38100"/>
          </a:xfrm>
          <a:prstGeom prst="rect">
            <a:avLst/>
          </a:prstGeom>
          <a:solidFill>
            <a:srgbClr val="FF7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63740" y="1371600"/>
            <a:ext cx="491490" cy="38100"/>
          </a:xfrm>
          <a:prstGeom prst="rect">
            <a:avLst/>
          </a:prstGeom>
          <a:solidFill>
            <a:srgbClr val="FF76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55230" y="1371600"/>
            <a:ext cx="491490" cy="38100"/>
          </a:xfrm>
          <a:prstGeom prst="rect">
            <a:avLst/>
          </a:prstGeom>
          <a:solidFill>
            <a:srgbClr val="FF7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0" y="201168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F5C8A"/>
                </a:solidFill>
                <a:latin typeface="Microsoft YaHei"/>
              </a:defRPr>
            </a:pPr>
            <a:r>
              <a:t>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320040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0F0F5"/>
                </a:solidFill>
                <a:latin typeface="Microsoft YaHei"/>
              </a:defRPr>
            </a:pPr>
            <a:r>
              <a:t>本模块结束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4023360"/>
            <a:ext cx="262891" cy="25400"/>
          </a:xfrm>
          <a:prstGeom prst="rect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92090" y="4023360"/>
            <a:ext cx="262890" cy="25400"/>
          </a:xfrm>
          <a:prstGeom prst="rect">
            <a:avLst/>
          </a:prstGeom>
          <a:solidFill>
            <a:srgbClr val="FF6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554980" y="4023360"/>
            <a:ext cx="262890" cy="25400"/>
          </a:xfrm>
          <a:prstGeom prst="rect">
            <a:avLst/>
          </a:prstGeom>
          <a:solidFill>
            <a:srgbClr val="FF6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17870" y="4023360"/>
            <a:ext cx="262890" cy="25400"/>
          </a:xfrm>
          <a:prstGeom prst="rect">
            <a:avLst/>
          </a:prstGeom>
          <a:solidFill>
            <a:srgbClr val="FF6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60" y="4023360"/>
            <a:ext cx="262890" cy="25400"/>
          </a:xfrm>
          <a:prstGeom prst="rect">
            <a:avLst/>
          </a:prstGeom>
          <a:solidFill>
            <a:srgbClr val="FF6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43650" y="4023360"/>
            <a:ext cx="262890" cy="25400"/>
          </a:xfrm>
          <a:prstGeom prst="rect">
            <a:avLst/>
          </a:prstGeom>
          <a:solidFill>
            <a:srgbClr val="FF7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06540" y="4023360"/>
            <a:ext cx="262890" cy="25400"/>
          </a:xfrm>
          <a:prstGeom prst="rect">
            <a:avLst/>
          </a:prstGeom>
          <a:solidFill>
            <a:srgbClr val="FF76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69430" y="4023360"/>
            <a:ext cx="262890" cy="25400"/>
          </a:xfrm>
          <a:prstGeom prst="rect">
            <a:avLst/>
          </a:prstGeom>
          <a:solidFill>
            <a:srgbClr val="FF7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0" y="42976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8BAC8"/>
                </a:solidFill>
                <a:latin typeface="Microsoft YaHei"/>
              </a:defRPr>
            </a:pPr>
            <a:r>
              <a:t>下一模块：角色一致性攻克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0" y="59436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E7082"/>
                </a:solidFill>
                <a:latin typeface="Microsoft YaHei"/>
              </a:defRPr>
            </a:pPr>
            <a:r>
              <a:t>AI漫剧制作全流程课程 · 2026版</a:t>
            </a:r>
          </a:p>
        </p:txBody>
      </p:sp>
    </p:spTree>
  </p:cSld>
  <p:clrMapOvr>
    <a:masterClrMapping/>
  </p:clrMapOvr>
  <p:transition spd="med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