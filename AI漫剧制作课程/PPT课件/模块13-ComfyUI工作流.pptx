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9144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1732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736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574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974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2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72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1732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73736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574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3774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6974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72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72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1732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3736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574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3774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6974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109728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1A243C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123444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0" b="1">
                <a:solidFill>
                  <a:srgbClr val="A855F7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3657600"/>
            <a:ext cx="1645920" cy="32004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8B8D0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114800"/>
            <a:ext cx="1828800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86400" y="1371600"/>
            <a:ext cx="5943600" cy="457200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137160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5F7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237744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5F7FC"/>
                </a:solidFill>
                <a:latin typeface="Microsoft YaHei"/>
              </a:defRPr>
            </a:pPr>
            <a:r>
              <a:t>模块13：ComfyUI工作流——专业创作者进阶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4114800"/>
            <a:ext cx="2743200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0" y="4114800"/>
            <a:ext cx="914400" cy="50800"/>
          </a:xfrm>
          <a:prstGeom prst="rect">
            <a:avLst/>
          </a:prstGeom>
          <a:solidFill>
            <a:srgbClr val="C67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0" y="44805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8课时 · 掌握ComfyUI环境搭建、核心插件与角色一致性工作流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0" y="5486400"/>
            <a:ext cx="5943600" cy="640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A855F7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A855F7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A855F7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A855F7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247120" y="0"/>
            <a:ext cx="944575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2051792" y="0"/>
            <a:ext cx="50800" cy="7315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802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54864" cy="9601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1572768"/>
            <a:ext cx="411480" cy="4114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ComfyUI环境搭建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371600"/>
            <a:ext cx="54864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89120" y="1572768"/>
            <a:ext cx="411480" cy="4114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核心插件安装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371600"/>
            <a:ext cx="54864" cy="96012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46720" y="1572768"/>
            <a:ext cx="411480" cy="4114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文生图工作流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2606040"/>
            <a:ext cx="54864" cy="96012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2807208"/>
            <a:ext cx="411480" cy="4114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图生图工作流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51960" y="2606040"/>
            <a:ext cx="54864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89120" y="2807208"/>
            <a:ext cx="411480" cy="41148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ControlNet深度应用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09560" y="2606040"/>
            <a:ext cx="54864" cy="96012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46720" y="2807208"/>
            <a:ext cx="411480" cy="41148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79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角色一致性工作流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384048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4360" y="3840480"/>
            <a:ext cx="54864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31520" y="4041648"/>
            <a:ext cx="411480" cy="41148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52728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Z-Comics漫画工作流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51960" y="384048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51960" y="3840480"/>
            <a:ext cx="54864" cy="960120"/>
          </a:xfrm>
          <a:prstGeom prst="rect">
            <a:avLst/>
          </a:prstGeom>
          <a:solidFill>
            <a:srgbClr val="F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389120" y="4041648"/>
            <a:ext cx="411480" cy="411480"/>
          </a:xfrm>
          <a:prstGeom prst="ellipse">
            <a:avLst/>
          </a:prstGeom>
          <a:solidFill>
            <a:srgbClr val="F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9120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10328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实战项目——搭建完整工作流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802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ComfyUI——节点式工作流引擎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基于节点的Stable Diffusion图形界面，完全可定制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8848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8489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271369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27136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26222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核心优势：可视化节点连接、工作流可复用、插件生态丰富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9681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896819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079699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07969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07055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vs 传统WebUI：ComfyUI更灵活更强大，适合复杂任务和批量生产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70514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705148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3888028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8880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8788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支持工作流保存/加载/分享，实现生产级自动化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51347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51347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469635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69635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468721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入门门槛较高，但上限远超传统界面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专业创作者的首选工具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802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ComfyUI硬件配置要求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配置项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最低要求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推荐配置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显卡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NVIDIA 8GB VRAM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NVIDIA 12GB+ VRAM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内存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16GB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32GB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硬盘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50GB可用空间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100GB+ SSD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Python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3.10+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3.10.x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操作系统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Windows 10 / Linux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Windows 11 / Ubuntu 22.04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802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必装核心插件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ComfyUI Manager：插件管理器，一键安装/更新/卸载插件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8848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8489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271369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27136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26222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IP-Adapter Plus：图像特征注入，实现角色一致性（核心！）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9681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896819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079699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07969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07055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ControlNet：骨骼/边缘/深度精准控制，OpenPose/Canny/Depth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70514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705148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3888028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8880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8788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ADetailer：面部检测和自动修复，阈值0.3，重渲染0.4-0.6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51347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51347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469635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69635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468721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FaceRestore：面部重建修复，使用GFPGAN/CodeFormer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Inspire Pack：工具集，提示词调度、批处理、区域条件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802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文生图工作流搭建步骤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658368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08176"/>
            <a:ext cx="365760" cy="36576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081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Load Checkpoint → 加载SDXL基础模型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" y="1938528"/>
            <a:ext cx="19050" cy="14630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084832"/>
            <a:ext cx="73152" cy="65836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2212848"/>
            <a:ext cx="365760" cy="36576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2128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21762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CLIP Text Encode → 编写正向/负向提示词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24" y="2743200"/>
            <a:ext cx="19050" cy="14630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889504"/>
            <a:ext cx="73152" cy="658368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3232" y="3017520"/>
            <a:ext cx="365760" cy="36576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30175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1872" y="29809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Empty Latent Image → 设置输出尺寸（1024×1024）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7824" y="3547872"/>
            <a:ext cx="19050" cy="146304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694176"/>
            <a:ext cx="73152" cy="658368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3232" y="3822192"/>
            <a:ext cx="365760" cy="36576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3822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1872" y="37856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KSampler → 设置Steps:30, CFG:7, Sampler:euler_a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" y="4352544"/>
            <a:ext cx="19050" cy="146304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498848"/>
            <a:ext cx="73152" cy="65836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13232" y="4626864"/>
            <a:ext cx="365760" cy="36576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462686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61872" y="45902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VAE Decode → 解码潜空间为图像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7824" y="5157216"/>
            <a:ext cx="19050" cy="146304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5303520"/>
            <a:ext cx="73152" cy="658368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13232" y="5431536"/>
            <a:ext cx="365760" cy="36576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3232" y="543153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61872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Save Image → 保存输出结果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802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文生图核心参数调优指南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参数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推荐值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效果说明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Steps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25-30（日常）/ 35-40（精品）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采样步数，越多越精细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CFG Scale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7-9（推荐）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提示词遵循度，过高过饱和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Sampler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euler_a / dpmpp_2m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采样器类型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Seed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-1（随机）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随机种子，-1为随机生成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尺寸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1024×1024（SDXL）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输出图像尺寸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802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ControlNet精准控制类型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OpenPose：骨骼姿态控制，精准控制人物动作和姿势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8848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8489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271369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27136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26222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Canny：边缘线条控制，适合建筑、物体轮廓控制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9681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896819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079699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07969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07055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Depth：深度图控制，管理空间关系和前后景层次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70514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705148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3888028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8880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8788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Scribble：手绘线稿控制，从草图生成精细画面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51347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51347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469635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69635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468721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多ControlNet叠加：OpenPose+Canny（姿态+轮廓）推荐度最高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强度建议：0.5-0.7，过高会锁死细节缺乏创意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802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💡 角色一致性——黄金组合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10698480" cy="635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0" y="1737360"/>
            <a:ext cx="731520" cy="73152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192024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IP-Adapter FaceID + LoRA + ADetailer = 角色一致性三件套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A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5C6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IP-Adapter FaceID注入面部特征（权重0.7-0.85）；LoRA角色专属模型锁定角色特征（权重0.6-0.8）；ADetailer面部检测修复确保面部质量（阈值0.3，重渲染0.5）。三者配合实现跨场景、跨镜头的角色高度一致。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802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ComfyUI核心工作流速查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文生图：Checkpoint + CLIP + KSampler → 通用图像生成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8848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8489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271369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27136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26222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图生图：Load Image + VAE Encode + KSampler → 基于参考图生成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9681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896819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079699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07969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07055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角色一致性：IP-Adapter + LoRA + ADetailer → 角色一致图片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70514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705148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3888028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8880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8788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姿态控制：OpenPose + ControlNet → 人物动作精准控制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51347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51347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469635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69635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468721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局部重绘：Inpaint + Mask + KSampler → 局部修改/修复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漫画生成：Z-Comics + 批量节点 → 多格漫画批量生成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426464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完成ComfyUI环境搭建，安装ComfyUI Manager和3个核心插件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231136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搭建文生图工作流，使用不同提示词和参数生成10张图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035808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使用OpenPose ControlNet控制人物姿态，生成5张动作图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840480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搭建完整角色一致性工作流，生成同一角色在5个不同场景的图片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4645152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从零搭建包含IP-Adapter+LoRA+ControlNet+ADetailer的完整工作流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模块13 · ComfyUI工作流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952847" y="1508760"/>
            <a:ext cx="2286000" cy="2286000"/>
          </a:xfrm>
          <a:prstGeom prst="ellipse">
            <a:avLst/>
          </a:prstGeom>
          <a:solidFill>
            <a:srgbClr val="6C19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90007" y="1645920"/>
            <a:ext cx="2011680" cy="20116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90007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5F7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93192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0" y="4754880"/>
            <a:ext cx="701040" cy="38100"/>
          </a:xfrm>
          <a:prstGeom prst="rect">
            <a:avLst/>
          </a:prstGeom>
          <a:solidFill>
            <a:srgbClr val="C67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下一模块：工业化生产与团队协作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