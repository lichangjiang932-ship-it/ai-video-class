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8A4EF0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A855F7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C084FF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542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084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B87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B07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A86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A16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995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915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2A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08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模块四：即梦AI深度精通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10课时 · 从灵感到成片的完整AI创作链路闭环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C084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A855F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08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即梦AI平台全面认知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文生图：提示词编写与参数调节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图生图：风格迁移与画面精修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角色一致性技术</a:t>
            </a:r>
          </a:p>
        </p:txBody>
      </p:sp>
      <p:sp>
        <p:nvSpPr>
          <p:cNvPr id="53" name="Oval 52"/>
          <p:cNvSpPr/>
          <p:nvPr/>
        </p:nvSpPr>
        <p:spPr>
          <a:xfrm>
            <a:off x="731520" y="3664712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4220" y="3664712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" y="3639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场景资产库搭建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多风格切换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即梦AI+剪映生态整合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火山引擎API企业级接入</a:t>
            </a:r>
          </a:p>
        </p:txBody>
      </p:sp>
      <p:sp>
        <p:nvSpPr>
          <p:cNvPr id="65" name="Oval 64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高级技巧：多图参考与局部重绘</a:t>
            </a:r>
          </a:p>
        </p:txBody>
      </p:sp>
      <p:sp>
        <p:nvSpPr>
          <p:cNvPr id="68" name="Oval 67"/>
          <p:cNvSpPr/>
          <p:nvPr/>
        </p:nvSpPr>
        <p:spPr>
          <a:xfrm>
            <a:off x="6400800" y="3664712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13500" y="3664712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66560" y="3639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实战：一集漫剧全部关键帧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📊  📊 即梦AI核心数据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08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371600"/>
            <a:ext cx="328613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5812" y="1371600"/>
            <a:ext cx="328612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14424" y="1371600"/>
            <a:ext cx="328612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43036" y="1371600"/>
            <a:ext cx="328612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71648" y="1371600"/>
            <a:ext cx="328612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00260" y="1371600"/>
            <a:ext cx="328612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28872" y="1371600"/>
            <a:ext cx="328612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57484" y="1371600"/>
            <a:ext cx="32861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7250" y="914400"/>
            <a:ext cx="1828800" cy="1828800"/>
          </a:xfrm>
          <a:prstGeom prst="ellipse">
            <a:avLst/>
          </a:prstGeom>
          <a:solidFill>
            <a:srgbClr val="8A4EF0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1371600"/>
            <a:ext cx="328613" cy="508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5812" y="1371600"/>
            <a:ext cx="328612" cy="508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14424" y="1371600"/>
            <a:ext cx="328612" cy="508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43036" y="1371600"/>
            <a:ext cx="328612" cy="508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71648" y="1371600"/>
            <a:ext cx="328612" cy="508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00260" y="1371600"/>
            <a:ext cx="328612" cy="508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28872" y="1371600"/>
            <a:ext cx="328612" cy="508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57484" y="1371600"/>
            <a:ext cx="328612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8A4EF0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大功能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核心能力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文生图/图生图/文生视频/图生视频/智能编辑/角色参考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14700" y="1371600"/>
            <a:ext cx="328613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43312" y="1371600"/>
            <a:ext cx="328612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71924" y="1371600"/>
            <a:ext cx="328612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00536" y="1371600"/>
            <a:ext cx="328612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629148" y="1371600"/>
            <a:ext cx="328612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57760" y="1371600"/>
            <a:ext cx="328612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86372" y="1371600"/>
            <a:ext cx="328612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614984" y="1371600"/>
            <a:ext cx="32861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714750" y="914400"/>
            <a:ext cx="1828800" cy="1828800"/>
          </a:xfrm>
          <a:prstGeom prst="ellipse">
            <a:avLst/>
          </a:prstGeom>
          <a:solidFill>
            <a:srgbClr val="8A4EF0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14700" y="1371600"/>
            <a:ext cx="328613" cy="508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43312" y="1371600"/>
            <a:ext cx="328612" cy="508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71924" y="1371600"/>
            <a:ext cx="328612" cy="508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300536" y="1371600"/>
            <a:ext cx="328612" cy="508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29148" y="1371600"/>
            <a:ext cx="328612" cy="508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957760" y="1371600"/>
            <a:ext cx="328612" cy="508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286372" y="1371600"/>
            <a:ext cx="328612" cy="508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14984" y="1371600"/>
            <a:ext cx="328612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06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8A4EF0"/>
                </a:solidFill>
                <a:latin typeface="Microsoft YaHei"/>
              </a:defRPr>
            </a:pPr>
            <a:r>
              <a:t>128K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06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tokens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890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06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上下文理解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518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超长提示词精准解析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2200" y="1371600"/>
            <a:ext cx="328613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500812" y="1371600"/>
            <a:ext cx="328612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829424" y="1371600"/>
            <a:ext cx="328612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158036" y="1371600"/>
            <a:ext cx="328612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486648" y="1371600"/>
            <a:ext cx="328612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815260" y="1371600"/>
            <a:ext cx="328612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143872" y="1371600"/>
            <a:ext cx="328612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72484" y="1371600"/>
            <a:ext cx="32861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572250" y="914400"/>
            <a:ext cx="1828800" cy="1828800"/>
          </a:xfrm>
          <a:prstGeom prst="ellipse">
            <a:avLst/>
          </a:prstGeom>
          <a:solidFill>
            <a:srgbClr val="8A4EF0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1371600"/>
            <a:ext cx="328613" cy="508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500812" y="1371600"/>
            <a:ext cx="328612" cy="508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829424" y="1371600"/>
            <a:ext cx="328612" cy="508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158036" y="1371600"/>
            <a:ext cx="328612" cy="508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486648" y="1371600"/>
            <a:ext cx="328612" cy="508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815260" y="1371600"/>
            <a:ext cx="328612" cy="508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143872" y="1371600"/>
            <a:ext cx="328612" cy="508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72484" y="1371600"/>
            <a:ext cx="328612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63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8A4EF0"/>
                </a:solidFill>
                <a:latin typeface="Microsoft YaHei"/>
              </a:defRPr>
            </a:pPr>
            <a:r>
              <a:t>100+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63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465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63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预设风格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9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日漫/国漫/赛博朋克/古风等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029700" y="1371600"/>
            <a:ext cx="328613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358312" y="1371600"/>
            <a:ext cx="328612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686924" y="1371600"/>
            <a:ext cx="328612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015536" y="1371600"/>
            <a:ext cx="328612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344148" y="1371600"/>
            <a:ext cx="328612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672760" y="1371600"/>
            <a:ext cx="328612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001372" y="1371600"/>
            <a:ext cx="328612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329984" y="1371600"/>
            <a:ext cx="32861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9429750" y="914400"/>
            <a:ext cx="1828800" cy="1828800"/>
          </a:xfrm>
          <a:prstGeom prst="ellipse">
            <a:avLst/>
          </a:prstGeom>
          <a:solidFill>
            <a:srgbClr val="8A4EF0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029700" y="1371600"/>
            <a:ext cx="328613" cy="508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358312" y="1371600"/>
            <a:ext cx="328612" cy="508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686924" y="1371600"/>
            <a:ext cx="328612" cy="508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015536" y="1371600"/>
            <a:ext cx="328612" cy="508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344148" y="1371600"/>
            <a:ext cx="328612" cy="508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672760" y="1371600"/>
            <a:ext cx="328612" cy="508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001372" y="1371600"/>
            <a:ext cx="328612" cy="508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329984" y="1371600"/>
            <a:ext cx="328612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21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8A4EF0"/>
                </a:solidFill>
                <a:latin typeface="Microsoft YaHei"/>
              </a:defRPr>
            </a:pPr>
            <a:r>
              <a:t>2048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21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px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3040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121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最大分辨率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1668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支持高清大图生成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A855F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即梦AI核心能力矩阵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08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文生图：输入文字描述，AI生成图片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图生图：上传参考图，AI进行风格变换或内容修改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文生视频：输入文字描述，AI生成4-8秒短视频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图生视频：上传静态图，AI让它"动起来"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智能编辑：局部重绘、扩图、去背景等后期操作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角色参考：锁定角色外观，跨镜头保持一致性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8A4EF0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A855F7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免费额度充足 + 中文理解强 + 角色一致性 + 剪映生态整合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新用户每天有大量免费生成次数；对中文提示词的理解优于海外工具；提供"角色参考"功能解决AI漫剧最大痛点——同一角色跨镜头形象不统一；与剪映无缝衔接，生成内容可直接导入剪辑。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A855F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即梦AI完整链路闭环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08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1 创意构思：确定题材、受众、视觉风格（5分钟）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2 剧本撰写：AI辅助生成分集剧本（30分钟）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3 分镜设计：将剧本转化为分镜表（20分钟）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4 关键帧生成：逐镜头输入提示词生成画面（核心步骤）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5 视频合成：图生视频为每个镜头添加动态效果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6 配音配乐：剪映AI配音 + BGM + 音效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A855F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提示词编写七步法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08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① 确定主体：外貌特征（发型、发色、眼睛、服装、表情）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② 设定场景：室内/室外、具体地点、背景元素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③ 指定风格：日漫/国漫/赛博朋克/写实/油画等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④ 定义构图：镜头类型（特写/中景/全景）+ 角度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⑤ 设置光照：光源方向 + 光线类型 + 氛围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⑥ 添加细节：飘动头发、飞舞花瓣、材质质感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A855F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角色一致性解决方案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08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原理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效果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难度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角色参考功能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上传参考图锁定外貌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简单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固定提示词模板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完全一致的文字描述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简单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种子值固定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固定随机种子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图生图接力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基于已有角色图微调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多方案组合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以上方法综合使用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较复杂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A855F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场景资产库搭建方法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08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核心思路：为每个高频场景创建一张"母版图"，再衍生变体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母版图要求：全景视角、中性光线、无角色、细节丰富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变体类型：不同时间（白天/黄昏/深夜）、不同角度、不同天气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命名规范：[场景编号]-[场景名称]-[变体类型]-[版本号]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每个场景附带描述文档：核心元素、光线设定、氛围关键词、母版图参数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A855F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即梦AI + 剪映工作流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08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同属字节系：数据互通，账号打通，素材可直接流转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即梦负责"生"：AI生成关键帧画面和动态视频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剪映负责"剪"：拼接、配音、字幕、特效、转场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关键帧图片可添加Ken Burns效果（缓慢推进/左移）增加动态感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剪映AI配音支持多种声音，可用标点控制停顿和节奏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导出建议：1080p / 30fps / MP4 / H.264编码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A855F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局部重绘与多图参考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08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局部重绘（Inpainting）：只修改图片某一部分，其余保持不变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应用场景：修复手部变形、修改表情、更换服装、添加/移除元素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操作：绘制蒙版→输入重绘提示词→设置重绘强度（0.7-0.9）→生成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多图参考：同时上传2-4张参考图，AI综合多维度特征生成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参考图分配：角色参考→锁定外貌；场景参考→锁定环境；风格参考→锁定画风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A855F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注册即梦AI，用文生图生成5张不同风格的图片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为漫剧主角创建角色基准图，用角色参考功能生成5个不同场景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为3个核心场景生成母版图，每个衍生3个变体版本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用图生图将照片转为动漫风格，对比不同重绘强度效果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用局部重绘修复一张有手部缺陷的图片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完成一集漫剧全部13个关键帧画面的生成与精修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8A4EF0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下一模块：其他图像生成工具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