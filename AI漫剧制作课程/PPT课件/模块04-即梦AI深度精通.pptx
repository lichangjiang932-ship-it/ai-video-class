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8A4EF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2743200"/>
            <a:ext cx="5486400" cy="5486400"/>
          </a:xfrm>
          <a:prstGeom prst="ellipse">
            <a:avLst/>
          </a:prstGeom>
          <a:solidFill>
            <a:srgbClr val="A855F7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4572000"/>
            <a:ext cx="3657600" cy="3657600"/>
          </a:xfrm>
          <a:prstGeom prst="ellipse">
            <a:avLst/>
          </a:prstGeom>
          <a:solidFill>
            <a:srgbClr val="C084F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182880" cy="685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91440" cy="6858000"/>
          </a:xfrm>
          <a:prstGeom prst="rect">
            <a:avLst/>
          </a:prstGeom>
          <a:solidFill>
            <a:srgbClr val="542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016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031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774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8016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5448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288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774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288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1031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774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7315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657600"/>
            <a:ext cx="1828800" cy="329184"/>
          </a:xfrm>
          <a:prstGeom prst="round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657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084FF"/>
                </a:solidFill>
                <a:latin typeface="Microsoft YaHei"/>
              </a:defRPr>
            </a:pPr>
            <a:r>
              <a:t>M O D U L 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14800"/>
            <a:ext cx="285751" cy="381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2950" y="4114800"/>
            <a:ext cx="285750" cy="38100"/>
          </a:xfrm>
          <a:prstGeom prst="rect">
            <a:avLst/>
          </a:prstGeom>
          <a:solidFill>
            <a:srgbClr val="B87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8700" y="4114800"/>
            <a:ext cx="285750" cy="38100"/>
          </a:xfrm>
          <a:prstGeom prst="rect">
            <a:avLst/>
          </a:prstGeom>
          <a:solidFill>
            <a:srgbClr val="B07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14450" y="4114800"/>
            <a:ext cx="285750" cy="38100"/>
          </a:xfrm>
          <a:prstGeom prst="rect">
            <a:avLst/>
          </a:prstGeom>
          <a:solidFill>
            <a:srgbClr val="A86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00200" y="4114800"/>
            <a:ext cx="285750" cy="38100"/>
          </a:xfrm>
          <a:prstGeom prst="rect">
            <a:avLst/>
          </a:prstGeom>
          <a:solidFill>
            <a:srgbClr val="A16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85950" y="4114800"/>
            <a:ext cx="285750" cy="38100"/>
          </a:xfrm>
          <a:prstGeom prst="rect">
            <a:avLst/>
          </a:prstGeom>
          <a:solidFill>
            <a:srgbClr val="995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71700" y="4114800"/>
            <a:ext cx="285750" cy="38100"/>
          </a:xfrm>
          <a:prstGeom prst="rect">
            <a:avLst/>
          </a:prstGeom>
          <a:solidFill>
            <a:srgbClr val="915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57450" y="4114800"/>
            <a:ext cx="285750" cy="381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040" y="1097280"/>
            <a:ext cx="5486400" cy="457200"/>
          </a:xfrm>
          <a:prstGeom prst="roundRect">
            <a:avLst/>
          </a:prstGeom>
          <a:solidFill>
            <a:srgbClr val="2A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84FF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2011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Microsoft YaHei"/>
              </a:defRPr>
            </a:pPr>
            <a:r>
              <a:t>模块四：即梦AI深度精通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840480"/>
            <a:ext cx="400051" cy="381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5090" y="3840480"/>
            <a:ext cx="400050" cy="381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35140" y="3840480"/>
            <a:ext cx="400050" cy="381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35190" y="3840480"/>
            <a:ext cx="400050" cy="381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35240" y="3840480"/>
            <a:ext cx="400050" cy="381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35290" y="3840480"/>
            <a:ext cx="400050" cy="381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35340" y="3840480"/>
            <a:ext cx="400050" cy="381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35390" y="3840480"/>
            <a:ext cx="400050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42062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10课时 · 从灵感到成片的完整AI创作链路闭环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35040" y="5303520"/>
            <a:ext cx="5486400" cy="6400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A4EF0"/>
                </a:solidFill>
                <a:latin typeface="Microsoft YaHei"/>
              </a:defRPr>
            </a:pPr>
            <a:r>
              <a:t>124课时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609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438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A4EF0"/>
                </a:solidFill>
                <a:latin typeface="Microsoft YaHei"/>
              </a:defRPr>
            </a:pPr>
            <a:r>
              <a:t>17模块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325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154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A4EF0"/>
                </a:solidFill>
                <a:latin typeface="Microsoft YaHei"/>
              </a:defRPr>
            </a:pPr>
            <a:r>
              <a:t>8-16周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041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870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A4EF0"/>
                </a:solidFill>
                <a:latin typeface="Microsoft YaHei"/>
              </a:defRPr>
            </a:pPr>
            <a:r>
              <a:t>全流程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80" y="0"/>
            <a:ext cx="1036015" cy="381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978640" y="0"/>
            <a:ext cx="38100" cy="73152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521440" y="274320"/>
            <a:ext cx="137160" cy="137160"/>
          </a:xfrm>
          <a:prstGeom prst="ellipse">
            <a:avLst/>
          </a:prstGeom>
          <a:solidFill>
            <a:srgbClr val="C084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8A4EF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A855F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§  本节内容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08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31520" y="1397000"/>
            <a:ext cx="274320" cy="274320"/>
          </a:xfrm>
          <a:prstGeom prst="ellipse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22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即梦AI平台全面认知</a:t>
            </a:r>
          </a:p>
        </p:txBody>
      </p:sp>
      <p:sp>
        <p:nvSpPr>
          <p:cNvPr id="44" name="Oval 43"/>
          <p:cNvSpPr/>
          <p:nvPr/>
        </p:nvSpPr>
        <p:spPr>
          <a:xfrm>
            <a:off x="731520" y="1963928"/>
            <a:ext cx="274320" cy="274320"/>
          </a:xfrm>
          <a:prstGeom prst="ellipse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422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文生图：提示词编写与参数调节</a:t>
            </a:r>
          </a:p>
        </p:txBody>
      </p:sp>
      <p:sp>
        <p:nvSpPr>
          <p:cNvPr id="47" name="Oval 46"/>
          <p:cNvSpPr/>
          <p:nvPr/>
        </p:nvSpPr>
        <p:spPr>
          <a:xfrm>
            <a:off x="731520" y="2530856"/>
            <a:ext cx="274320" cy="274320"/>
          </a:xfrm>
          <a:prstGeom prst="ellipse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422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图生图：风格迁移与画面精修</a:t>
            </a:r>
          </a:p>
        </p:txBody>
      </p:sp>
      <p:sp>
        <p:nvSpPr>
          <p:cNvPr id="50" name="Oval 49"/>
          <p:cNvSpPr/>
          <p:nvPr/>
        </p:nvSpPr>
        <p:spPr>
          <a:xfrm>
            <a:off x="731520" y="3097784"/>
            <a:ext cx="274320" cy="274320"/>
          </a:xfrm>
          <a:prstGeom prst="ellipse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422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角色一致性技术</a:t>
            </a:r>
          </a:p>
        </p:txBody>
      </p:sp>
      <p:sp>
        <p:nvSpPr>
          <p:cNvPr id="53" name="Oval 52"/>
          <p:cNvSpPr/>
          <p:nvPr/>
        </p:nvSpPr>
        <p:spPr>
          <a:xfrm>
            <a:off x="731520" y="3664712"/>
            <a:ext cx="274320" cy="274320"/>
          </a:xfrm>
          <a:prstGeom prst="ellipse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4220" y="366471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" y="363931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场景资产库搭建</a:t>
            </a:r>
          </a:p>
        </p:txBody>
      </p:sp>
      <p:sp>
        <p:nvSpPr>
          <p:cNvPr id="56" name="Oval 55"/>
          <p:cNvSpPr/>
          <p:nvPr/>
        </p:nvSpPr>
        <p:spPr>
          <a:xfrm>
            <a:off x="6400800" y="1397000"/>
            <a:ext cx="274320" cy="274320"/>
          </a:xfrm>
          <a:prstGeom prst="ellipse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1350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多风格切换</a:t>
            </a:r>
          </a:p>
        </p:txBody>
      </p:sp>
      <p:sp>
        <p:nvSpPr>
          <p:cNvPr id="59" name="Oval 58"/>
          <p:cNvSpPr/>
          <p:nvPr/>
        </p:nvSpPr>
        <p:spPr>
          <a:xfrm>
            <a:off x="6400800" y="1963928"/>
            <a:ext cx="274320" cy="274320"/>
          </a:xfrm>
          <a:prstGeom prst="ellipse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1350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即梦AI+剪映生态整合</a:t>
            </a:r>
          </a:p>
        </p:txBody>
      </p:sp>
      <p:sp>
        <p:nvSpPr>
          <p:cNvPr id="62" name="Oval 61"/>
          <p:cNvSpPr/>
          <p:nvPr/>
        </p:nvSpPr>
        <p:spPr>
          <a:xfrm>
            <a:off x="6400800" y="2530856"/>
            <a:ext cx="274320" cy="274320"/>
          </a:xfrm>
          <a:prstGeom prst="ellipse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1350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6656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火山引擎API企业级接入</a:t>
            </a:r>
          </a:p>
        </p:txBody>
      </p:sp>
      <p:sp>
        <p:nvSpPr>
          <p:cNvPr id="65" name="Oval 64"/>
          <p:cNvSpPr/>
          <p:nvPr/>
        </p:nvSpPr>
        <p:spPr>
          <a:xfrm>
            <a:off x="6400800" y="3097784"/>
            <a:ext cx="274320" cy="274320"/>
          </a:xfrm>
          <a:prstGeom prst="ellipse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1350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6656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高级技巧：多图参考与局部重绘</a:t>
            </a:r>
          </a:p>
        </p:txBody>
      </p:sp>
      <p:sp>
        <p:nvSpPr>
          <p:cNvPr id="68" name="Oval 67"/>
          <p:cNvSpPr/>
          <p:nvPr/>
        </p:nvSpPr>
        <p:spPr>
          <a:xfrm>
            <a:off x="6400800" y="3664712"/>
            <a:ext cx="274320" cy="274320"/>
          </a:xfrm>
          <a:prstGeom prst="ellipse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13500" y="366471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66560" y="363931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实战：一集漫剧全部关键帧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模块04 · 即梦AI深度精通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▤  ▤ 即梦AI核心数据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08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1371600"/>
            <a:ext cx="262890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371600"/>
            <a:ext cx="328613" cy="381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5812" y="1371600"/>
            <a:ext cx="328612" cy="381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14424" y="1371600"/>
            <a:ext cx="328612" cy="381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443036" y="1371600"/>
            <a:ext cx="328612" cy="381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71648" y="1371600"/>
            <a:ext cx="328612" cy="381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00260" y="1371600"/>
            <a:ext cx="328612" cy="381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28872" y="1371600"/>
            <a:ext cx="328612" cy="381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57484" y="1371600"/>
            <a:ext cx="328612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7250" y="914400"/>
            <a:ext cx="1828800" cy="1828800"/>
          </a:xfrm>
          <a:prstGeom prst="ellipse">
            <a:avLst/>
          </a:prstGeom>
          <a:solidFill>
            <a:srgbClr val="8A4EF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1371600"/>
            <a:ext cx="328613" cy="508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5812" y="1371600"/>
            <a:ext cx="328612" cy="508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424" y="1371600"/>
            <a:ext cx="328612" cy="508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43036" y="1371600"/>
            <a:ext cx="328612" cy="508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71648" y="1371600"/>
            <a:ext cx="328612" cy="508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100260" y="1371600"/>
            <a:ext cx="328612" cy="508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428872" y="1371600"/>
            <a:ext cx="328612" cy="508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57484" y="1371600"/>
            <a:ext cx="328612" cy="50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1737360"/>
            <a:ext cx="24460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8A4EF0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292608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E7082"/>
                </a:solidFill>
                <a:latin typeface="Microsoft YaHei"/>
              </a:defRPr>
            </a:pPr>
            <a:r>
              <a:t>大功能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3337560"/>
            <a:ext cx="2080260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52044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5"/>
                </a:solidFill>
                <a:latin typeface="Microsoft YaHei"/>
              </a:defRPr>
            </a:pPr>
            <a:r>
              <a:t>核心能力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023360"/>
            <a:ext cx="23545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文生图/图生图/文生视频/图生视频/智能编辑/角色参考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14700" y="1371600"/>
            <a:ext cx="262890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314700" y="1371600"/>
            <a:ext cx="328613" cy="381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43312" y="1371600"/>
            <a:ext cx="328612" cy="381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971924" y="1371600"/>
            <a:ext cx="328612" cy="381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00536" y="1371600"/>
            <a:ext cx="328612" cy="381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629148" y="1371600"/>
            <a:ext cx="328612" cy="381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57760" y="1371600"/>
            <a:ext cx="328612" cy="381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286372" y="1371600"/>
            <a:ext cx="328612" cy="381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14984" y="1371600"/>
            <a:ext cx="328612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714750" y="914400"/>
            <a:ext cx="1828800" cy="1828800"/>
          </a:xfrm>
          <a:prstGeom prst="ellipse">
            <a:avLst/>
          </a:prstGeom>
          <a:solidFill>
            <a:srgbClr val="8A4EF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314700" y="1371600"/>
            <a:ext cx="328613" cy="508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43312" y="1371600"/>
            <a:ext cx="328612" cy="508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971924" y="1371600"/>
            <a:ext cx="328612" cy="508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300536" y="1371600"/>
            <a:ext cx="328612" cy="508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629148" y="1371600"/>
            <a:ext cx="328612" cy="508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57760" y="1371600"/>
            <a:ext cx="328612" cy="508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86372" y="1371600"/>
            <a:ext cx="328612" cy="508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614984" y="1371600"/>
            <a:ext cx="328612" cy="50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06140" y="1737360"/>
            <a:ext cx="24460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8A4EF0"/>
                </a:solidFill>
                <a:latin typeface="Microsoft YaHei"/>
              </a:defRPr>
            </a:pPr>
            <a:r>
              <a:t>128K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06140" y="292608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E7082"/>
                </a:solidFill>
                <a:latin typeface="Microsoft YaHei"/>
              </a:defRPr>
            </a:pPr>
            <a:r>
              <a:t>tokens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89020" y="3337560"/>
            <a:ext cx="2080260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06140" y="352044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5"/>
                </a:solidFill>
                <a:latin typeface="Microsoft YaHei"/>
              </a:defRPr>
            </a:pPr>
            <a:r>
              <a:t>上下文理解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51860" y="4023360"/>
            <a:ext cx="23545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超长提示词精准解析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72200" y="1371600"/>
            <a:ext cx="262890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172200" y="1371600"/>
            <a:ext cx="328613" cy="381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500812" y="1371600"/>
            <a:ext cx="328612" cy="381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829424" y="1371600"/>
            <a:ext cx="328612" cy="381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158036" y="1371600"/>
            <a:ext cx="328612" cy="381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486648" y="1371600"/>
            <a:ext cx="328612" cy="381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815260" y="1371600"/>
            <a:ext cx="328612" cy="381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143872" y="1371600"/>
            <a:ext cx="328612" cy="381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472484" y="1371600"/>
            <a:ext cx="328612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572250" y="914400"/>
            <a:ext cx="1828800" cy="1828800"/>
          </a:xfrm>
          <a:prstGeom prst="ellipse">
            <a:avLst/>
          </a:prstGeom>
          <a:solidFill>
            <a:srgbClr val="8A4EF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72200" y="1371600"/>
            <a:ext cx="328613" cy="508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00812" y="1371600"/>
            <a:ext cx="328612" cy="508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29424" y="1371600"/>
            <a:ext cx="328612" cy="508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158036" y="1371600"/>
            <a:ext cx="328612" cy="508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486648" y="1371600"/>
            <a:ext cx="328612" cy="508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815260" y="1371600"/>
            <a:ext cx="328612" cy="508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143872" y="1371600"/>
            <a:ext cx="328612" cy="508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72484" y="1371600"/>
            <a:ext cx="328612" cy="50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63640" y="1737360"/>
            <a:ext cx="24460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8A4EF0"/>
                </a:solidFill>
                <a:latin typeface="Microsoft YaHei"/>
              </a:defRPr>
            </a:pPr>
            <a:r>
              <a:t>100+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63640" y="292608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E7082"/>
                </a:solidFill>
                <a:latin typeface="Microsoft YaHei"/>
              </a:defRPr>
            </a:pPr>
            <a:r>
              <a:t>种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46520" y="3337560"/>
            <a:ext cx="2080260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263640" y="352044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5"/>
                </a:solidFill>
                <a:latin typeface="Microsoft YaHei"/>
              </a:defRPr>
            </a:pPr>
            <a:r>
              <a:t>预设风格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09360" y="4023360"/>
            <a:ext cx="23545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日漫/国漫/赛博朋克/古风等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029700" y="1371600"/>
            <a:ext cx="262890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029700" y="1371600"/>
            <a:ext cx="328613" cy="381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58312" y="1371600"/>
            <a:ext cx="328612" cy="381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686924" y="1371600"/>
            <a:ext cx="328612" cy="381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015536" y="1371600"/>
            <a:ext cx="328612" cy="381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344148" y="1371600"/>
            <a:ext cx="328612" cy="381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672760" y="1371600"/>
            <a:ext cx="328612" cy="381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1001372" y="1371600"/>
            <a:ext cx="328612" cy="381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1329984" y="1371600"/>
            <a:ext cx="328612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429750" y="914400"/>
            <a:ext cx="1828800" cy="1828800"/>
          </a:xfrm>
          <a:prstGeom prst="ellipse">
            <a:avLst/>
          </a:prstGeom>
          <a:solidFill>
            <a:srgbClr val="8A4EF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029700" y="1371600"/>
            <a:ext cx="328613" cy="508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358312" y="1371600"/>
            <a:ext cx="328612" cy="508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686924" y="1371600"/>
            <a:ext cx="328612" cy="508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015536" y="1371600"/>
            <a:ext cx="328612" cy="508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344148" y="1371600"/>
            <a:ext cx="328612" cy="508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672760" y="1371600"/>
            <a:ext cx="328612" cy="508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1001372" y="1371600"/>
            <a:ext cx="328612" cy="508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1329984" y="1371600"/>
            <a:ext cx="328612" cy="50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121140" y="1737360"/>
            <a:ext cx="24460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8A4EF0"/>
                </a:solidFill>
                <a:latin typeface="Microsoft YaHei"/>
              </a:defRPr>
            </a:pPr>
            <a:r>
              <a:t>2048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121140" y="292608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E7082"/>
                </a:solidFill>
                <a:latin typeface="Microsoft YaHei"/>
              </a:defRPr>
            </a:pPr>
            <a:r>
              <a:t>px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304020" y="3337560"/>
            <a:ext cx="2080260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121140" y="352044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5"/>
                </a:solidFill>
                <a:latin typeface="Microsoft YaHei"/>
              </a:defRPr>
            </a:pPr>
            <a:r>
              <a:t>最大分辨率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166860" y="4023360"/>
            <a:ext cx="23545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支持高清大图生成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模块04 · 即梦AI深度精通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8A4EF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A855F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即梦AI核心能力矩阵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08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文生图：输入文字描述，AI生成图片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图生图：上传参考图，AI进行风格变换或内容修改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文生视频：输入文字描述，AI生成4-8秒短视频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图生视频：上传静态图，AI让它"动起来"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智能编辑：局部重绘、扩图、去背景等后期操作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角色参考：锁定角色外观，跨镜头保持一致性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模块04 · 即梦AI深度精通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0"/>
            <a:ext cx="6400800" cy="6400800"/>
          </a:xfrm>
          <a:prstGeom prst="ellipse">
            <a:avLst/>
          </a:prstGeom>
          <a:solidFill>
            <a:srgbClr val="8A4EF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2743200"/>
            <a:ext cx="4572000" cy="4572000"/>
          </a:xfrm>
          <a:prstGeom prst="ellipse">
            <a:avLst/>
          </a:prstGeom>
          <a:solidFill>
            <a:srgbClr val="A855F7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720091" cy="381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20490" y="1097280"/>
            <a:ext cx="720090" cy="381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40580" y="1097280"/>
            <a:ext cx="720090" cy="381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60670" y="1097280"/>
            <a:ext cx="720090" cy="381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097280"/>
            <a:ext cx="720090" cy="381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00850" y="1097280"/>
            <a:ext cx="720090" cy="381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20940" y="1097280"/>
            <a:ext cx="720090" cy="381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41030" y="1097280"/>
            <a:ext cx="720090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6459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免费额度充足 + 中文理解强 + 角色一致性 + 剪映生态整合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931920"/>
            <a:ext cx="262891" cy="254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3931920"/>
            <a:ext cx="262890" cy="254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3931920"/>
            <a:ext cx="262890" cy="254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3931920"/>
            <a:ext cx="262890" cy="254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931920"/>
            <a:ext cx="262890" cy="254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3931920"/>
            <a:ext cx="262890" cy="254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3931920"/>
            <a:ext cx="262890" cy="254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3931920"/>
            <a:ext cx="262890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97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新用户每天有大量免费生成次数；对中文提示词的理解优于海外工具；提供"角色参考"功能解决AI漫剧最大痛点——同一角色跨镜头形象不统一；与剪映无缝衔接，生成内容可直接导入剪辑。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模块04 · 即梦AI深度精通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8A4EF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A855F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即梦AI完整链路闭环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08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1 创意构思：确定题材、受众、视觉风格（5分钟）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1371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221992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8378" y="2221992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5236" y="2221992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2094" y="2221992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8952" y="2221992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5810" y="2221992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2668" y="2221992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9526" y="2221992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" y="2148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2 剧本撰写：AI辅助生成分集剧本（30分钟）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2148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2999232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8378" y="2999232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45236" y="2999232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52094" y="2999232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58952" y="2999232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65810" y="2999232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72668" y="2999232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9526" y="2999232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2688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3 分镜设计：将剧本转化为分镜表（20分钟）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" y="3776472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8378" y="3776472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45236" y="3776472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52094" y="3776472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58952" y="3776472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5810" y="3776472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72668" y="3776472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79526" y="3776472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2688" y="3703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4 关键帧生成：逐镜头输入提示词生成画面（核心步骤）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3703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1520" y="4553712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8378" y="4553712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5236" y="4553712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2094" y="4553712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8952" y="4553712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5810" y="4553712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2668" y="4553712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9526" y="4553712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32688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5 视频合成：图生视频为每个镜头添加动态效果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1520" y="4480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31520" y="5330952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38378" y="5330952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45236" y="5330952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52094" y="5330952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58952" y="5330952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65810" y="5330952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72668" y="5330952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79526" y="5330952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32688" y="5257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6 配音配乐：剪映AI配音 + BGM + 音效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31520" y="5257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模块04 · 即梦AI深度精通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8A4EF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A855F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提示词编写七步法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08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① 确定主体：外貌特征（发型、发色、眼睛、服装、表情）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② 设定场景：室内/室外、具体地点、背景元素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③ 指定风格：日漫/国漫/赛博朋克/写实/油画等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④ 定义构图：镜头类型（特写/中景/全景）+ 角度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⑤ 设置光照：光源方向 + 光线类型 + 氛围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⑥ 添加细节：飘动头发、飞舞花瓣、材质质感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模块04 · 即梦AI深度精通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8A4EF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A855F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角色一致性解决方案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08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方案</a:t>
                      </a:r>
                    </a:p>
                  </a:txBody>
                  <a:tcPr anchor="ctr">
                    <a:solidFill>
                      <a:srgbClr val="8A4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原理</a:t>
                      </a:r>
                    </a:p>
                  </a:txBody>
                  <a:tcPr anchor="ctr">
                    <a:solidFill>
                      <a:srgbClr val="8A4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效果</a:t>
                      </a:r>
                    </a:p>
                  </a:txBody>
                  <a:tcPr anchor="ctr">
                    <a:solidFill>
                      <a:srgbClr val="8A4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难度</a:t>
                      </a:r>
                    </a:p>
                  </a:txBody>
                  <a:tcPr anchor="ctr">
                    <a:solidFill>
                      <a:srgbClr val="8A4E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角色参考功能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上传参考图锁定外貌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简单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固定提示词模板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完全一致的文字描述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简单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种子值固定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固定随机种子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★★☆☆☆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中等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图生图接力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基于已有角色图微调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中等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多方案组合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以上方法综合使用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较复杂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模块04 · 即梦AI深度精通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8A4EF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A855F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场景资产库搭建方法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08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核心思路：为每个高频场景创建一张"母版图"，再衍生变体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母版图要求：全景视角、中性光线、无角色、细节丰富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变体类型：不同时间（白天/黄昏/深夜）、不同角度、不同天气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命名规范：[场景编号]-[场景名称]-[变体类型]-[版本号]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每个场景附带描述文档：核心元素、光线设定、氛围关键词、母版图参数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模块04 · 即梦AI深度精通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8A4EF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A855F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即梦AI + 剪映工作流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08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同属字节系：数据互通，账号打通，素材可直接流转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即梦负责"生"：AI生成关键帧画面和动态视频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剪映负责"剪"：拼接、配音、字幕、特效、转场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关键帧图片可添加Ken Burns效果（缓慢推进/左移）增加动态感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剪映AI配音支持多种声音，可用标点控制停顿和节奏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导出建议：1080p / 30fps / MP4 / H.264编码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模块04 · 即梦AI深度精通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8A4EF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A855F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局部重绘与多图参考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08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局部重绘（Inpainting）：只修改图片某一部分，其余保持不变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应用场景：修复手部变形、修改表情、更换服装、添加/移除元素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操作：绘制蒙版→输入重绘提示词→设置重绘强度（0.7-0.9）→生成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多图参考：同时上传2-4张参考图，AI综合多维度特征生成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参考图分配：角色参考→锁定外貌；场景参考→锁定环境；风格参考→锁定画风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模块04 · 即梦AI深度精通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8A4EF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A855F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◆  本模块实操任务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14447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14447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8096" y="14447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" y="14447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1248" y="14447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7824" y="14447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14447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0976" y="14447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7552" y="14447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注册即梦AI，用文生图生成5张不同风格的图片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222199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1520" y="222199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8096" y="222199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672" y="222199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1248" y="222199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7824" y="222199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400" y="222199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50976" y="222199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7552" y="222199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887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45920" y="2148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为漫剧主角创建角色基准图，用角色参考功能生成5个不同场景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299923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" y="299923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68096" y="299923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4672" y="299923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1248" y="299923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" y="299923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4400" y="299923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50976" y="299923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7552" y="299923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887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45920" y="2926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为3个核心场景生成母版图，每个衍生3个变体版本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" y="377647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31520" y="377647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8096" y="377647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4672" y="377647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1248" y="377647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77824" y="377647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4400" y="377647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50976" y="377647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87552" y="377647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8872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45920" y="3703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用图生图将照片转为动漫风格，对比不同重绘强度效果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" y="455371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" y="455371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8096" y="455371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4672" y="455371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1248" y="455371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77824" y="455371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14400" y="455371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50976" y="455371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87552" y="455371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8872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45920" y="4480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用局部重绘修复一张有手部缺陷的图片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31520" y="53309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31520" y="53309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68096" y="53309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04672" y="53309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41248" y="53309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7824" y="53309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14400" y="53309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50976" y="53309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87552" y="53309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88720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645920" y="5257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完成一集漫剧全部13个关键帧画面的生成与精修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模块04 · 即梦AI深度精通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8A4EF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1371600"/>
            <a:ext cx="491491" cy="381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06290" y="1371600"/>
            <a:ext cx="491490" cy="381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97780" y="1371600"/>
            <a:ext cx="491490" cy="381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9270" y="1371600"/>
            <a:ext cx="491490" cy="381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1371600"/>
            <a:ext cx="491490" cy="381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72250" y="1371600"/>
            <a:ext cx="491490" cy="381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63740" y="1371600"/>
            <a:ext cx="491490" cy="381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55230" y="1371600"/>
            <a:ext cx="491490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8A4EF0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32004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本模块结束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023360"/>
            <a:ext cx="262891" cy="254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4023360"/>
            <a:ext cx="262890" cy="254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4023360"/>
            <a:ext cx="262890" cy="254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4023360"/>
            <a:ext cx="262890" cy="254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4023360"/>
            <a:ext cx="262890" cy="254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4023360"/>
            <a:ext cx="262890" cy="254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4023360"/>
            <a:ext cx="262890" cy="254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4023360"/>
            <a:ext cx="262890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8BAC8"/>
                </a:solidFill>
                <a:latin typeface="Microsoft YaHei"/>
              </a:defRPr>
            </a:pPr>
            <a:r>
              <a:t>下一模块：其他图像生成工具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7082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