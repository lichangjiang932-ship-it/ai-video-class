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32004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D4FF"/>
                </a:solidFill>
                <a:latin typeface="Microsoft YaHei"/>
              </a:defRPr>
            </a:pPr>
            <a:r>
              <a:t>AI漫剧制作全流程课程 · 2026版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  <a:latin typeface="Microsoft YaHei"/>
              </a:defRPr>
            </a:pPr>
            <a:r>
              <a:t>模块四：即梦AI深度精通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3200400"/>
            <a:ext cx="2743200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356616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B0BCD4"/>
                </a:solidFill>
                <a:latin typeface="Microsoft YaHei"/>
              </a:defRPr>
            </a:pPr>
            <a:r>
              <a:t>10课时 · 从灵感到成片的完整AI创作链路闭环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4114800"/>
            <a:ext cx="36576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0" b="1">
                <a:solidFill>
                  <a:srgbClr val="1A253C"/>
                </a:solidFill>
                <a:latin typeface="Microsoft YaHei"/>
              </a:defRPr>
            </a:pPr>
            <a:r>
              <a:t>04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217920"/>
            <a:ext cx="12191695" cy="2540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63093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B7B9E"/>
                </a:solidFill>
                <a:latin typeface="Microsoft YaHei"/>
              </a:defRPr>
            </a:pPr>
            <a:r>
              <a:t>124课时 · 17个模块 · 从零基础到独立制作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Microsoft YaHei"/>
              </a:defRPr>
            </a:pPr>
            <a:r>
              <a:t>📋 本节内容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31520" y="1371600"/>
            <a:ext cx="457200" cy="45720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13716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即梦AI平台全面认知</a:t>
            </a:r>
          </a:p>
        </p:txBody>
      </p:sp>
      <p:sp>
        <p:nvSpPr>
          <p:cNvPr id="6" name="Oval 5"/>
          <p:cNvSpPr/>
          <p:nvPr/>
        </p:nvSpPr>
        <p:spPr>
          <a:xfrm>
            <a:off x="731520" y="2011680"/>
            <a:ext cx="457200" cy="45720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0116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文生图：提示词编写与参数调节</a:t>
            </a:r>
          </a:p>
        </p:txBody>
      </p:sp>
      <p:sp>
        <p:nvSpPr>
          <p:cNvPr id="8" name="Oval 7"/>
          <p:cNvSpPr/>
          <p:nvPr/>
        </p:nvSpPr>
        <p:spPr>
          <a:xfrm>
            <a:off x="731520" y="2651760"/>
            <a:ext cx="457200" cy="45720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26517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图生图：风格迁移与画面精修</a:t>
            </a:r>
          </a:p>
        </p:txBody>
      </p:sp>
      <p:sp>
        <p:nvSpPr>
          <p:cNvPr id="10" name="Oval 9"/>
          <p:cNvSpPr/>
          <p:nvPr/>
        </p:nvSpPr>
        <p:spPr>
          <a:xfrm>
            <a:off x="731520" y="3291839"/>
            <a:ext cx="457200" cy="45720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3291839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角色一致性技术</a:t>
            </a:r>
          </a:p>
        </p:txBody>
      </p:sp>
      <p:sp>
        <p:nvSpPr>
          <p:cNvPr id="12" name="Oval 11"/>
          <p:cNvSpPr/>
          <p:nvPr/>
        </p:nvSpPr>
        <p:spPr>
          <a:xfrm>
            <a:off x="731520" y="3931920"/>
            <a:ext cx="457200" cy="45720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39319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场景资产库搭建</a:t>
            </a:r>
          </a:p>
        </p:txBody>
      </p:sp>
      <p:sp>
        <p:nvSpPr>
          <p:cNvPr id="14" name="Oval 13"/>
          <p:cNvSpPr/>
          <p:nvPr/>
        </p:nvSpPr>
        <p:spPr>
          <a:xfrm>
            <a:off x="6217920" y="1371600"/>
            <a:ext cx="457200" cy="45720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0" y="13716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多风格切换</a:t>
            </a:r>
          </a:p>
        </p:txBody>
      </p:sp>
      <p:sp>
        <p:nvSpPr>
          <p:cNvPr id="16" name="Oval 15"/>
          <p:cNvSpPr/>
          <p:nvPr/>
        </p:nvSpPr>
        <p:spPr>
          <a:xfrm>
            <a:off x="6217920" y="2011680"/>
            <a:ext cx="457200" cy="45720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0" y="20116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即梦AI+剪映生态整合</a:t>
            </a:r>
          </a:p>
        </p:txBody>
      </p:sp>
      <p:sp>
        <p:nvSpPr>
          <p:cNvPr id="18" name="Oval 17"/>
          <p:cNvSpPr/>
          <p:nvPr/>
        </p:nvSpPr>
        <p:spPr>
          <a:xfrm>
            <a:off x="6217920" y="2651760"/>
            <a:ext cx="457200" cy="45720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0" y="26517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火山引擎API企业级接入</a:t>
            </a:r>
          </a:p>
        </p:txBody>
      </p:sp>
      <p:sp>
        <p:nvSpPr>
          <p:cNvPr id="20" name="Oval 19"/>
          <p:cNvSpPr/>
          <p:nvPr/>
        </p:nvSpPr>
        <p:spPr>
          <a:xfrm>
            <a:off x="6217920" y="3291839"/>
            <a:ext cx="457200" cy="45720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0" y="3291839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高级技巧：多图参考与局部重绘</a:t>
            </a:r>
          </a:p>
        </p:txBody>
      </p:sp>
      <p:sp>
        <p:nvSpPr>
          <p:cNvPr id="22" name="Oval 21"/>
          <p:cNvSpPr/>
          <p:nvPr/>
        </p:nvSpPr>
        <p:spPr>
          <a:xfrm>
            <a:off x="6217920" y="3931920"/>
            <a:ext cx="457200" cy="45720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10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0" y="39319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实战：一集漫剧全部关键帧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492240"/>
            <a:ext cx="12191695" cy="2540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E"/>
                </a:solidFill>
                <a:latin typeface="Microsoft YaHei"/>
              </a:defRPr>
            </a:pPr>
            <a:r>
              <a:t>模块04：即梦AI深度精通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E"/>
                </a:solidFill>
                <a:latin typeface="Microsoft YaHei"/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即梦AI核心能力矩阵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435100"/>
            <a:ext cx="101600" cy="1016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371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文生图：输入文字描述，AI生成图片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212340"/>
            <a:ext cx="101600" cy="1016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21488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图生图：上传参考图，AI进行风格变换或内容修改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989580"/>
            <a:ext cx="101600" cy="1016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29260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文生视频：输入文字描述，AI生成4-8秒短视频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3766820"/>
            <a:ext cx="101600" cy="1016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3703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图生视频：上传静态图，AI让它"动起来"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4544060"/>
            <a:ext cx="101600" cy="1016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44805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智能编辑：局部重绘、扩图、去背景等后期操作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5321300"/>
            <a:ext cx="101600" cy="1016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52578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角色参考：锁定角色外观，跨镜头保持一致性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492240"/>
            <a:ext cx="12191695" cy="2540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E"/>
                </a:solidFill>
                <a:latin typeface="Microsoft YaHei"/>
              </a:defRPr>
            </a:pPr>
            <a:r>
              <a:t>模块04：即梦AI深度精通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E"/>
                </a:solidFill>
                <a:latin typeface="Microsoft YaHei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为什么漫剧制作选即梦AI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914400" y="1828800"/>
            <a:ext cx="10058400" cy="2286000"/>
          </a:xfrm>
          <a:prstGeom prst="roundRect">
            <a:avLst/>
          </a:prstGeom>
          <a:solidFill>
            <a:srgbClr val="1A25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14400" y="1828800"/>
            <a:ext cx="76200" cy="2286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210312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59E0B"/>
                </a:solidFill>
                <a:latin typeface="Microsoft YaHei"/>
              </a:defRPr>
            </a:pPr>
            <a:r>
              <a:t>💡 核心要点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65176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Microsoft YaHei"/>
              </a:defRPr>
            </a:pPr>
            <a:r>
              <a:t>免费额度充足 + 中文理解强 + 角色一致性 + 剪映生态整合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5720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0BCD4"/>
                </a:solidFill>
                <a:latin typeface="Microsoft YaHei"/>
              </a:defRPr>
            </a:pPr>
            <a:r>
              <a:t>新用户每天有大量免费生成次数；对中文提示词的理解优于海外工具；提供"角色参考"功能解决AI漫剧最大痛点——同一角色跨镜头形象不统一；与剪映无缝衔接，生成内容可直接导入剪辑。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492240"/>
            <a:ext cx="12191695" cy="2540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E"/>
                </a:solidFill>
                <a:latin typeface="Microsoft YaHei"/>
              </a:defRPr>
            </a:pPr>
            <a:r>
              <a:t>模块04：即梦AI深度精通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E"/>
                </a:solidFill>
                <a:latin typeface="Microsoft YaHei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即梦AI完整链路闭环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31520" y="1371600"/>
            <a:ext cx="457200" cy="45720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5" name="Rectangle 4"/>
          <p:cNvSpPr/>
          <p:nvPr/>
        </p:nvSpPr>
        <p:spPr>
          <a:xfrm>
            <a:off x="941832" y="1828800"/>
            <a:ext cx="25400" cy="45720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63040" y="1371600"/>
            <a:ext cx="9601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Step 1 创意构思：确定题材、受众、视觉风格（5分钟）</a:t>
            </a:r>
          </a:p>
        </p:txBody>
      </p:sp>
      <p:sp>
        <p:nvSpPr>
          <p:cNvPr id="7" name="Oval 6"/>
          <p:cNvSpPr/>
          <p:nvPr/>
        </p:nvSpPr>
        <p:spPr>
          <a:xfrm>
            <a:off x="731520" y="2286000"/>
            <a:ext cx="457200" cy="45720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8" name="Rectangle 7"/>
          <p:cNvSpPr/>
          <p:nvPr/>
        </p:nvSpPr>
        <p:spPr>
          <a:xfrm>
            <a:off x="941832" y="2743200"/>
            <a:ext cx="25400" cy="45720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63040" y="2286000"/>
            <a:ext cx="9601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Step 2 剧本撰写：AI辅助生成分集剧本（30分钟）</a:t>
            </a:r>
          </a:p>
        </p:txBody>
      </p:sp>
      <p:sp>
        <p:nvSpPr>
          <p:cNvPr id="10" name="Oval 9"/>
          <p:cNvSpPr/>
          <p:nvPr/>
        </p:nvSpPr>
        <p:spPr>
          <a:xfrm>
            <a:off x="731520" y="3200400"/>
            <a:ext cx="457200" cy="457200"/>
          </a:xfrm>
          <a:prstGeom prst="ellipse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41832" y="3657600"/>
            <a:ext cx="25400" cy="45720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63040" y="3200400"/>
            <a:ext cx="9601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Step 3 分镜设计：将剧本转化为分镜表（20分钟）</a:t>
            </a:r>
          </a:p>
        </p:txBody>
      </p:sp>
      <p:sp>
        <p:nvSpPr>
          <p:cNvPr id="13" name="Oval 12"/>
          <p:cNvSpPr/>
          <p:nvPr/>
        </p:nvSpPr>
        <p:spPr>
          <a:xfrm>
            <a:off x="731520" y="4114800"/>
            <a:ext cx="457200" cy="4572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41832" y="4572000"/>
            <a:ext cx="25400" cy="45720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63040" y="4114800"/>
            <a:ext cx="9601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Step 4 关键帧生成：逐镜头输入提示词生成画面（核心步骤）</a:t>
            </a:r>
          </a:p>
        </p:txBody>
      </p:sp>
      <p:sp>
        <p:nvSpPr>
          <p:cNvPr id="16" name="Oval 15"/>
          <p:cNvSpPr/>
          <p:nvPr/>
        </p:nvSpPr>
        <p:spPr>
          <a:xfrm>
            <a:off x="731520" y="5029200"/>
            <a:ext cx="457200" cy="45720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41832" y="5486400"/>
            <a:ext cx="25400" cy="45720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63040" y="5029200"/>
            <a:ext cx="9601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Step 5 视频合成：图生视频为每个镜头添加动态效果</a:t>
            </a:r>
          </a:p>
        </p:txBody>
      </p:sp>
      <p:sp>
        <p:nvSpPr>
          <p:cNvPr id="19" name="Oval 18"/>
          <p:cNvSpPr/>
          <p:nvPr/>
        </p:nvSpPr>
        <p:spPr>
          <a:xfrm>
            <a:off x="731520" y="5943600"/>
            <a:ext cx="457200" cy="45720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41832" y="6400800"/>
            <a:ext cx="25400" cy="45720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63040" y="5943600"/>
            <a:ext cx="9601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Step 6 配音配乐：剪映AI配音 + BGM + 音效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492240"/>
            <a:ext cx="12191695" cy="2540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E"/>
                </a:solidFill>
                <a:latin typeface="Microsoft YaHei"/>
              </a:defRPr>
            </a:pPr>
            <a:r>
              <a:t>模块04：即梦AI深度精通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E"/>
                </a:solidFill>
                <a:latin typeface="Microsoft YaHei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提示词编写七步法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435100"/>
            <a:ext cx="101600" cy="1016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371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① 确定主体：外貌特征（发型、发色、眼睛、服装、表情）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212340"/>
            <a:ext cx="101600" cy="1016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21488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② 设定场景：室内/室外、具体地点、背景元素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989580"/>
            <a:ext cx="101600" cy="1016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29260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③ 指定风格：日漫/国漫/赛博朋克/写实/油画等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3766820"/>
            <a:ext cx="101600" cy="1016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3703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④ 定义构图：镜头类型（特写/中景/全景）+ 角度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4544060"/>
            <a:ext cx="101600" cy="1016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44805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⑤ 设置光照：光源方向 + 光线类型 + 氛围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5321300"/>
            <a:ext cx="101600" cy="1016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52578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⑥ 添加细节：飘动头发、飞舞花瓣、材质质感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492240"/>
            <a:ext cx="12191695" cy="2540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E"/>
                </a:solidFill>
                <a:latin typeface="Microsoft YaHei"/>
              </a:defRPr>
            </a:pPr>
            <a:r>
              <a:t>模块04：即梦AI深度精通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E"/>
                </a:solidFill>
                <a:latin typeface="Microsoft YaHei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角色一致性解决方案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371600"/>
          <a:ext cx="105156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28900"/>
                <a:gridCol w="2628900"/>
                <a:gridCol w="2628900"/>
                <a:gridCol w="2628900"/>
              </a:tblGrid>
              <a:tr h="45720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方案</a:t>
                      </a:r>
                    </a:p>
                  </a:txBody>
                  <a:tcPr>
                    <a:solidFill>
                      <a:srgbClr val="00D4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原理</a:t>
                      </a:r>
                    </a:p>
                  </a:txBody>
                  <a:tcPr>
                    <a:solidFill>
                      <a:srgbClr val="00D4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效果</a:t>
                      </a:r>
                    </a:p>
                  </a:txBody>
                  <a:tcPr>
                    <a:solidFill>
                      <a:srgbClr val="00D4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难度</a:t>
                      </a:r>
                    </a:p>
                  </a:txBody>
                  <a:tcPr>
                    <a:solidFill>
                      <a:srgbClr val="00D4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角色参考功能</a:t>
                      </a:r>
                    </a:p>
                  </a:txBody>
                  <a:tcPr>
                    <a:solidFill>
                      <a:srgbClr val="1A25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上传参考图锁定外貌</a:t>
                      </a:r>
                    </a:p>
                  </a:txBody>
                  <a:tcPr>
                    <a:solidFill>
                      <a:srgbClr val="1A25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★★★★★</a:t>
                      </a:r>
                    </a:p>
                  </a:txBody>
                  <a:tcPr>
                    <a:solidFill>
                      <a:srgbClr val="1A25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简单</a:t>
                      </a:r>
                    </a:p>
                  </a:txBody>
                  <a:tcPr>
                    <a:solidFill>
                      <a:srgbClr val="1A253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固定提示词模板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完全一致的文字描述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★★★☆☆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简单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种子值固定</a:t>
                      </a:r>
                    </a:p>
                  </a:txBody>
                  <a:tcPr>
                    <a:solidFill>
                      <a:srgbClr val="1A25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固定随机种子</a:t>
                      </a:r>
                    </a:p>
                  </a:txBody>
                  <a:tcPr>
                    <a:solidFill>
                      <a:srgbClr val="1A25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★★☆☆☆</a:t>
                      </a:r>
                    </a:p>
                  </a:txBody>
                  <a:tcPr>
                    <a:solidFill>
                      <a:srgbClr val="1A25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中等</a:t>
                      </a:r>
                    </a:p>
                  </a:txBody>
                  <a:tcPr>
                    <a:solidFill>
                      <a:srgbClr val="1A253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图生图接力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基于已有角色图微调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★★★★☆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中等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多方案组合</a:t>
                      </a:r>
                    </a:p>
                  </a:txBody>
                  <a:tcPr>
                    <a:solidFill>
                      <a:srgbClr val="1A25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以上方法综合使用</a:t>
                      </a:r>
                    </a:p>
                  </a:txBody>
                  <a:tcPr>
                    <a:solidFill>
                      <a:srgbClr val="1A25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★★★★★</a:t>
                      </a:r>
                    </a:p>
                  </a:txBody>
                  <a:tcPr>
                    <a:solidFill>
                      <a:srgbClr val="1A25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较复杂</a:t>
                      </a:r>
                    </a:p>
                  </a:txBody>
                  <a:tcPr>
                    <a:solidFill>
                      <a:srgbClr val="1A253C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0" y="6492240"/>
            <a:ext cx="12191695" cy="2540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E"/>
                </a:solidFill>
                <a:latin typeface="Microsoft YaHei"/>
              </a:defRPr>
            </a:pPr>
            <a:r>
              <a:t>模块04：即梦AI深度精通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E"/>
                </a:solidFill>
                <a:latin typeface="Microsoft YaHei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场景资产库搭建方法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435100"/>
            <a:ext cx="101600" cy="1016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371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核心思路：为每个高频场景创建一张"母版图"，再衍生变体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212340"/>
            <a:ext cx="101600" cy="1016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21488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母版图要求：全景视角、中性光线、无角色、细节丰富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989580"/>
            <a:ext cx="101600" cy="1016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29260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变体类型：不同时间（白天/黄昏/深夜）、不同角度、不同天气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3766820"/>
            <a:ext cx="101600" cy="1016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3703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命名规范：[场景编号]-[场景名称]-[变体类型]-[版本号]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4544060"/>
            <a:ext cx="101600" cy="1016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44805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每个场景附带描述文档：核心元素、光线设定、氛围关键词、母版图参数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492240"/>
            <a:ext cx="12191695" cy="2540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E"/>
                </a:solidFill>
                <a:latin typeface="Microsoft YaHei"/>
              </a:defRPr>
            </a:pPr>
            <a:r>
              <a:t>模块04：即梦AI深度精通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E"/>
                </a:solidFill>
                <a:latin typeface="Microsoft YaHei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即梦AI + 剪映工作流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435100"/>
            <a:ext cx="101600" cy="1016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371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同属字节系：数据互通，账号打通，素材可直接流转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212340"/>
            <a:ext cx="101600" cy="1016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21488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即梦负责"生"：AI生成关键帧画面和动态视频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989580"/>
            <a:ext cx="101600" cy="1016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29260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剪映负责"剪"：拼接、配音、字幕、特效、转场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3766820"/>
            <a:ext cx="101600" cy="1016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3703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关键帧图片可添加Ken Burns效果（缓慢推进/左移）增加动态感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4544060"/>
            <a:ext cx="101600" cy="1016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44805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剪映AI配音支持多种声音，可用标点控制停顿和节奏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5321300"/>
            <a:ext cx="101600" cy="1016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52578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导出建议：1080p / 30fps / MP4 / H.264编码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492240"/>
            <a:ext cx="12191695" cy="2540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E"/>
                </a:solidFill>
                <a:latin typeface="Microsoft YaHei"/>
              </a:defRPr>
            </a:pPr>
            <a:r>
              <a:t>模块04：即梦AI深度精通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E"/>
                </a:solidFill>
                <a:latin typeface="Microsoft YaHei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局部重绘与多图参考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435100"/>
            <a:ext cx="101600" cy="1016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371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局部重绘（Inpainting）：只修改图片某一部分，其余保持不变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212340"/>
            <a:ext cx="101600" cy="1016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21488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应用场景：修复手部变形、修改表情、更换服装、添加/移除元素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989580"/>
            <a:ext cx="101600" cy="1016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29260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操作：绘制蒙版→输入重绘提示词→设置重绘强度（0.7-0.9）→生成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3766820"/>
            <a:ext cx="101600" cy="1016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3703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多图参考：同时上传2-4张参考图，AI综合多维度特征生成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4544060"/>
            <a:ext cx="101600" cy="1016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44805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参考图分配：角色参考→锁定外貌；场景参考→锁定环境；风格参考→锁定画风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492240"/>
            <a:ext cx="12191695" cy="2540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E"/>
                </a:solidFill>
                <a:latin typeface="Microsoft YaHei"/>
              </a:defRPr>
            </a:pPr>
            <a:r>
              <a:t>模块04：即梦AI深度精通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E"/>
                </a:solidFill>
                <a:latin typeface="Microsoft YaHei"/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🛠️ 本模块实操任务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320040" cy="320040"/>
          </a:xfrm>
          <a:prstGeom prst="roundRect">
            <a:avLst/>
          </a:prstGeom>
          <a:solidFill>
            <a:srgbClr val="1A25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80160" y="1371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注册即梦AI，用文生图生成5张不同风格的图片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148840"/>
            <a:ext cx="320040" cy="320040"/>
          </a:xfrm>
          <a:prstGeom prst="roundRect">
            <a:avLst/>
          </a:prstGeom>
          <a:solidFill>
            <a:srgbClr val="1A25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21488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为漫剧主角创建角色基准图，用角色参考功能生成5个不同场景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926080"/>
            <a:ext cx="320040" cy="320040"/>
          </a:xfrm>
          <a:prstGeom prst="roundRect">
            <a:avLst/>
          </a:prstGeom>
          <a:solidFill>
            <a:srgbClr val="1A25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80160" y="29260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为3个核心场景生成母版图，每个衍生3个变体版本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703320"/>
            <a:ext cx="320040" cy="320040"/>
          </a:xfrm>
          <a:prstGeom prst="roundRect">
            <a:avLst/>
          </a:prstGeom>
          <a:solidFill>
            <a:srgbClr val="1A25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80160" y="3703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用图生图将照片转为动漫风格，对比不同重绘强度效果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480560"/>
            <a:ext cx="320040" cy="320040"/>
          </a:xfrm>
          <a:prstGeom prst="roundRect">
            <a:avLst/>
          </a:prstGeom>
          <a:solidFill>
            <a:srgbClr val="1A25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80160" y="44805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用局部重绘修复一张有手部缺陷的图片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5257800"/>
            <a:ext cx="320040" cy="320040"/>
          </a:xfrm>
          <a:prstGeom prst="roundRect">
            <a:avLst/>
          </a:prstGeom>
          <a:solidFill>
            <a:srgbClr val="1A25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80160" y="52578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完成一集漫剧全部13个关键帧画面的生成与精修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492240"/>
            <a:ext cx="12191695" cy="2540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E"/>
                </a:solidFill>
                <a:latin typeface="Microsoft YaHei"/>
              </a:defRPr>
            </a:pPr>
            <a:r>
              <a:t>模块04：即梦AI深度精通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E"/>
                </a:solidFill>
                <a:latin typeface="Microsoft YaHei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926080"/>
            <a:ext cx="12191695" cy="254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1828800"/>
            <a:ext cx="121916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Microsoft YaHei"/>
              </a:defRPr>
            </a:pPr>
            <a:r>
              <a:t>✅ 本模块结束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3474720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B0BCD4"/>
                </a:solidFill>
                <a:latin typeface="Microsoft YaHei"/>
              </a:defRPr>
            </a:pPr>
            <a:r>
              <a:t>下一模块：其他图像生成工具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4572000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B7B9E"/>
                </a:solidFill>
                <a:latin typeface="Microsoft YaHei"/>
              </a:defRPr>
            </a:pPr>
            <a:r>
              <a:t>AI漫剧制作全流程课程 · 2026版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