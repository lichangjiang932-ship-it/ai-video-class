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0" y="-1828800"/>
            <a:ext cx="7315200" cy="7315200"/>
          </a:xfrm>
          <a:prstGeom prst="ellipse">
            <a:avLst/>
          </a:prstGeom>
          <a:solidFill>
            <a:srgbClr val="387AFF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743200" y="2743200"/>
            <a:ext cx="5486400" cy="5486400"/>
          </a:xfrm>
          <a:prstGeom prst="ellipse">
            <a:avLst/>
          </a:prstGeom>
          <a:solidFill>
            <a:srgbClr val="60A5FA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0" y="4572000"/>
            <a:ext cx="3657600" cy="3657600"/>
          </a:xfrm>
          <a:prstGeom prst="ellipse">
            <a:avLst/>
          </a:prstGeom>
          <a:solidFill>
            <a:srgbClr val="93C5FD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03520" y="0"/>
            <a:ext cx="182880" cy="68580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91440" cy="6858000"/>
          </a:xfrm>
          <a:prstGeom prst="rect">
            <a:avLst/>
          </a:prstGeom>
          <a:solidFill>
            <a:srgbClr val="3052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58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8016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55448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8288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1031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3774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72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58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28016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55448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8288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1031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3774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572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15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058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28016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55448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8288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1031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3774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" y="73152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FFFFFF"/>
                </a:solidFill>
                <a:latin typeface="Microsoft YaHei"/>
              </a:defRPr>
            </a:pPr>
            <a:r>
              <a:t>12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657600"/>
            <a:ext cx="1828800" cy="329184"/>
          </a:xfrm>
          <a:prstGeom prst="roundRect">
            <a:avLst/>
          </a:prstGeom>
          <a:solidFill>
            <a:srgbClr val="0A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365760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3C5FD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114800"/>
            <a:ext cx="285751" cy="3810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2950" y="4114800"/>
            <a:ext cx="285750" cy="38100"/>
          </a:xfrm>
          <a:prstGeom prst="rect">
            <a:avLst/>
          </a:prstGeom>
          <a:solidFill>
            <a:srgbClr val="86BA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28700" y="4114800"/>
            <a:ext cx="285750" cy="38100"/>
          </a:xfrm>
          <a:prstGeom prst="rect">
            <a:avLst/>
          </a:prstGeom>
          <a:solidFill>
            <a:srgbClr val="79AF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314450" y="4114800"/>
            <a:ext cx="285750" cy="38100"/>
          </a:xfrm>
          <a:prstGeom prst="rect">
            <a:avLst/>
          </a:prstGeom>
          <a:solidFill>
            <a:srgbClr val="6CA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600200" y="4114800"/>
            <a:ext cx="285750" cy="38100"/>
          </a:xfrm>
          <a:prstGeom prst="rect">
            <a:avLst/>
          </a:prstGeom>
          <a:solidFill>
            <a:srgbClr val="5F9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885950" y="4114800"/>
            <a:ext cx="285750" cy="38100"/>
          </a:xfrm>
          <a:prstGeom prst="rect">
            <a:avLst/>
          </a:prstGeom>
          <a:solidFill>
            <a:srgbClr val="528F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171700" y="4114800"/>
            <a:ext cx="285750" cy="38100"/>
          </a:xfrm>
          <a:prstGeom prst="rect">
            <a:avLst/>
          </a:prstGeom>
          <a:solidFill>
            <a:srgbClr val="4584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457450" y="4114800"/>
            <a:ext cx="285750" cy="381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035040" y="1097280"/>
            <a:ext cx="5486400" cy="457200"/>
          </a:xfrm>
          <a:prstGeom prst="round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35040" y="10972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3C5FD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35040" y="201168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0F0F5"/>
                </a:solidFill>
                <a:latin typeface="Microsoft YaHei"/>
              </a:defRPr>
            </a:pPr>
            <a:r>
              <a:t>模块12：一站式AI漫剧平台精讲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35040" y="3840480"/>
            <a:ext cx="400051" cy="381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35090" y="3840480"/>
            <a:ext cx="400050" cy="3810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835140" y="3840480"/>
            <a:ext cx="400050" cy="3810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235190" y="3840480"/>
            <a:ext cx="400050" cy="3810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635240" y="3840480"/>
            <a:ext cx="400050" cy="3810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035290" y="3840480"/>
            <a:ext cx="400050" cy="3810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435340" y="3840480"/>
            <a:ext cx="400050" cy="3810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835390" y="3840480"/>
            <a:ext cx="400050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35040" y="42062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8课时 · 掌握6大主流一站式平台的核心功能与选型策略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035040" y="5303520"/>
            <a:ext cx="5486400" cy="6400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722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87AFF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609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5438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87AFF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7325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9154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87AFF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1041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2870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87AFF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155680" y="0"/>
            <a:ext cx="1036015" cy="381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1978640" y="0"/>
            <a:ext cx="38100" cy="73152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1521440" y="274320"/>
            <a:ext cx="137160" cy="137160"/>
          </a:xfrm>
          <a:prstGeom prst="ellipse">
            <a:avLst/>
          </a:prstGeom>
          <a:solidFill>
            <a:srgbClr val="93C5FD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387A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60A5FA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📋  本节内容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93C5FD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31520" y="1397000"/>
            <a:ext cx="274320" cy="27432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422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360纳米——全链路自动化</a:t>
            </a:r>
          </a:p>
        </p:txBody>
      </p:sp>
      <p:sp>
        <p:nvSpPr>
          <p:cNvPr id="44" name="Oval 43"/>
          <p:cNvSpPr/>
          <p:nvPr/>
        </p:nvSpPr>
        <p:spPr>
          <a:xfrm>
            <a:off x="731520" y="1963928"/>
            <a:ext cx="274320" cy="27432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422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有戏AI——高角色一致性</a:t>
            </a:r>
          </a:p>
        </p:txBody>
      </p:sp>
      <p:sp>
        <p:nvSpPr>
          <p:cNvPr id="47" name="Oval 46"/>
          <p:cNvSpPr/>
          <p:nvPr/>
        </p:nvSpPr>
        <p:spPr>
          <a:xfrm>
            <a:off x="731520" y="2530856"/>
            <a:ext cx="274320" cy="27432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422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商汤Seko 2.0——长篇连载</a:t>
            </a:r>
          </a:p>
        </p:txBody>
      </p:sp>
      <p:sp>
        <p:nvSpPr>
          <p:cNvPr id="50" name="Oval 49"/>
          <p:cNvSpPr/>
          <p:nvPr/>
        </p:nvSpPr>
        <p:spPr>
          <a:xfrm>
            <a:off x="731520" y="3097784"/>
            <a:ext cx="274320" cy="27432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4220" y="3097784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7280" y="307238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漫剧工场——创作与分发</a:t>
            </a:r>
          </a:p>
        </p:txBody>
      </p:sp>
      <p:sp>
        <p:nvSpPr>
          <p:cNvPr id="53" name="Oval 52"/>
          <p:cNvSpPr/>
          <p:nvPr/>
        </p:nvSpPr>
        <p:spPr>
          <a:xfrm>
            <a:off x="6400800" y="1397000"/>
            <a:ext cx="274320" cy="27432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1350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6656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橙星梦工厂——AI辅助创作</a:t>
            </a:r>
          </a:p>
        </p:txBody>
      </p:sp>
      <p:sp>
        <p:nvSpPr>
          <p:cNvPr id="56" name="Oval 55"/>
          <p:cNvSpPr/>
          <p:nvPr/>
        </p:nvSpPr>
        <p:spPr>
          <a:xfrm>
            <a:off x="6400800" y="1963928"/>
            <a:ext cx="274320" cy="27432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1350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6656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漫剧助手——IP驱动</a:t>
            </a:r>
          </a:p>
        </p:txBody>
      </p:sp>
      <p:sp>
        <p:nvSpPr>
          <p:cNvPr id="59" name="Oval 58"/>
          <p:cNvSpPr/>
          <p:nvPr/>
        </p:nvSpPr>
        <p:spPr>
          <a:xfrm>
            <a:off x="6400800" y="2530856"/>
            <a:ext cx="274320" cy="27432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1350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6656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白日梦AI——短视频专精</a:t>
            </a:r>
          </a:p>
        </p:txBody>
      </p:sp>
      <p:sp>
        <p:nvSpPr>
          <p:cNvPr id="62" name="Oval 61"/>
          <p:cNvSpPr/>
          <p:nvPr/>
        </p:nvSpPr>
        <p:spPr>
          <a:xfrm>
            <a:off x="6400800" y="3097784"/>
            <a:ext cx="274320" cy="27432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13500" y="3097784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766560" y="307238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平台选型决策</a:t>
            </a:r>
          </a:p>
        </p:txBody>
      </p:sp>
      <p:sp>
        <p:nvSpPr>
          <p:cNvPr id="65" name="Rectangle 6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模块12 · 一站式平台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387A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60A5FA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6大平台核心能力对比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93C5FD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548640" y="1280160"/>
          <a:ext cx="1106424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平台</a:t>
                      </a:r>
                    </a:p>
                  </a:txBody>
                  <a:tcPr anchor="ctr">
                    <a:solidFill>
                      <a:srgbClr val="387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角色一致性</a:t>
                      </a:r>
                    </a:p>
                  </a:txBody>
                  <a:tcPr anchor="ctr">
                    <a:solidFill>
                      <a:srgbClr val="387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自定义</a:t>
                      </a:r>
                    </a:p>
                  </a:txBody>
                  <a:tcPr anchor="ctr">
                    <a:solidFill>
                      <a:srgbClr val="387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适合人群</a:t>
                      </a:r>
                    </a:p>
                  </a:txBody>
                  <a:tcPr anchor="ctr">
                    <a:solidFill>
                      <a:srgbClr val="387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价格</a:t>
                      </a:r>
                    </a:p>
                  </a:txBody>
                  <a:tcPr anchor="ctr">
                    <a:solidFill>
                      <a:srgbClr val="387A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360纳米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★★☆☆☆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零基础/快速生产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低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有戏AI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品质优先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中高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商汤Seko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长篇连载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漫剧工场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多平台分发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橙星梦工厂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★★★★☆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创意型创作者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中高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漫剧助手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★★★☆☆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IP驱动型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模块12 · 一站式平台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387A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60A5FA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360纳米——工业级全链路自动化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93C5FD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国内首个工业级AI漫剧智能体平台，由360集团推出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全链路自动化：剧本→AI分镜→AI生图→AI视频→AI配音→成片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核心优势：操作简单零基础可用，效率极高，成本低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局限：自定义程度有限，画质中等，角色一致性一般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适用场景：快速原型验证、批量生产短剧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31520" y="5468112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38378" y="5468112"/>
            <a:ext cx="6858" cy="36576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45236" y="5468112"/>
            <a:ext cx="6858" cy="36576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52094" y="5468112"/>
            <a:ext cx="6858" cy="36576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58952" y="5468112"/>
            <a:ext cx="6858" cy="36576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65810" y="5468112"/>
            <a:ext cx="6858" cy="36576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72668" y="5468112"/>
            <a:ext cx="6858" cy="36576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79526" y="5468112"/>
            <a:ext cx="6858" cy="36576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32688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支持9:16竖屏短剧，内置分发渠道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模块12 · 一站式平台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387A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60A5FA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效率型平台 vs 品质型平台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93C5FD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1371600"/>
            <a:ext cx="668656" cy="381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25855" y="1371600"/>
            <a:ext cx="668655" cy="3810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794510" y="1371600"/>
            <a:ext cx="668655" cy="3810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463165" y="1371600"/>
            <a:ext cx="668655" cy="3810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131820" y="1371600"/>
            <a:ext cx="668655" cy="3810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800475" y="1371600"/>
            <a:ext cx="668655" cy="3810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469130" y="1371600"/>
            <a:ext cx="668655" cy="3810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137785" y="1371600"/>
            <a:ext cx="668655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87AFF"/>
                </a:solidFill>
                <a:latin typeface="Microsoft YaHei"/>
              </a:defRPr>
            </a:pPr>
            <a:r>
              <a:t>效率型（360纳米/白日梦AI）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2103120"/>
            <a:ext cx="205741" cy="254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37260" y="2103120"/>
            <a:ext cx="205740" cy="2540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43000" y="2103120"/>
            <a:ext cx="205740" cy="2540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348740" y="2103120"/>
            <a:ext cx="205740" cy="2540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554480" y="2103120"/>
            <a:ext cx="205740" cy="2540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60220" y="2103120"/>
            <a:ext cx="205740" cy="2540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965960" y="2103120"/>
            <a:ext cx="205740" cy="2540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171700" y="2103120"/>
            <a:ext cx="205740" cy="254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31520" y="2386584"/>
            <a:ext cx="146304" cy="146304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0584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全链路自动化，分钟级出片</a:t>
            </a:r>
          </a:p>
        </p:txBody>
      </p:sp>
      <p:sp>
        <p:nvSpPr>
          <p:cNvPr id="61" name="Oval 60"/>
          <p:cNvSpPr/>
          <p:nvPr/>
        </p:nvSpPr>
        <p:spPr>
          <a:xfrm>
            <a:off x="731520" y="2916936"/>
            <a:ext cx="146304" cy="146304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0584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操作简单，零基础可用</a:t>
            </a:r>
          </a:p>
        </p:txBody>
      </p:sp>
      <p:sp>
        <p:nvSpPr>
          <p:cNvPr id="63" name="Oval 62"/>
          <p:cNvSpPr/>
          <p:nvPr/>
        </p:nvSpPr>
        <p:spPr>
          <a:xfrm>
            <a:off x="731520" y="3447288"/>
            <a:ext cx="146304" cy="146304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0584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适合快速原型和批量生产</a:t>
            </a:r>
          </a:p>
        </p:txBody>
      </p:sp>
      <p:sp>
        <p:nvSpPr>
          <p:cNvPr id="65" name="Oval 64"/>
          <p:cNvSpPr/>
          <p:nvPr/>
        </p:nvSpPr>
        <p:spPr>
          <a:xfrm>
            <a:off x="731520" y="3977640"/>
            <a:ext cx="146304" cy="146304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0584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角色一致性和画质中等</a:t>
            </a:r>
          </a:p>
        </p:txBody>
      </p:sp>
      <p:sp>
        <p:nvSpPr>
          <p:cNvPr id="67" name="Oval 66"/>
          <p:cNvSpPr/>
          <p:nvPr/>
        </p:nvSpPr>
        <p:spPr>
          <a:xfrm>
            <a:off x="731520" y="4507992"/>
            <a:ext cx="146304" cy="146304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05840" y="445312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单集成本低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263640" y="1371600"/>
            <a:ext cx="668656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932295" y="1371600"/>
            <a:ext cx="668655" cy="38100"/>
          </a:xfrm>
          <a:prstGeom prst="rect">
            <a:avLst/>
          </a:prstGeom>
          <a:solidFill>
            <a:srgbClr val="67A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600950" y="1371600"/>
            <a:ext cx="668655" cy="38100"/>
          </a:xfrm>
          <a:prstGeom prst="rect">
            <a:avLst/>
          </a:prstGeom>
          <a:solidFill>
            <a:srgbClr val="6EA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269605" y="1371600"/>
            <a:ext cx="668655" cy="38100"/>
          </a:xfrm>
          <a:prstGeom prst="rect">
            <a:avLst/>
          </a:prstGeom>
          <a:solidFill>
            <a:srgbClr val="75B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938260" y="1371600"/>
            <a:ext cx="668655" cy="38100"/>
          </a:xfrm>
          <a:prstGeom prst="rect">
            <a:avLst/>
          </a:prstGeom>
          <a:solidFill>
            <a:srgbClr val="7DB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606915" y="1371600"/>
            <a:ext cx="668655" cy="38100"/>
          </a:xfrm>
          <a:prstGeom prst="rect">
            <a:avLst/>
          </a:prstGeom>
          <a:solidFill>
            <a:srgbClr val="84B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0275570" y="1371600"/>
            <a:ext cx="668655" cy="38100"/>
          </a:xfrm>
          <a:prstGeom prst="rect">
            <a:avLst/>
          </a:prstGeom>
          <a:solidFill>
            <a:srgbClr val="8BC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944225" y="1371600"/>
            <a:ext cx="668655" cy="3810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53796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0A5FA"/>
                </a:solidFill>
                <a:latin typeface="Microsoft YaHei"/>
              </a:defRPr>
            </a:pPr>
            <a:r>
              <a:t>品质型（有戏AI/Seko 2.0）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537960" y="2103120"/>
            <a:ext cx="205741" cy="254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743700" y="2103120"/>
            <a:ext cx="205740" cy="25400"/>
          </a:xfrm>
          <a:prstGeom prst="rect">
            <a:avLst/>
          </a:prstGeom>
          <a:solidFill>
            <a:srgbClr val="67A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949440" y="2103120"/>
            <a:ext cx="205740" cy="25400"/>
          </a:xfrm>
          <a:prstGeom prst="rect">
            <a:avLst/>
          </a:prstGeom>
          <a:solidFill>
            <a:srgbClr val="6EA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155180" y="2103120"/>
            <a:ext cx="205740" cy="25400"/>
          </a:xfrm>
          <a:prstGeom prst="rect">
            <a:avLst/>
          </a:prstGeom>
          <a:solidFill>
            <a:srgbClr val="75B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360920" y="2103120"/>
            <a:ext cx="205740" cy="25400"/>
          </a:xfrm>
          <a:prstGeom prst="rect">
            <a:avLst/>
          </a:prstGeom>
          <a:solidFill>
            <a:srgbClr val="7DB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566660" y="2103120"/>
            <a:ext cx="205740" cy="25400"/>
          </a:xfrm>
          <a:prstGeom prst="rect">
            <a:avLst/>
          </a:prstGeom>
          <a:solidFill>
            <a:srgbClr val="84B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772400" y="2103120"/>
            <a:ext cx="205740" cy="25400"/>
          </a:xfrm>
          <a:prstGeom prst="rect">
            <a:avLst/>
          </a:prstGeom>
          <a:solidFill>
            <a:srgbClr val="8BC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978140" y="2103120"/>
            <a:ext cx="205740" cy="2540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537960" y="2386584"/>
            <a:ext cx="146304" cy="146304"/>
          </a:xfrm>
          <a:prstGeom prst="ellipse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81228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角色一致性95%+，100集不崩</a:t>
            </a:r>
          </a:p>
        </p:txBody>
      </p:sp>
      <p:sp>
        <p:nvSpPr>
          <p:cNvPr id="89" name="Oval 88"/>
          <p:cNvSpPr/>
          <p:nvPr/>
        </p:nvSpPr>
        <p:spPr>
          <a:xfrm>
            <a:off x="6537960" y="2916936"/>
            <a:ext cx="146304" cy="146304"/>
          </a:xfrm>
          <a:prstGeom prst="ellipse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81228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数字人技术，真人级表情</a:t>
            </a:r>
          </a:p>
        </p:txBody>
      </p:sp>
      <p:sp>
        <p:nvSpPr>
          <p:cNvPr id="91" name="Oval 90"/>
          <p:cNvSpPr/>
          <p:nvPr/>
        </p:nvSpPr>
        <p:spPr>
          <a:xfrm>
            <a:off x="6537960" y="3447288"/>
            <a:ext cx="146304" cy="146304"/>
          </a:xfrm>
          <a:prstGeom prst="ellipse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81228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适合品质级和长篇连载</a:t>
            </a:r>
          </a:p>
        </p:txBody>
      </p:sp>
      <p:sp>
        <p:nvSpPr>
          <p:cNvPr id="93" name="Oval 92"/>
          <p:cNvSpPr/>
          <p:nvPr/>
        </p:nvSpPr>
        <p:spPr>
          <a:xfrm>
            <a:off x="6537960" y="3977640"/>
            <a:ext cx="146304" cy="146304"/>
          </a:xfrm>
          <a:prstGeom prst="ellipse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81228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需要一定创作基础</a:t>
            </a:r>
          </a:p>
        </p:txBody>
      </p:sp>
      <p:sp>
        <p:nvSpPr>
          <p:cNvPr id="95" name="Oval 94"/>
          <p:cNvSpPr/>
          <p:nvPr/>
        </p:nvSpPr>
        <p:spPr>
          <a:xfrm>
            <a:off x="6537960" y="4507992"/>
            <a:ext cx="146304" cy="146304"/>
          </a:xfrm>
          <a:prstGeom prst="ellipse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812280" y="445312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单集成本较高</a:t>
            </a:r>
          </a:p>
        </p:txBody>
      </p:sp>
      <p:sp>
        <p:nvSpPr>
          <p:cNvPr id="97" name="Rectangle 9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模块12 · 一站式平台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387A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60A5FA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推荐平台组合方案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93C5FD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入门组合：360纳米（快速出片）+ 剪映（后期微调）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进阶组合：有戏AI（角色一致性）+ 可灵AI（特效镜头）+ 剪映（后期）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专业组合：商汤Seko（长篇连载）+ Seedance 2.0 + 可灵AI + 剪映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IP组合：漫剧助手（IP改编）+ 有戏AI（品质保障）+ 漫剧工场（分发）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核心思路：一站式平台做基础，专业工具做精细调整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模块12 · 一站式平台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387A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60A5FA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有戏AI &amp; 商汤Seko 2.0 核心特色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93C5FD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有戏AI：角色相似度95%+，数字人技术，真人级面部表情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有戏AI适合品质级漫剧、品牌定制、长篇连载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商汤Seko 2.0：创编一体，100集不崩角色，内置叙事引擎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Seko 2.0：团队协作支持，版本管理，角色资产库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两者共同点：角色一致性极强，品质优先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31520" y="5468112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38378" y="5468112"/>
            <a:ext cx="6858" cy="36576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45236" y="5468112"/>
            <a:ext cx="6858" cy="36576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52094" y="5468112"/>
            <a:ext cx="6858" cy="36576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58952" y="5468112"/>
            <a:ext cx="6858" cy="36576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65810" y="5468112"/>
            <a:ext cx="6858" cy="36576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72668" y="5468112"/>
            <a:ext cx="6858" cy="36576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79526" y="5468112"/>
            <a:ext cx="6858" cy="36576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32688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选择建议：单集品质选有戏AI，长篇连载选Seko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模块12 · 一站式平台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387A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60A5FA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分发平台与IP资源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93C5FD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漫剧工场：内置抖音/快手/B站/视频号/红果多平台分发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漫剧工场：数据分析（播放量/完播率/互动率），版权保护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漫剧助手（阅文集团）：海量网文IP，AI自动改编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漫剧助手：IP授权管理，忠实改编/创新改编/浓缩改编策略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橙星梦工厂："漫剧领域Cursor"，AI辅助+创作者控制权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31520" y="5468112"/>
            <a:ext cx="6859" cy="36576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38378" y="5468112"/>
            <a:ext cx="6858" cy="36576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45236" y="5468112"/>
            <a:ext cx="6858" cy="36576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52094" y="5468112"/>
            <a:ext cx="6858" cy="36576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58952" y="5468112"/>
            <a:ext cx="6858" cy="36576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65810" y="5468112"/>
            <a:ext cx="6858" cy="36576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72668" y="5468112"/>
            <a:ext cx="6858" cy="36576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79526" y="5468112"/>
            <a:ext cx="6858" cy="36576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32688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白日梦AI：文生视频专精，零基础，适合1-3分钟短视频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模块12 · 一站式平台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0"/>
            <a:ext cx="6400800" cy="6400800"/>
          </a:xfrm>
          <a:prstGeom prst="ellipse">
            <a:avLst/>
          </a:prstGeom>
          <a:solidFill>
            <a:srgbClr val="387AFF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2743200"/>
            <a:ext cx="4572000" cy="4572000"/>
          </a:xfrm>
          <a:prstGeom prst="ellipse">
            <a:avLst/>
          </a:prstGeom>
          <a:solidFill>
            <a:srgbClr val="60A5FA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0" y="1097280"/>
            <a:ext cx="720091" cy="381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920490" y="1097280"/>
            <a:ext cx="720090" cy="3810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640580" y="1097280"/>
            <a:ext cx="720090" cy="3810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60670" y="1097280"/>
            <a:ext cx="720090" cy="3810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80760" y="1097280"/>
            <a:ext cx="720090" cy="3810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00850" y="1097280"/>
            <a:ext cx="720090" cy="3810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20940" y="1097280"/>
            <a:ext cx="720090" cy="3810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41030" y="1097280"/>
            <a:ext cx="720090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16459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先明确需求，再选平台；不确定就用360纳米试水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3931920"/>
            <a:ext cx="262891" cy="254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3931920"/>
            <a:ext cx="262890" cy="2540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3931920"/>
            <a:ext cx="262890" cy="2540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3931920"/>
            <a:ext cx="262890" cy="2540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3931920"/>
            <a:ext cx="262890" cy="2540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3931920"/>
            <a:ext cx="262890" cy="2540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3931920"/>
            <a:ext cx="262890" cy="2540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3931920"/>
            <a:ext cx="262890" cy="254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429768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快速出片选360纳米/白日梦AI；品质优先选有戏AI/Seko；长篇连载选Seko；创意控制选橙星梦工厂；IP驱动选漫剧助手；多平台分发选漫剧工场。一站式平台与专业工具可以混用，取长补短。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模块12 · 一站式平台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387A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60A5FA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93C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🛠️  本模块实操任务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EE7B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31520" y="144475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1520" y="144475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8096" y="144475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04672" y="144475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41248" y="144475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77824" y="144475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14400" y="144475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50976" y="144475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87552" y="144475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8872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45920" y="13716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注册360纳米和有戏AI账号，熟悉界面和核心功能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1520" y="222199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31520" y="222199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68096" y="222199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04672" y="222199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41248" y="222199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77824" y="222199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14400" y="222199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50976" y="222199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87552" y="222199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88720" y="2148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645920" y="21488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用同一剧本在360纳米和有戏AI分别生成，对比效果差异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31520" y="299923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31520" y="299923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68096" y="299923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04672" y="299923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41248" y="299923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" y="299923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14400" y="299923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50976" y="299923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87552" y="299923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8872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645920" y="2926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在商汤Seko 2.0中创建系列项目，建立角色资产库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31520" y="377647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31520" y="377647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68096" y="377647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04672" y="377647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41248" y="377647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77824" y="377647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14400" y="377647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50976" y="377647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87552" y="377647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188720" y="3703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645920" y="37033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尝试平台+剪映的组合工作流，完成一集漫剧制作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31520" y="455371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1520" y="455371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68096" y="455371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04672" y="455371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41248" y="455371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77824" y="455371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14400" y="455371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950976" y="455371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87552" y="455371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188720" y="4480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645920" y="44805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撰写一份平台选型报告，说明你的选择理由和适用场景</a:t>
            </a:r>
          </a:p>
        </p:txBody>
      </p:sp>
      <p:sp>
        <p:nvSpPr>
          <p:cNvPr id="96" name="Rectangle 9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模块12 · 一站式平台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9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914400"/>
            <a:ext cx="6400800" cy="6400800"/>
          </a:xfrm>
          <a:prstGeom prst="ellipse">
            <a:avLst/>
          </a:prstGeom>
          <a:solidFill>
            <a:srgbClr val="387A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1371600"/>
            <a:ext cx="491491" cy="381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06290" y="1371600"/>
            <a:ext cx="491490" cy="3810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97780" y="1371600"/>
            <a:ext cx="491490" cy="3810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589270" y="1371600"/>
            <a:ext cx="491490" cy="3810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80760" y="1371600"/>
            <a:ext cx="491490" cy="3810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72250" y="1371600"/>
            <a:ext cx="491490" cy="3810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63740" y="1371600"/>
            <a:ext cx="491490" cy="3810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55230" y="1371600"/>
            <a:ext cx="491490" cy="381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387AFF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4023360"/>
            <a:ext cx="262891" cy="2540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4023360"/>
            <a:ext cx="262890" cy="25400"/>
          </a:xfrm>
          <a:prstGeom prst="rect">
            <a:avLst/>
          </a:prstGeom>
          <a:solidFill>
            <a:srgbClr val="3D8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4023360"/>
            <a:ext cx="262890" cy="25400"/>
          </a:xfrm>
          <a:prstGeom prst="rect">
            <a:avLst/>
          </a:prstGeom>
          <a:solidFill>
            <a:srgbClr val="438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4023360"/>
            <a:ext cx="262890" cy="25400"/>
          </a:xfrm>
          <a:prstGeom prst="rect">
            <a:avLst/>
          </a:prstGeom>
          <a:solidFill>
            <a:srgbClr val="498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4023360"/>
            <a:ext cx="262890" cy="25400"/>
          </a:xfrm>
          <a:prstGeom prst="rect">
            <a:avLst/>
          </a:prstGeom>
          <a:solidFill>
            <a:srgbClr val="4E92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4023360"/>
            <a:ext cx="262890" cy="25400"/>
          </a:xfrm>
          <a:prstGeom prst="rect">
            <a:avLst/>
          </a:prstGeom>
          <a:solidFill>
            <a:srgbClr val="549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4023360"/>
            <a:ext cx="262890" cy="25400"/>
          </a:xfrm>
          <a:prstGeom prst="rect">
            <a:avLst/>
          </a:prstGeom>
          <a:solidFill>
            <a:srgbClr val="5A9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4023360"/>
            <a:ext cx="262890" cy="254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0" y="42976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8BAC8"/>
                </a:solidFill>
                <a:latin typeface="Microsoft YaHei"/>
              </a:defRPr>
            </a:pPr>
            <a:r>
              <a:t>下一模块：ComfyUI工作流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E7082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  <p:transition spd="med" advClick="1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