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137160" cy="6858000"/>
          </a:xfrm>
          <a:prstGeom prst="rect">
            <a:avLst/>
          </a:prstGeom>
          <a:solidFill>
            <a:srgbClr val="008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66360" y="0"/>
            <a:ext cx="73152" cy="6858000"/>
          </a:xfrm>
          <a:prstGeom prst="rect">
            <a:avLst/>
          </a:prstGeom>
          <a:solidFill>
            <a:srgbClr val="004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39512" y="0"/>
            <a:ext cx="36576" cy="6858000"/>
          </a:xfrm>
          <a:prstGeom prst="rect">
            <a:avLst/>
          </a:prstGeom>
          <a:solidFill>
            <a:srgbClr val="002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3260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00" y="9525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00303F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00C0FF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57600"/>
            <a:ext cx="1463040" cy="292608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6576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89AA8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69080"/>
            <a:ext cx="402337" cy="381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0976" y="4069080"/>
            <a:ext cx="402336" cy="38100"/>
          </a:xfrm>
          <a:prstGeom prst="rect">
            <a:avLst/>
          </a:prstGeom>
          <a:solidFill>
            <a:srgbClr val="00A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53312" y="4069080"/>
            <a:ext cx="402336" cy="38100"/>
          </a:xfrm>
          <a:prstGeom prst="rect">
            <a:avLst/>
          </a:prstGeom>
          <a:solidFill>
            <a:srgbClr val="008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55648" y="4069080"/>
            <a:ext cx="402336" cy="38100"/>
          </a:xfrm>
          <a:prstGeom prst="rect">
            <a:avLst/>
          </a:prstGeom>
          <a:solidFill>
            <a:srgbClr val="006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57984" y="4069080"/>
            <a:ext cx="402336" cy="38100"/>
          </a:xfrm>
          <a:prstGeom prst="rect">
            <a:avLst/>
          </a:prstGeom>
          <a:solidFill>
            <a:srgbClr val="004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69280" y="1280160"/>
            <a:ext cx="5760720" cy="438912"/>
          </a:xfrm>
          <a:prstGeom prst="round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1280160"/>
            <a:ext cx="5760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EEEF4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28600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EEEF4"/>
                </a:solidFill>
                <a:latin typeface="Microsoft YaHei"/>
              </a:defRPr>
            </a:pPr>
            <a:r>
              <a:t>模块12：一站式AI漫剧平台精讲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4023360"/>
            <a:ext cx="548641" cy="381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4023360"/>
            <a:ext cx="548640" cy="38100"/>
          </a:xfrm>
          <a:prstGeom prst="rect">
            <a:avLst/>
          </a:prstGeom>
          <a:solidFill>
            <a:srgbClr val="00A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6560" y="4023360"/>
            <a:ext cx="548640" cy="38100"/>
          </a:xfrm>
          <a:prstGeom prst="rect">
            <a:avLst/>
          </a:prstGeom>
          <a:solidFill>
            <a:srgbClr val="008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0" y="4023360"/>
            <a:ext cx="548640" cy="38100"/>
          </a:xfrm>
          <a:prstGeom prst="rect">
            <a:avLst/>
          </a:prstGeom>
          <a:solidFill>
            <a:srgbClr val="006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63840" y="4023360"/>
            <a:ext cx="548640" cy="38100"/>
          </a:xfrm>
          <a:prstGeom prst="rect">
            <a:avLst/>
          </a:prstGeom>
          <a:solidFill>
            <a:srgbClr val="004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0" y="438912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8课时 · 掌握6大主流一站式平台的核心功能与选型策略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0" y="5486400"/>
            <a:ext cx="5760720" cy="59436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0644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0FF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4662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0FF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0FF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698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0FF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0" y="0"/>
            <a:ext cx="761695" cy="381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070080" y="0"/>
            <a:ext cx="38100" cy="6400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0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360纳米——全链路自动化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0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有戏AI——高角色一致性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0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商汤Seko 2.0——长篇连载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7238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0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漫剧工场——创作与分发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0F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橙星梦工厂——AI辅助创作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0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漫剧助手——IP驱动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0FF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白日梦AI——短视频专精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07238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0FF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平台选型决策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6大平台核心能力对比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280160"/>
          <a:ext cx="1106424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平台</a:t>
                      </a:r>
                    </a:p>
                  </a:txBody>
                  <a:tcPr anchor="ctr">
                    <a:solidFill>
                      <a:srgbClr val="00C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角色一致性</a:t>
                      </a:r>
                    </a:p>
                  </a:txBody>
                  <a:tcPr anchor="ctr">
                    <a:solidFill>
                      <a:srgbClr val="00C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自定义</a:t>
                      </a:r>
                    </a:p>
                  </a:txBody>
                  <a:tcPr anchor="ctr">
                    <a:solidFill>
                      <a:srgbClr val="00C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适合人群</a:t>
                      </a:r>
                    </a:p>
                  </a:txBody>
                  <a:tcPr anchor="ctr">
                    <a:solidFill>
                      <a:srgbClr val="00C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价格</a:t>
                      </a:r>
                    </a:p>
                  </a:txBody>
                  <a:tcPr anchor="ctr">
                    <a:solidFill>
                      <a:srgbClr val="00C0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360纳米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零基础/快速生产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有戏AI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品质优先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中高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商汤Seko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长篇连载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漫剧工场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多平台分发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橙星梦工厂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创意型创作者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中高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漫剧助手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IP驱动型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360纳米——工业级全链路自动化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国内首个工业级AI漫剧智能体平台，由360集团推出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全链路自动化：剧本→AI分镜→AI生图→AI视频→AI配音→成片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核心优势：操作简单零基础可用，效率极高，成本低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局限：自定义程度有限，画质中等，角色一致性一般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适用场景：快速原型验证、批量生产短剧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468112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支持9:16竖屏短剧，内置分发渠道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效率型平台 vs 品质型平台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5349240" cy="381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0FF"/>
                </a:solidFill>
                <a:latin typeface="Microsoft YaHei"/>
              </a:defRPr>
            </a:pPr>
            <a:r>
              <a:t>效率型（360纳米/白日梦AI）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103120"/>
            <a:ext cx="1371600" cy="254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全链路自动化，分钟级出片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操作简单，零基础可用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适合快速原型和批量生产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角色一致性和画质中等</a:t>
            </a:r>
          </a:p>
        </p:txBody>
      </p:sp>
      <p:sp>
        <p:nvSpPr>
          <p:cNvPr id="21" name="Oval 20"/>
          <p:cNvSpPr/>
          <p:nvPr/>
        </p:nvSpPr>
        <p:spPr>
          <a:xfrm>
            <a:off x="731520" y="4507992"/>
            <a:ext cx="146304" cy="146304"/>
          </a:xfrm>
          <a:prstGeom prst="ellipse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单集成本低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1371600"/>
            <a:ext cx="5349240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A4EF0"/>
                </a:solidFill>
                <a:latin typeface="Microsoft YaHei"/>
              </a:defRPr>
            </a:pPr>
            <a:r>
              <a:t>品质型（有戏AI/Seko 2.0）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37960" y="2103120"/>
            <a:ext cx="1371600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角色一致性95%+，100集不崩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数字人技术，真人级表情</a:t>
            </a:r>
          </a:p>
        </p:txBody>
      </p:sp>
      <p:sp>
        <p:nvSpPr>
          <p:cNvPr id="31" name="Oval 30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适合品质级和长篇连载</a:t>
            </a:r>
          </a:p>
        </p:txBody>
      </p:sp>
      <p:sp>
        <p:nvSpPr>
          <p:cNvPr id="33" name="Oval 32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需要一定创作基础</a:t>
            </a:r>
          </a:p>
        </p:txBody>
      </p:sp>
      <p:sp>
        <p:nvSpPr>
          <p:cNvPr id="35" name="Oval 34"/>
          <p:cNvSpPr/>
          <p:nvPr/>
        </p:nvSpPr>
        <p:spPr>
          <a:xfrm>
            <a:off x="6537960" y="4507992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1228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单集成本较高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推荐平台组合方案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入门组合：360纳米（快速出片）+ 剪映（后期微调）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进阶组合：有戏AI（角色一致性）+ 可灵AI（特效镜头）+ 剪映（后期）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专业组合：商汤Seko（长篇连载）+ Seedance 2.0 + 可灵AI + 剪映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IP组合：漫剧助手（IP改编）+ 有戏AI（品质保障）+ 漫剧工场（分发）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核心思路：一站式平台做基础，专业工具做精细调整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有戏AI &amp; 商汤Seko 2.0 核心特色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有戏AI：角色相似度95%+，数字人技术，真人级面部表情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有戏AI适合品质级漫剧、品牌定制、长篇连载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商汤Seko 2.0：创编一体，100集不崩角色，内置叙事引擎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Seko 2.0：团队协作支持，版本管理，角色资产库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两者共同点：角色一致性极强，品质优先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468112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选择建议：单集品质选有戏AI，长篇连载选Seko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分发平台与IP资源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漫剧工场：内置抖音/快手/B站/视频号/红果多平台分发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漫剧工场：数据分析（播放量/完播率/互动率），版权保护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漫剧助手（阅文集团）：海量网文IP，AI自动改编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漫剧助手：IP授权管理，忠实改编/创新改编/浓缩改编策略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橙星梦工厂："漫剧领域Cursor"，AI辅助+创作者控制权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468112"/>
            <a:ext cx="36576" cy="41148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白日梦AI：文生视频专精，零基础，适合1-3分钟短视频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1097280"/>
            <a:ext cx="969265" cy="381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26864" y="1097280"/>
            <a:ext cx="969264" cy="38100"/>
          </a:xfrm>
          <a:prstGeom prst="rect">
            <a:avLst/>
          </a:prstGeom>
          <a:solidFill>
            <a:srgbClr val="00A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96128" y="1097280"/>
            <a:ext cx="969264" cy="38100"/>
          </a:xfrm>
          <a:prstGeom prst="rect">
            <a:avLst/>
          </a:prstGeom>
          <a:solidFill>
            <a:srgbClr val="008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65392" y="1097280"/>
            <a:ext cx="969264" cy="38100"/>
          </a:xfrm>
          <a:prstGeom prst="rect">
            <a:avLst/>
          </a:prstGeom>
          <a:solidFill>
            <a:srgbClr val="006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34656" y="1097280"/>
            <a:ext cx="969264" cy="38100"/>
          </a:xfrm>
          <a:prstGeom prst="rect">
            <a:avLst/>
          </a:prstGeom>
          <a:solidFill>
            <a:srgbClr val="004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先明确需求，再选平台；不确定就用360纳米试水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931920"/>
            <a:ext cx="2103120" cy="254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快速出片选360纳米/白日梦AI；品质优先选有戏AI/Seko；长篇连载选Seko；创意控制选橙星梦工厂；IP驱动选漫剧助手；多平台分发选漫剧工场。一站式平台与专业工具可以混用，取长补短。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注册360纳米和有戏AI账号，熟悉界面和核心功能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用同一剧本在360纳米和有戏AI分别生成，对比效果差异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在商汤Seko 2.0中创建系列项目，建立角色资产库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尝试平台+剪映的组合工作流，完成一集漫剧制作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撰写一份平台选型报告，说明你的选择理由和适用场景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0" y="1371600"/>
            <a:ext cx="603505" cy="381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175504" y="1371600"/>
            <a:ext cx="603504" cy="38100"/>
          </a:xfrm>
          <a:prstGeom prst="rect">
            <a:avLst/>
          </a:prstGeom>
          <a:solidFill>
            <a:srgbClr val="00A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79008" y="1371600"/>
            <a:ext cx="603504" cy="38100"/>
          </a:xfrm>
          <a:prstGeom prst="rect">
            <a:avLst/>
          </a:prstGeom>
          <a:solidFill>
            <a:srgbClr val="008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82512" y="1371600"/>
            <a:ext cx="603504" cy="38100"/>
          </a:xfrm>
          <a:prstGeom prst="rect">
            <a:avLst/>
          </a:prstGeom>
          <a:solidFill>
            <a:srgbClr val="006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86016" y="1371600"/>
            <a:ext cx="603504" cy="38100"/>
          </a:xfrm>
          <a:prstGeom prst="rect">
            <a:avLst/>
          </a:prstGeom>
          <a:solidFill>
            <a:srgbClr val="004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00C0FF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4023360"/>
            <a:ext cx="2103120" cy="25400"/>
          </a:xfrm>
          <a:prstGeom prst="rect">
            <a:avLst/>
          </a:prstGeom>
          <a:solidFill>
            <a:srgbClr val="00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下一模块：ComfyUI工作流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768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