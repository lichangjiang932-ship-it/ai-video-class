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29200" cy="68580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00" cy="91440"/>
          </a:xfrm>
          <a:prstGeom prst="rect">
            <a:avLst/>
          </a:prstGeom>
          <a:solidFill>
            <a:srgbClr val="F5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F5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5720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7724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9728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41732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73736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05740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37744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69748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720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7724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9728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41732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73736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05740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37744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69748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5720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7724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9728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1732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73736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05740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37744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69748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1097280"/>
            <a:ext cx="3657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0" b="1">
                <a:solidFill>
                  <a:srgbClr val="1A243C"/>
                </a:solidFill>
                <a:latin typeface="Microsoft YaHei"/>
              </a:defRPr>
            </a:pPr>
            <a:r>
              <a:t>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1234440"/>
            <a:ext cx="2743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0" b="1">
                <a:solidFill>
                  <a:srgbClr val="00E696"/>
                </a:solidFill>
                <a:latin typeface="Microsoft YaHei"/>
              </a:defRPr>
            </a:pPr>
            <a:r>
              <a:t>10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" y="3657600"/>
            <a:ext cx="1645920" cy="320040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36576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A8B8D0"/>
                </a:solidFill>
                <a:latin typeface="Microsoft YaHei"/>
              </a:defRPr>
            </a:pPr>
            <a:r>
              <a:t>M O D U L 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4114800"/>
            <a:ext cx="1828800" cy="381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5486400" y="1371600"/>
            <a:ext cx="5943600" cy="457200"/>
          </a:xfrm>
          <a:prstGeom prst="round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0" y="137160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5F7FC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0" y="2377440"/>
            <a:ext cx="5943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5F7FC"/>
                </a:solidFill>
                <a:latin typeface="Microsoft YaHei"/>
              </a:defRPr>
            </a:pPr>
            <a:r>
              <a:t>模块10：AI音频——配音、配乐与音画同步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0" y="4114800"/>
            <a:ext cx="2743200" cy="508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486400" y="4114800"/>
            <a:ext cx="914400" cy="50800"/>
          </a:xfrm>
          <a:prstGeom prst="rect">
            <a:avLst/>
          </a:prstGeom>
          <a:solidFill>
            <a:srgbClr val="1EFF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0" y="4480560"/>
            <a:ext cx="5943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A8B8D0"/>
                </a:solidFill>
                <a:latin typeface="Microsoft YaHei"/>
              </a:defRPr>
            </a:pPr>
            <a:r>
              <a:t>8课时 · 掌握AI配音、配乐、音效与音画同步的全套音频制作技能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486400" y="5486400"/>
            <a:ext cx="5943600" cy="640080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669280" y="55321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E696"/>
                </a:solidFill>
                <a:latin typeface="Microsoft YaHei"/>
              </a:defRPr>
            </a:pPr>
            <a:r>
              <a:t>124课时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32320" y="55321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E696"/>
                </a:solidFill>
                <a:latin typeface="Microsoft YaHei"/>
              </a:defRPr>
            </a:pPr>
            <a:r>
              <a:t>17模块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95360" y="55321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E696"/>
                </a:solidFill>
                <a:latin typeface="Microsoft YaHei"/>
              </a:defRPr>
            </a:pPr>
            <a:r>
              <a:t>8-16周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0" y="55321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E696"/>
                </a:solidFill>
                <a:latin typeface="Microsoft YaHei"/>
              </a:defRPr>
            </a:pPr>
            <a:r>
              <a:t>全流程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247120" y="0"/>
            <a:ext cx="944575" cy="508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2051792" y="0"/>
            <a:ext cx="50800" cy="73152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00B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📋 本节内容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94360" y="137160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371600"/>
            <a:ext cx="54864" cy="96012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20" y="1572768"/>
            <a:ext cx="411480" cy="411480"/>
          </a:xfrm>
          <a:prstGeom prst="ellipse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57276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52728" y="153619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火山引擎TTS——中文深度适配的AI配音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51960" y="137160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51960" y="1371600"/>
            <a:ext cx="54864" cy="96012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89120" y="1572768"/>
            <a:ext cx="411480" cy="4114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0" y="157276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10328" y="153619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Fish Audio——表情标签精准情感控制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137160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09560" y="1371600"/>
            <a:ext cx="54864" cy="960120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046720" y="1572768"/>
            <a:ext cx="411480" cy="411480"/>
          </a:xfrm>
          <a:prstGeom prst="ellipse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46720" y="157276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67928" y="153619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剪映AI克隆音色——30秒训练专属配音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260604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4360" y="2606040"/>
            <a:ext cx="54864" cy="96012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31520" y="2807208"/>
            <a:ext cx="411480" cy="411480"/>
          </a:xfrm>
          <a:prstGeom prst="ellipse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280720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52728" y="277063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MiniMax Music-2.0——AI音乐生成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51960" y="260604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251960" y="2606040"/>
            <a:ext cx="54864" cy="96012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389120" y="2807208"/>
            <a:ext cx="411480" cy="411480"/>
          </a:xfrm>
          <a:prstGeom prst="ellipse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389120" y="280720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10328" y="277063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SkyReels-V4——音画同步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09560" y="260604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909560" y="2606040"/>
            <a:ext cx="54864" cy="960120"/>
          </a:xfrm>
          <a:prstGeom prst="rect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046720" y="2807208"/>
            <a:ext cx="411480" cy="411480"/>
          </a:xfrm>
          <a:prstGeom prst="ellipse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46720" y="280720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67928" y="277063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AI音效与环境音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384048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94360" y="3840480"/>
            <a:ext cx="54864" cy="96012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31520" y="4041648"/>
            <a:ext cx="411480" cy="411480"/>
          </a:xfrm>
          <a:prstGeom prst="ellipse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31520" y="40416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52728" y="400507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拟声字特效制作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251960" y="384048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251960" y="3840480"/>
            <a:ext cx="54864" cy="960120"/>
          </a:xfrm>
          <a:prstGeom prst="rect">
            <a:avLst/>
          </a:prstGeom>
          <a:solidFill>
            <a:srgbClr val="FF6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4389120" y="4041648"/>
            <a:ext cx="411480" cy="411480"/>
          </a:xfrm>
          <a:prstGeom prst="ellipse">
            <a:avLst/>
          </a:prstGeom>
          <a:solidFill>
            <a:srgbClr val="FF6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389120" y="40416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910328" y="400507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实战项目——一集完整漫剧音频制作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模块10 · 音频制作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00B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📊 🎤 AI音频工具核心参数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371600"/>
            <a:ext cx="2628900" cy="4754880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2628900" cy="635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371600"/>
            <a:ext cx="876300" cy="63500"/>
          </a:xfrm>
          <a:prstGeom prst="rect">
            <a:avLst/>
          </a:prstGeom>
          <a:solidFill>
            <a:srgbClr val="28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828800"/>
            <a:ext cx="24460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00E5FF"/>
                </a:solidFill>
                <a:latin typeface="Microsoft YaHei"/>
              </a:defRPr>
            </a:pPr>
            <a:r>
              <a:t>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926080"/>
            <a:ext cx="24460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5C6E8A"/>
                </a:solidFill>
                <a:latin typeface="Microsoft YaHei"/>
              </a:defRPr>
            </a:pPr>
            <a:r>
              <a:t>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383280"/>
            <a:ext cx="2080260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657600"/>
            <a:ext cx="24460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5F7FC"/>
                </a:solidFill>
                <a:latin typeface="Microsoft YaHei"/>
              </a:defRPr>
            </a:pPr>
            <a:r>
              <a:t>音色克隆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206240"/>
            <a:ext cx="23545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C6E8A"/>
                </a:solidFill>
                <a:latin typeface="Microsoft YaHei"/>
              </a:defRPr>
            </a:pPr>
            <a:r>
              <a:t>剪映AI克隆音色，极短样本训练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14700" y="1371600"/>
            <a:ext cx="2628900" cy="4754880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314700" y="1371600"/>
            <a:ext cx="2628900" cy="635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314700" y="1371600"/>
            <a:ext cx="876300" cy="63500"/>
          </a:xfrm>
          <a:prstGeom prst="rect">
            <a:avLst/>
          </a:prstGeom>
          <a:solidFill>
            <a:srgbClr val="D0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06140" y="1828800"/>
            <a:ext cx="24460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A855F7"/>
                </a:solidFill>
                <a:latin typeface="Microsoft YaHei"/>
              </a:defRPr>
            </a:pPr>
            <a:r>
              <a:t>50+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06140" y="2926080"/>
            <a:ext cx="24460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5C6E8A"/>
                </a:solidFill>
                <a:latin typeface="Microsoft YaHei"/>
              </a:defRPr>
            </a:pPr>
            <a:r>
              <a:t>种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89020" y="3383280"/>
            <a:ext cx="2080260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06140" y="3657600"/>
            <a:ext cx="24460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5F7FC"/>
                </a:solidFill>
                <a:latin typeface="Microsoft YaHei"/>
              </a:defRPr>
            </a:pPr>
            <a:r>
              <a:t>情感维度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51860" y="4206240"/>
            <a:ext cx="23545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C6E8A"/>
                </a:solidFill>
                <a:latin typeface="Microsoft YaHei"/>
              </a:defRPr>
            </a:pPr>
            <a:r>
              <a:t>Fish Audio表情标签精准控制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1371600"/>
            <a:ext cx="2628900" cy="4754880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72200" y="1371600"/>
            <a:ext cx="2628900" cy="63500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1371600"/>
            <a:ext cx="876300" cy="63500"/>
          </a:xfrm>
          <a:prstGeom prst="rect">
            <a:avLst/>
          </a:prstGeom>
          <a:solidFill>
            <a:srgbClr val="FF95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63640" y="1828800"/>
            <a:ext cx="24460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FF6D2E"/>
                </a:solidFill>
                <a:latin typeface="Microsoft YaHei"/>
              </a:defRPr>
            </a:pPr>
            <a:r>
              <a:t>ms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63640" y="2926080"/>
            <a:ext cx="24460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5C6E8A"/>
                </a:solidFill>
                <a:latin typeface="Microsoft YaHei"/>
              </a:defRPr>
            </a:pPr>
            <a:r>
              <a:t>级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46520" y="3383280"/>
            <a:ext cx="2080260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63640" y="3657600"/>
            <a:ext cx="24460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5F7FC"/>
                </a:solidFill>
                <a:latin typeface="Microsoft YaHei"/>
              </a:defRPr>
            </a:pPr>
            <a:r>
              <a:t>口型对齐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4206240"/>
            <a:ext cx="23545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C6E8A"/>
                </a:solidFill>
                <a:latin typeface="Microsoft YaHei"/>
              </a:defRPr>
            </a:pPr>
            <a:r>
              <a:t>SkyReels-V4毫秒级同步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029700" y="1371600"/>
            <a:ext cx="2628900" cy="4754880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029700" y="1371600"/>
            <a:ext cx="2628900" cy="635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029700" y="1371600"/>
            <a:ext cx="876300" cy="63500"/>
          </a:xfrm>
          <a:prstGeom prst="rect">
            <a:avLst/>
          </a:prstGeom>
          <a:solidFill>
            <a:srgbClr val="28FF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21140" y="1828800"/>
            <a:ext cx="24460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00E696"/>
                </a:solidFill>
                <a:latin typeface="Microsoft YaHei"/>
              </a:defRPr>
            </a:pPr>
            <a:r>
              <a:t>100+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21140" y="2926080"/>
            <a:ext cx="24460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5C6E8A"/>
                </a:solidFill>
                <a:latin typeface="Microsoft YaHei"/>
              </a:defRPr>
            </a:pPr>
            <a:r>
              <a:t>种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304020" y="3383280"/>
            <a:ext cx="2080260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21140" y="3657600"/>
            <a:ext cx="24460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5F7FC"/>
                </a:solidFill>
                <a:latin typeface="Microsoft YaHei"/>
              </a:defRPr>
            </a:pPr>
            <a:r>
              <a:t>音乐风格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66860" y="4206240"/>
            <a:ext cx="23545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C6E8A"/>
                </a:solidFill>
                <a:latin typeface="Microsoft YaHei"/>
              </a:defRPr>
            </a:pPr>
            <a:r>
              <a:t>MiniMax Music-2.0多风格生成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模块10 · 音频制作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00B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音频制作工具全景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73152" cy="71323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1463040"/>
            <a:ext cx="347472" cy="347472"/>
          </a:xfrm>
          <a:prstGeom prst="ellipse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46304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1453896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火山引擎TTS：中文发音准确度行业领先，支持SSML精细控制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088489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088489"/>
            <a:ext cx="73152" cy="71323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13232" y="2271369"/>
            <a:ext cx="347472" cy="347472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2271369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2262225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Fish Audio：表情标签系统精准控制情感，30秒声音克隆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2896819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2896819"/>
            <a:ext cx="73152" cy="713232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13232" y="3079699"/>
            <a:ext cx="347472" cy="347472"/>
          </a:xfrm>
          <a:prstGeom prst="ellipse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3079699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3070555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剪映AI配音：操作简单，内置多种音色，适合快速配音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705148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3705148"/>
            <a:ext cx="73152" cy="713232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13232" y="3888028"/>
            <a:ext cx="347472" cy="347472"/>
          </a:xfrm>
          <a:prstGeom prst="ellipse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232" y="388802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4440" y="387888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MiniMax Music-2.0：文生音乐，支持多种风格BGM生成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513478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4513478"/>
            <a:ext cx="73152" cy="713232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13232" y="4696358"/>
            <a:ext cx="347472" cy="347472"/>
          </a:xfrm>
          <a:prstGeom prst="ellipse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3232" y="469635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34440" y="468721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SkyReels-V4：毫秒级口型对齐，面部表情同步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321808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5321808"/>
            <a:ext cx="73152" cy="713232"/>
          </a:xfrm>
          <a:prstGeom prst="rect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13232" y="5504688"/>
            <a:ext cx="347472" cy="347472"/>
          </a:xfrm>
          <a:prstGeom prst="ellipse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13232" y="550468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34440" y="549554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剪映音效库：丰富的环境音、动作音效、情感音效资源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模块10 · 音频制作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00B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三大AI配音工具对比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371600"/>
            <a:ext cx="5349240" cy="4754880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5349240" cy="508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E696"/>
                </a:solidFill>
                <a:latin typeface="Microsoft YaHei"/>
              </a:defRPr>
            </a:pPr>
            <a:r>
              <a:t>火山引擎TTS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148840"/>
            <a:ext cx="1371600" cy="254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2478024"/>
            <a:ext cx="182880" cy="182880"/>
          </a:xfrm>
          <a:prstGeom prst="ellipse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242316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中文适配最好，发音准确</a:t>
            </a:r>
          </a:p>
        </p:txBody>
      </p:sp>
      <p:sp>
        <p:nvSpPr>
          <p:cNvPr id="14" name="Oval 13"/>
          <p:cNvSpPr/>
          <p:nvPr/>
        </p:nvSpPr>
        <p:spPr>
          <a:xfrm>
            <a:off x="731520" y="2980944"/>
            <a:ext cx="182880" cy="182880"/>
          </a:xfrm>
          <a:prstGeom prst="ellipse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29260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SSML精细控制语速/语调/停顿</a:t>
            </a:r>
          </a:p>
        </p:txBody>
      </p:sp>
      <p:sp>
        <p:nvSpPr>
          <p:cNvPr id="16" name="Oval 15"/>
          <p:cNvSpPr/>
          <p:nvPr/>
        </p:nvSpPr>
        <p:spPr>
          <a:xfrm>
            <a:off x="731520" y="3483864"/>
            <a:ext cx="182880" cy="182880"/>
          </a:xfrm>
          <a:prstGeom prst="ellipse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342900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支持批量文本转语音</a:t>
            </a:r>
          </a:p>
        </p:txBody>
      </p:sp>
      <p:sp>
        <p:nvSpPr>
          <p:cNvPr id="18" name="Oval 17"/>
          <p:cNvSpPr/>
          <p:nvPr/>
        </p:nvSpPr>
        <p:spPr>
          <a:xfrm>
            <a:off x="731520" y="3986784"/>
            <a:ext cx="182880" cy="182880"/>
          </a:xfrm>
          <a:prstGeom prst="ellipse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39319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适合：中文漫剧批量配音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1371600"/>
            <a:ext cx="5349240" cy="4754880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63640" y="1371600"/>
            <a:ext cx="5349240" cy="508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60" y="164592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A855F7"/>
                </a:solidFill>
                <a:latin typeface="Microsoft YaHei"/>
              </a:defRPr>
            </a:pPr>
            <a:r>
              <a:t>Fish Audio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37960" y="2148840"/>
            <a:ext cx="1371600" cy="254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537960" y="2478024"/>
            <a:ext cx="182880" cy="1828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0" y="242316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表情标签精准控制情感</a:t>
            </a:r>
          </a:p>
        </p:txBody>
      </p:sp>
      <p:sp>
        <p:nvSpPr>
          <p:cNvPr id="26" name="Oval 25"/>
          <p:cNvSpPr/>
          <p:nvPr/>
        </p:nvSpPr>
        <p:spPr>
          <a:xfrm>
            <a:off x="6537960" y="2980944"/>
            <a:ext cx="182880" cy="1828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0" y="29260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[开心][愤怒][悲伤] 标签嵌套</a:t>
            </a:r>
          </a:p>
        </p:txBody>
      </p:sp>
      <p:sp>
        <p:nvSpPr>
          <p:cNvPr id="28" name="Oval 27"/>
          <p:cNvSpPr/>
          <p:nvPr/>
        </p:nvSpPr>
        <p:spPr>
          <a:xfrm>
            <a:off x="6537960" y="3483864"/>
            <a:ext cx="182880" cy="1828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0" y="342900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30秒音频即可克隆音色</a:t>
            </a:r>
          </a:p>
        </p:txBody>
      </p:sp>
      <p:sp>
        <p:nvSpPr>
          <p:cNvPr id="30" name="Oval 29"/>
          <p:cNvSpPr/>
          <p:nvPr/>
        </p:nvSpPr>
        <p:spPr>
          <a:xfrm>
            <a:off x="6537960" y="3986784"/>
            <a:ext cx="182880" cy="1828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0" y="39319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适合：情感丰富的角色配音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模块10 · 音频制作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00B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角色音色推荐对照表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371600"/>
          <a:ext cx="110642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5486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5F7FC"/>
                          </a:solidFill>
                          <a:latin typeface="Microsoft YaHei"/>
                        </a:defRPr>
                      </a:pPr>
                      <a:r>
                        <a:t>角色类型</a:t>
                      </a:r>
                    </a:p>
                  </a:txBody>
                  <a:tcPr anchor="ctr">
                    <a:solidFill>
                      <a:srgbClr val="00E6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5F7FC"/>
                          </a:solidFill>
                          <a:latin typeface="Microsoft YaHei"/>
                        </a:defRPr>
                      </a:pPr>
                      <a:r>
                        <a:t>推荐音色</a:t>
                      </a:r>
                    </a:p>
                  </a:txBody>
                  <a:tcPr anchor="ctr">
                    <a:solidFill>
                      <a:srgbClr val="00E6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5F7FC"/>
                          </a:solidFill>
                          <a:latin typeface="Microsoft YaHei"/>
                        </a:defRPr>
                      </a:pPr>
                      <a:r>
                        <a:t>配音工具</a:t>
                      </a:r>
                    </a:p>
                  </a:txBody>
                  <a:tcPr anchor="ctr">
                    <a:solidFill>
                      <a:srgbClr val="00E6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5F7FC"/>
                          </a:solidFill>
                          <a:latin typeface="Microsoft YaHei"/>
                        </a:defRPr>
                      </a:pPr>
                      <a:r>
                        <a:t>情感风格</a:t>
                      </a:r>
                    </a:p>
                  </a:txBody>
                  <a:tcPr anchor="ctr">
                    <a:solidFill>
                      <a:srgbClr val="00E69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男主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磁性男声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火山引擎/Fish Audio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沉稳有力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女主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温柔女声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火山引擎/Fish Audio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柔美动听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反派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低沉男声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Fish Audio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阴沉冷酷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少年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少年音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火山引擎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清脆活泼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旁白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标准男声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剪映AI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清晰标准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模块10 · 音频制作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00B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批量配音完整流程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73152" cy="658368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1408176"/>
            <a:ext cx="365760" cy="365760"/>
          </a:xfrm>
          <a:prstGeom prst="ellipse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408176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5F7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61872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整理剧本对白，按角色分类，标注情感和语气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7824" y="1938528"/>
            <a:ext cx="19050" cy="146304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7200" y="2084832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2084832"/>
            <a:ext cx="73152" cy="658368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13232" y="2212848"/>
            <a:ext cx="365760" cy="36576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" y="2212848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5F7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217627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为每个角色分配音色，建立音色对照表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77824" y="2743200"/>
            <a:ext cx="19050" cy="146304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57200" y="2889504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889504"/>
            <a:ext cx="73152" cy="658368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13232" y="3017520"/>
            <a:ext cx="365760" cy="365760"/>
          </a:xfrm>
          <a:prstGeom prst="ellipse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3232" y="301752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5F7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61872" y="2980944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使用火山引擎/Fish Audio批量生成对白配音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77824" y="3547872"/>
            <a:ext cx="19050" cy="146304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57200" y="3694176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3694176"/>
            <a:ext cx="73152" cy="658368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13232" y="3822192"/>
            <a:ext cx="365760" cy="365760"/>
          </a:xfrm>
          <a:prstGeom prst="ellipse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3232" y="382219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5F7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61872" y="378561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逐句试听检查发音和情感，修正错误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77824" y="4352544"/>
            <a:ext cx="19050" cy="146304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57200" y="4498848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4498848"/>
            <a:ext cx="73152" cy="658368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13232" y="4626864"/>
            <a:ext cx="365760" cy="365760"/>
          </a:xfrm>
          <a:prstGeom prst="ellipse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3232" y="4626864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5F7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61872" y="459028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导入剪映时间轴，按镜头编号排列对齐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模块10 · 音频制作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00B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BGM场景匹配指南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73152" cy="71323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1463040"/>
            <a:ext cx="347472" cy="347472"/>
          </a:xfrm>
          <a:prstGeom prst="ellipse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46304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1453896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日常对话 → 轻音乐/钢琴，BPM 60-80，温馨轻松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088489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088489"/>
            <a:ext cx="73152" cy="71323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13232" y="2271369"/>
            <a:ext cx="347472" cy="347472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2271369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2262225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紧张对峙 → 电子/低音弦乐，BPM 90-120，紧张悬疑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2896819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2896819"/>
            <a:ext cx="73152" cy="713232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13232" y="3079699"/>
            <a:ext cx="347472" cy="347472"/>
          </a:xfrm>
          <a:prstGeom prst="ellipse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3079699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3070555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打斗场景 → 史诗/管弦乐，BPM 120-160，激昂热血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705148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3705148"/>
            <a:ext cx="73152" cy="713232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13232" y="3888028"/>
            <a:ext cx="347472" cy="347472"/>
          </a:xfrm>
          <a:prstGeom prst="ellipse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232" y="388802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4440" y="387888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悲伤场景 → 钢琴/大提琴，BPM 50-70，悲伤沉重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513478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4513478"/>
            <a:ext cx="73152" cy="713232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13232" y="4696358"/>
            <a:ext cx="347472" cy="347472"/>
          </a:xfrm>
          <a:prstGeom prst="ellipse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3232" y="469635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34440" y="468721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搞笑场景 → 欢快/卡通风，BPM 100-130，轻松搞笑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321808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5321808"/>
            <a:ext cx="73152" cy="713232"/>
          </a:xfrm>
          <a:prstGeom prst="rect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13232" y="5504688"/>
            <a:ext cx="347472" cy="347472"/>
          </a:xfrm>
          <a:prstGeom prst="ellipse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13232" y="550468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34440" y="549554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高潮场景 → 史诗/摇滚，BPM 140-180，震撼史诗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模块10 · 音频制作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00B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💡 音量平衡——音频制作的核心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463040"/>
            <a:ext cx="10698480" cy="2926080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463040"/>
            <a:ext cx="10698480" cy="635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1463040"/>
            <a:ext cx="63500" cy="292608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332720" y="1737360"/>
            <a:ext cx="731520" cy="731520"/>
          </a:xfrm>
          <a:prstGeom prst="ellipse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192024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5F7FC"/>
                </a:solidFill>
                <a:latin typeface="Microsoft YaHei"/>
              </a:defRPr>
            </a:pPr>
            <a:r>
              <a:t>对白必须最清晰，BGM不能干扰对白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663440"/>
            <a:ext cx="10698480" cy="1463040"/>
          </a:xfrm>
          <a:prstGeom prst="roundRect">
            <a:avLst/>
          </a:prstGeom>
          <a:solidFill>
            <a:srgbClr val="1A2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4663440"/>
            <a:ext cx="50800" cy="1463040"/>
          </a:xfrm>
          <a:prstGeom prst="rect">
            <a:avLst/>
          </a:prstGeom>
          <a:solidFill>
            <a:srgbClr val="5C6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800600"/>
            <a:ext cx="9875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音量层级：对白配音 0dB（基准）&gt; 动作音效 -6~-12dB &gt; BGM -12~-18dB &gt; 环境音 -18~-24dB。对白处自动降低BGM音量，高潮处提升整体音量，安静处突出环境音。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模块10 · 音频制作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00B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拟声字特效设计要点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73152" cy="71323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1463040"/>
            <a:ext cx="347472" cy="347472"/>
          </a:xfrm>
          <a:prstGeom prst="ellipse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46304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1453896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爆炸类："轰""嘭" → 粗体/毛笔字，红/橙色，缩放+震动，0.3秒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290572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290572"/>
            <a:ext cx="73152" cy="71323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13232" y="2473452"/>
            <a:ext cx="347472" cy="347472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2473452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246430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打击类："砰""啪" → 粗体，白/黄色，弹出+震动，0.2秒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300984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300984"/>
            <a:ext cx="73152" cy="713232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13232" y="3483864"/>
            <a:ext cx="347472" cy="347472"/>
          </a:xfrm>
          <a:prstGeom prst="ellipse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3483864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3474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技能类："斩""破" → 毛笔字，蓝/紫色，划过+拖尾，0.5秒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311396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311396"/>
            <a:ext cx="73152" cy="713232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13232" y="4494276"/>
            <a:ext cx="347472" cy="347472"/>
          </a:xfrm>
          <a:prstGeom prst="ellipse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232" y="4494276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4440" y="448513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搞笑类："duang""pia" → 卡通字体，彩色，弹跳+旋转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5321808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5321808"/>
            <a:ext cx="73152" cy="713232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13232" y="5504688"/>
            <a:ext cx="347472" cy="347472"/>
          </a:xfrm>
          <a:prstGeom prst="ellipse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3232" y="550468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34440" y="549554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关键：与音效时间轴精确对齐，提前0.1秒显示补偿反应时间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模块10 · 音频制作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00B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🛠️ 本模块实操任务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1426464"/>
            <a:ext cx="329184" cy="329184"/>
          </a:xfrm>
          <a:prstGeom prst="roundRect">
            <a:avLst/>
          </a:prstGeom>
          <a:noFill/>
          <a:ln w="12700">
            <a:solidFill>
              <a:srgbClr val="00E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1371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E696"/>
                </a:solidFill>
                <a:latin typeface="Microsoft YaHei"/>
              </a:defRPr>
            </a:pPr>
            <a:r>
              <a:t>#1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3716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注册火山引擎账号，测试5种不同音色的配音效果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084832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" y="2231136"/>
            <a:ext cx="329184" cy="329184"/>
          </a:xfrm>
          <a:prstGeom prst="roundRect">
            <a:avLst/>
          </a:prstGeom>
          <a:noFill/>
          <a:ln w="12700">
            <a:solidFill>
              <a:srgbClr val="00E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217627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E696"/>
                </a:solidFill>
                <a:latin typeface="Microsoft YaHei"/>
              </a:defRPr>
            </a:pPr>
            <a:r>
              <a:t>#2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176272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使用Fish Audio表情标签系统，生成10种不同情感的配音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889504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0080" y="3035808"/>
            <a:ext cx="329184" cy="329184"/>
          </a:xfrm>
          <a:prstGeom prst="roundRect">
            <a:avLst/>
          </a:prstGeom>
          <a:noFill/>
          <a:ln w="12700">
            <a:solidFill>
              <a:srgbClr val="00E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2980944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E696"/>
                </a:solidFill>
                <a:latin typeface="Microsoft YaHei"/>
              </a:defRPr>
            </a:pPr>
            <a:r>
              <a:t>#3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2980944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使用MiniMax Music为5种不同场景生成BGM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694176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40080" y="3840480"/>
            <a:ext cx="329184" cy="329184"/>
          </a:xfrm>
          <a:prstGeom prst="roundRect">
            <a:avLst/>
          </a:prstGeom>
          <a:noFill/>
          <a:ln w="12700">
            <a:solidFill>
              <a:srgbClr val="00E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7280" y="378561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E696"/>
                </a:solidFill>
                <a:latin typeface="Microsoft YaHei"/>
              </a:defRPr>
            </a:pPr>
            <a:r>
              <a:t>#4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3785616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为一集漫剧添加完整的音效（20+个）和拟声字特效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498848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0080" y="4645152"/>
            <a:ext cx="329184" cy="329184"/>
          </a:xfrm>
          <a:prstGeom prst="roundRect">
            <a:avLst/>
          </a:prstGeom>
          <a:noFill/>
          <a:ln w="12700">
            <a:solidFill>
              <a:srgbClr val="00E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459028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E696"/>
                </a:solidFill>
                <a:latin typeface="Microsoft YaHei"/>
              </a:defRPr>
            </a:pPr>
            <a:r>
              <a:t>#5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459028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完成一集漫剧的完整音频制作，包括配音+BGM+音效+混音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模块10 · 音频制作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952847" y="1508760"/>
            <a:ext cx="2286000" cy="2286000"/>
          </a:xfrm>
          <a:prstGeom prst="ellipse">
            <a:avLst/>
          </a:prstGeom>
          <a:solidFill>
            <a:srgbClr val="00A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090007" y="1645920"/>
            <a:ext cx="2011680" cy="2011680"/>
          </a:xfrm>
          <a:prstGeom prst="ellipse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90007" y="192024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F5F7FC"/>
                </a:solidFill>
                <a:latin typeface="Microsoft YaHei"/>
              </a:defRPr>
            </a:pPr>
            <a:r>
              <a:t>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93192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5F7FC"/>
                </a:solidFill>
                <a:latin typeface="Microsoft YaHei"/>
              </a:defRPr>
            </a:pPr>
            <a:r>
              <a:t>本模块结束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0" y="4754880"/>
            <a:ext cx="2103120" cy="381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0" y="4754880"/>
            <a:ext cx="701040" cy="38100"/>
          </a:xfrm>
          <a:prstGeom prst="rect">
            <a:avLst/>
          </a:prstGeom>
          <a:solidFill>
            <a:srgbClr val="1EFF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0" y="502920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0">
                <a:solidFill>
                  <a:srgbClr val="A8B8D0"/>
                </a:solidFill>
                <a:latin typeface="Microsoft YaHei"/>
              </a:defRPr>
            </a:pPr>
            <a:r>
              <a:t>下一模块：剪辑与后期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C6E8A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