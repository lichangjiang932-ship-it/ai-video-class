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315200" y="-1828800"/>
            <a:ext cx="7315200" cy="7315200"/>
          </a:xfrm>
          <a:prstGeom prst="ellipse">
            <a:avLst/>
          </a:prstGeom>
          <a:solidFill>
            <a:srgbClr val="F59E0B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743200" y="2743200"/>
            <a:ext cx="5486400" cy="5486400"/>
          </a:xfrm>
          <a:prstGeom prst="ellipse">
            <a:avLst/>
          </a:prstGeom>
          <a:solidFill>
            <a:srgbClr val="FABB31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0" y="4572000"/>
            <a:ext cx="3657600" cy="3657600"/>
          </a:xfrm>
          <a:prstGeom prst="ellipse">
            <a:avLst/>
          </a:prstGeom>
          <a:solidFill>
            <a:srgbClr val="FDE047">
              <a:alpha val="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303520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303520" y="0"/>
            <a:ext cx="182880" cy="6858000"/>
          </a:xfrm>
          <a:prstGeom prst="rect">
            <a:avLst/>
          </a:prstGeom>
          <a:solidFill>
            <a:srgbClr val="FAB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0" y="0"/>
            <a:ext cx="91440" cy="6858000"/>
          </a:xfrm>
          <a:prstGeom prst="rect">
            <a:avLst/>
          </a:prstGeom>
          <a:solidFill>
            <a:srgbClr val="7D5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5720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2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0584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8016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55448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82880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10312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37744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720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152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0584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28016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55448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82880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10312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37744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5720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3152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0584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28016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55448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82880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10312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37744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4320" y="73152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0" b="1">
                <a:solidFill>
                  <a:srgbClr val="FFFFFF"/>
                </a:solidFill>
                <a:latin typeface="Microsoft YaHei"/>
              </a:defRPr>
            </a:pPr>
            <a:r>
              <a:t>10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3657600"/>
            <a:ext cx="1828800" cy="329184"/>
          </a:xfrm>
          <a:prstGeom prst="roundRect">
            <a:avLst/>
          </a:prstGeom>
          <a:solidFill>
            <a:srgbClr val="0A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3657600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DE047"/>
                </a:solidFill>
                <a:latin typeface="Microsoft YaHei"/>
              </a:defRPr>
            </a:pPr>
            <a:r>
              <a:t>M O D U L 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4114800"/>
            <a:ext cx="285751" cy="38100"/>
          </a:xfrm>
          <a:prstGeom prst="rect">
            <a:avLst/>
          </a:prstGeom>
          <a:solidFill>
            <a:srgbClr val="FDE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42950" y="4114800"/>
            <a:ext cx="285750" cy="38100"/>
          </a:xfrm>
          <a:prstGeom prst="rect">
            <a:avLst/>
          </a:prstGeom>
          <a:solidFill>
            <a:srgbClr val="FBD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28700" y="4114800"/>
            <a:ext cx="285750" cy="38100"/>
          </a:xfrm>
          <a:prstGeom prst="rect">
            <a:avLst/>
          </a:prstGeom>
          <a:solidFill>
            <a:srgbClr val="FAC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314450" y="4114800"/>
            <a:ext cx="285750" cy="38100"/>
          </a:xfrm>
          <a:prstGeom prst="rect">
            <a:avLst/>
          </a:prstGeom>
          <a:solidFill>
            <a:srgbClr val="F9C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600200" y="4114800"/>
            <a:ext cx="285750" cy="38100"/>
          </a:xfrm>
          <a:prstGeom prst="rect">
            <a:avLst/>
          </a:prstGeom>
          <a:solidFill>
            <a:srgbClr val="F8B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885950" y="4114800"/>
            <a:ext cx="285750" cy="38100"/>
          </a:xfrm>
          <a:prstGeom prst="rect">
            <a:avLst/>
          </a:prstGeom>
          <a:solidFill>
            <a:srgbClr val="F7B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171700" y="4114800"/>
            <a:ext cx="285750" cy="38100"/>
          </a:xfrm>
          <a:prstGeom prst="rect">
            <a:avLst/>
          </a:prstGeom>
          <a:solidFill>
            <a:srgbClr val="F6A7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457450" y="4114800"/>
            <a:ext cx="28575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6035040" y="1097280"/>
            <a:ext cx="5486400" cy="457200"/>
          </a:xfrm>
          <a:prstGeom prst="roundRect">
            <a:avLst/>
          </a:prstGeom>
          <a:solidFill>
            <a:srgbClr val="4A3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035040" y="1097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DE047"/>
                </a:solidFill>
                <a:latin typeface="Microsoft YaHei"/>
              </a:defRPr>
            </a:pPr>
            <a:r>
              <a:t>AI漫剧制作全流程课程 · 2026版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35040" y="201168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0F0F5"/>
                </a:solidFill>
                <a:latin typeface="Microsoft YaHei"/>
              </a:defRPr>
            </a:pPr>
            <a:r>
              <a:t>模块10：AI音频——配音、配乐与音画同步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035040" y="3840480"/>
            <a:ext cx="400051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435090" y="3840480"/>
            <a:ext cx="400050" cy="38100"/>
          </a:xfrm>
          <a:prstGeom prst="rect">
            <a:avLst/>
          </a:prstGeom>
          <a:solidFill>
            <a:srgbClr val="F5A2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835140" y="3840480"/>
            <a:ext cx="400050" cy="38100"/>
          </a:xfrm>
          <a:prstGeom prst="rect">
            <a:avLst/>
          </a:prstGeom>
          <a:solidFill>
            <a:srgbClr val="F6A6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235190" y="3840480"/>
            <a:ext cx="400050" cy="38100"/>
          </a:xfrm>
          <a:prstGeom prst="rect">
            <a:avLst/>
          </a:prstGeom>
          <a:solidFill>
            <a:srgbClr val="F7A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635240" y="3840480"/>
            <a:ext cx="400050" cy="38100"/>
          </a:xfrm>
          <a:prstGeom prst="rect">
            <a:avLst/>
          </a:prstGeom>
          <a:solidFill>
            <a:srgbClr val="F7A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035290" y="3840480"/>
            <a:ext cx="400050" cy="38100"/>
          </a:xfrm>
          <a:prstGeom prst="rect">
            <a:avLst/>
          </a:prstGeom>
          <a:solidFill>
            <a:srgbClr val="F8B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435340" y="3840480"/>
            <a:ext cx="400050" cy="38100"/>
          </a:xfrm>
          <a:prstGeom prst="rect">
            <a:avLst/>
          </a:prstGeom>
          <a:solidFill>
            <a:srgbClr val="F9B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835390" y="3840480"/>
            <a:ext cx="400050" cy="38100"/>
          </a:xfrm>
          <a:prstGeom prst="rect">
            <a:avLst/>
          </a:prstGeom>
          <a:solidFill>
            <a:srgbClr val="FAB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035040" y="420624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8课时 · 掌握AI配音、配乐、音效与音画同步的全套音频制作技能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035040" y="5303520"/>
            <a:ext cx="5486400" cy="640080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172200" y="530352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59E0B"/>
                </a:solidFill>
                <a:latin typeface="Microsoft YaHei"/>
              </a:defRPr>
            </a:pPr>
            <a:r>
              <a:t>124课时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360920" y="5486400"/>
            <a:ext cx="12700" cy="27432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543800" y="530352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59E0B"/>
                </a:solidFill>
                <a:latin typeface="Microsoft YaHei"/>
              </a:defRPr>
            </a:pPr>
            <a:r>
              <a:t>17模块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732520" y="5486400"/>
            <a:ext cx="12700" cy="27432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915400" y="530352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59E0B"/>
                </a:solidFill>
                <a:latin typeface="Microsoft YaHei"/>
              </a:defRPr>
            </a:pPr>
            <a:r>
              <a:t>8-16周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0104120" y="5486400"/>
            <a:ext cx="12700" cy="27432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287000" y="530352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59E0B"/>
                </a:solidFill>
                <a:latin typeface="Microsoft YaHei"/>
              </a:defRPr>
            </a:pPr>
            <a:r>
              <a:t>全流程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1155680" y="0"/>
            <a:ext cx="1036015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1978640" y="0"/>
            <a:ext cx="38100" cy="7315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11521440" y="274320"/>
            <a:ext cx="137160" cy="137160"/>
          </a:xfrm>
          <a:prstGeom prst="ellipse">
            <a:avLst/>
          </a:prstGeom>
          <a:solidFill>
            <a:srgbClr val="FDE047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F59E0B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FABB31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F5A2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F6A6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F7A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F7A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F8B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F9B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FAB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§  本节内容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FDE047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731520" y="1397000"/>
            <a:ext cx="274320" cy="27432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44220" y="1397000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火山引擎TTS——中文深度适配的AI配音</a:t>
            </a:r>
          </a:p>
        </p:txBody>
      </p:sp>
      <p:sp>
        <p:nvSpPr>
          <p:cNvPr id="44" name="Oval 43"/>
          <p:cNvSpPr/>
          <p:nvPr/>
        </p:nvSpPr>
        <p:spPr>
          <a:xfrm>
            <a:off x="731520" y="1963928"/>
            <a:ext cx="274320" cy="27432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44220" y="1963928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97280" y="1938528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Fish Audio——表情标签精准情感控制</a:t>
            </a:r>
          </a:p>
        </p:txBody>
      </p:sp>
      <p:sp>
        <p:nvSpPr>
          <p:cNvPr id="47" name="Oval 46"/>
          <p:cNvSpPr/>
          <p:nvPr/>
        </p:nvSpPr>
        <p:spPr>
          <a:xfrm>
            <a:off x="731520" y="2530856"/>
            <a:ext cx="274320" cy="27432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44220" y="2530856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97280" y="2505456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剪映AI克隆音色——30秒训练专属配音</a:t>
            </a:r>
          </a:p>
        </p:txBody>
      </p:sp>
      <p:sp>
        <p:nvSpPr>
          <p:cNvPr id="50" name="Oval 49"/>
          <p:cNvSpPr/>
          <p:nvPr/>
        </p:nvSpPr>
        <p:spPr>
          <a:xfrm>
            <a:off x="731520" y="3097784"/>
            <a:ext cx="274320" cy="27432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44220" y="3097784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97280" y="3072384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MiniMax Music-2.0——AI音乐生成</a:t>
            </a:r>
          </a:p>
        </p:txBody>
      </p:sp>
      <p:sp>
        <p:nvSpPr>
          <p:cNvPr id="53" name="Oval 52"/>
          <p:cNvSpPr/>
          <p:nvPr/>
        </p:nvSpPr>
        <p:spPr>
          <a:xfrm>
            <a:off x="6400800" y="1397000"/>
            <a:ext cx="274320" cy="27432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13500" y="1397000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76656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SkyReels-V4——音画同步</a:t>
            </a:r>
          </a:p>
        </p:txBody>
      </p:sp>
      <p:sp>
        <p:nvSpPr>
          <p:cNvPr id="56" name="Oval 55"/>
          <p:cNvSpPr/>
          <p:nvPr/>
        </p:nvSpPr>
        <p:spPr>
          <a:xfrm>
            <a:off x="6400800" y="1963928"/>
            <a:ext cx="274320" cy="27432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413500" y="1963928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06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766560" y="1938528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AI音效与环境音</a:t>
            </a:r>
          </a:p>
        </p:txBody>
      </p:sp>
      <p:sp>
        <p:nvSpPr>
          <p:cNvPr id="59" name="Oval 58"/>
          <p:cNvSpPr/>
          <p:nvPr/>
        </p:nvSpPr>
        <p:spPr>
          <a:xfrm>
            <a:off x="6400800" y="2530856"/>
            <a:ext cx="274320" cy="27432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413500" y="2530856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07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766560" y="2505456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拟声字特效制作</a:t>
            </a:r>
          </a:p>
        </p:txBody>
      </p:sp>
      <p:sp>
        <p:nvSpPr>
          <p:cNvPr id="62" name="Oval 61"/>
          <p:cNvSpPr/>
          <p:nvPr/>
        </p:nvSpPr>
        <p:spPr>
          <a:xfrm>
            <a:off x="6400800" y="3097784"/>
            <a:ext cx="274320" cy="27432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413500" y="3097784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08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766560" y="3072384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实战项目——一集完整漫剧音频制作</a:t>
            </a:r>
          </a:p>
        </p:txBody>
      </p:sp>
      <p:sp>
        <p:nvSpPr>
          <p:cNvPr id="65" name="Rectangle 64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模块10 · 音频制作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F5A2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F6A6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F7A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F7A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F8B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F9B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FAB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F5A2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F6A6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F7A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F7A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F8B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F9B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FAB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▤  ◓ AI音频工具核心参数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FDE047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57200" y="1371600"/>
            <a:ext cx="2628900" cy="4754880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1371600"/>
            <a:ext cx="328613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85812" y="1371600"/>
            <a:ext cx="328612" cy="38100"/>
          </a:xfrm>
          <a:prstGeom prst="rect">
            <a:avLst/>
          </a:prstGeom>
          <a:solidFill>
            <a:srgbClr val="F5A2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114424" y="1371600"/>
            <a:ext cx="328612" cy="38100"/>
          </a:xfrm>
          <a:prstGeom prst="rect">
            <a:avLst/>
          </a:prstGeom>
          <a:solidFill>
            <a:srgbClr val="F6A6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443036" y="1371600"/>
            <a:ext cx="328612" cy="38100"/>
          </a:xfrm>
          <a:prstGeom prst="rect">
            <a:avLst/>
          </a:prstGeom>
          <a:solidFill>
            <a:srgbClr val="F7A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771648" y="1371600"/>
            <a:ext cx="328612" cy="38100"/>
          </a:xfrm>
          <a:prstGeom prst="rect">
            <a:avLst/>
          </a:prstGeom>
          <a:solidFill>
            <a:srgbClr val="F7A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100260" y="1371600"/>
            <a:ext cx="328612" cy="38100"/>
          </a:xfrm>
          <a:prstGeom prst="rect">
            <a:avLst/>
          </a:prstGeom>
          <a:solidFill>
            <a:srgbClr val="F8B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428872" y="1371600"/>
            <a:ext cx="328612" cy="38100"/>
          </a:xfrm>
          <a:prstGeom prst="rect">
            <a:avLst/>
          </a:prstGeom>
          <a:solidFill>
            <a:srgbClr val="F9B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757484" y="1371600"/>
            <a:ext cx="328612" cy="38100"/>
          </a:xfrm>
          <a:prstGeom prst="rect">
            <a:avLst/>
          </a:prstGeom>
          <a:solidFill>
            <a:srgbClr val="FAB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57250" y="914400"/>
            <a:ext cx="1828800" cy="1828800"/>
          </a:xfrm>
          <a:prstGeom prst="ellipse">
            <a:avLst/>
          </a:prstGeom>
          <a:solidFill>
            <a:srgbClr val="F59E0B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1371600"/>
            <a:ext cx="328613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85812" y="1371600"/>
            <a:ext cx="328612" cy="50800"/>
          </a:xfrm>
          <a:prstGeom prst="rect">
            <a:avLst/>
          </a:prstGeom>
          <a:solidFill>
            <a:srgbClr val="F5A2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14424" y="1371600"/>
            <a:ext cx="328612" cy="50800"/>
          </a:xfrm>
          <a:prstGeom prst="rect">
            <a:avLst/>
          </a:prstGeom>
          <a:solidFill>
            <a:srgbClr val="F6A6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443036" y="1371600"/>
            <a:ext cx="328612" cy="50800"/>
          </a:xfrm>
          <a:prstGeom prst="rect">
            <a:avLst/>
          </a:prstGeom>
          <a:solidFill>
            <a:srgbClr val="F7A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771648" y="1371600"/>
            <a:ext cx="328612" cy="50800"/>
          </a:xfrm>
          <a:prstGeom prst="rect">
            <a:avLst/>
          </a:prstGeom>
          <a:solidFill>
            <a:srgbClr val="F7A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100260" y="1371600"/>
            <a:ext cx="328612" cy="50800"/>
          </a:xfrm>
          <a:prstGeom prst="rect">
            <a:avLst/>
          </a:prstGeom>
          <a:solidFill>
            <a:srgbClr val="F8B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428872" y="1371600"/>
            <a:ext cx="328612" cy="50800"/>
          </a:xfrm>
          <a:prstGeom prst="rect">
            <a:avLst/>
          </a:prstGeom>
          <a:solidFill>
            <a:srgbClr val="F9B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757484" y="1371600"/>
            <a:ext cx="328612" cy="50800"/>
          </a:xfrm>
          <a:prstGeom prst="rect">
            <a:avLst/>
          </a:prstGeom>
          <a:solidFill>
            <a:srgbClr val="FAB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1737360"/>
            <a:ext cx="24460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59E0B"/>
                </a:solidFill>
                <a:latin typeface="Microsoft YaHei"/>
              </a:defRPr>
            </a:pPr>
            <a:r>
              <a:t>30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2926080"/>
            <a:ext cx="24460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E7082"/>
                </a:solidFill>
                <a:latin typeface="Microsoft YaHei"/>
              </a:defRPr>
            </a:pPr>
            <a:r>
              <a:t>秒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1520" y="3337560"/>
            <a:ext cx="2080260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3520440"/>
            <a:ext cx="24460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0F0F5"/>
                </a:solidFill>
                <a:latin typeface="Microsoft YaHei"/>
              </a:defRPr>
            </a:pPr>
            <a:r>
              <a:t>音色克隆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4023360"/>
            <a:ext cx="23545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E7082"/>
                </a:solidFill>
                <a:latin typeface="Microsoft YaHei"/>
              </a:defRPr>
            </a:pPr>
            <a:r>
              <a:t>剪映AI克隆音色，极短样本训练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314700" y="1371600"/>
            <a:ext cx="2628900" cy="4754880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314700" y="1371600"/>
            <a:ext cx="328613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643312" y="1371600"/>
            <a:ext cx="328612" cy="38100"/>
          </a:xfrm>
          <a:prstGeom prst="rect">
            <a:avLst/>
          </a:prstGeom>
          <a:solidFill>
            <a:srgbClr val="F5A2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971924" y="1371600"/>
            <a:ext cx="328612" cy="38100"/>
          </a:xfrm>
          <a:prstGeom prst="rect">
            <a:avLst/>
          </a:prstGeom>
          <a:solidFill>
            <a:srgbClr val="F6A6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300536" y="1371600"/>
            <a:ext cx="328612" cy="38100"/>
          </a:xfrm>
          <a:prstGeom prst="rect">
            <a:avLst/>
          </a:prstGeom>
          <a:solidFill>
            <a:srgbClr val="F7A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629148" y="1371600"/>
            <a:ext cx="328612" cy="38100"/>
          </a:xfrm>
          <a:prstGeom prst="rect">
            <a:avLst/>
          </a:prstGeom>
          <a:solidFill>
            <a:srgbClr val="F7A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957760" y="1371600"/>
            <a:ext cx="328612" cy="38100"/>
          </a:xfrm>
          <a:prstGeom prst="rect">
            <a:avLst/>
          </a:prstGeom>
          <a:solidFill>
            <a:srgbClr val="F8B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286372" y="1371600"/>
            <a:ext cx="328612" cy="38100"/>
          </a:xfrm>
          <a:prstGeom prst="rect">
            <a:avLst/>
          </a:prstGeom>
          <a:solidFill>
            <a:srgbClr val="F9B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614984" y="1371600"/>
            <a:ext cx="328612" cy="38100"/>
          </a:xfrm>
          <a:prstGeom prst="rect">
            <a:avLst/>
          </a:prstGeom>
          <a:solidFill>
            <a:srgbClr val="FAB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3714750" y="914400"/>
            <a:ext cx="1828800" cy="1828800"/>
          </a:xfrm>
          <a:prstGeom prst="ellipse">
            <a:avLst/>
          </a:prstGeom>
          <a:solidFill>
            <a:srgbClr val="F59E0B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314700" y="1371600"/>
            <a:ext cx="328613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643312" y="1371600"/>
            <a:ext cx="328612" cy="50800"/>
          </a:xfrm>
          <a:prstGeom prst="rect">
            <a:avLst/>
          </a:prstGeom>
          <a:solidFill>
            <a:srgbClr val="F5A2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971924" y="1371600"/>
            <a:ext cx="328612" cy="50800"/>
          </a:xfrm>
          <a:prstGeom prst="rect">
            <a:avLst/>
          </a:prstGeom>
          <a:solidFill>
            <a:srgbClr val="F6A6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300536" y="1371600"/>
            <a:ext cx="328612" cy="50800"/>
          </a:xfrm>
          <a:prstGeom prst="rect">
            <a:avLst/>
          </a:prstGeom>
          <a:solidFill>
            <a:srgbClr val="F7A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629148" y="1371600"/>
            <a:ext cx="328612" cy="50800"/>
          </a:xfrm>
          <a:prstGeom prst="rect">
            <a:avLst/>
          </a:prstGeom>
          <a:solidFill>
            <a:srgbClr val="F7A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957760" y="1371600"/>
            <a:ext cx="328612" cy="50800"/>
          </a:xfrm>
          <a:prstGeom prst="rect">
            <a:avLst/>
          </a:prstGeom>
          <a:solidFill>
            <a:srgbClr val="F8B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286372" y="1371600"/>
            <a:ext cx="328612" cy="50800"/>
          </a:xfrm>
          <a:prstGeom prst="rect">
            <a:avLst/>
          </a:prstGeom>
          <a:solidFill>
            <a:srgbClr val="F9B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614984" y="1371600"/>
            <a:ext cx="328612" cy="50800"/>
          </a:xfrm>
          <a:prstGeom prst="rect">
            <a:avLst/>
          </a:prstGeom>
          <a:solidFill>
            <a:srgbClr val="FAB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406140" y="1737360"/>
            <a:ext cx="24460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59E0B"/>
                </a:solidFill>
                <a:latin typeface="Microsoft YaHei"/>
              </a:defRPr>
            </a:pPr>
            <a:r>
              <a:t>50+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406140" y="2926080"/>
            <a:ext cx="24460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E7082"/>
                </a:solidFill>
                <a:latin typeface="Microsoft YaHei"/>
              </a:defRPr>
            </a:pPr>
            <a:r>
              <a:t>种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589020" y="3337560"/>
            <a:ext cx="2080260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406140" y="3520440"/>
            <a:ext cx="24460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0F0F5"/>
                </a:solidFill>
                <a:latin typeface="Microsoft YaHei"/>
              </a:defRPr>
            </a:pPr>
            <a:r>
              <a:t>情感维度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451860" y="4023360"/>
            <a:ext cx="23545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E7082"/>
                </a:solidFill>
                <a:latin typeface="Microsoft YaHei"/>
              </a:defRPr>
            </a:pPr>
            <a:r>
              <a:t>Fish Audio表情标签精准控制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172200" y="1371600"/>
            <a:ext cx="2628900" cy="4754880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172200" y="1371600"/>
            <a:ext cx="328613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500812" y="1371600"/>
            <a:ext cx="328612" cy="38100"/>
          </a:xfrm>
          <a:prstGeom prst="rect">
            <a:avLst/>
          </a:prstGeom>
          <a:solidFill>
            <a:srgbClr val="F5A2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829424" y="1371600"/>
            <a:ext cx="328612" cy="38100"/>
          </a:xfrm>
          <a:prstGeom prst="rect">
            <a:avLst/>
          </a:prstGeom>
          <a:solidFill>
            <a:srgbClr val="F6A6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158036" y="1371600"/>
            <a:ext cx="328612" cy="38100"/>
          </a:xfrm>
          <a:prstGeom prst="rect">
            <a:avLst/>
          </a:prstGeom>
          <a:solidFill>
            <a:srgbClr val="F7A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486648" y="1371600"/>
            <a:ext cx="328612" cy="38100"/>
          </a:xfrm>
          <a:prstGeom prst="rect">
            <a:avLst/>
          </a:prstGeom>
          <a:solidFill>
            <a:srgbClr val="F7A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815260" y="1371600"/>
            <a:ext cx="328612" cy="38100"/>
          </a:xfrm>
          <a:prstGeom prst="rect">
            <a:avLst/>
          </a:prstGeom>
          <a:solidFill>
            <a:srgbClr val="F8B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8143872" y="1371600"/>
            <a:ext cx="328612" cy="38100"/>
          </a:xfrm>
          <a:prstGeom prst="rect">
            <a:avLst/>
          </a:prstGeom>
          <a:solidFill>
            <a:srgbClr val="F9B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8472484" y="1371600"/>
            <a:ext cx="328612" cy="38100"/>
          </a:xfrm>
          <a:prstGeom prst="rect">
            <a:avLst/>
          </a:prstGeom>
          <a:solidFill>
            <a:srgbClr val="FAB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6572250" y="914400"/>
            <a:ext cx="1828800" cy="1828800"/>
          </a:xfrm>
          <a:prstGeom prst="ellipse">
            <a:avLst/>
          </a:prstGeom>
          <a:solidFill>
            <a:srgbClr val="F59E0B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172200" y="1371600"/>
            <a:ext cx="328613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500812" y="1371600"/>
            <a:ext cx="328612" cy="50800"/>
          </a:xfrm>
          <a:prstGeom prst="rect">
            <a:avLst/>
          </a:prstGeom>
          <a:solidFill>
            <a:srgbClr val="F5A2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829424" y="1371600"/>
            <a:ext cx="328612" cy="50800"/>
          </a:xfrm>
          <a:prstGeom prst="rect">
            <a:avLst/>
          </a:prstGeom>
          <a:solidFill>
            <a:srgbClr val="F6A6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7158036" y="1371600"/>
            <a:ext cx="328612" cy="50800"/>
          </a:xfrm>
          <a:prstGeom prst="rect">
            <a:avLst/>
          </a:prstGeom>
          <a:solidFill>
            <a:srgbClr val="F7A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486648" y="1371600"/>
            <a:ext cx="328612" cy="50800"/>
          </a:xfrm>
          <a:prstGeom prst="rect">
            <a:avLst/>
          </a:prstGeom>
          <a:solidFill>
            <a:srgbClr val="F7A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815260" y="1371600"/>
            <a:ext cx="328612" cy="50800"/>
          </a:xfrm>
          <a:prstGeom prst="rect">
            <a:avLst/>
          </a:prstGeom>
          <a:solidFill>
            <a:srgbClr val="F8B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8143872" y="1371600"/>
            <a:ext cx="328612" cy="50800"/>
          </a:xfrm>
          <a:prstGeom prst="rect">
            <a:avLst/>
          </a:prstGeom>
          <a:solidFill>
            <a:srgbClr val="F9B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8472484" y="1371600"/>
            <a:ext cx="328612" cy="50800"/>
          </a:xfrm>
          <a:prstGeom prst="rect">
            <a:avLst/>
          </a:prstGeom>
          <a:solidFill>
            <a:srgbClr val="FAB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263640" y="1737360"/>
            <a:ext cx="24460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59E0B"/>
                </a:solidFill>
                <a:latin typeface="Microsoft YaHei"/>
              </a:defRPr>
            </a:pPr>
            <a:r>
              <a:t>ms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263640" y="2926080"/>
            <a:ext cx="24460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E7082"/>
                </a:solidFill>
                <a:latin typeface="Microsoft YaHei"/>
              </a:defRPr>
            </a:pPr>
            <a:r>
              <a:t>级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446520" y="3337560"/>
            <a:ext cx="2080260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263640" y="3520440"/>
            <a:ext cx="24460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0F0F5"/>
                </a:solidFill>
                <a:latin typeface="Microsoft YaHei"/>
              </a:defRPr>
            </a:pPr>
            <a:r>
              <a:t>口型对齐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309360" y="4023360"/>
            <a:ext cx="23545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E7082"/>
                </a:solidFill>
                <a:latin typeface="Microsoft YaHei"/>
              </a:defRPr>
            </a:pPr>
            <a:r>
              <a:t>SkyReels-V4毫秒级同步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9029700" y="1371600"/>
            <a:ext cx="2628900" cy="4754880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9029700" y="1371600"/>
            <a:ext cx="328613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9358312" y="1371600"/>
            <a:ext cx="328612" cy="38100"/>
          </a:xfrm>
          <a:prstGeom prst="rect">
            <a:avLst/>
          </a:prstGeom>
          <a:solidFill>
            <a:srgbClr val="F5A2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9686924" y="1371600"/>
            <a:ext cx="328612" cy="38100"/>
          </a:xfrm>
          <a:prstGeom prst="rect">
            <a:avLst/>
          </a:prstGeom>
          <a:solidFill>
            <a:srgbClr val="F6A6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10015536" y="1371600"/>
            <a:ext cx="328612" cy="38100"/>
          </a:xfrm>
          <a:prstGeom prst="rect">
            <a:avLst/>
          </a:prstGeom>
          <a:solidFill>
            <a:srgbClr val="F7A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10344148" y="1371600"/>
            <a:ext cx="328612" cy="38100"/>
          </a:xfrm>
          <a:prstGeom prst="rect">
            <a:avLst/>
          </a:prstGeom>
          <a:solidFill>
            <a:srgbClr val="F7A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10672760" y="1371600"/>
            <a:ext cx="328612" cy="38100"/>
          </a:xfrm>
          <a:prstGeom prst="rect">
            <a:avLst/>
          </a:prstGeom>
          <a:solidFill>
            <a:srgbClr val="F8B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11001372" y="1371600"/>
            <a:ext cx="328612" cy="38100"/>
          </a:xfrm>
          <a:prstGeom prst="rect">
            <a:avLst/>
          </a:prstGeom>
          <a:solidFill>
            <a:srgbClr val="F9B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11329984" y="1371600"/>
            <a:ext cx="328612" cy="38100"/>
          </a:xfrm>
          <a:prstGeom prst="rect">
            <a:avLst/>
          </a:prstGeom>
          <a:solidFill>
            <a:srgbClr val="FAB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9429750" y="914400"/>
            <a:ext cx="1828800" cy="1828800"/>
          </a:xfrm>
          <a:prstGeom prst="ellipse">
            <a:avLst/>
          </a:prstGeom>
          <a:solidFill>
            <a:srgbClr val="F59E0B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9029700" y="1371600"/>
            <a:ext cx="328613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9358312" y="1371600"/>
            <a:ext cx="328612" cy="50800"/>
          </a:xfrm>
          <a:prstGeom prst="rect">
            <a:avLst/>
          </a:prstGeom>
          <a:solidFill>
            <a:srgbClr val="F5A2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9686924" y="1371600"/>
            <a:ext cx="328612" cy="50800"/>
          </a:xfrm>
          <a:prstGeom prst="rect">
            <a:avLst/>
          </a:prstGeom>
          <a:solidFill>
            <a:srgbClr val="F6A6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10015536" y="1371600"/>
            <a:ext cx="328612" cy="50800"/>
          </a:xfrm>
          <a:prstGeom prst="rect">
            <a:avLst/>
          </a:prstGeom>
          <a:solidFill>
            <a:srgbClr val="F7A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10344148" y="1371600"/>
            <a:ext cx="328612" cy="50800"/>
          </a:xfrm>
          <a:prstGeom prst="rect">
            <a:avLst/>
          </a:prstGeom>
          <a:solidFill>
            <a:srgbClr val="F7A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10672760" y="1371600"/>
            <a:ext cx="328612" cy="50800"/>
          </a:xfrm>
          <a:prstGeom prst="rect">
            <a:avLst/>
          </a:prstGeom>
          <a:solidFill>
            <a:srgbClr val="F8B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11001372" y="1371600"/>
            <a:ext cx="328612" cy="50800"/>
          </a:xfrm>
          <a:prstGeom prst="rect">
            <a:avLst/>
          </a:prstGeom>
          <a:solidFill>
            <a:srgbClr val="F9B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11329984" y="1371600"/>
            <a:ext cx="328612" cy="50800"/>
          </a:xfrm>
          <a:prstGeom prst="rect">
            <a:avLst/>
          </a:prstGeom>
          <a:solidFill>
            <a:srgbClr val="FAB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9121140" y="1737360"/>
            <a:ext cx="24460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59E0B"/>
                </a:solidFill>
                <a:latin typeface="Microsoft YaHei"/>
              </a:defRPr>
            </a:pPr>
            <a:r>
              <a:t>100+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9121140" y="2926080"/>
            <a:ext cx="24460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E7082"/>
                </a:solidFill>
                <a:latin typeface="Microsoft YaHei"/>
              </a:defRPr>
            </a:pPr>
            <a:r>
              <a:t>种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9304020" y="3337560"/>
            <a:ext cx="2080260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9121140" y="3520440"/>
            <a:ext cx="24460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0F0F5"/>
                </a:solidFill>
                <a:latin typeface="Microsoft YaHei"/>
              </a:defRPr>
            </a:pPr>
            <a:r>
              <a:t>音乐风格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9166860" y="4023360"/>
            <a:ext cx="23545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E7082"/>
                </a:solidFill>
                <a:latin typeface="Microsoft YaHei"/>
              </a:defRPr>
            </a:pPr>
            <a:r>
              <a:t>MiniMax Music-2.0多风格生成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模块10 · 音频制作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F5A2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F6A6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F7A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F7A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F8B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F9B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FAB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F59E0B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FABB31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F5A2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F6A6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F7A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F7A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F8B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F9B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FAB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音频制作工具全景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FDE047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31520" y="1444752"/>
            <a:ext cx="6859" cy="365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8378" y="1444752"/>
            <a:ext cx="6858" cy="365760"/>
          </a:xfrm>
          <a:prstGeom prst="rect">
            <a:avLst/>
          </a:prstGeom>
          <a:solidFill>
            <a:srgbClr val="F5A2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45236" y="1444752"/>
            <a:ext cx="6858" cy="365760"/>
          </a:xfrm>
          <a:prstGeom prst="rect">
            <a:avLst/>
          </a:prstGeom>
          <a:solidFill>
            <a:srgbClr val="F6A6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52094" y="1444752"/>
            <a:ext cx="6858" cy="365760"/>
          </a:xfrm>
          <a:prstGeom prst="rect">
            <a:avLst/>
          </a:prstGeom>
          <a:solidFill>
            <a:srgbClr val="F7A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58952" y="1444752"/>
            <a:ext cx="6858" cy="365760"/>
          </a:xfrm>
          <a:prstGeom prst="rect">
            <a:avLst/>
          </a:prstGeom>
          <a:solidFill>
            <a:srgbClr val="F7A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65810" y="1444752"/>
            <a:ext cx="6858" cy="365760"/>
          </a:xfrm>
          <a:prstGeom prst="rect">
            <a:avLst/>
          </a:prstGeom>
          <a:solidFill>
            <a:srgbClr val="F8B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72668" y="1444752"/>
            <a:ext cx="6858" cy="365760"/>
          </a:xfrm>
          <a:prstGeom prst="rect">
            <a:avLst/>
          </a:prstGeom>
          <a:solidFill>
            <a:srgbClr val="F9B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79526" y="1444752"/>
            <a:ext cx="6858" cy="365760"/>
          </a:xfrm>
          <a:prstGeom prst="rect">
            <a:avLst/>
          </a:prstGeom>
          <a:solidFill>
            <a:srgbClr val="FAB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2688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火山引擎TTS：中文发音准确度行业领先，支持SSML精细控制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31520" y="2249424"/>
            <a:ext cx="6859" cy="365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38378" y="2249424"/>
            <a:ext cx="6858" cy="365760"/>
          </a:xfrm>
          <a:prstGeom prst="rect">
            <a:avLst/>
          </a:prstGeom>
          <a:solidFill>
            <a:srgbClr val="F5A2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45236" y="2249424"/>
            <a:ext cx="6858" cy="365760"/>
          </a:xfrm>
          <a:prstGeom prst="rect">
            <a:avLst/>
          </a:prstGeom>
          <a:solidFill>
            <a:srgbClr val="F6A6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52094" y="2249424"/>
            <a:ext cx="6858" cy="365760"/>
          </a:xfrm>
          <a:prstGeom prst="rect">
            <a:avLst/>
          </a:prstGeom>
          <a:solidFill>
            <a:srgbClr val="F7A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58952" y="2249424"/>
            <a:ext cx="6858" cy="365760"/>
          </a:xfrm>
          <a:prstGeom prst="rect">
            <a:avLst/>
          </a:prstGeom>
          <a:solidFill>
            <a:srgbClr val="F7A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65810" y="2249424"/>
            <a:ext cx="6858" cy="365760"/>
          </a:xfrm>
          <a:prstGeom prst="rect">
            <a:avLst/>
          </a:prstGeom>
          <a:solidFill>
            <a:srgbClr val="F8B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72668" y="2249424"/>
            <a:ext cx="6858" cy="365760"/>
          </a:xfrm>
          <a:prstGeom prst="rect">
            <a:avLst/>
          </a:prstGeom>
          <a:solidFill>
            <a:srgbClr val="F9B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79526" y="2249424"/>
            <a:ext cx="6858" cy="365760"/>
          </a:xfrm>
          <a:prstGeom prst="rect">
            <a:avLst/>
          </a:prstGeom>
          <a:solidFill>
            <a:srgbClr val="FAB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32688" y="217627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Fish Audio：表情标签系统精准控制情感，30秒声音克隆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31520" y="3054096"/>
            <a:ext cx="6859" cy="365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38378" y="3054096"/>
            <a:ext cx="6858" cy="365760"/>
          </a:xfrm>
          <a:prstGeom prst="rect">
            <a:avLst/>
          </a:prstGeom>
          <a:solidFill>
            <a:srgbClr val="F5A2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45236" y="3054096"/>
            <a:ext cx="6858" cy="365760"/>
          </a:xfrm>
          <a:prstGeom prst="rect">
            <a:avLst/>
          </a:prstGeom>
          <a:solidFill>
            <a:srgbClr val="F6A6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52094" y="3054096"/>
            <a:ext cx="6858" cy="365760"/>
          </a:xfrm>
          <a:prstGeom prst="rect">
            <a:avLst/>
          </a:prstGeom>
          <a:solidFill>
            <a:srgbClr val="F7A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58952" y="3054096"/>
            <a:ext cx="6858" cy="365760"/>
          </a:xfrm>
          <a:prstGeom prst="rect">
            <a:avLst/>
          </a:prstGeom>
          <a:solidFill>
            <a:srgbClr val="F7A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65810" y="3054096"/>
            <a:ext cx="6858" cy="365760"/>
          </a:xfrm>
          <a:prstGeom prst="rect">
            <a:avLst/>
          </a:prstGeom>
          <a:solidFill>
            <a:srgbClr val="F8B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72668" y="3054096"/>
            <a:ext cx="6858" cy="365760"/>
          </a:xfrm>
          <a:prstGeom prst="rect">
            <a:avLst/>
          </a:prstGeom>
          <a:solidFill>
            <a:srgbClr val="F9B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79526" y="3054096"/>
            <a:ext cx="6858" cy="365760"/>
          </a:xfrm>
          <a:prstGeom prst="rect">
            <a:avLst/>
          </a:prstGeom>
          <a:solidFill>
            <a:srgbClr val="FAB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32688" y="2980944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剪映AI配音：操作简单，内置多种音色，适合快速配音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31520" y="3858768"/>
            <a:ext cx="6859" cy="365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38378" y="3858768"/>
            <a:ext cx="6858" cy="365760"/>
          </a:xfrm>
          <a:prstGeom prst="rect">
            <a:avLst/>
          </a:prstGeom>
          <a:solidFill>
            <a:srgbClr val="F5A2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45236" y="3858768"/>
            <a:ext cx="6858" cy="365760"/>
          </a:xfrm>
          <a:prstGeom prst="rect">
            <a:avLst/>
          </a:prstGeom>
          <a:solidFill>
            <a:srgbClr val="F6A6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752094" y="3858768"/>
            <a:ext cx="6858" cy="365760"/>
          </a:xfrm>
          <a:prstGeom prst="rect">
            <a:avLst/>
          </a:prstGeom>
          <a:solidFill>
            <a:srgbClr val="F7A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58952" y="3858768"/>
            <a:ext cx="6858" cy="365760"/>
          </a:xfrm>
          <a:prstGeom prst="rect">
            <a:avLst/>
          </a:prstGeom>
          <a:solidFill>
            <a:srgbClr val="F7A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65810" y="3858768"/>
            <a:ext cx="6858" cy="365760"/>
          </a:xfrm>
          <a:prstGeom prst="rect">
            <a:avLst/>
          </a:prstGeom>
          <a:solidFill>
            <a:srgbClr val="F8B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772668" y="3858768"/>
            <a:ext cx="6858" cy="365760"/>
          </a:xfrm>
          <a:prstGeom prst="rect">
            <a:avLst/>
          </a:prstGeom>
          <a:solidFill>
            <a:srgbClr val="F9B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79526" y="3858768"/>
            <a:ext cx="6858" cy="365760"/>
          </a:xfrm>
          <a:prstGeom prst="rect">
            <a:avLst/>
          </a:prstGeom>
          <a:solidFill>
            <a:srgbClr val="FAB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32688" y="3785616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MiniMax Music-2.0：文生音乐，支持多种风格BGM生成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31520" y="4663440"/>
            <a:ext cx="6859" cy="365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38378" y="4663440"/>
            <a:ext cx="6858" cy="365760"/>
          </a:xfrm>
          <a:prstGeom prst="rect">
            <a:avLst/>
          </a:prstGeom>
          <a:solidFill>
            <a:srgbClr val="F5A2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45236" y="4663440"/>
            <a:ext cx="6858" cy="365760"/>
          </a:xfrm>
          <a:prstGeom prst="rect">
            <a:avLst/>
          </a:prstGeom>
          <a:solidFill>
            <a:srgbClr val="F6A6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52094" y="4663440"/>
            <a:ext cx="6858" cy="365760"/>
          </a:xfrm>
          <a:prstGeom prst="rect">
            <a:avLst/>
          </a:prstGeom>
          <a:solidFill>
            <a:srgbClr val="F7A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58952" y="4663440"/>
            <a:ext cx="6858" cy="365760"/>
          </a:xfrm>
          <a:prstGeom prst="rect">
            <a:avLst/>
          </a:prstGeom>
          <a:solidFill>
            <a:srgbClr val="F7A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65810" y="4663440"/>
            <a:ext cx="6858" cy="365760"/>
          </a:xfrm>
          <a:prstGeom prst="rect">
            <a:avLst/>
          </a:prstGeom>
          <a:solidFill>
            <a:srgbClr val="F8B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72668" y="4663440"/>
            <a:ext cx="6858" cy="365760"/>
          </a:xfrm>
          <a:prstGeom prst="rect">
            <a:avLst/>
          </a:prstGeom>
          <a:solidFill>
            <a:srgbClr val="F9B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79526" y="4663440"/>
            <a:ext cx="6858" cy="365760"/>
          </a:xfrm>
          <a:prstGeom prst="rect">
            <a:avLst/>
          </a:prstGeom>
          <a:solidFill>
            <a:srgbClr val="FAB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32688" y="459028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SkyReels-V4：毫秒级口型对齐，面部表情同步</a:t>
            </a:r>
          </a:p>
        </p:txBody>
      </p:sp>
      <p:sp>
        <p:nvSpPr>
          <p:cNvPr id="86" name="Rectangle 85"/>
          <p:cNvSpPr/>
          <p:nvPr/>
        </p:nvSpPr>
        <p:spPr>
          <a:xfrm>
            <a:off x="731520" y="5468112"/>
            <a:ext cx="6859" cy="365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38378" y="5468112"/>
            <a:ext cx="6858" cy="365760"/>
          </a:xfrm>
          <a:prstGeom prst="rect">
            <a:avLst/>
          </a:prstGeom>
          <a:solidFill>
            <a:srgbClr val="F5A2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45236" y="5468112"/>
            <a:ext cx="6858" cy="365760"/>
          </a:xfrm>
          <a:prstGeom prst="rect">
            <a:avLst/>
          </a:prstGeom>
          <a:solidFill>
            <a:srgbClr val="F6A6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752094" y="5468112"/>
            <a:ext cx="6858" cy="365760"/>
          </a:xfrm>
          <a:prstGeom prst="rect">
            <a:avLst/>
          </a:prstGeom>
          <a:solidFill>
            <a:srgbClr val="F7A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758952" y="5468112"/>
            <a:ext cx="6858" cy="365760"/>
          </a:xfrm>
          <a:prstGeom prst="rect">
            <a:avLst/>
          </a:prstGeom>
          <a:solidFill>
            <a:srgbClr val="F7A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765810" y="5468112"/>
            <a:ext cx="6858" cy="365760"/>
          </a:xfrm>
          <a:prstGeom prst="rect">
            <a:avLst/>
          </a:prstGeom>
          <a:solidFill>
            <a:srgbClr val="F8B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772668" y="5468112"/>
            <a:ext cx="6858" cy="365760"/>
          </a:xfrm>
          <a:prstGeom prst="rect">
            <a:avLst/>
          </a:prstGeom>
          <a:solidFill>
            <a:srgbClr val="F9B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779526" y="5468112"/>
            <a:ext cx="6858" cy="365760"/>
          </a:xfrm>
          <a:prstGeom prst="rect">
            <a:avLst/>
          </a:prstGeom>
          <a:solidFill>
            <a:srgbClr val="FAB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932688" y="53949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剪映音效库：丰富的环境音、动作音效、情感音效资源</a:t>
            </a:r>
          </a:p>
        </p:txBody>
      </p:sp>
      <p:sp>
        <p:nvSpPr>
          <p:cNvPr id="95" name="Rectangle 94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模块10 · 音频制作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F5A2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F6A6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F7A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F7A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F8B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F9B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FAB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F59E0B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FABB31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F5A2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F6A6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F7A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F7A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F8B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F9B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FAB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三大AI配音工具对比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FDE047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457200" y="1371600"/>
            <a:ext cx="5349240" cy="4754880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57200" y="1371600"/>
            <a:ext cx="668656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125855" y="1371600"/>
            <a:ext cx="668655" cy="38100"/>
          </a:xfrm>
          <a:prstGeom prst="rect">
            <a:avLst/>
          </a:prstGeom>
          <a:solidFill>
            <a:srgbClr val="F5A2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794510" y="1371600"/>
            <a:ext cx="668655" cy="38100"/>
          </a:xfrm>
          <a:prstGeom prst="rect">
            <a:avLst/>
          </a:prstGeom>
          <a:solidFill>
            <a:srgbClr val="F6A6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463165" y="1371600"/>
            <a:ext cx="668655" cy="38100"/>
          </a:xfrm>
          <a:prstGeom prst="rect">
            <a:avLst/>
          </a:prstGeom>
          <a:solidFill>
            <a:srgbClr val="F7A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131820" y="1371600"/>
            <a:ext cx="668655" cy="38100"/>
          </a:xfrm>
          <a:prstGeom prst="rect">
            <a:avLst/>
          </a:prstGeom>
          <a:solidFill>
            <a:srgbClr val="F7A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800475" y="1371600"/>
            <a:ext cx="668655" cy="38100"/>
          </a:xfrm>
          <a:prstGeom prst="rect">
            <a:avLst/>
          </a:prstGeom>
          <a:solidFill>
            <a:srgbClr val="F8B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469130" y="1371600"/>
            <a:ext cx="668655" cy="38100"/>
          </a:xfrm>
          <a:prstGeom prst="rect">
            <a:avLst/>
          </a:prstGeom>
          <a:solidFill>
            <a:srgbClr val="F9B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137785" y="1371600"/>
            <a:ext cx="668655" cy="38100"/>
          </a:xfrm>
          <a:prstGeom prst="rect">
            <a:avLst/>
          </a:prstGeom>
          <a:solidFill>
            <a:srgbClr val="FAB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31520" y="160020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  <a:latin typeface="Microsoft YaHei"/>
              </a:defRPr>
            </a:pPr>
            <a:r>
              <a:t>火山引擎TTS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31520" y="2103120"/>
            <a:ext cx="205741" cy="25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937260" y="2103120"/>
            <a:ext cx="205740" cy="25400"/>
          </a:xfrm>
          <a:prstGeom prst="rect">
            <a:avLst/>
          </a:prstGeom>
          <a:solidFill>
            <a:srgbClr val="F5A2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143000" y="2103120"/>
            <a:ext cx="205740" cy="25400"/>
          </a:xfrm>
          <a:prstGeom prst="rect">
            <a:avLst/>
          </a:prstGeom>
          <a:solidFill>
            <a:srgbClr val="F6A6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348740" y="2103120"/>
            <a:ext cx="205740" cy="25400"/>
          </a:xfrm>
          <a:prstGeom prst="rect">
            <a:avLst/>
          </a:prstGeom>
          <a:solidFill>
            <a:srgbClr val="F7A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554480" y="2103120"/>
            <a:ext cx="205740" cy="25400"/>
          </a:xfrm>
          <a:prstGeom prst="rect">
            <a:avLst/>
          </a:prstGeom>
          <a:solidFill>
            <a:srgbClr val="F7A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760220" y="2103120"/>
            <a:ext cx="205740" cy="25400"/>
          </a:xfrm>
          <a:prstGeom prst="rect">
            <a:avLst/>
          </a:prstGeom>
          <a:solidFill>
            <a:srgbClr val="F8B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965960" y="2103120"/>
            <a:ext cx="205740" cy="25400"/>
          </a:xfrm>
          <a:prstGeom prst="rect">
            <a:avLst/>
          </a:prstGeom>
          <a:solidFill>
            <a:srgbClr val="F9B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2171700" y="2103120"/>
            <a:ext cx="205740" cy="25400"/>
          </a:xfrm>
          <a:prstGeom prst="rect">
            <a:avLst/>
          </a:prstGeom>
          <a:solidFill>
            <a:srgbClr val="FAB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31520" y="2386584"/>
            <a:ext cx="146304" cy="14630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05840" y="23317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中文适配最好，发音准确</a:t>
            </a:r>
          </a:p>
        </p:txBody>
      </p:sp>
      <p:sp>
        <p:nvSpPr>
          <p:cNvPr id="61" name="Oval 60"/>
          <p:cNvSpPr/>
          <p:nvPr/>
        </p:nvSpPr>
        <p:spPr>
          <a:xfrm>
            <a:off x="731520" y="2916936"/>
            <a:ext cx="146304" cy="14630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05840" y="286207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SSML精细控制语速/语调/停顿</a:t>
            </a:r>
          </a:p>
        </p:txBody>
      </p:sp>
      <p:sp>
        <p:nvSpPr>
          <p:cNvPr id="63" name="Oval 62"/>
          <p:cNvSpPr/>
          <p:nvPr/>
        </p:nvSpPr>
        <p:spPr>
          <a:xfrm>
            <a:off x="731520" y="3447288"/>
            <a:ext cx="146304" cy="14630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05840" y="3392424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支持批量文本转语音</a:t>
            </a:r>
          </a:p>
        </p:txBody>
      </p:sp>
      <p:sp>
        <p:nvSpPr>
          <p:cNvPr id="65" name="Oval 64"/>
          <p:cNvSpPr/>
          <p:nvPr/>
        </p:nvSpPr>
        <p:spPr>
          <a:xfrm>
            <a:off x="731520" y="3977640"/>
            <a:ext cx="146304" cy="14630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05840" y="3922776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适合：中文漫剧批量配音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263640" y="1371600"/>
            <a:ext cx="5349240" cy="4754880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263640" y="1371600"/>
            <a:ext cx="668656" cy="38100"/>
          </a:xfrm>
          <a:prstGeom prst="rect">
            <a:avLst/>
          </a:prstGeom>
          <a:solidFill>
            <a:srgbClr val="FAB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932295" y="1371600"/>
            <a:ext cx="668655" cy="38100"/>
          </a:xfrm>
          <a:prstGeom prst="rect">
            <a:avLst/>
          </a:prstGeom>
          <a:solidFill>
            <a:srgbClr val="FAC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600950" y="1371600"/>
            <a:ext cx="668655" cy="38100"/>
          </a:xfrm>
          <a:prstGeom prst="rect">
            <a:avLst/>
          </a:prstGeom>
          <a:solidFill>
            <a:srgbClr val="FAC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8269605" y="1371600"/>
            <a:ext cx="668655" cy="38100"/>
          </a:xfrm>
          <a:prstGeom prst="rect">
            <a:avLst/>
          </a:prstGeom>
          <a:solidFill>
            <a:srgbClr val="FBC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8938260" y="1371600"/>
            <a:ext cx="668655" cy="38100"/>
          </a:xfrm>
          <a:prstGeom prst="rect">
            <a:avLst/>
          </a:prstGeom>
          <a:solidFill>
            <a:srgbClr val="FBD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9606915" y="1371600"/>
            <a:ext cx="668655" cy="38100"/>
          </a:xfrm>
          <a:prstGeom prst="rect">
            <a:avLst/>
          </a:prstGeom>
          <a:solidFill>
            <a:srgbClr val="FCD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10275570" y="1371600"/>
            <a:ext cx="668655" cy="38100"/>
          </a:xfrm>
          <a:prstGeom prst="rect">
            <a:avLst/>
          </a:prstGeom>
          <a:solidFill>
            <a:srgbClr val="FCD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10944225" y="1371600"/>
            <a:ext cx="668655" cy="38100"/>
          </a:xfrm>
          <a:prstGeom prst="rect">
            <a:avLst/>
          </a:prstGeom>
          <a:solidFill>
            <a:srgbClr val="FDE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537960" y="160020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ABB31"/>
                </a:solidFill>
                <a:latin typeface="Microsoft YaHei"/>
              </a:defRPr>
            </a:pPr>
            <a:r>
              <a:t>Fish Audio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537960" y="2103120"/>
            <a:ext cx="205741" cy="25400"/>
          </a:xfrm>
          <a:prstGeom prst="rect">
            <a:avLst/>
          </a:prstGeom>
          <a:solidFill>
            <a:srgbClr val="FAB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743700" y="2103120"/>
            <a:ext cx="205740" cy="25400"/>
          </a:xfrm>
          <a:prstGeom prst="rect">
            <a:avLst/>
          </a:prstGeom>
          <a:solidFill>
            <a:srgbClr val="FAC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949440" y="2103120"/>
            <a:ext cx="205740" cy="25400"/>
          </a:xfrm>
          <a:prstGeom prst="rect">
            <a:avLst/>
          </a:prstGeom>
          <a:solidFill>
            <a:srgbClr val="FAC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155180" y="2103120"/>
            <a:ext cx="205740" cy="25400"/>
          </a:xfrm>
          <a:prstGeom prst="rect">
            <a:avLst/>
          </a:prstGeom>
          <a:solidFill>
            <a:srgbClr val="FBC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360920" y="2103120"/>
            <a:ext cx="205740" cy="25400"/>
          </a:xfrm>
          <a:prstGeom prst="rect">
            <a:avLst/>
          </a:prstGeom>
          <a:solidFill>
            <a:srgbClr val="FBD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566660" y="2103120"/>
            <a:ext cx="205740" cy="25400"/>
          </a:xfrm>
          <a:prstGeom prst="rect">
            <a:avLst/>
          </a:prstGeom>
          <a:solidFill>
            <a:srgbClr val="FCD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772400" y="2103120"/>
            <a:ext cx="205740" cy="25400"/>
          </a:xfrm>
          <a:prstGeom prst="rect">
            <a:avLst/>
          </a:prstGeom>
          <a:solidFill>
            <a:srgbClr val="FCD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978140" y="2103120"/>
            <a:ext cx="205740" cy="25400"/>
          </a:xfrm>
          <a:prstGeom prst="rect">
            <a:avLst/>
          </a:prstGeom>
          <a:solidFill>
            <a:srgbClr val="FDE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6537960" y="2386584"/>
            <a:ext cx="146304" cy="146304"/>
          </a:xfrm>
          <a:prstGeom prst="ellipse">
            <a:avLst/>
          </a:prstGeom>
          <a:solidFill>
            <a:srgbClr val="FAB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812280" y="23317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表情标签精准控制情感</a:t>
            </a:r>
          </a:p>
        </p:txBody>
      </p:sp>
      <p:sp>
        <p:nvSpPr>
          <p:cNvPr id="87" name="Oval 86"/>
          <p:cNvSpPr/>
          <p:nvPr/>
        </p:nvSpPr>
        <p:spPr>
          <a:xfrm>
            <a:off x="6537960" y="2916936"/>
            <a:ext cx="146304" cy="146304"/>
          </a:xfrm>
          <a:prstGeom prst="ellipse">
            <a:avLst/>
          </a:prstGeom>
          <a:solidFill>
            <a:srgbClr val="FAB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812280" y="286207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[开心][愤怒][悲伤] 标签嵌套</a:t>
            </a:r>
          </a:p>
        </p:txBody>
      </p:sp>
      <p:sp>
        <p:nvSpPr>
          <p:cNvPr id="89" name="Oval 88"/>
          <p:cNvSpPr/>
          <p:nvPr/>
        </p:nvSpPr>
        <p:spPr>
          <a:xfrm>
            <a:off x="6537960" y="3447288"/>
            <a:ext cx="146304" cy="146304"/>
          </a:xfrm>
          <a:prstGeom prst="ellipse">
            <a:avLst/>
          </a:prstGeom>
          <a:solidFill>
            <a:srgbClr val="FAB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6812280" y="3392424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30秒音频即可克隆音色</a:t>
            </a:r>
          </a:p>
        </p:txBody>
      </p:sp>
      <p:sp>
        <p:nvSpPr>
          <p:cNvPr id="91" name="Oval 90"/>
          <p:cNvSpPr/>
          <p:nvPr/>
        </p:nvSpPr>
        <p:spPr>
          <a:xfrm>
            <a:off x="6537960" y="3977640"/>
            <a:ext cx="146304" cy="146304"/>
          </a:xfrm>
          <a:prstGeom prst="ellipse">
            <a:avLst/>
          </a:prstGeom>
          <a:solidFill>
            <a:srgbClr val="FAB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6812280" y="3922776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适合：情感丰富的角色配音</a:t>
            </a:r>
          </a:p>
        </p:txBody>
      </p:sp>
      <p:sp>
        <p:nvSpPr>
          <p:cNvPr id="93" name="Rectangle 92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模块10 · 音频制作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F5A2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F6A6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F7A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F7A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F8B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F9B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FAB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F59E0B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FABB31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F5A2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F6A6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F7A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F7A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F8B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F9B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FAB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角色音色推荐对照表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FDE047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1" name="Table 40"/>
          <p:cNvGraphicFramePr>
            <a:graphicFrameLocks noGrp="1"/>
          </p:cNvGraphicFramePr>
          <p:nvPr/>
        </p:nvGraphicFramePr>
        <p:xfrm>
          <a:off x="548640" y="1280160"/>
          <a:ext cx="1106424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0F0F5"/>
                          </a:solidFill>
                          <a:latin typeface="Microsoft YaHei"/>
                        </a:defRPr>
                      </a:pPr>
                      <a:r>
                        <a:t>角色类型</a:t>
                      </a:r>
                    </a:p>
                  </a:txBody>
                  <a:tcPr anchor="ctr"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0F0F5"/>
                          </a:solidFill>
                          <a:latin typeface="Microsoft YaHei"/>
                        </a:defRPr>
                      </a:pPr>
                      <a:r>
                        <a:t>推荐音色</a:t>
                      </a:r>
                    </a:p>
                  </a:txBody>
                  <a:tcPr anchor="ctr"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0F0F5"/>
                          </a:solidFill>
                          <a:latin typeface="Microsoft YaHei"/>
                        </a:defRPr>
                      </a:pPr>
                      <a:r>
                        <a:t>配音工具</a:t>
                      </a:r>
                    </a:p>
                  </a:txBody>
                  <a:tcPr anchor="ctr"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0F0F5"/>
                          </a:solidFill>
                          <a:latin typeface="Microsoft YaHei"/>
                        </a:defRPr>
                      </a:pPr>
                      <a:r>
                        <a:t>情感风格</a:t>
                      </a:r>
                    </a:p>
                  </a:txBody>
                  <a:tcPr anchor="ctr">
                    <a:solidFill>
                      <a:srgbClr val="F59E0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男主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磁性男声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火山引擎/Fish Audio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沉稳有力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女主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温柔女声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火山引擎/Fish Audio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柔美动听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反派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低沉男声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Fish Audio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阴沉冷酷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少年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少年音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火山引擎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清脆活泼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旁白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标准男声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剪映AI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清晰标准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</a:tr>
            </a:tbl>
          </a:graphicData>
        </a:graphic>
      </p:graphicFrame>
      <p:sp>
        <p:nvSpPr>
          <p:cNvPr id="42" name="Rectangle 41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模块10 · 音频制作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F5A2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F6A6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F7A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F7A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F8B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F9B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FAB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F59E0B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FABB31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F5A2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F6A6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F7A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F7A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F8B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F9B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FAB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批量配音完整流程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FDE047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31520" y="1444752"/>
            <a:ext cx="6859" cy="365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8378" y="1444752"/>
            <a:ext cx="6858" cy="365760"/>
          </a:xfrm>
          <a:prstGeom prst="rect">
            <a:avLst/>
          </a:prstGeom>
          <a:solidFill>
            <a:srgbClr val="F5A2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45236" y="1444752"/>
            <a:ext cx="6858" cy="365760"/>
          </a:xfrm>
          <a:prstGeom prst="rect">
            <a:avLst/>
          </a:prstGeom>
          <a:solidFill>
            <a:srgbClr val="F6A6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52094" y="1444752"/>
            <a:ext cx="6858" cy="365760"/>
          </a:xfrm>
          <a:prstGeom prst="rect">
            <a:avLst/>
          </a:prstGeom>
          <a:solidFill>
            <a:srgbClr val="F7A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58952" y="1444752"/>
            <a:ext cx="6858" cy="365760"/>
          </a:xfrm>
          <a:prstGeom prst="rect">
            <a:avLst/>
          </a:prstGeom>
          <a:solidFill>
            <a:srgbClr val="F7A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65810" y="1444752"/>
            <a:ext cx="6858" cy="365760"/>
          </a:xfrm>
          <a:prstGeom prst="rect">
            <a:avLst/>
          </a:prstGeom>
          <a:solidFill>
            <a:srgbClr val="F8B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72668" y="1444752"/>
            <a:ext cx="6858" cy="365760"/>
          </a:xfrm>
          <a:prstGeom prst="rect">
            <a:avLst/>
          </a:prstGeom>
          <a:solidFill>
            <a:srgbClr val="F9B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79526" y="1444752"/>
            <a:ext cx="6858" cy="365760"/>
          </a:xfrm>
          <a:prstGeom prst="rect">
            <a:avLst/>
          </a:prstGeom>
          <a:solidFill>
            <a:srgbClr val="FAB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2688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整理剧本对白，按角色分类，标注情感和语气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1520" y="13716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0F0F5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31520" y="2221992"/>
            <a:ext cx="6859" cy="365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38378" y="2221992"/>
            <a:ext cx="6858" cy="365760"/>
          </a:xfrm>
          <a:prstGeom prst="rect">
            <a:avLst/>
          </a:prstGeom>
          <a:solidFill>
            <a:srgbClr val="F5A2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45236" y="2221992"/>
            <a:ext cx="6858" cy="365760"/>
          </a:xfrm>
          <a:prstGeom prst="rect">
            <a:avLst/>
          </a:prstGeom>
          <a:solidFill>
            <a:srgbClr val="F6A6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52094" y="2221992"/>
            <a:ext cx="6858" cy="365760"/>
          </a:xfrm>
          <a:prstGeom prst="rect">
            <a:avLst/>
          </a:prstGeom>
          <a:solidFill>
            <a:srgbClr val="F7A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58952" y="2221992"/>
            <a:ext cx="6858" cy="365760"/>
          </a:xfrm>
          <a:prstGeom prst="rect">
            <a:avLst/>
          </a:prstGeom>
          <a:solidFill>
            <a:srgbClr val="F7A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65810" y="2221992"/>
            <a:ext cx="6858" cy="365760"/>
          </a:xfrm>
          <a:prstGeom prst="rect">
            <a:avLst/>
          </a:prstGeom>
          <a:solidFill>
            <a:srgbClr val="F8B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72668" y="2221992"/>
            <a:ext cx="6858" cy="365760"/>
          </a:xfrm>
          <a:prstGeom prst="rect">
            <a:avLst/>
          </a:prstGeom>
          <a:solidFill>
            <a:srgbClr val="F9B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79526" y="2221992"/>
            <a:ext cx="6858" cy="365760"/>
          </a:xfrm>
          <a:prstGeom prst="rect">
            <a:avLst/>
          </a:prstGeom>
          <a:solidFill>
            <a:srgbClr val="FAB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32688" y="21488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为每个角色分配音色，建立音色对照表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31520" y="214884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0F0F5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31520" y="2999232"/>
            <a:ext cx="6859" cy="365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38378" y="2999232"/>
            <a:ext cx="6858" cy="365760"/>
          </a:xfrm>
          <a:prstGeom prst="rect">
            <a:avLst/>
          </a:prstGeom>
          <a:solidFill>
            <a:srgbClr val="F5A2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45236" y="2999232"/>
            <a:ext cx="6858" cy="365760"/>
          </a:xfrm>
          <a:prstGeom prst="rect">
            <a:avLst/>
          </a:prstGeom>
          <a:solidFill>
            <a:srgbClr val="F6A6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52094" y="2999232"/>
            <a:ext cx="6858" cy="365760"/>
          </a:xfrm>
          <a:prstGeom prst="rect">
            <a:avLst/>
          </a:prstGeom>
          <a:solidFill>
            <a:srgbClr val="F7A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58952" y="2999232"/>
            <a:ext cx="6858" cy="365760"/>
          </a:xfrm>
          <a:prstGeom prst="rect">
            <a:avLst/>
          </a:prstGeom>
          <a:solidFill>
            <a:srgbClr val="F7A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65810" y="2999232"/>
            <a:ext cx="6858" cy="365760"/>
          </a:xfrm>
          <a:prstGeom prst="rect">
            <a:avLst/>
          </a:prstGeom>
          <a:solidFill>
            <a:srgbClr val="F8B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72668" y="2999232"/>
            <a:ext cx="6858" cy="365760"/>
          </a:xfrm>
          <a:prstGeom prst="rect">
            <a:avLst/>
          </a:prstGeom>
          <a:solidFill>
            <a:srgbClr val="F9B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779526" y="2999232"/>
            <a:ext cx="6858" cy="365760"/>
          </a:xfrm>
          <a:prstGeom prst="rect">
            <a:avLst/>
          </a:prstGeom>
          <a:solidFill>
            <a:srgbClr val="FAB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32688" y="2926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使用火山引擎/Fish Audio批量生成对白配音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31520" y="292608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0F0F5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31520" y="3776472"/>
            <a:ext cx="6859" cy="365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38378" y="3776472"/>
            <a:ext cx="6858" cy="365760"/>
          </a:xfrm>
          <a:prstGeom prst="rect">
            <a:avLst/>
          </a:prstGeom>
          <a:solidFill>
            <a:srgbClr val="F5A2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45236" y="3776472"/>
            <a:ext cx="6858" cy="365760"/>
          </a:xfrm>
          <a:prstGeom prst="rect">
            <a:avLst/>
          </a:prstGeom>
          <a:solidFill>
            <a:srgbClr val="F6A6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752094" y="3776472"/>
            <a:ext cx="6858" cy="365760"/>
          </a:xfrm>
          <a:prstGeom prst="rect">
            <a:avLst/>
          </a:prstGeom>
          <a:solidFill>
            <a:srgbClr val="F7A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58952" y="3776472"/>
            <a:ext cx="6858" cy="365760"/>
          </a:xfrm>
          <a:prstGeom prst="rect">
            <a:avLst/>
          </a:prstGeom>
          <a:solidFill>
            <a:srgbClr val="F7A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65810" y="3776472"/>
            <a:ext cx="6858" cy="365760"/>
          </a:xfrm>
          <a:prstGeom prst="rect">
            <a:avLst/>
          </a:prstGeom>
          <a:solidFill>
            <a:srgbClr val="F8B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772668" y="3776472"/>
            <a:ext cx="6858" cy="365760"/>
          </a:xfrm>
          <a:prstGeom prst="rect">
            <a:avLst/>
          </a:prstGeom>
          <a:solidFill>
            <a:srgbClr val="F9B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79526" y="3776472"/>
            <a:ext cx="6858" cy="365760"/>
          </a:xfrm>
          <a:prstGeom prst="rect">
            <a:avLst/>
          </a:prstGeom>
          <a:solidFill>
            <a:srgbClr val="FAB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932688" y="37033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逐句试听检查发音和情感，修正错误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31520" y="37033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0F0F5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31520" y="4553712"/>
            <a:ext cx="6859" cy="365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38378" y="4553712"/>
            <a:ext cx="6858" cy="365760"/>
          </a:xfrm>
          <a:prstGeom prst="rect">
            <a:avLst/>
          </a:prstGeom>
          <a:solidFill>
            <a:srgbClr val="F5A2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45236" y="4553712"/>
            <a:ext cx="6858" cy="365760"/>
          </a:xfrm>
          <a:prstGeom prst="rect">
            <a:avLst/>
          </a:prstGeom>
          <a:solidFill>
            <a:srgbClr val="F6A6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52094" y="4553712"/>
            <a:ext cx="6858" cy="365760"/>
          </a:xfrm>
          <a:prstGeom prst="rect">
            <a:avLst/>
          </a:prstGeom>
          <a:solidFill>
            <a:srgbClr val="F7A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58952" y="4553712"/>
            <a:ext cx="6858" cy="365760"/>
          </a:xfrm>
          <a:prstGeom prst="rect">
            <a:avLst/>
          </a:prstGeom>
          <a:solidFill>
            <a:srgbClr val="F7A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65810" y="4553712"/>
            <a:ext cx="6858" cy="365760"/>
          </a:xfrm>
          <a:prstGeom prst="rect">
            <a:avLst/>
          </a:prstGeom>
          <a:solidFill>
            <a:srgbClr val="F8B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72668" y="4553712"/>
            <a:ext cx="6858" cy="365760"/>
          </a:xfrm>
          <a:prstGeom prst="rect">
            <a:avLst/>
          </a:prstGeom>
          <a:solidFill>
            <a:srgbClr val="F9B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79526" y="4553712"/>
            <a:ext cx="6858" cy="365760"/>
          </a:xfrm>
          <a:prstGeom prst="rect">
            <a:avLst/>
          </a:prstGeom>
          <a:solidFill>
            <a:srgbClr val="FAB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932688" y="44805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导入剪映时间轴，按镜头编号排列对齐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31520" y="448056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0F0F5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91" name="Rectangle 90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模块10 · 音频制作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94" name="Rectangle 93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F5A2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F6A6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F7A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F7A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F8B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F9B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FAB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F59E0B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FABB31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F5A2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F6A6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F7A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F7A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F8B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F9B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FAB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BGM场景匹配指南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FDE047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31520" y="1444752"/>
            <a:ext cx="6859" cy="365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8378" y="1444752"/>
            <a:ext cx="6858" cy="365760"/>
          </a:xfrm>
          <a:prstGeom prst="rect">
            <a:avLst/>
          </a:prstGeom>
          <a:solidFill>
            <a:srgbClr val="F5A2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45236" y="1444752"/>
            <a:ext cx="6858" cy="365760"/>
          </a:xfrm>
          <a:prstGeom prst="rect">
            <a:avLst/>
          </a:prstGeom>
          <a:solidFill>
            <a:srgbClr val="F6A6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52094" y="1444752"/>
            <a:ext cx="6858" cy="365760"/>
          </a:xfrm>
          <a:prstGeom prst="rect">
            <a:avLst/>
          </a:prstGeom>
          <a:solidFill>
            <a:srgbClr val="F7A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58952" y="1444752"/>
            <a:ext cx="6858" cy="365760"/>
          </a:xfrm>
          <a:prstGeom prst="rect">
            <a:avLst/>
          </a:prstGeom>
          <a:solidFill>
            <a:srgbClr val="F7A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65810" y="1444752"/>
            <a:ext cx="6858" cy="365760"/>
          </a:xfrm>
          <a:prstGeom prst="rect">
            <a:avLst/>
          </a:prstGeom>
          <a:solidFill>
            <a:srgbClr val="F8B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72668" y="1444752"/>
            <a:ext cx="6858" cy="365760"/>
          </a:xfrm>
          <a:prstGeom prst="rect">
            <a:avLst/>
          </a:prstGeom>
          <a:solidFill>
            <a:srgbClr val="F9B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79526" y="1444752"/>
            <a:ext cx="6858" cy="365760"/>
          </a:xfrm>
          <a:prstGeom prst="rect">
            <a:avLst/>
          </a:prstGeom>
          <a:solidFill>
            <a:srgbClr val="FAB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2688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日常对话 → 轻音乐/钢琴，BPM 60-80，温馨轻松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31520" y="2249424"/>
            <a:ext cx="6859" cy="365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38378" y="2249424"/>
            <a:ext cx="6858" cy="365760"/>
          </a:xfrm>
          <a:prstGeom prst="rect">
            <a:avLst/>
          </a:prstGeom>
          <a:solidFill>
            <a:srgbClr val="F5A2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45236" y="2249424"/>
            <a:ext cx="6858" cy="365760"/>
          </a:xfrm>
          <a:prstGeom prst="rect">
            <a:avLst/>
          </a:prstGeom>
          <a:solidFill>
            <a:srgbClr val="F6A6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52094" y="2249424"/>
            <a:ext cx="6858" cy="365760"/>
          </a:xfrm>
          <a:prstGeom prst="rect">
            <a:avLst/>
          </a:prstGeom>
          <a:solidFill>
            <a:srgbClr val="F7A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58952" y="2249424"/>
            <a:ext cx="6858" cy="365760"/>
          </a:xfrm>
          <a:prstGeom prst="rect">
            <a:avLst/>
          </a:prstGeom>
          <a:solidFill>
            <a:srgbClr val="F7A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65810" y="2249424"/>
            <a:ext cx="6858" cy="365760"/>
          </a:xfrm>
          <a:prstGeom prst="rect">
            <a:avLst/>
          </a:prstGeom>
          <a:solidFill>
            <a:srgbClr val="F8B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72668" y="2249424"/>
            <a:ext cx="6858" cy="365760"/>
          </a:xfrm>
          <a:prstGeom prst="rect">
            <a:avLst/>
          </a:prstGeom>
          <a:solidFill>
            <a:srgbClr val="F9B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79526" y="2249424"/>
            <a:ext cx="6858" cy="365760"/>
          </a:xfrm>
          <a:prstGeom prst="rect">
            <a:avLst/>
          </a:prstGeom>
          <a:solidFill>
            <a:srgbClr val="FAB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32688" y="217627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紧张对峙 → 电子/低音弦乐，BPM 90-120，紧张悬疑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31520" y="3054096"/>
            <a:ext cx="6859" cy="365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38378" y="3054096"/>
            <a:ext cx="6858" cy="365760"/>
          </a:xfrm>
          <a:prstGeom prst="rect">
            <a:avLst/>
          </a:prstGeom>
          <a:solidFill>
            <a:srgbClr val="F5A2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45236" y="3054096"/>
            <a:ext cx="6858" cy="365760"/>
          </a:xfrm>
          <a:prstGeom prst="rect">
            <a:avLst/>
          </a:prstGeom>
          <a:solidFill>
            <a:srgbClr val="F6A6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52094" y="3054096"/>
            <a:ext cx="6858" cy="365760"/>
          </a:xfrm>
          <a:prstGeom prst="rect">
            <a:avLst/>
          </a:prstGeom>
          <a:solidFill>
            <a:srgbClr val="F7A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58952" y="3054096"/>
            <a:ext cx="6858" cy="365760"/>
          </a:xfrm>
          <a:prstGeom prst="rect">
            <a:avLst/>
          </a:prstGeom>
          <a:solidFill>
            <a:srgbClr val="F7A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65810" y="3054096"/>
            <a:ext cx="6858" cy="365760"/>
          </a:xfrm>
          <a:prstGeom prst="rect">
            <a:avLst/>
          </a:prstGeom>
          <a:solidFill>
            <a:srgbClr val="F8B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72668" y="3054096"/>
            <a:ext cx="6858" cy="365760"/>
          </a:xfrm>
          <a:prstGeom prst="rect">
            <a:avLst/>
          </a:prstGeom>
          <a:solidFill>
            <a:srgbClr val="F9B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79526" y="3054096"/>
            <a:ext cx="6858" cy="365760"/>
          </a:xfrm>
          <a:prstGeom prst="rect">
            <a:avLst/>
          </a:prstGeom>
          <a:solidFill>
            <a:srgbClr val="FAB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32688" y="2980944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打斗场景 → 史诗/管弦乐，BPM 120-160，激昂热血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31520" y="3858768"/>
            <a:ext cx="6859" cy="365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38378" y="3858768"/>
            <a:ext cx="6858" cy="365760"/>
          </a:xfrm>
          <a:prstGeom prst="rect">
            <a:avLst/>
          </a:prstGeom>
          <a:solidFill>
            <a:srgbClr val="F5A2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45236" y="3858768"/>
            <a:ext cx="6858" cy="365760"/>
          </a:xfrm>
          <a:prstGeom prst="rect">
            <a:avLst/>
          </a:prstGeom>
          <a:solidFill>
            <a:srgbClr val="F6A6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752094" y="3858768"/>
            <a:ext cx="6858" cy="365760"/>
          </a:xfrm>
          <a:prstGeom prst="rect">
            <a:avLst/>
          </a:prstGeom>
          <a:solidFill>
            <a:srgbClr val="F7A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58952" y="3858768"/>
            <a:ext cx="6858" cy="365760"/>
          </a:xfrm>
          <a:prstGeom prst="rect">
            <a:avLst/>
          </a:prstGeom>
          <a:solidFill>
            <a:srgbClr val="F7A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65810" y="3858768"/>
            <a:ext cx="6858" cy="365760"/>
          </a:xfrm>
          <a:prstGeom prst="rect">
            <a:avLst/>
          </a:prstGeom>
          <a:solidFill>
            <a:srgbClr val="F8B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772668" y="3858768"/>
            <a:ext cx="6858" cy="365760"/>
          </a:xfrm>
          <a:prstGeom prst="rect">
            <a:avLst/>
          </a:prstGeom>
          <a:solidFill>
            <a:srgbClr val="F9B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79526" y="3858768"/>
            <a:ext cx="6858" cy="365760"/>
          </a:xfrm>
          <a:prstGeom prst="rect">
            <a:avLst/>
          </a:prstGeom>
          <a:solidFill>
            <a:srgbClr val="FAB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32688" y="3785616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悲伤场景 → 钢琴/大提琴，BPM 50-70，悲伤沉重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31520" y="4663440"/>
            <a:ext cx="6859" cy="365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38378" y="4663440"/>
            <a:ext cx="6858" cy="365760"/>
          </a:xfrm>
          <a:prstGeom prst="rect">
            <a:avLst/>
          </a:prstGeom>
          <a:solidFill>
            <a:srgbClr val="F5A2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45236" y="4663440"/>
            <a:ext cx="6858" cy="365760"/>
          </a:xfrm>
          <a:prstGeom prst="rect">
            <a:avLst/>
          </a:prstGeom>
          <a:solidFill>
            <a:srgbClr val="F6A6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52094" y="4663440"/>
            <a:ext cx="6858" cy="365760"/>
          </a:xfrm>
          <a:prstGeom prst="rect">
            <a:avLst/>
          </a:prstGeom>
          <a:solidFill>
            <a:srgbClr val="F7A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58952" y="4663440"/>
            <a:ext cx="6858" cy="365760"/>
          </a:xfrm>
          <a:prstGeom prst="rect">
            <a:avLst/>
          </a:prstGeom>
          <a:solidFill>
            <a:srgbClr val="F7A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65810" y="4663440"/>
            <a:ext cx="6858" cy="365760"/>
          </a:xfrm>
          <a:prstGeom prst="rect">
            <a:avLst/>
          </a:prstGeom>
          <a:solidFill>
            <a:srgbClr val="F8B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72668" y="4663440"/>
            <a:ext cx="6858" cy="365760"/>
          </a:xfrm>
          <a:prstGeom prst="rect">
            <a:avLst/>
          </a:prstGeom>
          <a:solidFill>
            <a:srgbClr val="F9B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79526" y="4663440"/>
            <a:ext cx="6858" cy="365760"/>
          </a:xfrm>
          <a:prstGeom prst="rect">
            <a:avLst/>
          </a:prstGeom>
          <a:solidFill>
            <a:srgbClr val="FAB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32688" y="459028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搞笑场景 → 欢快/卡通风，BPM 100-130，轻松搞笑</a:t>
            </a:r>
          </a:p>
        </p:txBody>
      </p:sp>
      <p:sp>
        <p:nvSpPr>
          <p:cNvPr id="86" name="Rectangle 85"/>
          <p:cNvSpPr/>
          <p:nvPr/>
        </p:nvSpPr>
        <p:spPr>
          <a:xfrm>
            <a:off x="731520" y="5468112"/>
            <a:ext cx="6859" cy="365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38378" y="5468112"/>
            <a:ext cx="6858" cy="365760"/>
          </a:xfrm>
          <a:prstGeom prst="rect">
            <a:avLst/>
          </a:prstGeom>
          <a:solidFill>
            <a:srgbClr val="F5A2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45236" y="5468112"/>
            <a:ext cx="6858" cy="365760"/>
          </a:xfrm>
          <a:prstGeom prst="rect">
            <a:avLst/>
          </a:prstGeom>
          <a:solidFill>
            <a:srgbClr val="F6A6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752094" y="5468112"/>
            <a:ext cx="6858" cy="365760"/>
          </a:xfrm>
          <a:prstGeom prst="rect">
            <a:avLst/>
          </a:prstGeom>
          <a:solidFill>
            <a:srgbClr val="F7A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758952" y="5468112"/>
            <a:ext cx="6858" cy="365760"/>
          </a:xfrm>
          <a:prstGeom prst="rect">
            <a:avLst/>
          </a:prstGeom>
          <a:solidFill>
            <a:srgbClr val="F7A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765810" y="5468112"/>
            <a:ext cx="6858" cy="365760"/>
          </a:xfrm>
          <a:prstGeom prst="rect">
            <a:avLst/>
          </a:prstGeom>
          <a:solidFill>
            <a:srgbClr val="F8B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772668" y="5468112"/>
            <a:ext cx="6858" cy="365760"/>
          </a:xfrm>
          <a:prstGeom prst="rect">
            <a:avLst/>
          </a:prstGeom>
          <a:solidFill>
            <a:srgbClr val="F9B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779526" y="5468112"/>
            <a:ext cx="6858" cy="365760"/>
          </a:xfrm>
          <a:prstGeom prst="rect">
            <a:avLst/>
          </a:prstGeom>
          <a:solidFill>
            <a:srgbClr val="FAB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932688" y="53949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高潮场景 → 史诗/摇滚，BPM 140-180，震撼史诗</a:t>
            </a:r>
          </a:p>
        </p:txBody>
      </p:sp>
      <p:sp>
        <p:nvSpPr>
          <p:cNvPr id="95" name="Rectangle 94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模块10 · 音频制作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7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F5A2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F6A6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F7A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F7A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F8B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F9B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FAB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743200" y="0"/>
            <a:ext cx="6400800" cy="6400800"/>
          </a:xfrm>
          <a:prstGeom prst="ellipse">
            <a:avLst/>
          </a:prstGeom>
          <a:solidFill>
            <a:srgbClr val="F59E0B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0" y="2743200"/>
            <a:ext cx="4572000" cy="4572000"/>
          </a:xfrm>
          <a:prstGeom prst="ellipse">
            <a:avLst/>
          </a:prstGeom>
          <a:solidFill>
            <a:srgbClr val="FABB31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0" y="1097280"/>
            <a:ext cx="720091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920490" y="1097280"/>
            <a:ext cx="720090" cy="38100"/>
          </a:xfrm>
          <a:prstGeom prst="rect">
            <a:avLst/>
          </a:prstGeom>
          <a:solidFill>
            <a:srgbClr val="F5A2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640580" y="1097280"/>
            <a:ext cx="720090" cy="38100"/>
          </a:xfrm>
          <a:prstGeom prst="rect">
            <a:avLst/>
          </a:prstGeom>
          <a:solidFill>
            <a:srgbClr val="F6A6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360670" y="1097280"/>
            <a:ext cx="720090" cy="38100"/>
          </a:xfrm>
          <a:prstGeom prst="rect">
            <a:avLst/>
          </a:prstGeom>
          <a:solidFill>
            <a:srgbClr val="F7A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80760" y="1097280"/>
            <a:ext cx="720090" cy="38100"/>
          </a:xfrm>
          <a:prstGeom prst="rect">
            <a:avLst/>
          </a:prstGeom>
          <a:solidFill>
            <a:srgbClr val="F7A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00850" y="1097280"/>
            <a:ext cx="720090" cy="38100"/>
          </a:xfrm>
          <a:prstGeom prst="rect">
            <a:avLst/>
          </a:prstGeom>
          <a:solidFill>
            <a:srgbClr val="F8B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520940" y="1097280"/>
            <a:ext cx="720090" cy="38100"/>
          </a:xfrm>
          <a:prstGeom prst="rect">
            <a:avLst/>
          </a:prstGeom>
          <a:solidFill>
            <a:srgbClr val="F9B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41030" y="1097280"/>
            <a:ext cx="720090" cy="38100"/>
          </a:xfrm>
          <a:prstGeom prst="rect">
            <a:avLst/>
          </a:prstGeom>
          <a:solidFill>
            <a:srgbClr val="FAB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1645920"/>
            <a:ext cx="9418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0F0F5"/>
                </a:solidFill>
                <a:latin typeface="Microsoft YaHei"/>
              </a:defRPr>
            </a:pPr>
            <a:r>
              <a:t>对白必须最清晰，BGM不能干扰对白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0" y="3931920"/>
            <a:ext cx="262891" cy="25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292090" y="3931920"/>
            <a:ext cx="262890" cy="25400"/>
          </a:xfrm>
          <a:prstGeom prst="rect">
            <a:avLst/>
          </a:prstGeom>
          <a:solidFill>
            <a:srgbClr val="F5A2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554980" y="3931920"/>
            <a:ext cx="262890" cy="25400"/>
          </a:xfrm>
          <a:prstGeom prst="rect">
            <a:avLst/>
          </a:prstGeom>
          <a:solidFill>
            <a:srgbClr val="F6A6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817870" y="3931920"/>
            <a:ext cx="262890" cy="25400"/>
          </a:xfrm>
          <a:prstGeom prst="rect">
            <a:avLst/>
          </a:prstGeom>
          <a:solidFill>
            <a:srgbClr val="F7A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80760" y="3931920"/>
            <a:ext cx="262890" cy="25400"/>
          </a:xfrm>
          <a:prstGeom prst="rect">
            <a:avLst/>
          </a:prstGeom>
          <a:solidFill>
            <a:srgbClr val="F7A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43650" y="3931920"/>
            <a:ext cx="262890" cy="25400"/>
          </a:xfrm>
          <a:prstGeom prst="rect">
            <a:avLst/>
          </a:prstGeom>
          <a:solidFill>
            <a:srgbClr val="F8B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606540" y="3931920"/>
            <a:ext cx="262890" cy="25400"/>
          </a:xfrm>
          <a:prstGeom prst="rect">
            <a:avLst/>
          </a:prstGeom>
          <a:solidFill>
            <a:srgbClr val="F9B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69430" y="3931920"/>
            <a:ext cx="262890" cy="25400"/>
          </a:xfrm>
          <a:prstGeom prst="rect">
            <a:avLst/>
          </a:prstGeom>
          <a:solidFill>
            <a:srgbClr val="FAB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71600" y="4297680"/>
            <a:ext cx="9418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音量层级：对白配音 0dB（基准）&gt; 动作音效 -6~-12dB &gt; BGM -12~-18dB &gt; 环境音 -18~-24dB。对白处自动降低BGM音量，高潮处提升整体音量，安静处突出环境音。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模块10 · 音频制作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F5A2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F6A6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F7A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F7A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F8B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F9B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FAB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F59E0B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FABB31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F5A2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F6A6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F7A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F7A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F8B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F9B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FAB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拟声字特效设计要点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FDE047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31520" y="1444752"/>
            <a:ext cx="6859" cy="365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8378" y="1444752"/>
            <a:ext cx="6858" cy="365760"/>
          </a:xfrm>
          <a:prstGeom prst="rect">
            <a:avLst/>
          </a:prstGeom>
          <a:solidFill>
            <a:srgbClr val="F5A2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45236" y="1444752"/>
            <a:ext cx="6858" cy="365760"/>
          </a:xfrm>
          <a:prstGeom prst="rect">
            <a:avLst/>
          </a:prstGeom>
          <a:solidFill>
            <a:srgbClr val="F6A6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52094" y="1444752"/>
            <a:ext cx="6858" cy="365760"/>
          </a:xfrm>
          <a:prstGeom prst="rect">
            <a:avLst/>
          </a:prstGeom>
          <a:solidFill>
            <a:srgbClr val="F7A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58952" y="1444752"/>
            <a:ext cx="6858" cy="365760"/>
          </a:xfrm>
          <a:prstGeom prst="rect">
            <a:avLst/>
          </a:prstGeom>
          <a:solidFill>
            <a:srgbClr val="F7A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65810" y="1444752"/>
            <a:ext cx="6858" cy="365760"/>
          </a:xfrm>
          <a:prstGeom prst="rect">
            <a:avLst/>
          </a:prstGeom>
          <a:solidFill>
            <a:srgbClr val="F8B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72668" y="1444752"/>
            <a:ext cx="6858" cy="365760"/>
          </a:xfrm>
          <a:prstGeom prst="rect">
            <a:avLst/>
          </a:prstGeom>
          <a:solidFill>
            <a:srgbClr val="F9B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79526" y="1444752"/>
            <a:ext cx="6858" cy="365760"/>
          </a:xfrm>
          <a:prstGeom prst="rect">
            <a:avLst/>
          </a:prstGeom>
          <a:solidFill>
            <a:srgbClr val="FAB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2688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爆炸类："轰""嘭" → 粗体/毛笔字，红/橙色，缩放+震动，0.3秒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31520" y="2249424"/>
            <a:ext cx="6859" cy="365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38378" y="2249424"/>
            <a:ext cx="6858" cy="365760"/>
          </a:xfrm>
          <a:prstGeom prst="rect">
            <a:avLst/>
          </a:prstGeom>
          <a:solidFill>
            <a:srgbClr val="F5A2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45236" y="2249424"/>
            <a:ext cx="6858" cy="365760"/>
          </a:xfrm>
          <a:prstGeom prst="rect">
            <a:avLst/>
          </a:prstGeom>
          <a:solidFill>
            <a:srgbClr val="F6A6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52094" y="2249424"/>
            <a:ext cx="6858" cy="365760"/>
          </a:xfrm>
          <a:prstGeom prst="rect">
            <a:avLst/>
          </a:prstGeom>
          <a:solidFill>
            <a:srgbClr val="F7A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58952" y="2249424"/>
            <a:ext cx="6858" cy="365760"/>
          </a:xfrm>
          <a:prstGeom prst="rect">
            <a:avLst/>
          </a:prstGeom>
          <a:solidFill>
            <a:srgbClr val="F7A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65810" y="2249424"/>
            <a:ext cx="6858" cy="365760"/>
          </a:xfrm>
          <a:prstGeom prst="rect">
            <a:avLst/>
          </a:prstGeom>
          <a:solidFill>
            <a:srgbClr val="F8B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72668" y="2249424"/>
            <a:ext cx="6858" cy="365760"/>
          </a:xfrm>
          <a:prstGeom prst="rect">
            <a:avLst/>
          </a:prstGeom>
          <a:solidFill>
            <a:srgbClr val="F9B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79526" y="2249424"/>
            <a:ext cx="6858" cy="365760"/>
          </a:xfrm>
          <a:prstGeom prst="rect">
            <a:avLst/>
          </a:prstGeom>
          <a:solidFill>
            <a:srgbClr val="FAB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32688" y="217627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打击类："砰""啪" → 粗体，白/黄色，弹出+震动，0.2秒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31520" y="3054096"/>
            <a:ext cx="6859" cy="365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38378" y="3054096"/>
            <a:ext cx="6858" cy="365760"/>
          </a:xfrm>
          <a:prstGeom prst="rect">
            <a:avLst/>
          </a:prstGeom>
          <a:solidFill>
            <a:srgbClr val="F5A2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45236" y="3054096"/>
            <a:ext cx="6858" cy="365760"/>
          </a:xfrm>
          <a:prstGeom prst="rect">
            <a:avLst/>
          </a:prstGeom>
          <a:solidFill>
            <a:srgbClr val="F6A6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52094" y="3054096"/>
            <a:ext cx="6858" cy="365760"/>
          </a:xfrm>
          <a:prstGeom prst="rect">
            <a:avLst/>
          </a:prstGeom>
          <a:solidFill>
            <a:srgbClr val="F7A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58952" y="3054096"/>
            <a:ext cx="6858" cy="365760"/>
          </a:xfrm>
          <a:prstGeom prst="rect">
            <a:avLst/>
          </a:prstGeom>
          <a:solidFill>
            <a:srgbClr val="F7A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65810" y="3054096"/>
            <a:ext cx="6858" cy="365760"/>
          </a:xfrm>
          <a:prstGeom prst="rect">
            <a:avLst/>
          </a:prstGeom>
          <a:solidFill>
            <a:srgbClr val="F8B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72668" y="3054096"/>
            <a:ext cx="6858" cy="365760"/>
          </a:xfrm>
          <a:prstGeom prst="rect">
            <a:avLst/>
          </a:prstGeom>
          <a:solidFill>
            <a:srgbClr val="F9B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79526" y="3054096"/>
            <a:ext cx="6858" cy="365760"/>
          </a:xfrm>
          <a:prstGeom prst="rect">
            <a:avLst/>
          </a:prstGeom>
          <a:solidFill>
            <a:srgbClr val="FAB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32688" y="2980944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技能类："斩""破" → 毛笔字，蓝/紫色，划过+拖尾，0.5秒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31520" y="3858768"/>
            <a:ext cx="6859" cy="365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38378" y="3858768"/>
            <a:ext cx="6858" cy="365760"/>
          </a:xfrm>
          <a:prstGeom prst="rect">
            <a:avLst/>
          </a:prstGeom>
          <a:solidFill>
            <a:srgbClr val="F5A2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45236" y="3858768"/>
            <a:ext cx="6858" cy="365760"/>
          </a:xfrm>
          <a:prstGeom prst="rect">
            <a:avLst/>
          </a:prstGeom>
          <a:solidFill>
            <a:srgbClr val="F6A6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752094" y="3858768"/>
            <a:ext cx="6858" cy="365760"/>
          </a:xfrm>
          <a:prstGeom prst="rect">
            <a:avLst/>
          </a:prstGeom>
          <a:solidFill>
            <a:srgbClr val="F7A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58952" y="3858768"/>
            <a:ext cx="6858" cy="365760"/>
          </a:xfrm>
          <a:prstGeom prst="rect">
            <a:avLst/>
          </a:prstGeom>
          <a:solidFill>
            <a:srgbClr val="F7A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65810" y="3858768"/>
            <a:ext cx="6858" cy="365760"/>
          </a:xfrm>
          <a:prstGeom prst="rect">
            <a:avLst/>
          </a:prstGeom>
          <a:solidFill>
            <a:srgbClr val="F8B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772668" y="3858768"/>
            <a:ext cx="6858" cy="365760"/>
          </a:xfrm>
          <a:prstGeom prst="rect">
            <a:avLst/>
          </a:prstGeom>
          <a:solidFill>
            <a:srgbClr val="F9B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79526" y="3858768"/>
            <a:ext cx="6858" cy="365760"/>
          </a:xfrm>
          <a:prstGeom prst="rect">
            <a:avLst/>
          </a:prstGeom>
          <a:solidFill>
            <a:srgbClr val="FAB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32688" y="3785616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搞笑类："duang""pia" → 卡通字体，彩色，弹跳+旋转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31520" y="4663440"/>
            <a:ext cx="6859" cy="365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38378" y="4663440"/>
            <a:ext cx="6858" cy="365760"/>
          </a:xfrm>
          <a:prstGeom prst="rect">
            <a:avLst/>
          </a:prstGeom>
          <a:solidFill>
            <a:srgbClr val="F5A2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45236" y="4663440"/>
            <a:ext cx="6858" cy="365760"/>
          </a:xfrm>
          <a:prstGeom prst="rect">
            <a:avLst/>
          </a:prstGeom>
          <a:solidFill>
            <a:srgbClr val="F6A6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52094" y="4663440"/>
            <a:ext cx="6858" cy="365760"/>
          </a:xfrm>
          <a:prstGeom prst="rect">
            <a:avLst/>
          </a:prstGeom>
          <a:solidFill>
            <a:srgbClr val="F7A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58952" y="4663440"/>
            <a:ext cx="6858" cy="365760"/>
          </a:xfrm>
          <a:prstGeom prst="rect">
            <a:avLst/>
          </a:prstGeom>
          <a:solidFill>
            <a:srgbClr val="F7A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65810" y="4663440"/>
            <a:ext cx="6858" cy="365760"/>
          </a:xfrm>
          <a:prstGeom prst="rect">
            <a:avLst/>
          </a:prstGeom>
          <a:solidFill>
            <a:srgbClr val="F8B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72668" y="4663440"/>
            <a:ext cx="6858" cy="365760"/>
          </a:xfrm>
          <a:prstGeom prst="rect">
            <a:avLst/>
          </a:prstGeom>
          <a:solidFill>
            <a:srgbClr val="F9B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79526" y="4663440"/>
            <a:ext cx="6858" cy="365760"/>
          </a:xfrm>
          <a:prstGeom prst="rect">
            <a:avLst/>
          </a:prstGeom>
          <a:solidFill>
            <a:srgbClr val="FAB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32688" y="459028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关键：与音效时间轴精确对齐，提前0.1秒显示补偿反应时间</a:t>
            </a:r>
          </a:p>
        </p:txBody>
      </p:sp>
      <p:sp>
        <p:nvSpPr>
          <p:cNvPr id="86" name="Rectangle 85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模块10 · 音频制作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9</a:t>
            </a:r>
          </a:p>
        </p:txBody>
      </p:sp>
      <p:sp>
        <p:nvSpPr>
          <p:cNvPr id="89" name="Rectangle 88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F5A2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F6A6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F7A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F7A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F8B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F9B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FAB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F59E0B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FABB31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07C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0EC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16D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1D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25D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2C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◆  本模块实操任务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6EE7B7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31520" y="1444752"/>
            <a:ext cx="292608" cy="292608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00C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1520" y="1444752"/>
            <a:ext cx="36577" cy="2540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68096" y="1444752"/>
            <a:ext cx="36576" cy="25400"/>
          </a:xfrm>
          <a:prstGeom prst="rect">
            <a:avLst/>
          </a:prstGeom>
          <a:solidFill>
            <a:srgbClr val="07C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04672" y="1444752"/>
            <a:ext cx="36576" cy="25400"/>
          </a:xfrm>
          <a:prstGeom prst="rect">
            <a:avLst/>
          </a:prstGeom>
          <a:solidFill>
            <a:srgbClr val="0EC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41248" y="1444752"/>
            <a:ext cx="36576" cy="25400"/>
          </a:xfrm>
          <a:prstGeom prst="rect">
            <a:avLst/>
          </a:prstGeom>
          <a:solidFill>
            <a:srgbClr val="16D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77824" y="1444752"/>
            <a:ext cx="36576" cy="25400"/>
          </a:xfrm>
          <a:prstGeom prst="rect">
            <a:avLst/>
          </a:prstGeom>
          <a:solidFill>
            <a:srgbClr val="1D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14400" y="1444752"/>
            <a:ext cx="36576" cy="25400"/>
          </a:xfrm>
          <a:prstGeom prst="rect">
            <a:avLst/>
          </a:prstGeom>
          <a:solidFill>
            <a:srgbClr val="25D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50976" y="1444752"/>
            <a:ext cx="36576" cy="25400"/>
          </a:xfrm>
          <a:prstGeom prst="rect">
            <a:avLst/>
          </a:prstGeom>
          <a:solidFill>
            <a:srgbClr val="2C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87552" y="1444752"/>
            <a:ext cx="36576" cy="25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188720" y="13716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E7E"/>
                </a:solidFill>
                <a:latin typeface="Microsoft YaHei"/>
              </a:defRPr>
            </a:pPr>
            <a:r>
              <a:t>#1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645920" y="13716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注册火山引擎账号，测试5种不同音色的配音效果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31520" y="2221992"/>
            <a:ext cx="292608" cy="292608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00C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31520" y="2221992"/>
            <a:ext cx="36577" cy="2540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68096" y="2221992"/>
            <a:ext cx="36576" cy="25400"/>
          </a:xfrm>
          <a:prstGeom prst="rect">
            <a:avLst/>
          </a:prstGeom>
          <a:solidFill>
            <a:srgbClr val="07C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04672" y="2221992"/>
            <a:ext cx="36576" cy="25400"/>
          </a:xfrm>
          <a:prstGeom prst="rect">
            <a:avLst/>
          </a:prstGeom>
          <a:solidFill>
            <a:srgbClr val="0EC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41248" y="2221992"/>
            <a:ext cx="36576" cy="25400"/>
          </a:xfrm>
          <a:prstGeom prst="rect">
            <a:avLst/>
          </a:prstGeom>
          <a:solidFill>
            <a:srgbClr val="16D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77824" y="2221992"/>
            <a:ext cx="36576" cy="25400"/>
          </a:xfrm>
          <a:prstGeom prst="rect">
            <a:avLst/>
          </a:prstGeom>
          <a:solidFill>
            <a:srgbClr val="1D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14400" y="2221992"/>
            <a:ext cx="36576" cy="25400"/>
          </a:xfrm>
          <a:prstGeom prst="rect">
            <a:avLst/>
          </a:prstGeom>
          <a:solidFill>
            <a:srgbClr val="25D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950976" y="2221992"/>
            <a:ext cx="36576" cy="25400"/>
          </a:xfrm>
          <a:prstGeom prst="rect">
            <a:avLst/>
          </a:prstGeom>
          <a:solidFill>
            <a:srgbClr val="2C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987552" y="2221992"/>
            <a:ext cx="36576" cy="25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188720" y="21488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E7E"/>
                </a:solidFill>
                <a:latin typeface="Microsoft YaHei"/>
              </a:defRPr>
            </a:pPr>
            <a:r>
              <a:t>#2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645920" y="21488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使用Fish Audio表情标签系统，生成10种不同情感的配音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731520" y="2999232"/>
            <a:ext cx="292608" cy="292608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00C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31520" y="2999232"/>
            <a:ext cx="36577" cy="2540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68096" y="2999232"/>
            <a:ext cx="36576" cy="25400"/>
          </a:xfrm>
          <a:prstGeom prst="rect">
            <a:avLst/>
          </a:prstGeom>
          <a:solidFill>
            <a:srgbClr val="07C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04672" y="2999232"/>
            <a:ext cx="36576" cy="25400"/>
          </a:xfrm>
          <a:prstGeom prst="rect">
            <a:avLst/>
          </a:prstGeom>
          <a:solidFill>
            <a:srgbClr val="0EC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841248" y="2999232"/>
            <a:ext cx="36576" cy="25400"/>
          </a:xfrm>
          <a:prstGeom prst="rect">
            <a:avLst/>
          </a:prstGeom>
          <a:solidFill>
            <a:srgbClr val="16D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877824" y="2999232"/>
            <a:ext cx="36576" cy="25400"/>
          </a:xfrm>
          <a:prstGeom prst="rect">
            <a:avLst/>
          </a:prstGeom>
          <a:solidFill>
            <a:srgbClr val="1D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914400" y="2999232"/>
            <a:ext cx="36576" cy="25400"/>
          </a:xfrm>
          <a:prstGeom prst="rect">
            <a:avLst/>
          </a:prstGeom>
          <a:solidFill>
            <a:srgbClr val="25D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950976" y="2999232"/>
            <a:ext cx="36576" cy="25400"/>
          </a:xfrm>
          <a:prstGeom prst="rect">
            <a:avLst/>
          </a:prstGeom>
          <a:solidFill>
            <a:srgbClr val="2C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987552" y="2999232"/>
            <a:ext cx="36576" cy="25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188720" y="2926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E7E"/>
                </a:solidFill>
                <a:latin typeface="Microsoft YaHei"/>
              </a:defRPr>
            </a:pPr>
            <a:r>
              <a:t>#3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645920" y="292608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使用MiniMax Music为5种不同场景生成BGM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731520" y="3776472"/>
            <a:ext cx="292608" cy="292608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00C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31520" y="3776472"/>
            <a:ext cx="36577" cy="2540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68096" y="3776472"/>
            <a:ext cx="36576" cy="25400"/>
          </a:xfrm>
          <a:prstGeom prst="rect">
            <a:avLst/>
          </a:prstGeom>
          <a:solidFill>
            <a:srgbClr val="07C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804672" y="3776472"/>
            <a:ext cx="36576" cy="25400"/>
          </a:xfrm>
          <a:prstGeom prst="rect">
            <a:avLst/>
          </a:prstGeom>
          <a:solidFill>
            <a:srgbClr val="0EC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841248" y="3776472"/>
            <a:ext cx="36576" cy="25400"/>
          </a:xfrm>
          <a:prstGeom prst="rect">
            <a:avLst/>
          </a:prstGeom>
          <a:solidFill>
            <a:srgbClr val="16D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877824" y="3776472"/>
            <a:ext cx="36576" cy="25400"/>
          </a:xfrm>
          <a:prstGeom prst="rect">
            <a:avLst/>
          </a:prstGeom>
          <a:solidFill>
            <a:srgbClr val="1D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914400" y="3776472"/>
            <a:ext cx="36576" cy="25400"/>
          </a:xfrm>
          <a:prstGeom prst="rect">
            <a:avLst/>
          </a:prstGeom>
          <a:solidFill>
            <a:srgbClr val="25D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950976" y="3776472"/>
            <a:ext cx="36576" cy="25400"/>
          </a:xfrm>
          <a:prstGeom prst="rect">
            <a:avLst/>
          </a:prstGeom>
          <a:solidFill>
            <a:srgbClr val="2C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987552" y="3776472"/>
            <a:ext cx="36576" cy="25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188720" y="3703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E7E"/>
                </a:solidFill>
                <a:latin typeface="Microsoft YaHei"/>
              </a:defRPr>
            </a:pPr>
            <a:r>
              <a:t>#4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645920" y="37033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为一集漫剧添加完整的音效（20+个）和拟声字特效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731520" y="4553712"/>
            <a:ext cx="292608" cy="292608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00C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31520" y="4553712"/>
            <a:ext cx="36577" cy="2540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68096" y="4553712"/>
            <a:ext cx="36576" cy="25400"/>
          </a:xfrm>
          <a:prstGeom prst="rect">
            <a:avLst/>
          </a:prstGeom>
          <a:solidFill>
            <a:srgbClr val="07C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804672" y="4553712"/>
            <a:ext cx="36576" cy="25400"/>
          </a:xfrm>
          <a:prstGeom prst="rect">
            <a:avLst/>
          </a:prstGeom>
          <a:solidFill>
            <a:srgbClr val="0EC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41248" y="4553712"/>
            <a:ext cx="36576" cy="25400"/>
          </a:xfrm>
          <a:prstGeom prst="rect">
            <a:avLst/>
          </a:prstGeom>
          <a:solidFill>
            <a:srgbClr val="16D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77824" y="4553712"/>
            <a:ext cx="36576" cy="25400"/>
          </a:xfrm>
          <a:prstGeom prst="rect">
            <a:avLst/>
          </a:prstGeom>
          <a:solidFill>
            <a:srgbClr val="1D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914400" y="4553712"/>
            <a:ext cx="36576" cy="25400"/>
          </a:xfrm>
          <a:prstGeom prst="rect">
            <a:avLst/>
          </a:prstGeom>
          <a:solidFill>
            <a:srgbClr val="25D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950976" y="4553712"/>
            <a:ext cx="36576" cy="25400"/>
          </a:xfrm>
          <a:prstGeom prst="rect">
            <a:avLst/>
          </a:prstGeom>
          <a:solidFill>
            <a:srgbClr val="2C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987552" y="4553712"/>
            <a:ext cx="36576" cy="25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188720" y="44805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E7E"/>
                </a:solidFill>
                <a:latin typeface="Microsoft YaHei"/>
              </a:defRPr>
            </a:pPr>
            <a:r>
              <a:t>#5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645920" y="448056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完成一集漫剧的完整音频制作，包括配音+BGM+音效+混音</a:t>
            </a:r>
          </a:p>
        </p:txBody>
      </p:sp>
      <p:sp>
        <p:nvSpPr>
          <p:cNvPr id="96" name="Rectangle 95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模块10 · 音频制作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10</a:t>
            </a:r>
          </a:p>
        </p:txBody>
      </p:sp>
      <p:sp>
        <p:nvSpPr>
          <p:cNvPr id="99" name="Rectangle 98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F5A2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F6A6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F7A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F7A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F8B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F9B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FAB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743200" y="914400"/>
            <a:ext cx="6400800" cy="6400800"/>
          </a:xfrm>
          <a:prstGeom prst="ellipse">
            <a:avLst/>
          </a:prstGeom>
          <a:solidFill>
            <a:srgbClr val="F59E0B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0" y="1371600"/>
            <a:ext cx="491491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606290" y="1371600"/>
            <a:ext cx="491490" cy="38100"/>
          </a:xfrm>
          <a:prstGeom prst="rect">
            <a:avLst/>
          </a:prstGeom>
          <a:solidFill>
            <a:srgbClr val="F5A2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97780" y="1371600"/>
            <a:ext cx="491490" cy="38100"/>
          </a:xfrm>
          <a:prstGeom prst="rect">
            <a:avLst/>
          </a:prstGeom>
          <a:solidFill>
            <a:srgbClr val="F6A6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589270" y="1371600"/>
            <a:ext cx="491490" cy="38100"/>
          </a:xfrm>
          <a:prstGeom prst="rect">
            <a:avLst/>
          </a:prstGeom>
          <a:solidFill>
            <a:srgbClr val="F7A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80760" y="1371600"/>
            <a:ext cx="491490" cy="38100"/>
          </a:xfrm>
          <a:prstGeom prst="rect">
            <a:avLst/>
          </a:prstGeom>
          <a:solidFill>
            <a:srgbClr val="F7A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72250" y="1371600"/>
            <a:ext cx="491490" cy="38100"/>
          </a:xfrm>
          <a:prstGeom prst="rect">
            <a:avLst/>
          </a:prstGeom>
          <a:solidFill>
            <a:srgbClr val="F8B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063740" y="1371600"/>
            <a:ext cx="491490" cy="38100"/>
          </a:xfrm>
          <a:prstGeom prst="rect">
            <a:avLst/>
          </a:prstGeom>
          <a:solidFill>
            <a:srgbClr val="F9B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555230" y="1371600"/>
            <a:ext cx="491490" cy="38100"/>
          </a:xfrm>
          <a:prstGeom prst="rect">
            <a:avLst/>
          </a:prstGeom>
          <a:solidFill>
            <a:srgbClr val="FAB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0" y="201168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F59E0B"/>
                </a:solidFill>
                <a:latin typeface="Microsoft YaHei"/>
              </a:defRPr>
            </a:pPr>
            <a:r>
              <a:t>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3200400"/>
            <a:ext cx="121916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0F0F5"/>
                </a:solidFill>
                <a:latin typeface="Microsoft YaHei"/>
              </a:defRPr>
            </a:pPr>
            <a:r>
              <a:t>本模块结束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0" y="4023360"/>
            <a:ext cx="262891" cy="25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292090" y="4023360"/>
            <a:ext cx="262890" cy="25400"/>
          </a:xfrm>
          <a:prstGeom prst="rect">
            <a:avLst/>
          </a:prstGeom>
          <a:solidFill>
            <a:srgbClr val="F5A2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554980" y="4023360"/>
            <a:ext cx="262890" cy="25400"/>
          </a:xfrm>
          <a:prstGeom prst="rect">
            <a:avLst/>
          </a:prstGeom>
          <a:solidFill>
            <a:srgbClr val="F6A6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817870" y="4023360"/>
            <a:ext cx="262890" cy="25400"/>
          </a:xfrm>
          <a:prstGeom prst="rect">
            <a:avLst/>
          </a:prstGeom>
          <a:solidFill>
            <a:srgbClr val="F7A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80760" y="4023360"/>
            <a:ext cx="262890" cy="25400"/>
          </a:xfrm>
          <a:prstGeom prst="rect">
            <a:avLst/>
          </a:prstGeom>
          <a:solidFill>
            <a:srgbClr val="F7A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43650" y="4023360"/>
            <a:ext cx="262890" cy="25400"/>
          </a:xfrm>
          <a:prstGeom prst="rect">
            <a:avLst/>
          </a:prstGeom>
          <a:solidFill>
            <a:srgbClr val="F8B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606540" y="4023360"/>
            <a:ext cx="262890" cy="25400"/>
          </a:xfrm>
          <a:prstGeom prst="rect">
            <a:avLst/>
          </a:prstGeom>
          <a:solidFill>
            <a:srgbClr val="F9B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69430" y="4023360"/>
            <a:ext cx="262890" cy="25400"/>
          </a:xfrm>
          <a:prstGeom prst="rect">
            <a:avLst/>
          </a:prstGeom>
          <a:solidFill>
            <a:srgbClr val="FAB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0" y="42976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8BAC8"/>
                </a:solidFill>
                <a:latin typeface="Microsoft YaHei"/>
              </a:defRPr>
            </a:pPr>
            <a:r>
              <a:t>下一模块：剪辑与后期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0" y="594360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E7082"/>
                </a:solidFill>
                <a:latin typeface="Microsoft YaHei"/>
              </a:defRPr>
            </a:pPr>
            <a:r>
              <a:t>AI漫剧制作全流程课程 · 2026版</a:t>
            </a:r>
          </a:p>
        </p:txBody>
      </p:sp>
    </p:spTree>
  </p:cSld>
  <p:clrMapOvr>
    <a:masterClrMapping/>
  </p:clrMapOvr>
  <p:transition spd="med" advClick="1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