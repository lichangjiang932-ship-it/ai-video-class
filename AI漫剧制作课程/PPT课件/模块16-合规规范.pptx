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029200" cy="6858000"/>
          </a:xfrm>
          <a:prstGeom prst="rect">
            <a:avLst/>
          </a:prstGeom>
          <a:solidFill>
            <a:srgbClr val="FF3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0"/>
            <a:ext cx="41148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0" b="1">
                <a:solidFill>
                  <a:srgbClr val="FFFFFF"/>
                </a:solidFill>
                <a:latin typeface="Microsoft YaHei"/>
              </a:defRPr>
            </a:pPr>
            <a:r>
              <a:t>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960120"/>
            <a:ext cx="41148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0" b="1">
                <a:solidFill>
                  <a:srgbClr val="FF6C9C"/>
                </a:solidFill>
                <a:latin typeface="Microsoft YaHei"/>
              </a:defRPr>
            </a:pPr>
            <a:r>
              <a:t>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84048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0F0F5"/>
                </a:solidFill>
                <a:latin typeface="Microsoft YaHei"/>
              </a:defRPr>
            </a:pPr>
            <a:r>
              <a:t>M O D U L E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4251960"/>
            <a:ext cx="1828800" cy="19050"/>
          </a:xfrm>
          <a:prstGeom prst="rect">
            <a:avLst/>
          </a:prstGeom>
          <a:solidFill>
            <a:srgbClr val="F0F0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0" y="1371600"/>
            <a:ext cx="5760720" cy="411480"/>
          </a:xfrm>
          <a:prstGeom prst="roundRect">
            <a:avLst/>
          </a:prstGeom>
          <a:solidFill>
            <a:srgbClr val="FF3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0" y="1371600"/>
            <a:ext cx="5760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F0F0F5"/>
                </a:solidFill>
                <a:latin typeface="Microsoft YaHei"/>
              </a:defRPr>
            </a:pPr>
            <a:r>
              <a:t>AI漫剧制作全流程课程 · 2026版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0" y="2377440"/>
            <a:ext cx="57607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200" b="1">
                <a:solidFill>
                  <a:srgbClr val="F0F0F5"/>
                </a:solidFill>
                <a:latin typeface="Microsoft YaHei"/>
              </a:defRPr>
            </a:pPr>
            <a:r>
              <a:t>模块16：合规要求与行业规范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0" y="4114800"/>
            <a:ext cx="2286000" cy="19050"/>
          </a:xfrm>
          <a:prstGeom prst="rect">
            <a:avLst/>
          </a:prstGeom>
          <a:solidFill>
            <a:srgbClr val="FF3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0" y="4480560"/>
            <a:ext cx="5760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9090A0"/>
                </a:solidFill>
                <a:latin typeface="Microsoft YaHei"/>
              </a:defRPr>
            </a:pPr>
            <a:r>
              <a:t>4课时 · 备案要求、AIGC标识、版权保护与行业伦理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0" y="5577840"/>
            <a:ext cx="5760720" cy="548640"/>
          </a:xfrm>
          <a:prstGeom prst="rect">
            <a:avLst/>
          </a:prstGeom>
          <a:solidFill>
            <a:srgbClr val="1111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760720" y="5577840"/>
            <a:ext cx="1371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3060"/>
                </a:solidFill>
                <a:latin typeface="Microsoft YaHei"/>
              </a:defRPr>
            </a:pPr>
            <a:r>
              <a:t>124课时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00900" y="5577840"/>
            <a:ext cx="1371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3060"/>
                </a:solidFill>
                <a:latin typeface="Microsoft YaHei"/>
              </a:defRPr>
            </a:pPr>
            <a:r>
              <a:t>17模块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41080" y="5577840"/>
            <a:ext cx="1371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3060"/>
                </a:solidFill>
                <a:latin typeface="Microsoft YaHei"/>
              </a:defRPr>
            </a:pPr>
            <a:r>
              <a:t>8-16周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81260" y="5577840"/>
            <a:ext cx="1371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3060"/>
                </a:solidFill>
                <a:latin typeface="Microsoft YaHei"/>
              </a:defRPr>
            </a:pPr>
            <a:r>
              <a:t>全流程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0F0F5"/>
                </a:solidFill>
                <a:latin typeface="Microsoft YaHei"/>
              </a:defRPr>
            </a:pPr>
            <a:r>
              <a:t>本节内容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960120"/>
            <a:ext cx="1828800" cy="19050"/>
          </a:xfrm>
          <a:prstGeom prst="rect">
            <a:avLst/>
          </a:prstGeom>
          <a:solidFill>
            <a:srgbClr val="FF3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3060"/>
                </a:solidFill>
                <a:latin typeface="Microsoft YaHei"/>
              </a:defRPr>
            </a:pPr>
            <a: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128016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090A0"/>
                </a:solidFill>
                <a:latin typeface="Microsoft YaHei"/>
              </a:defRPr>
            </a:pPr>
            <a:r>
              <a:t>2026年广电总局新规解读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87452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3060"/>
                </a:solidFill>
                <a:latin typeface="Microsoft YaHei"/>
              </a:defRPr>
            </a:pPr>
            <a: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87452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090A0"/>
                </a:solidFill>
                <a:latin typeface="Microsoft YaHei"/>
              </a:defRPr>
            </a:pPr>
            <a:r>
              <a:t>AI内容标识办法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28016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3060"/>
                </a:solidFill>
                <a:latin typeface="Microsoft YaHei"/>
              </a:defRPr>
            </a:pPr>
            <a:r>
              <a:t>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40880" y="128016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090A0"/>
                </a:solidFill>
                <a:latin typeface="Microsoft YaHei"/>
              </a:defRPr>
            </a:pPr>
            <a:r>
              <a:t>版权与原创性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187452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3060"/>
                </a:solidFill>
                <a:latin typeface="Microsoft YaHei"/>
              </a:defRPr>
            </a:pPr>
            <a:r>
              <a:t>04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40880" y="187452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090A0"/>
                </a:solidFill>
                <a:latin typeface="Microsoft YaHei"/>
              </a:defRPr>
            </a:pPr>
            <a:r>
              <a:t>行业伦理与可持续发展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446520"/>
            <a:ext cx="12191695" cy="19050"/>
          </a:xfrm>
          <a:prstGeom prst="rect">
            <a:avLst/>
          </a:prstGeom>
          <a:solidFill>
            <a:srgbClr val="1E1E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05060"/>
                </a:solidFill>
                <a:latin typeface="Microsoft YaHei"/>
              </a:defRPr>
            </a:pPr>
            <a:r>
              <a:t>模块16 · 合规规范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446520"/>
            <a:ext cx="12191695" cy="19050"/>
          </a:xfrm>
          <a:prstGeom prst="rect">
            <a:avLst/>
          </a:prstGeom>
          <a:solidFill>
            <a:srgbClr val="1E1E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05060"/>
                </a:solidFill>
                <a:latin typeface="Microsoft YaHei"/>
              </a:defRPr>
            </a:pPr>
            <a:r>
              <a:t>模块16 · 合规规范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AI漫剧监管框架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960120"/>
            <a:ext cx="1828800" cy="19050"/>
          </a:xfrm>
          <a:prstGeom prst="rect">
            <a:avLst/>
          </a:prstGeom>
          <a:solidFill>
            <a:srgbClr val="FF3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280160"/>
          <a:ext cx="1106424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50292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0F0F5"/>
                          </a:solidFill>
                          <a:latin typeface="Microsoft YaHei"/>
                        </a:defRPr>
                      </a:pPr>
                      <a:r>
                        <a:t>法规</a:t>
                      </a:r>
                    </a:p>
                  </a:txBody>
                  <a:tcPr anchor="ctr">
                    <a:solidFill>
                      <a:srgbClr val="FF3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0F0F5"/>
                          </a:solidFill>
                          <a:latin typeface="Microsoft YaHei"/>
                        </a:defRPr>
                      </a:pPr>
                      <a:r>
                        <a:t>发布机构</a:t>
                      </a:r>
                    </a:p>
                  </a:txBody>
                  <a:tcPr anchor="ctr">
                    <a:solidFill>
                      <a:srgbClr val="FF3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0F0F5"/>
                          </a:solidFill>
                          <a:latin typeface="Microsoft YaHei"/>
                        </a:defRPr>
                      </a:pPr>
                      <a:r>
                        <a:t>核心要求</a:t>
                      </a:r>
                    </a:p>
                  </a:txBody>
                  <a:tcPr anchor="ctr">
                    <a:solidFill>
                      <a:srgbClr val="FF306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《生成式AI服务管理暂行办法》</a:t>
                      </a:r>
                    </a:p>
                  </a:txBody>
                  <a:tcPr anchor="ctr">
                    <a:solidFill>
                      <a:srgbClr val="11111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网信办</a:t>
                      </a:r>
                    </a:p>
                  </a:txBody>
                  <a:tcPr anchor="ctr">
                    <a:solidFill>
                      <a:srgbClr val="11111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AIGC内容标识、安全评估</a:t>
                      </a:r>
                    </a:p>
                  </a:txBody>
                  <a:tcPr anchor="ctr">
                    <a:solidFill>
                      <a:srgbClr val="11111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《网络短视频内容审核标准细则》</a:t>
                      </a:r>
                    </a:p>
                  </a:txBody>
                  <a:tcPr anchor="ctr">
                    <a:solidFill>
                      <a:srgbClr val="08080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广电总局</a:t>
                      </a:r>
                    </a:p>
                  </a:txBody>
                  <a:tcPr anchor="ctr">
                    <a:solidFill>
                      <a:srgbClr val="08080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内容红线、审核标准</a:t>
                      </a:r>
                    </a:p>
                  </a:txBody>
                  <a:tcPr anchor="ctr">
                    <a:solidFill>
                      <a:srgbClr val="08080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《深度合成管理规定》</a:t>
                      </a:r>
                    </a:p>
                  </a:txBody>
                  <a:tcPr anchor="ctr">
                    <a:solidFill>
                      <a:srgbClr val="11111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网信办</a:t>
                      </a:r>
                    </a:p>
                  </a:txBody>
                  <a:tcPr anchor="ctr">
                    <a:solidFill>
                      <a:srgbClr val="11111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深度合成标识、备案</a:t>
                      </a:r>
                    </a:p>
                  </a:txBody>
                  <a:tcPr anchor="ctr">
                    <a:solidFill>
                      <a:srgbClr val="11111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《网络视听节目服务管理规定》</a:t>
                      </a:r>
                    </a:p>
                  </a:txBody>
                  <a:tcPr anchor="ctr">
                    <a:solidFill>
                      <a:srgbClr val="08080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广电总局</a:t>
                      </a:r>
                    </a:p>
                  </a:txBody>
                  <a:tcPr anchor="ctr">
                    <a:solidFill>
                      <a:srgbClr val="08080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节目备案、内容审核</a:t>
                      </a:r>
                    </a:p>
                  </a:txBody>
                  <a:tcPr anchor="ctr">
                    <a:solidFill>
                      <a:srgbClr val="08080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《未成年人网络保护条例》</a:t>
                      </a:r>
                    </a:p>
                  </a:txBody>
                  <a:tcPr anchor="ctr">
                    <a:solidFill>
                      <a:srgbClr val="11111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国务院</a:t>
                      </a:r>
                    </a:p>
                  </a:txBody>
                  <a:tcPr anchor="ctr">
                    <a:solidFill>
                      <a:srgbClr val="11111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未成年人保护</a:t>
                      </a:r>
                    </a:p>
                  </a:txBody>
                  <a:tcPr anchor="ctr">
                    <a:solidFill>
                      <a:srgbClr val="111118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0" y="6446520"/>
            <a:ext cx="12191695" cy="19050"/>
          </a:xfrm>
          <a:prstGeom prst="rect">
            <a:avLst/>
          </a:prstGeom>
          <a:solidFill>
            <a:srgbClr val="1E1E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05060"/>
                </a:solidFill>
                <a:latin typeface="Microsoft YaHei"/>
              </a:defRPr>
            </a:pPr>
            <a:r>
              <a:t>模块16 · 合规规范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内容红线——绝对禁止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960120"/>
            <a:ext cx="1828800" cy="19050"/>
          </a:xfrm>
          <a:prstGeom prst="rect">
            <a:avLst/>
          </a:prstGeom>
          <a:solidFill>
            <a:srgbClr val="FF3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1325880"/>
            <a:ext cx="45720" cy="457200"/>
          </a:xfrm>
          <a:prstGeom prst="rect">
            <a:avLst/>
          </a:prstGeom>
          <a:solidFill>
            <a:srgbClr val="FF3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28016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090A0"/>
                </a:solidFill>
                <a:latin typeface="Microsoft YaHei"/>
              </a:defRPr>
            </a:pPr>
            <a:r>
              <a:t>暴力血腥：过度暴力、血腥画面、残忍行为 → 下架+封号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103120"/>
            <a:ext cx="45720" cy="457200"/>
          </a:xfrm>
          <a:prstGeom prst="rect">
            <a:avLst/>
          </a:prstGeom>
          <a:solidFill>
            <a:srgbClr val="FF3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05740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090A0"/>
                </a:solidFill>
                <a:latin typeface="Microsoft YaHei"/>
              </a:defRPr>
            </a:pPr>
            <a:r>
              <a:t>色情内容：色情画面、性暗示、裸露 → 下架+封号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880360"/>
            <a:ext cx="45720" cy="457200"/>
          </a:xfrm>
          <a:prstGeom prst="rect">
            <a:avLst/>
          </a:prstGeom>
          <a:solidFill>
            <a:srgbClr val="FF3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83464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090A0"/>
                </a:solidFill>
                <a:latin typeface="Microsoft YaHei"/>
              </a:defRPr>
            </a:pPr>
            <a:r>
              <a:t>政治敏感：政治人物、敏感事件、意识形态 → 下架+封号+追责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3657600"/>
            <a:ext cx="45720" cy="457200"/>
          </a:xfrm>
          <a:prstGeom prst="rect">
            <a:avLst/>
          </a:prstGeom>
          <a:solidFill>
            <a:srgbClr val="FF3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361188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090A0"/>
                </a:solidFill>
                <a:latin typeface="Microsoft YaHei"/>
              </a:defRPr>
            </a:pPr>
            <a:r>
              <a:t>仇恨歧视：种族/性别/宗教歧视 → 下架+封号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4434840"/>
            <a:ext cx="45720" cy="457200"/>
          </a:xfrm>
          <a:prstGeom prst="rect">
            <a:avLst/>
          </a:prstGeom>
          <a:solidFill>
            <a:srgbClr val="FF3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38912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090A0"/>
                </a:solidFill>
                <a:latin typeface="Microsoft YaHei"/>
              </a:defRPr>
            </a:pPr>
            <a:r>
              <a:t>未成年不当：未成年人暴力/色情/危险行为 → 下架+封号+追责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" y="5212080"/>
            <a:ext cx="45720" cy="457200"/>
          </a:xfrm>
          <a:prstGeom prst="rect">
            <a:avLst/>
          </a:prstGeom>
          <a:solidFill>
            <a:srgbClr val="FF3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516636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090A0"/>
                </a:solidFill>
                <a:latin typeface="Microsoft YaHei"/>
              </a:defRPr>
            </a:pPr>
            <a:r>
              <a:t>违法内容：赌博、毒品、传销、诈骗 → 下架+封号+追责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446520"/>
            <a:ext cx="12191695" cy="19050"/>
          </a:xfrm>
          <a:prstGeom prst="rect">
            <a:avLst/>
          </a:prstGeom>
          <a:solidFill>
            <a:srgbClr val="1E1E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05060"/>
                </a:solidFill>
                <a:latin typeface="Microsoft YaHei"/>
              </a:defRPr>
            </a:pPr>
            <a:r>
              <a:t>模块16 · 合规规范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备案流程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960120"/>
            <a:ext cx="1828800" cy="19050"/>
          </a:xfrm>
          <a:prstGeom prst="rect">
            <a:avLst/>
          </a:prstGeom>
          <a:solidFill>
            <a:srgbClr val="FF3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22631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FF3060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2194560"/>
            <a:ext cx="2080260" cy="19050"/>
          </a:xfrm>
          <a:prstGeom prst="rect">
            <a:avLst/>
          </a:prstGeom>
          <a:solidFill>
            <a:srgbClr val="FF3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2468880"/>
            <a:ext cx="226314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090A0"/>
                </a:solidFill>
                <a:latin typeface="Microsoft YaHei"/>
              </a:defRPr>
            </a:pPr>
            <a:r>
              <a:t>准备材料：作品名称/简介、制作方信息、AI工具说明、安全承诺书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04388" y="182880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3060"/>
                </a:solidFill>
                <a:latin typeface="Microsoft YaHei"/>
              </a:defRPr>
            </a:pPr>
            <a:r>
              <a:t>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497580" y="1371600"/>
            <a:ext cx="22631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FF3060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9" name="Rectangle 8"/>
          <p:cNvSpPr/>
          <p:nvPr/>
        </p:nvSpPr>
        <p:spPr>
          <a:xfrm>
            <a:off x="3589020" y="2194560"/>
            <a:ext cx="2080260" cy="19050"/>
          </a:xfrm>
          <a:prstGeom prst="rect">
            <a:avLst/>
          </a:prstGeom>
          <a:solidFill>
            <a:srgbClr val="FF3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97580" y="2468880"/>
            <a:ext cx="226314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090A0"/>
                </a:solidFill>
                <a:latin typeface="Microsoft YaHei"/>
              </a:defRPr>
            </a:pPr>
            <a:r>
              <a:t>平台备案：在发布平台提交备案，填写信息表，上传材料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61888" y="182880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3060"/>
                </a:solidFill>
                <a:latin typeface="Microsoft YaHei"/>
              </a:defRPr>
            </a:pPr>
            <a:r>
              <a:t>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5080" y="1371600"/>
            <a:ext cx="22631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FF3060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46520" y="2194560"/>
            <a:ext cx="2080260" cy="19050"/>
          </a:xfrm>
          <a:prstGeom prst="rect">
            <a:avLst/>
          </a:prstGeom>
          <a:solidFill>
            <a:srgbClr val="FF3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55080" y="2468880"/>
            <a:ext cx="226314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090A0"/>
                </a:solidFill>
                <a:latin typeface="Microsoft YaHei"/>
              </a:defRPr>
            </a:pPr>
            <a:r>
              <a:t>审核通过：平台审核1-3个工作日，获得备案号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19388" y="182880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3060"/>
                </a:solidFill>
                <a:latin typeface="Microsoft YaHei"/>
              </a:defRPr>
            </a:pPr>
            <a:r>
              <a:t>›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212580" y="1371600"/>
            <a:ext cx="22631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FF3060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304020" y="2194560"/>
            <a:ext cx="2080260" cy="19050"/>
          </a:xfrm>
          <a:prstGeom prst="rect">
            <a:avLst/>
          </a:prstGeom>
          <a:solidFill>
            <a:srgbClr val="FF3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212580" y="2468880"/>
            <a:ext cx="226314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090A0"/>
                </a:solidFill>
                <a:latin typeface="Microsoft YaHei"/>
              </a:defRPr>
            </a:pPr>
            <a:r>
              <a:t>发布内容：在内容中标注备案号，添加AIGC标识，正式发布</a:t>
            </a:r>
          </a:p>
        </p:txBody>
      </p:sp>
      <p:sp>
        <p:nvSpPr>
          <p:cNvPr id="19" name="Rectangle 18"/>
          <p:cNvSpPr/>
          <p:nvPr/>
        </p:nvSpPr>
        <p:spPr>
          <a:xfrm>
            <a:off x="0" y="6446520"/>
            <a:ext cx="12191695" cy="19050"/>
          </a:xfrm>
          <a:prstGeom prst="rect">
            <a:avLst/>
          </a:prstGeom>
          <a:solidFill>
            <a:srgbClr val="1E1E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05060"/>
                </a:solidFill>
                <a:latin typeface="Microsoft YaHei"/>
              </a:defRPr>
            </a:pPr>
            <a:r>
              <a:t>模块16 · 合规规范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AIGC标识要求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960120"/>
            <a:ext cx="1828800" cy="19050"/>
          </a:xfrm>
          <a:prstGeom prst="rect">
            <a:avLst/>
          </a:prstGeom>
          <a:solidFill>
            <a:srgbClr val="FF3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3060"/>
                </a:solidFill>
                <a:latin typeface="Microsoft YaHei"/>
              </a:defRPr>
            </a:pPr>
            <a:r>
              <a:t>必须标识的内容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783080"/>
            <a:ext cx="1371600" cy="19050"/>
          </a:xfrm>
          <a:prstGeom prst="rect">
            <a:avLst/>
          </a:prstGeom>
          <a:solidFill>
            <a:srgbClr val="FF3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01168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090A0"/>
                </a:solidFill>
                <a:latin typeface="Microsoft YaHei"/>
              </a:defRPr>
            </a:pPr>
            <a:r>
              <a:t>▸  所有AI生成或辅助生成的内容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56032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090A0"/>
                </a:solidFill>
                <a:latin typeface="Microsoft YaHei"/>
              </a:defRPr>
            </a:pPr>
            <a:r>
              <a:t>▸  视觉标识：水印、角标、片头文字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10896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090A0"/>
                </a:solidFill>
                <a:latin typeface="Microsoft YaHei"/>
              </a:defRPr>
            </a:pPr>
            <a:r>
              <a:t>▸  音频标识：语音声明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65760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090A0"/>
                </a:solidFill>
                <a:latin typeface="Microsoft YaHei"/>
              </a:defRPr>
            </a:pPr>
            <a:r>
              <a:t>▸  文字标识：简介说明、字幕标注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128016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8B50F0"/>
                </a:solidFill>
                <a:latin typeface="Microsoft YaHei"/>
              </a:defRPr>
            </a:pPr>
            <a:r>
              <a:t>各平台标识规则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1783080"/>
            <a:ext cx="1371600" cy="19050"/>
          </a:xfrm>
          <a:prstGeom prst="rect">
            <a:avLst/>
          </a:prstGeom>
          <a:solidFill>
            <a:srgbClr val="8B5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201168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090A0"/>
                </a:solidFill>
                <a:latin typeface="Microsoft YaHei"/>
              </a:defRPr>
            </a:pPr>
            <a:r>
              <a:t>▸  抖音：右下角自动"AI生成"水印+简介注明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256032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090A0"/>
                </a:solidFill>
                <a:latin typeface="Microsoft YaHei"/>
              </a:defRPr>
            </a:pPr>
            <a:r>
              <a:t>▸  快手：可灵AI自动标识，其他需手动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310896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090A0"/>
                </a:solidFill>
                <a:latin typeface="Microsoft YaHei"/>
              </a:defRPr>
            </a:pPr>
            <a:r>
              <a:t>▸  B站：简介注明+标签#AI生成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365760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090A0"/>
                </a:solidFill>
                <a:latin typeface="Microsoft YaHei"/>
              </a:defRPr>
            </a:pPr>
            <a:r>
              <a:t>▸  红果：片头"本内容由AI辅助制作"+备案号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446520"/>
            <a:ext cx="12191695" cy="19050"/>
          </a:xfrm>
          <a:prstGeom prst="rect">
            <a:avLst/>
          </a:prstGeom>
          <a:solidFill>
            <a:srgbClr val="1E1E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05060"/>
                </a:solidFill>
                <a:latin typeface="Microsoft YaHei"/>
              </a:defRPr>
            </a:pPr>
            <a:r>
              <a:t>模块16 · 合规规范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371600"/>
            <a:ext cx="94183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0F0F5"/>
                </a:solidFill>
                <a:latin typeface="Microsoft YaHei"/>
              </a:defRPr>
            </a:pPr>
            <a:r>
              <a:t>未标识/删除标识/伪造标识将面临限流、下架、封号、追责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0" y="3840480"/>
            <a:ext cx="2103120" cy="19050"/>
          </a:xfrm>
          <a:prstGeom prst="rect">
            <a:avLst/>
          </a:prstGeom>
          <a:solidFill>
            <a:srgbClr val="FF3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4206240"/>
            <a:ext cx="94183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9090A0"/>
                </a:solidFill>
                <a:latin typeface="Microsoft YaHei"/>
              </a:defRPr>
            </a:pPr>
            <a:r>
              <a:t>推荐方案：片头3-5秒文字声明"本作品使用AI技术辅助制作" + 右下角持续水印 + 简介详细说明AI工具使用情况。主动标识是合规底线，也是建立用户信任的基础。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46520"/>
            <a:ext cx="12191695" cy="19050"/>
          </a:xfrm>
          <a:prstGeom prst="rect">
            <a:avLst/>
          </a:prstGeom>
          <a:solidFill>
            <a:srgbClr val="1E1E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05060"/>
                </a:solidFill>
                <a:latin typeface="Microsoft YaHei"/>
              </a:defRPr>
            </a:pPr>
            <a:r>
              <a:t>模块16 · 合规规范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AI生成内容著作权现状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960120"/>
            <a:ext cx="1828800" cy="19050"/>
          </a:xfrm>
          <a:prstGeom prst="rect">
            <a:avLst/>
          </a:prstGeom>
          <a:solidFill>
            <a:srgbClr val="FF3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280160"/>
          <a:ext cx="1106424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50292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0F0F5"/>
                          </a:solidFill>
                          <a:latin typeface="Microsoft YaHei"/>
                        </a:defRPr>
                      </a:pPr>
                      <a:r>
                        <a:t>内容类型</a:t>
                      </a:r>
                    </a:p>
                  </a:txBody>
                  <a:tcPr anchor="ctr">
                    <a:solidFill>
                      <a:srgbClr val="FF3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0F0F5"/>
                          </a:solidFill>
                          <a:latin typeface="Microsoft YaHei"/>
                        </a:defRPr>
                      </a:pPr>
                      <a:r>
                        <a:t>著作权状态</a:t>
                      </a:r>
                    </a:p>
                  </a:txBody>
                  <a:tcPr anchor="ctr">
                    <a:solidFill>
                      <a:srgbClr val="FF3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0F0F5"/>
                          </a:solidFill>
                          <a:latin typeface="Microsoft YaHei"/>
                        </a:defRPr>
                      </a:pPr>
                      <a:r>
                        <a:t>说明</a:t>
                      </a:r>
                    </a:p>
                  </a:txBody>
                  <a:tcPr anchor="ctr">
                    <a:solidFill>
                      <a:srgbClr val="FF306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纯AI生成</a:t>
                      </a:r>
                    </a:p>
                  </a:txBody>
                  <a:tcPr anchor="ctr">
                    <a:solidFill>
                      <a:srgbClr val="11111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❌ 不受保护</a:t>
                      </a:r>
                    </a:p>
                  </a:txBody>
                  <a:tcPr anchor="ctr">
                    <a:solidFill>
                      <a:srgbClr val="11111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无人类创作贡献</a:t>
                      </a:r>
                    </a:p>
                  </a:txBody>
                  <a:tcPr anchor="ctr">
                    <a:solidFill>
                      <a:srgbClr val="11111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AI辅助创作</a:t>
                      </a:r>
                    </a:p>
                  </a:txBody>
                  <a:tcPr anchor="ctr">
                    <a:solidFill>
                      <a:srgbClr val="08080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✅ 可获保护</a:t>
                      </a:r>
                    </a:p>
                  </a:txBody>
                  <a:tcPr anchor="ctr">
                    <a:solidFill>
                      <a:srgbClr val="08080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有人类创意贡献</a:t>
                      </a:r>
                    </a:p>
                  </a:txBody>
                  <a:tcPr anchor="ctr">
                    <a:solidFill>
                      <a:srgbClr val="08080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AI改编作品</a:t>
                      </a:r>
                    </a:p>
                  </a:txBody>
                  <a:tcPr anchor="ctr">
                    <a:solidFill>
                      <a:srgbClr val="11111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⚠️ 视情况</a:t>
                      </a:r>
                    </a:p>
                  </a:txBody>
                  <a:tcPr anchor="ctr">
                    <a:solidFill>
                      <a:srgbClr val="11111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9090A0"/>
                          </a:solidFill>
                          <a:latin typeface="Microsoft YaHei"/>
                        </a:defRPr>
                      </a:pPr>
                      <a:r>
                        <a:t>需获得原作授权</a:t>
                      </a:r>
                    </a:p>
                  </a:txBody>
                  <a:tcPr anchor="ctr">
                    <a:solidFill>
                      <a:srgbClr val="111118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0" y="6446520"/>
            <a:ext cx="12191695" cy="19050"/>
          </a:xfrm>
          <a:prstGeom prst="rect">
            <a:avLst/>
          </a:prstGeom>
          <a:solidFill>
            <a:srgbClr val="1E1E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05060"/>
                </a:solidFill>
                <a:latin typeface="Microsoft YaHei"/>
              </a:defRPr>
            </a:pPr>
            <a:r>
              <a:t>模块16 · 合规规范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侵权风险防范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960120"/>
            <a:ext cx="1828800" cy="19050"/>
          </a:xfrm>
          <a:prstGeom prst="rect">
            <a:avLst/>
          </a:prstGeom>
          <a:solidFill>
            <a:srgbClr val="FF3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1325880"/>
            <a:ext cx="45720" cy="457200"/>
          </a:xfrm>
          <a:prstGeom prst="rect">
            <a:avLst/>
          </a:prstGeom>
          <a:solidFill>
            <a:srgbClr val="FF3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28016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090A0"/>
                </a:solidFill>
                <a:latin typeface="Microsoft YaHei"/>
              </a:defRPr>
            </a:pPr>
            <a:r>
              <a:t>剧本层面：使用原创剧本或已授权IP，禁止直接使用他人剧本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103120"/>
            <a:ext cx="45720" cy="457200"/>
          </a:xfrm>
          <a:prstGeom prst="rect">
            <a:avLst/>
          </a:prstGeom>
          <a:solidFill>
            <a:srgbClr val="FF3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05740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090A0"/>
                </a:solidFill>
                <a:latin typeface="Microsoft YaHei"/>
              </a:defRPr>
            </a:pPr>
            <a:r>
              <a:t>角色层面：设计原创角色形象，不模仿他人角色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880360"/>
            <a:ext cx="45720" cy="457200"/>
          </a:xfrm>
          <a:prstGeom prst="rect">
            <a:avLst/>
          </a:prstGeom>
          <a:solidFill>
            <a:srgbClr val="FF3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83464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090A0"/>
                </a:solidFill>
                <a:latin typeface="Microsoft YaHei"/>
              </a:defRPr>
            </a:pPr>
            <a:r>
              <a:t>音乐层面：使用版权免费音乐/AI生成音乐/正版授权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3657600"/>
            <a:ext cx="45720" cy="457200"/>
          </a:xfrm>
          <a:prstGeom prst="rect">
            <a:avLst/>
          </a:prstGeom>
          <a:solidFill>
            <a:srgbClr val="FF3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361188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090A0"/>
                </a:solidFill>
                <a:latin typeface="Microsoft YaHei"/>
              </a:defRPr>
            </a:pPr>
            <a:r>
              <a:t>素材层面：使用原创素材或正版素材库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4434840"/>
            <a:ext cx="45720" cy="457200"/>
          </a:xfrm>
          <a:prstGeom prst="rect">
            <a:avLst/>
          </a:prstGeom>
          <a:solidFill>
            <a:srgbClr val="FF3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38912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090A0"/>
                </a:solidFill>
                <a:latin typeface="Microsoft YaHei"/>
              </a:defRPr>
            </a:pPr>
            <a:r>
              <a:t>版权保护：及时申请版权登记，保留完整创作过程记录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446520"/>
            <a:ext cx="12191695" cy="19050"/>
          </a:xfrm>
          <a:prstGeom prst="rect">
            <a:avLst/>
          </a:prstGeom>
          <a:solidFill>
            <a:srgbClr val="1E1E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05060"/>
                </a:solidFill>
                <a:latin typeface="Microsoft YaHei"/>
              </a:defRPr>
            </a:pPr>
            <a:r>
              <a:t>模块16 · 合规规范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从流量思维到IP思维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960120"/>
            <a:ext cx="1828800" cy="19050"/>
          </a:xfrm>
          <a:prstGeom prst="rect">
            <a:avLst/>
          </a:prstGeom>
          <a:solidFill>
            <a:srgbClr val="FF3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1325880"/>
            <a:ext cx="45720" cy="457200"/>
          </a:xfrm>
          <a:prstGeom prst="rect">
            <a:avLst/>
          </a:prstGeom>
          <a:solidFill>
            <a:srgbClr val="FF3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28016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090A0"/>
                </a:solidFill>
                <a:latin typeface="Microsoft YaHei"/>
              </a:defRPr>
            </a:pPr>
            <a:r>
              <a:t>流量思维（不可持续）：短期流量、低质批量、标题党、同质化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103120"/>
            <a:ext cx="45720" cy="457200"/>
          </a:xfrm>
          <a:prstGeom prst="rect">
            <a:avLst/>
          </a:prstGeom>
          <a:solidFill>
            <a:srgbClr val="FF3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05740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090A0"/>
                </a:solidFill>
                <a:latin typeface="Microsoft YaHei"/>
              </a:defRPr>
            </a:pPr>
            <a:r>
              <a:t>IP思维（可持续）：长期IP、精品运营、角色品牌化、粉丝社群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880360"/>
            <a:ext cx="45720" cy="457200"/>
          </a:xfrm>
          <a:prstGeom prst="rect">
            <a:avLst/>
          </a:prstGeom>
          <a:solidFill>
            <a:srgbClr val="FF3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83464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090A0"/>
                </a:solidFill>
                <a:latin typeface="Microsoft YaHei"/>
              </a:defRPr>
            </a:pPr>
            <a:r>
              <a:t>行业自律：内容自律 + 竞争自律 + 技术自律 + 商业自律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3657600"/>
            <a:ext cx="45720" cy="457200"/>
          </a:xfrm>
          <a:prstGeom prst="rect">
            <a:avLst/>
          </a:prstGeom>
          <a:solidFill>
            <a:srgbClr val="FF3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361188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9090A0"/>
                </a:solidFill>
                <a:latin typeface="Microsoft YaHei"/>
              </a:defRPr>
            </a:pPr>
            <a:r>
              <a:t>精品化路径：基础制作 → 品质提升 → IP打造 → 品牌建设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446520"/>
            <a:ext cx="12191695" cy="19050"/>
          </a:xfrm>
          <a:prstGeom prst="rect">
            <a:avLst/>
          </a:prstGeom>
          <a:solidFill>
            <a:srgbClr val="1E1E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05060"/>
                </a:solidFill>
                <a:latin typeface="Microsoft YaHei"/>
              </a:defRPr>
            </a:pPr>
            <a:r>
              <a:t>模块16 · 合规规范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本模块实操任务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960120"/>
            <a:ext cx="1828800" cy="19050"/>
          </a:xfrm>
          <a:prstGeom prst="rect">
            <a:avLst/>
          </a:prstGeom>
          <a:solidFill>
            <a:srgbClr val="00D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1353312"/>
            <a:ext cx="45720" cy="502920"/>
          </a:xfrm>
          <a:prstGeom prst="rect">
            <a:avLst/>
          </a:prstGeom>
          <a:solidFill>
            <a:srgbClr val="00D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28016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D080"/>
                </a:solidFill>
                <a:latin typeface="Microsoft YaHei"/>
              </a:defRPr>
            </a:pPr>
            <a:r>
              <a:t>#1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1280160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090A0"/>
                </a:solidFill>
                <a:latin typeface="Microsoft YaHei"/>
              </a:defRPr>
            </a:pPr>
            <a:r>
              <a:t>阅读《生成式人工智能服务管理暂行办法》全文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130552"/>
            <a:ext cx="45720" cy="502920"/>
          </a:xfrm>
          <a:prstGeom prst="rect">
            <a:avLst/>
          </a:prstGeom>
          <a:solidFill>
            <a:srgbClr val="00D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0574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D080"/>
                </a:solidFill>
                <a:latin typeface="Microsoft YaHei"/>
              </a:defRPr>
            </a:pPr>
            <a:r>
              <a:t>#2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2057400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090A0"/>
                </a:solidFill>
                <a:latin typeface="Microsoft YaHei"/>
              </a:defRPr>
            </a:pPr>
            <a:r>
              <a:t>在一个平台完成AI漫剧备案流程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2907792"/>
            <a:ext cx="45720" cy="502920"/>
          </a:xfrm>
          <a:prstGeom prst="rect">
            <a:avLst/>
          </a:prstGeom>
          <a:solidFill>
            <a:srgbClr val="00D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83464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D080"/>
                </a:solidFill>
                <a:latin typeface="Microsoft YaHei"/>
              </a:defRPr>
            </a:pPr>
            <a:r>
              <a:t>#3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2834640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090A0"/>
                </a:solidFill>
                <a:latin typeface="Microsoft YaHei"/>
              </a:defRPr>
            </a:pPr>
            <a:r>
              <a:t>检查已发布内容的AIGC标识是否完整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3685032"/>
            <a:ext cx="45720" cy="502920"/>
          </a:xfrm>
          <a:prstGeom prst="rect">
            <a:avLst/>
          </a:prstGeom>
          <a:solidFill>
            <a:srgbClr val="00D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36118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D080"/>
                </a:solidFill>
                <a:latin typeface="Microsoft YaHei"/>
              </a:defRPr>
            </a:pPr>
            <a:r>
              <a:t>#4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63040" y="3611880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090A0"/>
                </a:solidFill>
                <a:latin typeface="Microsoft YaHei"/>
              </a:defRPr>
            </a:pPr>
            <a:r>
              <a:t>为你的漫剧设计一套完整的AIGC标识方案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1520" y="4462272"/>
            <a:ext cx="45720" cy="502920"/>
          </a:xfrm>
          <a:prstGeom prst="rect">
            <a:avLst/>
          </a:prstGeom>
          <a:solidFill>
            <a:srgbClr val="00D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438912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D080"/>
                </a:solidFill>
                <a:latin typeface="Microsoft YaHei"/>
              </a:defRPr>
            </a:pPr>
            <a:r>
              <a:t>#5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63040" y="4389120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090A0"/>
                </a:solidFill>
                <a:latin typeface="Microsoft YaHei"/>
              </a:defRPr>
            </a:pPr>
            <a:r>
              <a:t>检查作品是否存在侵权风险并整改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31520" y="5239512"/>
            <a:ext cx="45720" cy="502920"/>
          </a:xfrm>
          <a:prstGeom prst="rect">
            <a:avLst/>
          </a:prstGeom>
          <a:solidFill>
            <a:srgbClr val="00D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5840" y="516636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D080"/>
                </a:solidFill>
                <a:latin typeface="Microsoft YaHei"/>
              </a:defRPr>
            </a:pPr>
            <a:r>
              <a:t>#6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63040" y="5166360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090A0"/>
                </a:solidFill>
                <a:latin typeface="Microsoft YaHei"/>
              </a:defRPr>
            </a:pPr>
            <a:r>
              <a:t>保留完整的创作过程记录（剧本/角色/AI生成记录）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446520"/>
            <a:ext cx="12191695" cy="19050"/>
          </a:xfrm>
          <a:prstGeom prst="rect">
            <a:avLst/>
          </a:prstGeom>
          <a:solidFill>
            <a:srgbClr val="1E1E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05060"/>
                </a:solidFill>
                <a:latin typeface="Microsoft YaHei"/>
              </a:defRPr>
            </a:pPr>
            <a:r>
              <a:t>模块16 · 合规规范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1828800"/>
            <a:ext cx="121916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200" b="1">
                <a:solidFill>
                  <a:srgbClr val="FF3060"/>
                </a:solidFill>
                <a:latin typeface="Microsoft YaHei"/>
              </a:defRPr>
            </a:pPr>
            <a:r>
              <a:t>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17520"/>
            <a:ext cx="121916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0F0F5"/>
                </a:solidFill>
                <a:latin typeface="Microsoft YaHei"/>
              </a:defRPr>
            </a:pPr>
            <a:r>
              <a:t>本模块结束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0" y="3931920"/>
            <a:ext cx="2103120" cy="19050"/>
          </a:xfrm>
          <a:prstGeom prst="rect">
            <a:avLst/>
          </a:prstGeom>
          <a:solidFill>
            <a:srgbClr val="FF3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0" y="4206240"/>
            <a:ext cx="121916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9090A0"/>
                </a:solidFill>
                <a:latin typeface="Microsoft YaHei"/>
              </a:defRPr>
            </a:pPr>
            <a:r>
              <a:t>下一模块：综合实战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5943600"/>
            <a:ext cx="121916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505060"/>
                </a:solidFill>
                <a:latin typeface="Microsoft YaHei"/>
              </a:defRPr>
            </a:pPr>
            <a:r>
              <a:t>AI漫剧制作全流程课程 · 2026版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