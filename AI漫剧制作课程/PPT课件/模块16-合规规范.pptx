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029200" cy="685800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029200" cy="1097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371600"/>
            <a:ext cx="4114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0" b="1">
                <a:solidFill>
                  <a:srgbClr val="FFFFFF"/>
                </a:solidFill>
                <a:latin typeface="Microsoft YaHei"/>
              </a:defRPr>
            </a:pPr>
            <a:r>
              <a:t>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65760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Microsoft YaHei"/>
              </a:defRPr>
            </a:pPr>
            <a:r>
              <a:t>M O D U L 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0" y="1371600"/>
            <a:ext cx="5943600" cy="457200"/>
          </a:xfrm>
          <a:prstGeom prst="round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852160" y="137160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FFFFFF"/>
                </a:solidFill>
                <a:latin typeface="Microsoft YaHei"/>
              </a:defRPr>
            </a:pPr>
            <a:r>
              <a:t>AI漫剧制作全流程课程 · 2026版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0" y="2286000"/>
            <a:ext cx="59436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Microsoft YaHei"/>
              </a:defRPr>
            </a:pPr>
            <a:r>
              <a:t>模块16：合规要求与行业规范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0" y="4023360"/>
            <a:ext cx="2743200" cy="3810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0" y="4389120"/>
            <a:ext cx="5943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CBD5E8"/>
                </a:solidFill>
                <a:latin typeface="Microsoft YaHei"/>
              </a:defRPr>
            </a:pPr>
            <a:r>
              <a:t>4课时 · 备案要求、AIGC标识、版权保护与行业伦理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0" y="5669280"/>
            <a:ext cx="5943600" cy="640080"/>
          </a:xfrm>
          <a:prstGeom prst="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852160" y="5715000"/>
            <a:ext cx="1371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EF4444"/>
                </a:solidFill>
                <a:latin typeface="Microsoft YaHei"/>
              </a:defRPr>
            </a:pPr>
            <a:r>
              <a:t>124课时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0" y="5715000"/>
            <a:ext cx="1371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EF4444"/>
                </a:solidFill>
                <a:latin typeface="Microsoft YaHei"/>
              </a:defRPr>
            </a:pPr>
            <a:r>
              <a:t>17模块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78240" y="5715000"/>
            <a:ext cx="1371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EF4444"/>
                </a:solidFill>
                <a:latin typeface="Microsoft YaHei"/>
              </a:defRPr>
            </a:pPr>
            <a:r>
              <a:t>8-16周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241280" y="5715000"/>
            <a:ext cx="1371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EF4444"/>
                </a:solidFill>
                <a:latin typeface="Microsoft YaHei"/>
              </a:defRPr>
            </a:pPr>
            <a:r>
              <a:t>全流程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10515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Microsoft YaHei"/>
              </a:defRPr>
            </a:pPr>
            <a:r>
              <a:t>📋 本节内容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51560"/>
            <a:ext cx="12191695" cy="2540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371600"/>
            <a:ext cx="3383280" cy="1005840"/>
          </a:xfrm>
          <a:prstGeom prst="roundRect">
            <a:avLst/>
          </a:prstGeom>
          <a:solidFill>
            <a:srgbClr val="141E33"/>
          </a:solidFill>
          <a:ln w="1905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85800" y="1600200"/>
            <a:ext cx="457200" cy="457200"/>
          </a:xfrm>
          <a:prstGeom prst="ellipse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60020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80160" y="1554480"/>
            <a:ext cx="2468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BD5E8"/>
                </a:solidFill>
                <a:latin typeface="Microsoft YaHei"/>
              </a:defRPr>
            </a:pPr>
            <a:r>
              <a:t>2026年广电总局新规解读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51960" y="1371600"/>
            <a:ext cx="3383280" cy="1005840"/>
          </a:xfrm>
          <a:prstGeom prst="roundRect">
            <a:avLst/>
          </a:prstGeom>
          <a:solidFill>
            <a:srgbClr val="141E33"/>
          </a:solidFill>
          <a:ln w="1905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389120" y="1600200"/>
            <a:ext cx="457200" cy="457200"/>
          </a:xfrm>
          <a:prstGeom prst="ellipse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89120" y="160020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83480" y="1554480"/>
            <a:ext cx="2468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BD5E8"/>
                </a:solidFill>
                <a:latin typeface="Microsoft YaHei"/>
              </a:defRPr>
            </a:pPr>
            <a:r>
              <a:t>AI内容标识办法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955280" y="1371600"/>
            <a:ext cx="3383280" cy="1005840"/>
          </a:xfrm>
          <a:prstGeom prst="roundRect">
            <a:avLst/>
          </a:prstGeom>
          <a:solidFill>
            <a:srgbClr val="141E33"/>
          </a:solidFill>
          <a:ln w="1905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8092440" y="1600200"/>
            <a:ext cx="457200" cy="457200"/>
          </a:xfrm>
          <a:prstGeom prst="ellipse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92440" y="160020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0" y="1554480"/>
            <a:ext cx="2468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BD5E8"/>
                </a:solidFill>
                <a:latin typeface="Microsoft YaHei"/>
              </a:defRPr>
            </a:pPr>
            <a:r>
              <a:t>版权与原创性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2606040"/>
            <a:ext cx="3383280" cy="1005840"/>
          </a:xfrm>
          <a:prstGeom prst="roundRect">
            <a:avLst/>
          </a:prstGeom>
          <a:solidFill>
            <a:srgbClr val="141E33"/>
          </a:solidFill>
          <a:ln w="1905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85800" y="2834640"/>
            <a:ext cx="457200" cy="457200"/>
          </a:xfrm>
          <a:prstGeom prst="ellipse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5800" y="283464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788920"/>
            <a:ext cx="2468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BD5E8"/>
                </a:solidFill>
                <a:latin typeface="Microsoft YaHei"/>
              </a:defRPr>
            </a:pPr>
            <a:r>
              <a:t>行业伦理与可持续发展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446520"/>
            <a:ext cx="12191695" cy="19050"/>
          </a:xfrm>
          <a:prstGeom prst="rect">
            <a:avLst/>
          </a:prstGeom>
          <a:solidFill>
            <a:srgbClr val="2D3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B9E"/>
                </a:solidFill>
                <a:latin typeface="Microsoft YaHei"/>
              </a:defRPr>
            </a:pPr>
            <a:r>
              <a:t>模块16：合规规范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B9E"/>
                </a:solidFill>
                <a:latin typeface="Microsoft YaHei"/>
              </a:defRPr>
            </a:pPr>
            <a: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10515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Microsoft YaHei"/>
              </a:defRPr>
            </a:pPr>
            <a:r>
              <a:t>AI漫剧监管框架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51560"/>
            <a:ext cx="12191695" cy="2540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463040"/>
          <a:ext cx="11064240" cy="3566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594360"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法规</a:t>
                      </a:r>
                    </a:p>
                  </a:txBody>
                  <a:tcPr anchor="ctr">
                    <a:solidFill>
                      <a:srgbClr val="EF444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发布机构</a:t>
                      </a:r>
                    </a:p>
                  </a:txBody>
                  <a:tcPr anchor="ctr">
                    <a:solidFill>
                      <a:srgbClr val="EF444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核心要求</a:t>
                      </a:r>
                    </a:p>
                  </a:txBody>
                  <a:tcPr anchor="ctr">
                    <a:solidFill>
                      <a:srgbClr val="EF4444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CBD5E8"/>
                          </a:solidFill>
                          <a:latin typeface="Microsoft YaHei"/>
                        </a:defRPr>
                      </a:pPr>
                      <a:r>
                        <a:t>《生成式AI服务管理暂行办法》</a:t>
                      </a:r>
                    </a:p>
                  </a:txBody>
                  <a:tcPr anchor="ctr">
                    <a:solidFill>
                      <a:srgbClr val="141E3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CBD5E8"/>
                          </a:solidFill>
                          <a:latin typeface="Microsoft YaHei"/>
                        </a:defRPr>
                      </a:pPr>
                      <a:r>
                        <a:t>网信办</a:t>
                      </a:r>
                    </a:p>
                  </a:txBody>
                  <a:tcPr anchor="ctr">
                    <a:solidFill>
                      <a:srgbClr val="141E3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CBD5E8"/>
                          </a:solidFill>
                          <a:latin typeface="Microsoft YaHei"/>
                        </a:defRPr>
                      </a:pPr>
                      <a:r>
                        <a:t>AIGC内容标识、安全评估</a:t>
                      </a:r>
                    </a:p>
                  </a:txBody>
                  <a:tcPr anchor="ctr">
                    <a:solidFill>
                      <a:srgbClr val="141E33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CBD5E8"/>
                          </a:solidFill>
                          <a:latin typeface="Microsoft YaHei"/>
                        </a:defRPr>
                      </a:pPr>
                      <a:r>
                        <a:t>《网络短视频内容审核标准细则》</a:t>
                      </a:r>
                    </a:p>
                  </a:txBody>
                  <a:tcPr anchor="ctr">
                    <a:solidFill>
                      <a:srgbClr val="1A28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CBD5E8"/>
                          </a:solidFill>
                          <a:latin typeface="Microsoft YaHei"/>
                        </a:defRPr>
                      </a:pPr>
                      <a:r>
                        <a:t>广电总局</a:t>
                      </a:r>
                    </a:p>
                  </a:txBody>
                  <a:tcPr anchor="ctr">
                    <a:solidFill>
                      <a:srgbClr val="1A28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CBD5E8"/>
                          </a:solidFill>
                          <a:latin typeface="Microsoft YaHei"/>
                        </a:defRPr>
                      </a:pPr>
                      <a:r>
                        <a:t>内容红线、审核标准</a:t>
                      </a:r>
                    </a:p>
                  </a:txBody>
                  <a:tcPr anchor="ctr">
                    <a:solidFill>
                      <a:srgbClr val="1A2842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CBD5E8"/>
                          </a:solidFill>
                          <a:latin typeface="Microsoft YaHei"/>
                        </a:defRPr>
                      </a:pPr>
                      <a:r>
                        <a:t>《深度合成管理规定》</a:t>
                      </a:r>
                    </a:p>
                  </a:txBody>
                  <a:tcPr anchor="ctr">
                    <a:solidFill>
                      <a:srgbClr val="141E3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CBD5E8"/>
                          </a:solidFill>
                          <a:latin typeface="Microsoft YaHei"/>
                        </a:defRPr>
                      </a:pPr>
                      <a:r>
                        <a:t>网信办</a:t>
                      </a:r>
                    </a:p>
                  </a:txBody>
                  <a:tcPr anchor="ctr">
                    <a:solidFill>
                      <a:srgbClr val="141E3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CBD5E8"/>
                          </a:solidFill>
                          <a:latin typeface="Microsoft YaHei"/>
                        </a:defRPr>
                      </a:pPr>
                      <a:r>
                        <a:t>深度合成标识、备案</a:t>
                      </a:r>
                    </a:p>
                  </a:txBody>
                  <a:tcPr anchor="ctr">
                    <a:solidFill>
                      <a:srgbClr val="141E33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CBD5E8"/>
                          </a:solidFill>
                          <a:latin typeface="Microsoft YaHei"/>
                        </a:defRPr>
                      </a:pPr>
                      <a:r>
                        <a:t>《网络视听节目服务管理规定》</a:t>
                      </a:r>
                    </a:p>
                  </a:txBody>
                  <a:tcPr anchor="ctr">
                    <a:solidFill>
                      <a:srgbClr val="1A28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CBD5E8"/>
                          </a:solidFill>
                          <a:latin typeface="Microsoft YaHei"/>
                        </a:defRPr>
                      </a:pPr>
                      <a:r>
                        <a:t>广电总局</a:t>
                      </a:r>
                    </a:p>
                  </a:txBody>
                  <a:tcPr anchor="ctr">
                    <a:solidFill>
                      <a:srgbClr val="1A28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CBD5E8"/>
                          </a:solidFill>
                          <a:latin typeface="Microsoft YaHei"/>
                        </a:defRPr>
                      </a:pPr>
                      <a:r>
                        <a:t>节目备案、内容审核</a:t>
                      </a:r>
                    </a:p>
                  </a:txBody>
                  <a:tcPr anchor="ctr">
                    <a:solidFill>
                      <a:srgbClr val="1A2842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CBD5E8"/>
                          </a:solidFill>
                          <a:latin typeface="Microsoft YaHei"/>
                        </a:defRPr>
                      </a:pPr>
                      <a:r>
                        <a:t>《未成年人网络保护条例》</a:t>
                      </a:r>
                    </a:p>
                  </a:txBody>
                  <a:tcPr anchor="ctr">
                    <a:solidFill>
                      <a:srgbClr val="141E3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CBD5E8"/>
                          </a:solidFill>
                          <a:latin typeface="Microsoft YaHei"/>
                        </a:defRPr>
                      </a:pPr>
                      <a:r>
                        <a:t>国务院</a:t>
                      </a:r>
                    </a:p>
                  </a:txBody>
                  <a:tcPr anchor="ctr">
                    <a:solidFill>
                      <a:srgbClr val="141E3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CBD5E8"/>
                          </a:solidFill>
                          <a:latin typeface="Microsoft YaHei"/>
                        </a:defRPr>
                      </a:pPr>
                      <a:r>
                        <a:t>未成年人保护</a:t>
                      </a:r>
                    </a:p>
                  </a:txBody>
                  <a:tcPr anchor="ctr">
                    <a:solidFill>
                      <a:srgbClr val="141E33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0" y="6446520"/>
            <a:ext cx="12191695" cy="19050"/>
          </a:xfrm>
          <a:prstGeom prst="rect">
            <a:avLst/>
          </a:prstGeom>
          <a:solidFill>
            <a:srgbClr val="2D3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B9E"/>
                </a:solidFill>
                <a:latin typeface="Microsoft YaHei"/>
              </a:defRPr>
            </a:pPr>
            <a:r>
              <a:t>模块16：合规规范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B9E"/>
                </a:solidFill>
                <a:latin typeface="Microsoft YaHei"/>
              </a:defRPr>
            </a:pPr>
            <a: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10515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Microsoft YaHei"/>
              </a:defRPr>
            </a:pPr>
            <a:r>
              <a:t>内容红线——绝对禁止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51560"/>
            <a:ext cx="12191695" cy="2540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57200" y="1325880"/>
            <a:ext cx="11247120" cy="731520"/>
          </a:xfrm>
          <a:prstGeom prst="round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325880"/>
            <a:ext cx="73152" cy="73152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731520" y="1490472"/>
            <a:ext cx="365760" cy="365760"/>
          </a:xfrm>
          <a:prstGeom prst="ellipse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490472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14173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BD5E8"/>
                </a:solidFill>
                <a:latin typeface="Microsoft YaHei"/>
              </a:defRPr>
            </a:pPr>
            <a:r>
              <a:t>暴力血腥：过度暴力、血腥画面、残忍行为 → 下架+封号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2194560"/>
            <a:ext cx="11247120" cy="731520"/>
          </a:xfrm>
          <a:prstGeom prst="round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194560"/>
            <a:ext cx="73152" cy="73152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31520" y="2359152"/>
            <a:ext cx="365760" cy="365760"/>
          </a:xfrm>
          <a:prstGeom prst="ellipse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2359152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80160" y="228600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BD5E8"/>
                </a:solidFill>
                <a:latin typeface="Microsoft YaHei"/>
              </a:defRPr>
            </a:pPr>
            <a:r>
              <a:t>色情内容：色情画面、性暗示、裸露 → 下架+封号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3063240"/>
            <a:ext cx="11247120" cy="731520"/>
          </a:xfrm>
          <a:prstGeom prst="round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57200" y="3063240"/>
            <a:ext cx="73152" cy="73152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31520" y="3227832"/>
            <a:ext cx="365760" cy="365760"/>
          </a:xfrm>
          <a:prstGeom prst="ellipse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3227832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80160" y="31546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BD5E8"/>
                </a:solidFill>
                <a:latin typeface="Microsoft YaHei"/>
              </a:defRPr>
            </a:pPr>
            <a:r>
              <a:t>政治敏感：政治人物、敏感事件、意识形态 → 下架+封号+追责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3931919"/>
            <a:ext cx="11247120" cy="731520"/>
          </a:xfrm>
          <a:prstGeom prst="round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57200" y="3931919"/>
            <a:ext cx="73152" cy="73152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31520" y="4096511"/>
            <a:ext cx="365760" cy="365760"/>
          </a:xfrm>
          <a:prstGeom prst="ellipse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31520" y="4096511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icrosoft YaHei"/>
              </a:defRPr>
            </a:pPr>
            <a: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80160" y="4023359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BD5E8"/>
                </a:solidFill>
                <a:latin typeface="Microsoft YaHei"/>
              </a:defRPr>
            </a:pPr>
            <a:r>
              <a:t>仇恨歧视：种族/性别/宗教歧视 → 下架+封号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57200" y="4800600"/>
            <a:ext cx="11247120" cy="731520"/>
          </a:xfrm>
          <a:prstGeom prst="round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57200" y="4800600"/>
            <a:ext cx="73152" cy="73152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731520" y="4965192"/>
            <a:ext cx="365760" cy="365760"/>
          </a:xfrm>
          <a:prstGeom prst="ellipse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31520" y="4965192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icrosoft YaHei"/>
              </a:defRPr>
            </a:pPr>
            <a: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280160" y="489204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BD5E8"/>
                </a:solidFill>
                <a:latin typeface="Microsoft YaHei"/>
              </a:defRPr>
            </a:pPr>
            <a:r>
              <a:t>未成年不当：未成年人暴力/色情/危险行为 → 下架+封号+追责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57200" y="5669280"/>
            <a:ext cx="11247120" cy="731520"/>
          </a:xfrm>
          <a:prstGeom prst="round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457200" y="5669280"/>
            <a:ext cx="73152" cy="73152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731520" y="5833872"/>
            <a:ext cx="365760" cy="365760"/>
          </a:xfrm>
          <a:prstGeom prst="ellipse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31520" y="5833872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icrosoft YaHei"/>
              </a:defRPr>
            </a:pPr>
            <a:r>
              <a:t>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57607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BD5E8"/>
                </a:solidFill>
                <a:latin typeface="Microsoft YaHei"/>
              </a:defRPr>
            </a:pPr>
            <a:r>
              <a:t>违法内容：赌博、毒品、传销、诈骗 → 下架+封号+追责</a:t>
            </a:r>
          </a:p>
        </p:txBody>
      </p:sp>
      <p:sp>
        <p:nvSpPr>
          <p:cNvPr id="36" name="Rectangle 35"/>
          <p:cNvSpPr/>
          <p:nvPr/>
        </p:nvSpPr>
        <p:spPr>
          <a:xfrm>
            <a:off x="0" y="6446520"/>
            <a:ext cx="12191695" cy="19050"/>
          </a:xfrm>
          <a:prstGeom prst="rect">
            <a:avLst/>
          </a:prstGeom>
          <a:solidFill>
            <a:srgbClr val="2D3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B9E"/>
                </a:solidFill>
                <a:latin typeface="Microsoft YaHei"/>
              </a:defRPr>
            </a:pPr>
            <a:r>
              <a:t>模块16：合规规范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B9E"/>
                </a:solidFill>
                <a:latin typeface="Microsoft YaHei"/>
              </a:defRPr>
            </a:pPr>
            <a: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10515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Microsoft YaHei"/>
              </a:defRPr>
            </a:pPr>
            <a:r>
              <a:t>备案流程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51560"/>
            <a:ext cx="12191695" cy="2540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57200" y="1371600"/>
            <a:ext cx="2583180" cy="4572000"/>
          </a:xfrm>
          <a:prstGeom prst="round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371600"/>
            <a:ext cx="2583180" cy="73152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474470" y="1737360"/>
            <a:ext cx="548640" cy="548640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74470" y="1737360"/>
            <a:ext cx="548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560320"/>
            <a:ext cx="22174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BD5E8"/>
                </a:solidFill>
                <a:latin typeface="Microsoft YaHei"/>
              </a:defRPr>
            </a:pPr>
            <a:r>
              <a:t>准备材料：作品名称/简介、制作方信息、AI工具说明、安全承诺书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58668" y="3474720"/>
            <a:ext cx="228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D4FF"/>
                </a:solidFill>
                <a:latin typeface="Microsoft YaHei"/>
              </a:defRPr>
            </a:pPr>
            <a: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14700" y="1371600"/>
            <a:ext cx="2583180" cy="4572000"/>
          </a:xfrm>
          <a:prstGeom prst="round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314700" y="1371600"/>
            <a:ext cx="2583180" cy="7315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331970" y="173736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331970" y="1737360"/>
            <a:ext cx="548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97580" y="2560320"/>
            <a:ext cx="22174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BD5E8"/>
                </a:solidFill>
                <a:latin typeface="Microsoft YaHei"/>
              </a:defRPr>
            </a:pPr>
            <a:r>
              <a:t>平台备案：在发布平台提交备案，填写信息表，上传材料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16168" y="3474720"/>
            <a:ext cx="228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7C3AED"/>
                </a:solidFill>
                <a:latin typeface="Microsoft YaHei"/>
              </a:defRPr>
            </a:pPr>
            <a:r>
              <a:t>→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2200" y="1371600"/>
            <a:ext cx="2583180" cy="4572000"/>
          </a:xfrm>
          <a:prstGeom prst="round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72200" y="1371600"/>
            <a:ext cx="2583180" cy="73152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189470" y="1737360"/>
            <a:ext cx="548640" cy="548640"/>
          </a:xfrm>
          <a:prstGeom prst="ellipse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189470" y="1737360"/>
            <a:ext cx="548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55080" y="2560320"/>
            <a:ext cx="22174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BD5E8"/>
                </a:solidFill>
                <a:latin typeface="Microsoft YaHei"/>
              </a:defRPr>
            </a:pPr>
            <a:r>
              <a:t>审核通过：平台审核1-3个工作日，获得备案号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773668" y="3474720"/>
            <a:ext cx="228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6B35"/>
                </a:solidFill>
                <a:latin typeface="Microsoft YaHei"/>
              </a:defRPr>
            </a:pPr>
            <a:r>
              <a:t>→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29700" y="1371600"/>
            <a:ext cx="2583180" cy="4572000"/>
          </a:xfrm>
          <a:prstGeom prst="round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029700" y="1371600"/>
            <a:ext cx="2583180" cy="73152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0046970" y="1737360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046970" y="1737360"/>
            <a:ext cx="548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Microsoft YaHei"/>
              </a:defRPr>
            </a:pPr>
            <a: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12580" y="2560320"/>
            <a:ext cx="22174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BD5E8"/>
                </a:solidFill>
                <a:latin typeface="Microsoft YaHei"/>
              </a:defRPr>
            </a:pPr>
            <a:r>
              <a:t>发布内容：在内容中标注备案号，添加AIGC标识，正式发布</a:t>
            </a:r>
          </a:p>
        </p:txBody>
      </p:sp>
      <p:sp>
        <p:nvSpPr>
          <p:cNvPr id="29" name="Rectangle 28"/>
          <p:cNvSpPr/>
          <p:nvPr/>
        </p:nvSpPr>
        <p:spPr>
          <a:xfrm>
            <a:off x="0" y="6446520"/>
            <a:ext cx="12191695" cy="19050"/>
          </a:xfrm>
          <a:prstGeom prst="rect">
            <a:avLst/>
          </a:prstGeom>
          <a:solidFill>
            <a:srgbClr val="2D3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B9E"/>
                </a:solidFill>
                <a:latin typeface="Microsoft YaHei"/>
              </a:defRPr>
            </a:pPr>
            <a:r>
              <a:t>模块16：合规规范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B9E"/>
                </a:solidFill>
                <a:latin typeface="Microsoft YaHei"/>
              </a:defRPr>
            </a:pPr>
            <a: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10515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Microsoft YaHei"/>
              </a:defRPr>
            </a:pPr>
            <a:r>
              <a:t>AIGC标识要求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51560"/>
            <a:ext cx="12191695" cy="2540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65760" y="1371600"/>
            <a:ext cx="5486400" cy="4846320"/>
          </a:xfrm>
          <a:prstGeom prst="round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0" y="1371600"/>
            <a:ext cx="5486400" cy="73152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645920"/>
            <a:ext cx="4937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EF4444"/>
                </a:solidFill>
                <a:latin typeface="Microsoft YaHei"/>
              </a:defRPr>
            </a:pPr>
            <a:r>
              <a:t>必须标识的内容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2194560"/>
            <a:ext cx="1371600" cy="3810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31520" y="2542032"/>
            <a:ext cx="182880" cy="182880"/>
          </a:xfrm>
          <a:prstGeom prst="ellipse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2468880"/>
            <a:ext cx="4572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BD5E8"/>
                </a:solidFill>
                <a:latin typeface="Microsoft YaHei"/>
              </a:defRPr>
            </a:pPr>
            <a:r>
              <a:t>所有AI生成或辅助生成的内容</a:t>
            </a:r>
          </a:p>
        </p:txBody>
      </p:sp>
      <p:sp>
        <p:nvSpPr>
          <p:cNvPr id="12" name="Oval 11"/>
          <p:cNvSpPr/>
          <p:nvPr/>
        </p:nvSpPr>
        <p:spPr>
          <a:xfrm>
            <a:off x="731520" y="3136392"/>
            <a:ext cx="182880" cy="182880"/>
          </a:xfrm>
          <a:prstGeom prst="ellipse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3063240"/>
            <a:ext cx="4572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BD5E8"/>
                </a:solidFill>
                <a:latin typeface="Microsoft YaHei"/>
              </a:defRPr>
            </a:pPr>
            <a:r>
              <a:t>视觉标识：水印、角标、片头文字</a:t>
            </a:r>
          </a:p>
        </p:txBody>
      </p:sp>
      <p:sp>
        <p:nvSpPr>
          <p:cNvPr id="14" name="Oval 13"/>
          <p:cNvSpPr/>
          <p:nvPr/>
        </p:nvSpPr>
        <p:spPr>
          <a:xfrm>
            <a:off x="731520" y="3730752"/>
            <a:ext cx="182880" cy="182880"/>
          </a:xfrm>
          <a:prstGeom prst="ellipse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51560" y="3657600"/>
            <a:ext cx="4572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BD5E8"/>
                </a:solidFill>
                <a:latin typeface="Microsoft YaHei"/>
              </a:defRPr>
            </a:pPr>
            <a:r>
              <a:t>音频标识：语音声明</a:t>
            </a:r>
          </a:p>
        </p:txBody>
      </p:sp>
      <p:sp>
        <p:nvSpPr>
          <p:cNvPr id="16" name="Oval 15"/>
          <p:cNvSpPr/>
          <p:nvPr/>
        </p:nvSpPr>
        <p:spPr>
          <a:xfrm>
            <a:off x="731520" y="4325112"/>
            <a:ext cx="182880" cy="182880"/>
          </a:xfrm>
          <a:prstGeom prst="ellipse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1560" y="4251960"/>
            <a:ext cx="4572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BD5E8"/>
                </a:solidFill>
                <a:latin typeface="Microsoft YaHei"/>
              </a:defRPr>
            </a:pPr>
            <a:r>
              <a:t>文字标识：简介说明、字幕标注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17920" y="1371600"/>
            <a:ext cx="5486400" cy="4846320"/>
          </a:xfrm>
          <a:prstGeom prst="round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17920" y="1371600"/>
            <a:ext cx="5486400" cy="7315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92240" y="1645920"/>
            <a:ext cx="4937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7C3AED"/>
                </a:solidFill>
                <a:latin typeface="Microsoft YaHei"/>
              </a:defRPr>
            </a:pPr>
            <a:r>
              <a:t>各平台标识规则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92240" y="2194560"/>
            <a:ext cx="1371600" cy="381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583680" y="2542032"/>
            <a:ext cx="182880" cy="18288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903720" y="2468880"/>
            <a:ext cx="4572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BD5E8"/>
                </a:solidFill>
                <a:latin typeface="Microsoft YaHei"/>
              </a:defRPr>
            </a:pPr>
            <a:r>
              <a:t>抖音：右下角自动"AI生成"水印+简介注明</a:t>
            </a:r>
          </a:p>
        </p:txBody>
      </p:sp>
      <p:sp>
        <p:nvSpPr>
          <p:cNvPr id="24" name="Oval 23"/>
          <p:cNvSpPr/>
          <p:nvPr/>
        </p:nvSpPr>
        <p:spPr>
          <a:xfrm>
            <a:off x="6583680" y="3136392"/>
            <a:ext cx="182880" cy="18288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903720" y="3063240"/>
            <a:ext cx="4572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BD5E8"/>
                </a:solidFill>
                <a:latin typeface="Microsoft YaHei"/>
              </a:defRPr>
            </a:pPr>
            <a:r>
              <a:t>快手：可灵AI自动标识，其他需手动</a:t>
            </a:r>
          </a:p>
        </p:txBody>
      </p:sp>
      <p:sp>
        <p:nvSpPr>
          <p:cNvPr id="26" name="Oval 25"/>
          <p:cNvSpPr/>
          <p:nvPr/>
        </p:nvSpPr>
        <p:spPr>
          <a:xfrm>
            <a:off x="6583680" y="3730752"/>
            <a:ext cx="182880" cy="18288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903720" y="3657600"/>
            <a:ext cx="4572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BD5E8"/>
                </a:solidFill>
                <a:latin typeface="Microsoft YaHei"/>
              </a:defRPr>
            </a:pPr>
            <a:r>
              <a:t>B站：简介注明+标签#AI生成</a:t>
            </a:r>
          </a:p>
        </p:txBody>
      </p:sp>
      <p:sp>
        <p:nvSpPr>
          <p:cNvPr id="28" name="Oval 27"/>
          <p:cNvSpPr/>
          <p:nvPr/>
        </p:nvSpPr>
        <p:spPr>
          <a:xfrm>
            <a:off x="6583680" y="4325112"/>
            <a:ext cx="182880" cy="18288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903720" y="4251960"/>
            <a:ext cx="4572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BD5E8"/>
                </a:solidFill>
                <a:latin typeface="Microsoft YaHei"/>
              </a:defRPr>
            </a:pPr>
            <a:r>
              <a:t>红果：片头"本内容由AI辅助制作"+备案号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446520"/>
            <a:ext cx="12191695" cy="19050"/>
          </a:xfrm>
          <a:prstGeom prst="rect">
            <a:avLst/>
          </a:prstGeom>
          <a:solidFill>
            <a:srgbClr val="2D3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B9E"/>
                </a:solidFill>
                <a:latin typeface="Microsoft YaHei"/>
              </a:defRPr>
            </a:pPr>
            <a:r>
              <a:t>模块16：合规规范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B9E"/>
                </a:solidFill>
                <a:latin typeface="Microsoft YaHei"/>
              </a:defRPr>
            </a:pPr>
            <a:r>
              <a:t>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10515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Microsoft YaHei"/>
              </a:defRPr>
            </a:pPr>
            <a:r>
              <a:t>标识违规后果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51560"/>
            <a:ext cx="12191695" cy="2540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10698480" cy="2743200"/>
          </a:xfrm>
          <a:prstGeom prst="round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1645920"/>
            <a:ext cx="10698480" cy="9144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1645920"/>
            <a:ext cx="109728" cy="274320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920240"/>
            <a:ext cx="914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0">
                <a:solidFill>
                  <a:srgbClr val="EF4444"/>
                </a:solidFill>
                <a:latin typeface="Microsoft YaHei"/>
              </a:defRPr>
            </a:pPr>
            <a:r>
              <a:t>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45920" y="196596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EF4444"/>
                </a:solidFill>
                <a:latin typeface="Microsoft YaHei"/>
              </a:defRPr>
            </a:pPr>
            <a:r>
              <a:t>核心要点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2560320"/>
            <a:ext cx="97840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Microsoft YaHei"/>
              </a:defRPr>
            </a:pPr>
            <a:r>
              <a:t>未标识/删除标识/伪造标识将面临限流、下架、封号、追责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4754880"/>
            <a:ext cx="10698480" cy="1371600"/>
          </a:xfrm>
          <a:prstGeom prst="roundRect">
            <a:avLst/>
          </a:prstGeom>
          <a:solidFill>
            <a:srgbClr val="1A28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31520" y="4754880"/>
            <a:ext cx="73152" cy="1371600"/>
          </a:xfrm>
          <a:prstGeom prst="rect">
            <a:avLst/>
          </a:prstGeom>
          <a:solidFill>
            <a:srgbClr val="6B7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97280" y="489204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BD5E8"/>
                </a:solidFill>
                <a:latin typeface="Microsoft YaHei"/>
              </a:defRPr>
            </a:pPr>
            <a:r>
              <a:t>推荐方案：片头3-5秒文字声明"本作品使用AI技术辅助制作" + 右下角持续水印 + 简介详细说明AI工具使用情况。主动标识是合规底线，也是建立用户信任的基础。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6446520"/>
            <a:ext cx="12191695" cy="19050"/>
          </a:xfrm>
          <a:prstGeom prst="rect">
            <a:avLst/>
          </a:prstGeom>
          <a:solidFill>
            <a:srgbClr val="2D3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B9E"/>
                </a:solidFill>
                <a:latin typeface="Microsoft YaHei"/>
              </a:defRPr>
            </a:pPr>
            <a:r>
              <a:t>模块16：合规规范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B9E"/>
                </a:solidFill>
                <a:latin typeface="Microsoft YaHei"/>
              </a:defRPr>
            </a:pPr>
            <a:r>
              <a:t>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10515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Microsoft YaHei"/>
              </a:defRPr>
            </a:pPr>
            <a:r>
              <a:t>AI生成内容著作权现状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51560"/>
            <a:ext cx="12191695" cy="2540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463040"/>
          <a:ext cx="1106424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594360"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内容类型</a:t>
                      </a:r>
                    </a:p>
                  </a:txBody>
                  <a:tcPr anchor="ctr">
                    <a:solidFill>
                      <a:srgbClr val="EF444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著作权状态</a:t>
                      </a:r>
                    </a:p>
                  </a:txBody>
                  <a:tcPr anchor="ctr">
                    <a:solidFill>
                      <a:srgbClr val="EF444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说明</a:t>
                      </a:r>
                    </a:p>
                  </a:txBody>
                  <a:tcPr anchor="ctr">
                    <a:solidFill>
                      <a:srgbClr val="EF4444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CBD5E8"/>
                          </a:solidFill>
                          <a:latin typeface="Microsoft YaHei"/>
                        </a:defRPr>
                      </a:pPr>
                      <a:r>
                        <a:t>纯AI生成</a:t>
                      </a:r>
                    </a:p>
                  </a:txBody>
                  <a:tcPr anchor="ctr">
                    <a:solidFill>
                      <a:srgbClr val="141E3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CBD5E8"/>
                          </a:solidFill>
                          <a:latin typeface="Microsoft YaHei"/>
                        </a:defRPr>
                      </a:pPr>
                      <a:r>
                        <a:t>❌ 不受保护</a:t>
                      </a:r>
                    </a:p>
                  </a:txBody>
                  <a:tcPr anchor="ctr">
                    <a:solidFill>
                      <a:srgbClr val="141E3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CBD5E8"/>
                          </a:solidFill>
                          <a:latin typeface="Microsoft YaHei"/>
                        </a:defRPr>
                      </a:pPr>
                      <a:r>
                        <a:t>无人类创作贡献</a:t>
                      </a:r>
                    </a:p>
                  </a:txBody>
                  <a:tcPr anchor="ctr">
                    <a:solidFill>
                      <a:srgbClr val="141E33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CBD5E8"/>
                          </a:solidFill>
                          <a:latin typeface="Microsoft YaHei"/>
                        </a:defRPr>
                      </a:pPr>
                      <a:r>
                        <a:t>AI辅助创作</a:t>
                      </a:r>
                    </a:p>
                  </a:txBody>
                  <a:tcPr anchor="ctr">
                    <a:solidFill>
                      <a:srgbClr val="1A28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CBD5E8"/>
                          </a:solidFill>
                          <a:latin typeface="Microsoft YaHei"/>
                        </a:defRPr>
                      </a:pPr>
                      <a:r>
                        <a:t>✅ 可获保护</a:t>
                      </a:r>
                    </a:p>
                  </a:txBody>
                  <a:tcPr anchor="ctr">
                    <a:solidFill>
                      <a:srgbClr val="1A28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CBD5E8"/>
                          </a:solidFill>
                          <a:latin typeface="Microsoft YaHei"/>
                        </a:defRPr>
                      </a:pPr>
                      <a:r>
                        <a:t>有人类创意贡献</a:t>
                      </a:r>
                    </a:p>
                  </a:txBody>
                  <a:tcPr anchor="ctr">
                    <a:solidFill>
                      <a:srgbClr val="1A2842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CBD5E8"/>
                          </a:solidFill>
                          <a:latin typeface="Microsoft YaHei"/>
                        </a:defRPr>
                      </a:pPr>
                      <a:r>
                        <a:t>AI改编作品</a:t>
                      </a:r>
                    </a:p>
                  </a:txBody>
                  <a:tcPr anchor="ctr">
                    <a:solidFill>
                      <a:srgbClr val="141E3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CBD5E8"/>
                          </a:solidFill>
                          <a:latin typeface="Microsoft YaHei"/>
                        </a:defRPr>
                      </a:pPr>
                      <a:r>
                        <a:t>⚠️ 视情况</a:t>
                      </a:r>
                    </a:p>
                  </a:txBody>
                  <a:tcPr anchor="ctr">
                    <a:solidFill>
                      <a:srgbClr val="141E3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CBD5E8"/>
                          </a:solidFill>
                          <a:latin typeface="Microsoft YaHei"/>
                        </a:defRPr>
                      </a:pPr>
                      <a:r>
                        <a:t>需获得原作授权</a:t>
                      </a:r>
                    </a:p>
                  </a:txBody>
                  <a:tcPr anchor="ctr">
                    <a:solidFill>
                      <a:srgbClr val="141E33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0" y="6446520"/>
            <a:ext cx="12191695" cy="19050"/>
          </a:xfrm>
          <a:prstGeom prst="rect">
            <a:avLst/>
          </a:prstGeom>
          <a:solidFill>
            <a:srgbClr val="2D3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B9E"/>
                </a:solidFill>
                <a:latin typeface="Microsoft YaHei"/>
              </a:defRPr>
            </a:pPr>
            <a:r>
              <a:t>模块16：合规规范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B9E"/>
                </a:solidFill>
                <a:latin typeface="Microsoft YaHei"/>
              </a:defRPr>
            </a:pPr>
            <a:r>
              <a:t>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10515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Microsoft YaHei"/>
              </a:defRPr>
            </a:pPr>
            <a:r>
              <a:t>侵权风险防范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51560"/>
            <a:ext cx="12191695" cy="2540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57200" y="1325880"/>
            <a:ext cx="11247120" cy="731520"/>
          </a:xfrm>
          <a:prstGeom prst="round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325880"/>
            <a:ext cx="73152" cy="73152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731520" y="1490472"/>
            <a:ext cx="365760" cy="365760"/>
          </a:xfrm>
          <a:prstGeom prst="ellipse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490472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14173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BD5E8"/>
                </a:solidFill>
                <a:latin typeface="Microsoft YaHei"/>
              </a:defRPr>
            </a:pPr>
            <a:r>
              <a:t>剧本层面：使用原创剧本或已授权IP，禁止直接使用他人剧本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2194560"/>
            <a:ext cx="11247120" cy="731520"/>
          </a:xfrm>
          <a:prstGeom prst="round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194560"/>
            <a:ext cx="73152" cy="73152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31520" y="2359152"/>
            <a:ext cx="365760" cy="365760"/>
          </a:xfrm>
          <a:prstGeom prst="ellipse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2359152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80160" y="228600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BD5E8"/>
                </a:solidFill>
                <a:latin typeface="Microsoft YaHei"/>
              </a:defRPr>
            </a:pPr>
            <a:r>
              <a:t>角色层面：设计原创角色形象，不模仿他人角色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3063240"/>
            <a:ext cx="11247120" cy="731520"/>
          </a:xfrm>
          <a:prstGeom prst="round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57200" y="3063240"/>
            <a:ext cx="73152" cy="73152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31520" y="3227832"/>
            <a:ext cx="365760" cy="365760"/>
          </a:xfrm>
          <a:prstGeom prst="ellipse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3227832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80160" y="31546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BD5E8"/>
                </a:solidFill>
                <a:latin typeface="Microsoft YaHei"/>
              </a:defRPr>
            </a:pPr>
            <a:r>
              <a:t>音乐层面：使用版权免费音乐/AI生成音乐/正版授权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3931919"/>
            <a:ext cx="11247120" cy="731520"/>
          </a:xfrm>
          <a:prstGeom prst="round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57200" y="3931919"/>
            <a:ext cx="73152" cy="73152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31520" y="4096511"/>
            <a:ext cx="365760" cy="365760"/>
          </a:xfrm>
          <a:prstGeom prst="ellipse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31520" y="4096511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icrosoft YaHei"/>
              </a:defRPr>
            </a:pPr>
            <a: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80160" y="4023359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BD5E8"/>
                </a:solidFill>
                <a:latin typeface="Microsoft YaHei"/>
              </a:defRPr>
            </a:pPr>
            <a:r>
              <a:t>素材层面：使用原创素材或正版素材库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57200" y="4800600"/>
            <a:ext cx="11247120" cy="731520"/>
          </a:xfrm>
          <a:prstGeom prst="round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57200" y="4800600"/>
            <a:ext cx="73152" cy="73152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731520" y="4965192"/>
            <a:ext cx="365760" cy="365760"/>
          </a:xfrm>
          <a:prstGeom prst="ellipse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31520" y="4965192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icrosoft YaHei"/>
              </a:defRPr>
            </a:pPr>
            <a: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280160" y="489204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BD5E8"/>
                </a:solidFill>
                <a:latin typeface="Microsoft YaHei"/>
              </a:defRPr>
            </a:pPr>
            <a:r>
              <a:t>版权保护：及时申请版权登记，保留完整创作过程记录</a:t>
            </a:r>
          </a:p>
        </p:txBody>
      </p:sp>
      <p:sp>
        <p:nvSpPr>
          <p:cNvPr id="31" name="Rectangle 30"/>
          <p:cNvSpPr/>
          <p:nvPr/>
        </p:nvSpPr>
        <p:spPr>
          <a:xfrm>
            <a:off x="0" y="6446520"/>
            <a:ext cx="12191695" cy="19050"/>
          </a:xfrm>
          <a:prstGeom prst="rect">
            <a:avLst/>
          </a:prstGeom>
          <a:solidFill>
            <a:srgbClr val="2D3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B9E"/>
                </a:solidFill>
                <a:latin typeface="Microsoft YaHei"/>
              </a:defRPr>
            </a:pPr>
            <a:r>
              <a:t>模块16：合规规范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B9E"/>
                </a:solidFill>
                <a:latin typeface="Microsoft YaHei"/>
              </a:defRPr>
            </a:pPr>
            <a:r>
              <a:t>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10515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Microsoft YaHei"/>
              </a:defRPr>
            </a:pPr>
            <a:r>
              <a:t>从流量思维到IP思维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51560"/>
            <a:ext cx="12191695" cy="2540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57200" y="1325880"/>
            <a:ext cx="11247120" cy="731520"/>
          </a:xfrm>
          <a:prstGeom prst="round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325880"/>
            <a:ext cx="73152" cy="73152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731520" y="1490472"/>
            <a:ext cx="365760" cy="365760"/>
          </a:xfrm>
          <a:prstGeom prst="ellipse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490472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14173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BD5E8"/>
                </a:solidFill>
                <a:latin typeface="Microsoft YaHei"/>
              </a:defRPr>
            </a:pPr>
            <a:r>
              <a:t>流量思维（不可持续）：短期流量、低质批量、标题党、同质化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2194560"/>
            <a:ext cx="11247120" cy="731520"/>
          </a:xfrm>
          <a:prstGeom prst="round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194560"/>
            <a:ext cx="73152" cy="73152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31520" y="2359152"/>
            <a:ext cx="365760" cy="365760"/>
          </a:xfrm>
          <a:prstGeom prst="ellipse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2359152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80160" y="228600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BD5E8"/>
                </a:solidFill>
                <a:latin typeface="Microsoft YaHei"/>
              </a:defRPr>
            </a:pPr>
            <a:r>
              <a:t>IP思维（可持续）：长期IP、精品运营、角色品牌化、粉丝社群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3063240"/>
            <a:ext cx="11247120" cy="731520"/>
          </a:xfrm>
          <a:prstGeom prst="round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57200" y="3063240"/>
            <a:ext cx="73152" cy="73152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31520" y="3227832"/>
            <a:ext cx="365760" cy="365760"/>
          </a:xfrm>
          <a:prstGeom prst="ellipse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3227832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80160" y="31546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BD5E8"/>
                </a:solidFill>
                <a:latin typeface="Microsoft YaHei"/>
              </a:defRPr>
            </a:pPr>
            <a:r>
              <a:t>行业自律：内容自律 + 竞争自律 + 技术自律 + 商业自律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3931919"/>
            <a:ext cx="11247120" cy="731520"/>
          </a:xfrm>
          <a:prstGeom prst="round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57200" y="3931919"/>
            <a:ext cx="73152" cy="73152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31520" y="4096511"/>
            <a:ext cx="365760" cy="365760"/>
          </a:xfrm>
          <a:prstGeom prst="ellipse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31520" y="4096511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icrosoft YaHei"/>
              </a:defRPr>
            </a:pPr>
            <a: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80160" y="4023359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BD5E8"/>
                </a:solidFill>
                <a:latin typeface="Microsoft YaHei"/>
              </a:defRPr>
            </a:pPr>
            <a:r>
              <a:t>精品化路径：基础制作 → 品质提升 → IP打造 → 品牌建设</a:t>
            </a:r>
          </a:p>
        </p:txBody>
      </p:sp>
      <p:sp>
        <p:nvSpPr>
          <p:cNvPr id="26" name="Rectangle 25"/>
          <p:cNvSpPr/>
          <p:nvPr/>
        </p:nvSpPr>
        <p:spPr>
          <a:xfrm>
            <a:off x="0" y="6446520"/>
            <a:ext cx="12191695" cy="19050"/>
          </a:xfrm>
          <a:prstGeom prst="rect">
            <a:avLst/>
          </a:prstGeom>
          <a:solidFill>
            <a:srgbClr val="2D3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B9E"/>
                </a:solidFill>
                <a:latin typeface="Microsoft YaHei"/>
              </a:defRPr>
            </a:pPr>
            <a:r>
              <a:t>模块16：合规规范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B9E"/>
                </a:solidFill>
                <a:latin typeface="Microsoft YaHei"/>
              </a:defRPr>
            </a:pPr>
            <a:r>
              <a:t>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105156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Microsoft YaHei"/>
              </a:defRPr>
            </a:pPr>
            <a:r>
              <a:t>🛠️ 本模块实操任务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51560"/>
            <a:ext cx="12191695" cy="254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57200" y="1371600"/>
            <a:ext cx="11247120" cy="685800"/>
          </a:xfrm>
          <a:prstGeom prst="round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40080" y="1508760"/>
            <a:ext cx="365760" cy="365760"/>
          </a:xfrm>
          <a:prstGeom prst="roundRect">
            <a:avLst/>
          </a:prstGeom>
          <a:noFill/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146304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0B981"/>
                </a:solidFill>
                <a:latin typeface="Microsoft YaHei"/>
              </a:defRPr>
            </a:pPr>
            <a:r>
              <a:t>#1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5920" y="1463040"/>
            <a:ext cx="9601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BD5E8"/>
                </a:solidFill>
                <a:latin typeface="Microsoft YaHei"/>
              </a:defRPr>
            </a:pPr>
            <a:r>
              <a:t>阅读《生成式人工智能服务管理暂行办法》全文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194560"/>
            <a:ext cx="11247120" cy="685800"/>
          </a:xfrm>
          <a:prstGeom prst="round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40080" y="2331720"/>
            <a:ext cx="365760" cy="365760"/>
          </a:xfrm>
          <a:prstGeom prst="roundRect">
            <a:avLst/>
          </a:prstGeom>
          <a:noFill/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88720" y="228600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0B981"/>
                </a:solidFill>
                <a:latin typeface="Microsoft YaHei"/>
              </a:defRPr>
            </a:pPr>
            <a:r>
              <a:t>#2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45920" y="2286000"/>
            <a:ext cx="9601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BD5E8"/>
                </a:solidFill>
                <a:latin typeface="Microsoft YaHei"/>
              </a:defRPr>
            </a:pPr>
            <a:r>
              <a:t>在一个平台完成AI漫剧备案流程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017520"/>
            <a:ext cx="11247120" cy="685800"/>
          </a:xfrm>
          <a:prstGeom prst="round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40080" y="3154680"/>
            <a:ext cx="365760" cy="365760"/>
          </a:xfrm>
          <a:prstGeom prst="roundRect">
            <a:avLst/>
          </a:prstGeom>
          <a:noFill/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88720" y="310896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0B981"/>
                </a:solidFill>
                <a:latin typeface="Microsoft YaHei"/>
              </a:defRPr>
            </a:pPr>
            <a:r>
              <a:t>#3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45920" y="3108960"/>
            <a:ext cx="9601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BD5E8"/>
                </a:solidFill>
                <a:latin typeface="Microsoft YaHei"/>
              </a:defRPr>
            </a:pPr>
            <a:r>
              <a:t>检查已发布内容的AIGC标识是否完整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840480"/>
            <a:ext cx="11247120" cy="685800"/>
          </a:xfrm>
          <a:prstGeom prst="round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40080" y="3977640"/>
            <a:ext cx="365760" cy="365760"/>
          </a:xfrm>
          <a:prstGeom prst="roundRect">
            <a:avLst/>
          </a:prstGeom>
          <a:noFill/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88720" y="393192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0B981"/>
                </a:solidFill>
                <a:latin typeface="Microsoft YaHei"/>
              </a:defRPr>
            </a:pPr>
            <a:r>
              <a:t>#4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45920" y="3931920"/>
            <a:ext cx="9601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BD5E8"/>
                </a:solidFill>
                <a:latin typeface="Microsoft YaHei"/>
              </a:defRPr>
            </a:pPr>
            <a:r>
              <a:t>为你的漫剧设计一套完整的AIGC标识方案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4663440"/>
            <a:ext cx="11247120" cy="685800"/>
          </a:xfrm>
          <a:prstGeom prst="round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40080" y="4800600"/>
            <a:ext cx="365760" cy="365760"/>
          </a:xfrm>
          <a:prstGeom prst="roundRect">
            <a:avLst/>
          </a:prstGeom>
          <a:noFill/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188720" y="475488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0B981"/>
                </a:solidFill>
                <a:latin typeface="Microsoft YaHei"/>
              </a:defRPr>
            </a:pPr>
            <a:r>
              <a:t>#5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645920" y="4754880"/>
            <a:ext cx="9601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BD5E8"/>
                </a:solidFill>
                <a:latin typeface="Microsoft YaHei"/>
              </a:defRPr>
            </a:pPr>
            <a:r>
              <a:t>检查作品是否存在侵权风险并整改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57200" y="5486400"/>
            <a:ext cx="11247120" cy="685800"/>
          </a:xfrm>
          <a:prstGeom prst="round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640080" y="5623560"/>
            <a:ext cx="365760" cy="365760"/>
          </a:xfrm>
          <a:prstGeom prst="roundRect">
            <a:avLst/>
          </a:prstGeom>
          <a:noFill/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188720" y="557784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0B981"/>
                </a:solidFill>
                <a:latin typeface="Microsoft YaHei"/>
              </a:defRPr>
            </a:pPr>
            <a:r>
              <a:t>#6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645920" y="5577840"/>
            <a:ext cx="9601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BD5E8"/>
                </a:solidFill>
                <a:latin typeface="Microsoft YaHei"/>
              </a:defRPr>
            </a:pPr>
            <a:r>
              <a:t>保留完整的创作过程记录（剧本/角色/AI生成记录）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446520"/>
            <a:ext cx="12191695" cy="19050"/>
          </a:xfrm>
          <a:prstGeom prst="rect">
            <a:avLst/>
          </a:prstGeom>
          <a:solidFill>
            <a:srgbClr val="2D3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B9E"/>
                </a:solidFill>
                <a:latin typeface="Microsoft YaHei"/>
              </a:defRPr>
            </a:pPr>
            <a:r>
              <a:t>模块16：合规规范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B9E"/>
                </a:solidFill>
                <a:latin typeface="Microsoft YaHei"/>
              </a:defRPr>
            </a:pPr>
            <a:r>
              <a:t>10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0" y="1371600"/>
            <a:ext cx="2103120" cy="2103120"/>
          </a:xfrm>
          <a:prstGeom prst="ellipse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0" y="1645920"/>
            <a:ext cx="21031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000" b="0">
                <a:solidFill>
                  <a:srgbClr val="FFFFFF"/>
                </a:solidFill>
                <a:latin typeface="Microsoft YaHei"/>
              </a:defRPr>
            </a:pPr>
            <a:r>
              <a:t>✅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3840480"/>
            <a:ext cx="121916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Microsoft YaHei"/>
              </a:defRPr>
            </a:pPr>
            <a:r>
              <a:t>本模块结束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0" y="4754880"/>
            <a:ext cx="2103120" cy="3810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0" y="5029200"/>
            <a:ext cx="121916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CBD5E8"/>
                </a:solidFill>
                <a:latin typeface="Microsoft YaHei"/>
              </a:defRPr>
            </a:pPr>
            <a:r>
              <a:t>下一模块：综合实战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5943600"/>
            <a:ext cx="121916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6B7B9E"/>
                </a:solidFill>
                <a:latin typeface="Microsoft YaHei"/>
              </a:defRPr>
            </a:pPr>
            <a:r>
              <a:t>AI漫剧制作全流程课程 · 2026版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