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29200" cy="6858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00" cy="1097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4114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0" b="1">
                <a:solidFill>
                  <a:srgbClr val="FFFFFF"/>
                </a:solidFill>
                <a:latin typeface="Microsoft YaHei"/>
              </a:defRPr>
            </a:pPr>
            <a:r>
              <a:t>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6576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M O D U L 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0" y="1371600"/>
            <a:ext cx="5943600" cy="45720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52160" y="13716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0" y="2286000"/>
            <a:ext cx="5943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Microsoft YaHei"/>
              </a:defRPr>
            </a:pPr>
            <a:r>
              <a:t>模块八：海螺AI与Vidu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0" y="4023360"/>
            <a:ext cx="274320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0" y="4389120"/>
            <a:ext cx="5943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CBD5E8"/>
                </a:solidFill>
                <a:latin typeface="Microsoft YaHei"/>
              </a:defRPr>
            </a:pPr>
            <a:r>
              <a:t>6课时 · 物理动作与音画同步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0" y="5669280"/>
            <a:ext cx="5943600" cy="64008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160" y="571500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59E0B"/>
                </a:solidFill>
                <a:latin typeface="Microsoft YaHei"/>
              </a:defRPr>
            </a:pPr>
            <a:r>
              <a:t>124课时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0" y="571500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59E0B"/>
                </a:solidFill>
                <a:latin typeface="Microsoft YaHei"/>
              </a:defRPr>
            </a:pPr>
            <a:r>
              <a:t>17模块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0" y="571500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59E0B"/>
                </a:solidFill>
                <a:latin typeface="Microsoft YaHei"/>
              </a:defRPr>
            </a:pPr>
            <a:r>
              <a:t>8-16周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0" y="571500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59E0B"/>
                </a:solidFill>
                <a:latin typeface="Microsoft YaHei"/>
              </a:defRPr>
            </a:pPr>
            <a:r>
              <a:t>全流程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📋 本节内容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3383280" cy="1005840"/>
          </a:xfrm>
          <a:prstGeom prst="roundRect">
            <a:avLst/>
          </a:prstGeom>
          <a:solidFill>
            <a:srgbClr val="141E33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800" y="1600200"/>
            <a:ext cx="457200" cy="4572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002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155448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8"/>
                </a:solidFill>
                <a:latin typeface="Microsoft YaHei"/>
              </a:defRPr>
            </a:pPr>
            <a:r>
              <a:t>海螺AI：高难度物理动作生成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51960" y="1371600"/>
            <a:ext cx="3383280" cy="1005840"/>
          </a:xfrm>
          <a:prstGeom prst="roundRect">
            <a:avLst/>
          </a:prstGeom>
          <a:solidFill>
            <a:srgbClr val="141E33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389120" y="1600200"/>
            <a:ext cx="457200" cy="4572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0" y="16002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83480" y="155448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8"/>
                </a:solidFill>
                <a:latin typeface="Microsoft YaHei"/>
              </a:defRPr>
            </a:pPr>
            <a:r>
              <a:t>海螺AI复杂动作实战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55280" y="1371600"/>
            <a:ext cx="3383280" cy="1005840"/>
          </a:xfrm>
          <a:prstGeom prst="roundRect">
            <a:avLst/>
          </a:prstGeom>
          <a:solidFill>
            <a:srgbClr val="141E33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092440" y="1600200"/>
            <a:ext cx="457200" cy="4572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92440" y="16002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155448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8"/>
                </a:solidFill>
                <a:latin typeface="Microsoft YaHei"/>
              </a:defRPr>
            </a:pPr>
            <a:r>
              <a:t>Vidu Q3：16秒音画直出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2606040"/>
            <a:ext cx="3383280" cy="1005840"/>
          </a:xfrm>
          <a:prstGeom prst="roundRect">
            <a:avLst/>
          </a:prstGeom>
          <a:solidFill>
            <a:srgbClr val="141E33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5800" y="2834640"/>
            <a:ext cx="457200" cy="4572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28346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78892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8"/>
                </a:solidFill>
                <a:latin typeface="Microsoft YaHei"/>
              </a:defRPr>
            </a:pPr>
            <a:r>
              <a:t>Vidu多角色互动场景生成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51960" y="2606040"/>
            <a:ext cx="3383280" cy="1005840"/>
          </a:xfrm>
          <a:prstGeom prst="roundRect">
            <a:avLst/>
          </a:prstGeom>
          <a:solidFill>
            <a:srgbClr val="141E33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389120" y="2834640"/>
            <a:ext cx="457200" cy="4572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9120" y="28346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83480" y="278892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8"/>
                </a:solidFill>
                <a:latin typeface="Microsoft YaHei"/>
              </a:defRPr>
            </a:pPr>
            <a:r>
              <a:t>Vidu叙事/画面/音频主体库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955280" y="2606040"/>
            <a:ext cx="3383280" cy="1005840"/>
          </a:xfrm>
          <a:prstGeom prst="roundRect">
            <a:avLst/>
          </a:prstGeom>
          <a:solidFill>
            <a:srgbClr val="141E33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092440" y="2834640"/>
            <a:ext cx="457200" cy="4572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92440" y="28346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278892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8"/>
                </a:solidFill>
                <a:latin typeface="Microsoft YaHei"/>
              </a:defRPr>
            </a:pPr>
            <a:r>
              <a:t>视频生成工具选型策略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模块08：海螺AI与Vidu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海螺AI vs Vidu Q3 定位对比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65760" y="1371600"/>
            <a:ext cx="5486400" cy="48463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371600"/>
            <a:ext cx="5486400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4592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59E0B"/>
                </a:solidFill>
                <a:latin typeface="Microsoft YaHei"/>
              </a:defRPr>
            </a:pPr>
            <a:r>
              <a:t>海螺AI（MiniMax）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194560"/>
            <a:ext cx="137160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20" y="2542032"/>
            <a:ext cx="182880" cy="1828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46888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8"/>
                </a:solidFill>
                <a:latin typeface="Microsoft YaHei"/>
              </a:defRPr>
            </a:pPr>
            <a:r>
              <a:t>核心：物理仿真引擎 + 高难度动作</a:t>
            </a:r>
          </a:p>
        </p:txBody>
      </p:sp>
      <p:sp>
        <p:nvSpPr>
          <p:cNvPr id="12" name="Oval 11"/>
          <p:cNvSpPr/>
          <p:nvPr/>
        </p:nvSpPr>
        <p:spPr>
          <a:xfrm>
            <a:off x="731520" y="3136392"/>
            <a:ext cx="182880" cy="1828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06324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8"/>
                </a:solidFill>
                <a:latin typeface="Microsoft YaHei"/>
              </a:defRPr>
            </a:pPr>
            <a:r>
              <a:t>强项：布料/头发/流体物理效果行业领先</a:t>
            </a:r>
          </a:p>
        </p:txBody>
      </p:sp>
      <p:sp>
        <p:nvSpPr>
          <p:cNvPr id="14" name="Oval 13"/>
          <p:cNvSpPr/>
          <p:nvPr/>
        </p:nvSpPr>
        <p:spPr>
          <a:xfrm>
            <a:off x="731520" y="3730752"/>
            <a:ext cx="182880" cy="1828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365760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8"/>
                </a:solidFill>
                <a:latin typeface="Microsoft YaHei"/>
              </a:defRPr>
            </a:pPr>
            <a:r>
              <a:t>适合：打斗、舞蹈、极限运动场景</a:t>
            </a:r>
          </a:p>
        </p:txBody>
      </p:sp>
      <p:sp>
        <p:nvSpPr>
          <p:cNvPr id="16" name="Oval 15"/>
          <p:cNvSpPr/>
          <p:nvPr/>
        </p:nvSpPr>
        <p:spPr>
          <a:xfrm>
            <a:off x="731520" y="4325112"/>
            <a:ext cx="182880" cy="1828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425196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8"/>
                </a:solidFill>
                <a:latin typeface="Microsoft YaHei"/>
              </a:defRPr>
            </a:pPr>
            <a:r>
              <a:t>定位："动作指导之选"</a:t>
            </a:r>
          </a:p>
        </p:txBody>
      </p:sp>
      <p:sp>
        <p:nvSpPr>
          <p:cNvPr id="18" name="Oval 17"/>
          <p:cNvSpPr/>
          <p:nvPr/>
        </p:nvSpPr>
        <p:spPr>
          <a:xfrm>
            <a:off x="731520" y="4919472"/>
            <a:ext cx="182880" cy="1828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484632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8"/>
                </a:solidFill>
                <a:latin typeface="Microsoft YaHei"/>
              </a:defRPr>
            </a:pPr>
            <a:r>
              <a:t>性价比高，免费额度充足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1371600"/>
            <a:ext cx="5486400" cy="48463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17920" y="1371600"/>
            <a:ext cx="548640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0" y="164592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7C3AED"/>
                </a:solidFill>
                <a:latin typeface="Microsoft YaHei"/>
              </a:defRPr>
            </a:pPr>
            <a:r>
              <a:t>Vidu Q3（生数科技）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92240" y="2194560"/>
            <a:ext cx="1371600" cy="381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583680" y="2542032"/>
            <a:ext cx="182880" cy="1828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03720" y="246888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8"/>
                </a:solidFill>
                <a:latin typeface="Microsoft YaHei"/>
              </a:defRPr>
            </a:pPr>
            <a:r>
              <a:t>核心：16秒音画同步直出（行业首创）</a:t>
            </a:r>
          </a:p>
        </p:txBody>
      </p:sp>
      <p:sp>
        <p:nvSpPr>
          <p:cNvPr id="26" name="Oval 25"/>
          <p:cNvSpPr/>
          <p:nvPr/>
        </p:nvSpPr>
        <p:spPr>
          <a:xfrm>
            <a:off x="6583680" y="3136392"/>
            <a:ext cx="182880" cy="1828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03720" y="306324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8"/>
                </a:solidFill>
                <a:latin typeface="Microsoft YaHei"/>
              </a:defRPr>
            </a:pPr>
            <a:r>
              <a:t>强项：口型同步 + 多角色对话 + 叙事理解</a:t>
            </a:r>
          </a:p>
        </p:txBody>
      </p:sp>
      <p:sp>
        <p:nvSpPr>
          <p:cNvPr id="28" name="Oval 27"/>
          <p:cNvSpPr/>
          <p:nvPr/>
        </p:nvSpPr>
        <p:spPr>
          <a:xfrm>
            <a:off x="6583680" y="3730752"/>
            <a:ext cx="182880" cy="1828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03720" y="365760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8"/>
                </a:solidFill>
                <a:latin typeface="Microsoft YaHei"/>
              </a:defRPr>
            </a:pPr>
            <a:r>
              <a:t>适合：对话场景、叙事类漫剧</a:t>
            </a:r>
          </a:p>
        </p:txBody>
      </p:sp>
      <p:sp>
        <p:nvSpPr>
          <p:cNvPr id="30" name="Oval 29"/>
          <p:cNvSpPr/>
          <p:nvPr/>
        </p:nvSpPr>
        <p:spPr>
          <a:xfrm>
            <a:off x="6583680" y="4325112"/>
            <a:ext cx="182880" cy="1828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03720" y="425196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8"/>
                </a:solidFill>
                <a:latin typeface="Microsoft YaHei"/>
              </a:defRPr>
            </a:pPr>
            <a:r>
              <a:t>定位："对话场景首选"</a:t>
            </a:r>
          </a:p>
        </p:txBody>
      </p:sp>
      <p:sp>
        <p:nvSpPr>
          <p:cNvPr id="32" name="Oval 31"/>
          <p:cNvSpPr/>
          <p:nvPr/>
        </p:nvSpPr>
        <p:spPr>
          <a:xfrm>
            <a:off x="6583680" y="4919472"/>
            <a:ext cx="182880" cy="1828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03720" y="484632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8"/>
                </a:solidFill>
                <a:latin typeface="Microsoft YaHei"/>
              </a:defRPr>
            </a:pPr>
            <a:r>
              <a:t>三大主体库：叙事/画面/音频模板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模块08：海螺AI与Vidu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海螺AI物理仿真优势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32588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325880"/>
            <a:ext cx="73152" cy="7315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31520" y="1490472"/>
            <a:ext cx="365760" cy="36576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49047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1417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布料仿真：衣服褶皱、飘动、摆动效果行业最自然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19456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4560"/>
            <a:ext cx="73152" cy="7315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2359152"/>
            <a:ext cx="365760" cy="36576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35915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22860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头发仿真：长发飘动、发丝分离、风吹效果逼真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06324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3063240"/>
            <a:ext cx="73152" cy="7315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3227832"/>
            <a:ext cx="365760" cy="36576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22783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1546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流体仿真：水面波纹、雨水飞溅、烟雾扩散效果优秀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931919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3931919"/>
            <a:ext cx="73152" cy="7315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31520" y="4096511"/>
            <a:ext cx="365760" cy="36576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4096511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80160" y="4023359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刚体碰撞：物体碰撞、弹跳、碎裂效果自然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480060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7200" y="4800600"/>
            <a:ext cx="73152" cy="7315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31520" y="4965192"/>
            <a:ext cx="365760" cy="36576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496519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80160" y="48920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提示词中需明确添加物理效果关键词：「长发随风飘动」「裙摆被风吹起」「水花四溅」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模块08：海螺AI与Vidu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Vidu Q3 音画同步革命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32588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325880"/>
            <a:ext cx="73152" cy="7315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31520" y="1490472"/>
            <a:ext cx="365760" cy="36576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49047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1417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16秒音画直出：视频+配音+音效一次生成，省去后期配音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19456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4560"/>
            <a:ext cx="73152" cy="7315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2359152"/>
            <a:ext cx="365760" cy="36576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35915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22860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口型同步：角色口型与语音自动对齐，对话场景真实感大幅提升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06324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3063240"/>
            <a:ext cx="73152" cy="7315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3227832"/>
            <a:ext cx="365760" cy="36576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22783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1546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多角色对话：支持2-3个角色同屏对话，原生支持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931919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3931919"/>
            <a:ext cx="73152" cy="7315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31520" y="4096511"/>
            <a:ext cx="365760" cy="36576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4096511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80160" y="4023359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剧本生视频：直接输入对话剧本，AI自动生成带语音的视频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480060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7200" y="4800600"/>
            <a:ext cx="73152" cy="7315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31520" y="4965192"/>
            <a:ext cx="365760" cy="36576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496519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80160" y="48920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语音情感控制：支持愤怒/悲伤/喜悦/平静等情感标注，语速和停顿可调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模块08：海螺AI与Vidu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四大视频生成工具能力矩阵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63040"/>
          <a:ext cx="11064240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5943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维度</a:t>
                      </a:r>
                    </a:p>
                  </a:txBody>
                  <a:tcPr anchor="ctr">
                    <a:solidFill>
                      <a:srgbClr val="F59E0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可灵AI</a:t>
                      </a:r>
                    </a:p>
                  </a:txBody>
                  <a:tcPr anchor="ctr">
                    <a:solidFill>
                      <a:srgbClr val="F59E0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Seedance 2.0</a:t>
                      </a:r>
                    </a:p>
                  </a:txBody>
                  <a:tcPr anchor="ctr">
                    <a:solidFill>
                      <a:srgbClr val="F59E0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海螺AI</a:t>
                      </a:r>
                    </a:p>
                  </a:txBody>
                  <a:tcPr anchor="ctr">
                    <a:solidFill>
                      <a:srgbClr val="F59E0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Vidu Q3</a:t>
                      </a:r>
                    </a:p>
                  </a:txBody>
                  <a:tcPr anchor="ctr">
                    <a:solidFill>
                      <a:srgbClr val="F59E0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核心优势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物理仿真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多模态参考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高难度动作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音画直出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最佳场景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普通动态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参考驱动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打斗舞蹈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对话叙事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音画同步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Draft模式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角色一致性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中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高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中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高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最大时长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10秒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10秒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10秒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16秒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模块08：海螺AI与Vidu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工具选型决策树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10698480" cy="27432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645920"/>
            <a:ext cx="10698480" cy="914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645920"/>
            <a:ext cx="109728" cy="2743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914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0">
                <a:solidFill>
                  <a:srgbClr val="F59E0B"/>
                </a:solidFill>
                <a:latin typeface="Microsoft YaHei"/>
              </a:defRPr>
            </a:pPr>
            <a:r>
              <a:t>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19659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59E0B"/>
                </a:solidFill>
                <a:latin typeface="Microsoft YaHei"/>
              </a:defRPr>
            </a:pPr>
            <a:r>
              <a:t>核心要点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560320"/>
            <a:ext cx="9784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根据镜头类型选择最优工具：对话→Vidu / 动作→海螺AI / 参考驱动→Seedance / 简单动态→可灵AI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754880"/>
            <a:ext cx="10698480" cy="1371600"/>
          </a:xfrm>
          <a:prstGeom prst="roundRect">
            <a:avLst/>
          </a:prstGeom>
          <a:solidFill>
            <a:srgbClr val="1A2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4754880"/>
            <a:ext cx="73152" cy="1371600"/>
          </a:xfrm>
          <a:prstGeom prst="rect">
            <a:avLst/>
          </a:prstGeom>
          <a:solidFill>
            <a:srgbClr val="6B7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489204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8"/>
                </a:solidFill>
                <a:latin typeface="Microsoft YaHei"/>
              </a:defRPr>
            </a:pPr>
            <a:r>
              <a:t>典型漫剧工具分配比例：Vidu Q3 40-50%（对话为主）、Seedance 2.0 25-30%（日常动态+角色一致）、海螺AI 15-20%（动作场景）、可灵AI 10-15%（空镜头）。多工具协作需统一角色关键帧，后期统一调色确保一致性。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模块08：海螺AI与Vidu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多工具协作工作流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73152" cy="6858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31520" y="1481328"/>
            <a:ext cx="411480" cy="41148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48132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146304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即梦AI生成所有关键帧图片（角色基准图 + 场景母版图 + 各镜头关键帧）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2057400"/>
            <a:ext cx="25400" cy="13716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7200" y="219456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194560"/>
            <a:ext cx="73152" cy="6858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31520" y="2304288"/>
            <a:ext cx="411480" cy="4114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230428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228600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按镜头类型分配工具：对话→Vidu / 动作→海螺AI / 日常→Seedance / 空镜→可灵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2880360"/>
            <a:ext cx="25400" cy="1371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57200" y="301752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017520"/>
            <a:ext cx="73152" cy="6858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1520" y="3127248"/>
            <a:ext cx="411480" cy="41148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312724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310896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各工具分别生成视频片段，Seedance使用Draft模式预览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14400" y="3703320"/>
            <a:ext cx="25400" cy="1371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57200" y="384048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3840480"/>
            <a:ext cx="73152" cy="6858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31520" y="3950208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395020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393192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批量高清渲染，下载所有片段并按镜头编号命名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14400" y="4526280"/>
            <a:ext cx="25400" cy="1371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457200" y="466344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4663440"/>
            <a:ext cx="73152" cy="685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31520" y="4773168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1520" y="477316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71600" y="475488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导入剪映：按分镜排列 → 统一调色 → 添加BGM/音效/字幕 → 导出成片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模块08：海螺AI与Vidu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🛠️ 本模块实操任务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508760"/>
            <a:ext cx="365760" cy="365760"/>
          </a:xfrm>
          <a:prstGeom prst="roundRect">
            <a:avLst/>
          </a:prstGeom>
          <a:noFill/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14630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B981"/>
                </a:solidFill>
                <a:latin typeface="Microsoft YaHei"/>
              </a:defRPr>
            </a:pPr>
            <a:r>
              <a:t>#1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1463040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用海螺AI生成一个有头发飘动和布料飘动效果的视频片段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9456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" y="2331720"/>
            <a:ext cx="365760" cy="365760"/>
          </a:xfrm>
          <a:prstGeom prst="roundRect">
            <a:avLst/>
          </a:prstGeom>
          <a:noFill/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88720" y="22860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B981"/>
                </a:solidFill>
                <a:latin typeface="Microsoft YaHei"/>
              </a:defRPr>
            </a:pPr>
            <a:r>
              <a:t>#2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2286000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用海螺AI分别生成打斗、舞蹈、跑步三种动作场景，对比物理效果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01752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0080" y="3154680"/>
            <a:ext cx="365760" cy="365760"/>
          </a:xfrm>
          <a:prstGeom prst="roundRect">
            <a:avLst/>
          </a:prstGeom>
          <a:noFill/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88720" y="31089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B981"/>
                </a:solidFill>
                <a:latin typeface="Microsoft YaHei"/>
              </a:defRPr>
            </a:pPr>
            <a:r>
              <a:t>#3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3108960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用Vidu Q3剧本生视频生成一段2人对话的视频片段，检查口型同步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84048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" y="3977640"/>
            <a:ext cx="365760" cy="365760"/>
          </a:xfrm>
          <a:prstGeom prst="roundRect">
            <a:avLst/>
          </a:prstGeom>
          <a:noFill/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B981"/>
                </a:solidFill>
                <a:latin typeface="Microsoft YaHei"/>
              </a:defRPr>
            </a:pPr>
            <a:r>
              <a:t>#4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3931920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用Vidu的正反打镜头法，将对话场景拆分为多个单人镜头后拼接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66344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40080" y="4800600"/>
            <a:ext cx="365760" cy="365760"/>
          </a:xfrm>
          <a:prstGeom prst="roundRect">
            <a:avLst/>
          </a:prstGeom>
          <a:noFill/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88720" y="47548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B981"/>
                </a:solidFill>
                <a:latin typeface="Microsoft YaHei"/>
              </a:defRPr>
            </a:pPr>
            <a:r>
              <a:t>#5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45920" y="4754880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使用Vidu主体库的叙事/画面/音频模板，在30分钟内完成一个对话场景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548640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0080" y="5623560"/>
            <a:ext cx="365760" cy="365760"/>
          </a:xfrm>
          <a:prstGeom prst="roundRect">
            <a:avLst/>
          </a:prstGeom>
          <a:noFill/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88720" y="55778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B981"/>
                </a:solidFill>
                <a:latin typeface="Microsoft YaHei"/>
              </a:defRPr>
            </a:pPr>
            <a:r>
              <a:t>#6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45920" y="5577840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为你漫剧的15个镜头制定工具选择计划，计算预计成本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模块08：海螺AI与Vidu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0" y="1371600"/>
            <a:ext cx="2103120" cy="210312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0" y="1645920"/>
            <a:ext cx="2103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0" b="0">
                <a:solidFill>
                  <a:srgbClr val="FFFFFF"/>
                </a:solidFill>
                <a:latin typeface="Microsoft YaHei"/>
              </a:defRPr>
            </a:pPr>
            <a:r>
              <a:t>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840480"/>
            <a:ext cx="121916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Microsoft YaHei"/>
              </a:defRPr>
            </a:pPr>
            <a:r>
              <a:t>本模块结束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4754880"/>
            <a:ext cx="210312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502920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BD5E8"/>
                </a:solidFill>
                <a:latin typeface="Microsoft YaHei"/>
              </a:defRPr>
            </a:pPr>
            <a:r>
              <a:t>下一模块：角色一致性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594360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B7B9E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