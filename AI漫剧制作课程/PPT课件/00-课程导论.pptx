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0" cy="91440"/>
          </a:xfrm>
          <a:prstGeom prst="rect">
            <a:avLst/>
          </a:prstGeom>
          <a:solidFill>
            <a:srgbClr val="F5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F5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5720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728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1732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73736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05740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37744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9748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720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7724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9728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41732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73736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05740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37744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69748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720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7724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9728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1732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73736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05740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37744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69748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1828800"/>
            <a:ext cx="4114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0">
                <a:solidFill>
                  <a:srgbClr val="F5F7FC"/>
                </a:solidFill>
                <a:latin typeface="Microsoft YaHei"/>
              </a:defRPr>
            </a:pPr>
            <a:r>
              <a:t>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0" y="1371600"/>
            <a:ext cx="5943600" cy="457200"/>
          </a:xfrm>
          <a:prstGeom prst="round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0" y="137160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5F7FC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2377440"/>
            <a:ext cx="5943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5F7FC"/>
                </a:solidFill>
                <a:latin typeface="Microsoft YaHei"/>
              </a:defRPr>
            </a:pPr>
            <a:r>
              <a:t>AI漫剧制作全流程课程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0" y="4114800"/>
            <a:ext cx="2743200" cy="508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0" y="4114800"/>
            <a:ext cx="914400" cy="50800"/>
          </a:xfrm>
          <a:prstGeom prst="rect">
            <a:avLst/>
          </a:prstGeom>
          <a:solidFill>
            <a:srgbClr val="1E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0" y="448056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A8B8D0"/>
                </a:solidFill>
                <a:latin typeface="Microsoft YaHei"/>
              </a:defRPr>
            </a:pPr>
            <a:r>
              <a:t>124课时 · 17个模块 · 从零基础到独立制作完整AI漫剧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0" y="5486400"/>
            <a:ext cx="5943600" cy="6400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E5FF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3232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E5FF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9536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E5FF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E5FF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247120" y="0"/>
            <a:ext cx="944575" cy="508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2051792" y="0"/>
            <a:ext cx="50800" cy="73152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D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" y="137160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371600"/>
            <a:ext cx="54864" cy="96012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20" y="1572768"/>
            <a:ext cx="411480" cy="411480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2728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行业认知与趋势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37160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60" y="1371600"/>
            <a:ext cx="54864" cy="9601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89120" y="1572768"/>
            <a:ext cx="411480" cy="4114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10328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大语言模型与剧本创作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37160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371600"/>
            <a:ext cx="54864" cy="96012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046720" y="1572768"/>
            <a:ext cx="411480" cy="411480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0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67928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分镜设计与提示词工程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260604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2606040"/>
            <a:ext cx="54864" cy="96012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1520" y="2807208"/>
            <a:ext cx="411480" cy="411480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52728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即梦AI深度精通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51960" y="260604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51960" y="2606040"/>
            <a:ext cx="54864" cy="96012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89120" y="2807208"/>
            <a:ext cx="411480" cy="41148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89120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10328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其他图像生成工具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09560" y="260604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09560" y="2606040"/>
            <a:ext cx="54864" cy="96012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046720" y="2807208"/>
            <a:ext cx="411480" cy="411480"/>
          </a:xfrm>
          <a:prstGeom prst="ellipse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0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7928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可灵AI深度精通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384048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94360" y="3840480"/>
            <a:ext cx="54864" cy="96012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31520" y="4041648"/>
            <a:ext cx="411480" cy="41148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40416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52728" y="400507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Seedance 2.0深度精通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251960" y="384048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251960" y="3840480"/>
            <a:ext cx="54864" cy="960120"/>
          </a:xfrm>
          <a:prstGeom prst="rect">
            <a:avLst/>
          </a:prstGeom>
          <a:solidFill>
            <a:srgbClr val="FF6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389120" y="4041648"/>
            <a:ext cx="411480" cy="411480"/>
          </a:xfrm>
          <a:prstGeom prst="ellipse">
            <a:avLst/>
          </a:prstGeom>
          <a:solidFill>
            <a:srgbClr val="FF6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89120" y="40416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10328" y="400507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海螺AI与Vidu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909560" y="384048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909560" y="3840480"/>
            <a:ext cx="54864" cy="96012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046720" y="4041648"/>
            <a:ext cx="411480" cy="411480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46720" y="40416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67928" y="400507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角色一致性攻克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94360" y="507492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94360" y="5074920"/>
            <a:ext cx="54864" cy="9601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31520" y="5276088"/>
            <a:ext cx="411480" cy="4114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31520" y="527608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52728" y="523951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配音配乐与音画同步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51960" y="507492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251960" y="5074920"/>
            <a:ext cx="54864" cy="96012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389120" y="5276088"/>
            <a:ext cx="411480" cy="411480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389120" y="527608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11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910328" y="523951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剪辑与后期全流程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909560" y="507492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909560" y="5074920"/>
            <a:ext cx="54864" cy="96012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046720" y="5276088"/>
            <a:ext cx="411480" cy="411480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046720" y="527608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12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567928" y="523951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一站式平台精讲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模块00 · 课程导论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D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课程目标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7132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63040"/>
            <a:ext cx="347472" cy="347472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630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538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掌握AI漫剧从剧本到成片的完整制作流程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290572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290572"/>
            <a:ext cx="73152" cy="7132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473452"/>
            <a:ext cx="347472" cy="347472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473452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46430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精通即梦AI、可灵AI、Seedance 2.0等核心工具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300984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300984"/>
            <a:ext cx="73152" cy="713232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3232" y="3483864"/>
            <a:ext cx="347472" cy="347472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48386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474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能独立制作一集完整的AI漫剧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311396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311396"/>
            <a:ext cx="73152" cy="713232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3232" y="4494276"/>
            <a:ext cx="347472" cy="347472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449427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448513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了解平台分发与商业变现的路径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32180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5321808"/>
            <a:ext cx="73152" cy="713232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3232" y="5504688"/>
            <a:ext cx="347472" cy="347472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55046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54955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建立工业化生产思维，实现高效量产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模块00 · 课程导论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D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行业数据一览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7160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指标</a:t>
                      </a:r>
                    </a:p>
                  </a:txBody>
                  <a:tcPr anchor="ctr">
                    <a:solidFill>
                      <a:srgbClr val="00E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2026年数据</a:t>
                      </a:r>
                    </a:p>
                  </a:txBody>
                  <a:tcPr anchor="ctr">
                    <a:solidFill>
                      <a:srgbClr val="00E5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市场规模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240亿元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用户规模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2.8亿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日均播放量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15亿次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创作者数量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120万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制作成本降幅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-50%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模块00 · 课程导论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D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学习路径选择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349240" cy="508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E5FF"/>
                </a:solidFill>
                <a:latin typeface="Microsoft YaHei"/>
              </a:defRPr>
            </a:pPr>
            <a:r>
              <a:t>🅰️ 零基础速成（8周）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148840"/>
            <a:ext cx="1371600" cy="254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2478024"/>
            <a:ext cx="182880" cy="182880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4231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快速上手出作品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2980944"/>
            <a:ext cx="182880" cy="182880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29260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重点模块：1,2,3,4,6,10,11,12,17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3483864"/>
            <a:ext cx="182880" cy="182880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4290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适合：想快速入行变现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1371600"/>
            <a:ext cx="5349240" cy="508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164592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855F7"/>
                </a:solidFill>
                <a:latin typeface="Microsoft YaHei"/>
              </a:defRPr>
            </a:pPr>
            <a:r>
              <a:t>🅱️ 专业进阶（16周）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37960" y="2148840"/>
            <a:ext cx="1371600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537960" y="247802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24231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全面掌握全链路</a:t>
            </a:r>
          </a:p>
        </p:txBody>
      </p:sp>
      <p:sp>
        <p:nvSpPr>
          <p:cNvPr id="24" name="Oval 23"/>
          <p:cNvSpPr/>
          <p:nvPr/>
        </p:nvSpPr>
        <p:spPr>
          <a:xfrm>
            <a:off x="6537960" y="298094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0" y="29260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全部17个模块</a:t>
            </a:r>
          </a:p>
        </p:txBody>
      </p:sp>
      <p:sp>
        <p:nvSpPr>
          <p:cNvPr id="26" name="Oval 25"/>
          <p:cNvSpPr/>
          <p:nvPr/>
        </p:nvSpPr>
        <p:spPr>
          <a:xfrm>
            <a:off x="6537960" y="348386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0" y="34290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适合：追求专业深度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模块00 · 课程导论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D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课程学习路线图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658368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08176"/>
            <a:ext cx="365760" cy="365760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0817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Step 1：行业认知 → 理解AI漫剧是什么、市场多大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7824" y="1938528"/>
            <a:ext cx="19050" cy="146304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7200" y="2084832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084832"/>
            <a:ext cx="73152" cy="658368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2212848"/>
            <a:ext cx="365760" cy="36576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221284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217627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Step 2：创作技能 → 剧本、分镜、提示词工程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77824" y="2743200"/>
            <a:ext cx="19050" cy="146304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7200" y="2889504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889504"/>
            <a:ext cx="73152" cy="658368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13232" y="3017520"/>
            <a:ext cx="365760" cy="365760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" y="30175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61872" y="298094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Step 3：工具精通 → 即梦AI、可灵AI、Seedance等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77824" y="3547872"/>
            <a:ext cx="19050" cy="146304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7200" y="3694176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3694176"/>
            <a:ext cx="73152" cy="658368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13232" y="3822192"/>
            <a:ext cx="365760" cy="365760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38221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61872" y="378561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Step 4：后期制作 → 音频、剪辑、调色、成片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77824" y="4352544"/>
            <a:ext cx="19050" cy="146304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57200" y="4498848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498848"/>
            <a:ext cx="73152" cy="658368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13232" y="4626864"/>
            <a:ext cx="365760" cy="36576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4626864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61872" y="459028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Step 5：商业运营 → 平台分发、变现、合规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7824" y="5157216"/>
            <a:ext cx="19050" cy="146304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57200" y="5303520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5303520"/>
            <a:ext cx="73152" cy="658368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13232" y="5431536"/>
            <a:ext cx="365760" cy="365760"/>
          </a:xfrm>
          <a:prstGeom prst="ellipse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13232" y="543153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61872" y="5394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Step 6：综合实战 → 从0到1独立完成一集AI漫剧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模块00 · 课程导论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D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💡 核心竞争力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10698480" cy="29260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63040"/>
            <a:ext cx="10698480" cy="635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463040"/>
            <a:ext cx="63500" cy="292608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332720" y="1737360"/>
            <a:ext cx="731520" cy="731520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192024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5F7FC"/>
                </a:solidFill>
                <a:latin typeface="Microsoft YaHei"/>
              </a:defRPr>
            </a:pPr>
            <a:r>
              <a:t>AI漫剧的核心竞争力 = 创意 × 工具熟练度 × 量产能力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63440"/>
            <a:ext cx="10698480" cy="1463040"/>
          </a:xfrm>
          <a:prstGeom prst="roundRect">
            <a:avLst/>
          </a:prstGeom>
          <a:solidFill>
            <a:srgbClr val="1A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4663440"/>
            <a:ext cx="50800" cy="1463040"/>
          </a:xfrm>
          <a:prstGeom prst="rect">
            <a:avLst/>
          </a:prstGeom>
          <a:solidFill>
            <a:srgbClr val="5C6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800600"/>
            <a:ext cx="9875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工具会更新迭代，但创意能力和工业化思维是持久的竞争力。本课程不仅教工具操作，更注重培养你的创作思维和生产效率。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模块00 · 课程导论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952847" y="1508760"/>
            <a:ext cx="2286000" cy="2286000"/>
          </a:xfrm>
          <a:prstGeom prst="ellipse">
            <a:avLst/>
          </a:prstGeom>
          <a:solidFill>
            <a:srgbClr val="00A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90007" y="1645920"/>
            <a:ext cx="2011680" cy="2011680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90007" y="19202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5F7FC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93192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5F7FC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4754880"/>
            <a:ext cx="2103120" cy="381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0" y="4754880"/>
            <a:ext cx="701040" cy="38100"/>
          </a:xfrm>
          <a:prstGeom prst="rect">
            <a:avLst/>
          </a:prstGeom>
          <a:solidFill>
            <a:srgbClr val="1E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50292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A8B8D0"/>
                </a:solidFill>
                <a:latin typeface="Microsoft YaHei"/>
              </a:defRPr>
            </a:pPr>
            <a:r>
              <a:t>下一模块：行业认知与趋势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C6E8A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