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0"/>
            <a:ext cx="137160" cy="6858000"/>
          </a:xfrm>
          <a:prstGeom prst="rect">
            <a:avLst/>
          </a:prstGeom>
          <a:solidFill>
            <a:srgbClr val="008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66360" y="0"/>
            <a:ext cx="73152" cy="6858000"/>
          </a:xfrm>
          <a:prstGeom prst="rect">
            <a:avLst/>
          </a:prstGeom>
          <a:solidFill>
            <a:srgbClr val="004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39512" y="0"/>
            <a:ext cx="36576" cy="6858000"/>
          </a:xfrm>
          <a:prstGeom prst="rect">
            <a:avLst/>
          </a:prstGeom>
          <a:solidFill>
            <a:srgbClr val="002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5276088" cy="254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32600"/>
            <a:ext cx="5276088" cy="254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25400" cy="68580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0">
                <a:solidFill>
                  <a:srgbClr val="EEEEF4"/>
                </a:solidFill>
                <a:latin typeface="Microsoft YaHei"/>
              </a:defRPr>
            </a:pPr>
            <a:r>
              <a:t>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1280160"/>
            <a:ext cx="5760720" cy="438912"/>
          </a:xfrm>
          <a:prstGeom prst="round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1280160"/>
            <a:ext cx="5760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EEEF4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286000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EEEF4"/>
                </a:solidFill>
                <a:latin typeface="Microsoft YaHei"/>
              </a:defRPr>
            </a:pPr>
            <a:r>
              <a:t>AI漫剧制作全流程课程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0" y="4023360"/>
            <a:ext cx="548641" cy="381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4023360"/>
            <a:ext cx="548640" cy="38100"/>
          </a:xfrm>
          <a:prstGeom prst="rect">
            <a:avLst/>
          </a:prstGeom>
          <a:solidFill>
            <a:srgbClr val="00A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66560" y="4023360"/>
            <a:ext cx="548640" cy="38100"/>
          </a:xfrm>
          <a:prstGeom prst="rect">
            <a:avLst/>
          </a:prstGeom>
          <a:solidFill>
            <a:srgbClr val="008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0" y="4023360"/>
            <a:ext cx="548640" cy="38100"/>
          </a:xfrm>
          <a:prstGeom prst="rect">
            <a:avLst/>
          </a:prstGeom>
          <a:solidFill>
            <a:srgbClr val="006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63840" y="4023360"/>
            <a:ext cx="548640" cy="38100"/>
          </a:xfrm>
          <a:prstGeom prst="rect">
            <a:avLst/>
          </a:prstGeom>
          <a:solidFill>
            <a:srgbClr val="004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4389120"/>
            <a:ext cx="5760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89AA8"/>
                </a:solidFill>
                <a:latin typeface="Microsoft YaHei"/>
              </a:defRPr>
            </a:pPr>
            <a:r>
              <a:t>124课时 · 17个模块 · 从零基础到独立制作完整AI漫剧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0" y="5486400"/>
            <a:ext cx="5760720" cy="59436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644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0FF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4662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0FF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0FF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2698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0FF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0" y="0"/>
            <a:ext cx="761695" cy="381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2070080" y="0"/>
            <a:ext cx="38100" cy="6400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📋  本节内容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0F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行业认知与趋势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3852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0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大语言模型与剧本创作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0545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0F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分镜设计与提示词工程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07238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0FF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即梦AI深度精通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63931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0FF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63931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其他图像生成工具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20624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0FF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206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可灵AI深度精通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77316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0FF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477316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Seedance 2.0深度精通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34009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0FF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34009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海螺AI与Vidu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13716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0FF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配音配乐与音画同步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93852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0FF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剪辑与后期全流程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250545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0FF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一站式平台精讲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07238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0FF"/>
                </a:solidFill>
                <a:latin typeface="Microsoft YaHei"/>
              </a:defRPr>
            </a:pPr>
            <a:r>
              <a:t>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ComfyUI工作流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63931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0FF"/>
                </a:solidFill>
                <a:latin typeface="Microsoft YaHei"/>
              </a:defRPr>
            </a:pPr>
            <a:r>
              <a:t>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363931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工业化生产与团队协作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20624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0FF"/>
                </a:solidFill>
                <a:latin typeface="Microsoft YaHei"/>
              </a:defRPr>
            </a:pPr>
            <a:r>
              <a:t>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4206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平台分发与商业变现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477316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0FF"/>
                </a:solidFill>
                <a:latin typeface="Microsoft YaHei"/>
              </a:defRPr>
            </a:pPr>
            <a:r>
              <a:t>16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477316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合规要求与行业规范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534009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0FF"/>
                </a:solidFill>
                <a:latin typeface="Microsoft YaHei"/>
              </a:defRPr>
            </a:pPr>
            <a:r>
              <a:t>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0" y="534009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综合实战项目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模块00 · 课程导论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课程目标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掌握AI漫剧从剧本到成片的完整制作流程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精通即梦AI、可灵AI、Seedance 2.0等核心工具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能独立制作一集完整的AI漫剧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了解平台分发与商业变现的路径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建立工业化生产思维，实现高效量产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模块00 · 课程导论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行业数据一览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28016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指标</a:t>
                      </a:r>
                    </a:p>
                  </a:txBody>
                  <a:tcPr anchor="ctr">
                    <a:solidFill>
                      <a:srgbClr val="00C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2026年数据</a:t>
                      </a:r>
                    </a:p>
                  </a:txBody>
                  <a:tcPr anchor="ctr">
                    <a:solidFill>
                      <a:srgbClr val="00C0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市场规模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240亿元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用户规模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2.8亿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日均播放量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15亿次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创作者数量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120万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制作成本降幅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-50%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模块00 · 课程导论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学习路径选择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71600"/>
            <a:ext cx="5349240" cy="381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C0FF"/>
                </a:solidFill>
                <a:latin typeface="Microsoft YaHei"/>
              </a:defRPr>
            </a:pPr>
            <a:r>
              <a:t>🅰️ 零基础速成（8周）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103120"/>
            <a:ext cx="1371600" cy="254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86584"/>
            <a:ext cx="146304" cy="146304"/>
          </a:xfrm>
          <a:prstGeom prst="ellipse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快速上手出作品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2916936"/>
            <a:ext cx="146304" cy="146304"/>
          </a:xfrm>
          <a:prstGeom prst="ellipse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重点模块：1,2,3,4,6,10,11,12,17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447288"/>
            <a:ext cx="146304" cy="146304"/>
          </a:xfrm>
          <a:prstGeom prst="ellipse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适合：想快速入行变现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1371600"/>
            <a:ext cx="5349240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A4EF0"/>
                </a:solidFill>
                <a:latin typeface="Microsoft YaHei"/>
              </a:defRPr>
            </a:pPr>
            <a:r>
              <a:t>🅱️ 专业进阶（16周）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37960" y="2103120"/>
            <a:ext cx="1371600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37960" y="2386584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1228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全面掌握全链路</a:t>
            </a:r>
          </a:p>
        </p:txBody>
      </p:sp>
      <p:sp>
        <p:nvSpPr>
          <p:cNvPr id="25" name="Oval 24"/>
          <p:cNvSpPr/>
          <p:nvPr/>
        </p:nvSpPr>
        <p:spPr>
          <a:xfrm>
            <a:off x="6537960" y="2916936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228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全部17个模块</a:t>
            </a:r>
          </a:p>
        </p:txBody>
      </p:sp>
      <p:sp>
        <p:nvSpPr>
          <p:cNvPr id="27" name="Oval 26"/>
          <p:cNvSpPr/>
          <p:nvPr/>
        </p:nvSpPr>
        <p:spPr>
          <a:xfrm>
            <a:off x="6537960" y="3447288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228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适合：追求专业深度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模块00 · 课程导论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课程学习路线图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Step 1：行业认知 → 理解AI漫剧是什么、市场多大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221992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148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Step 2：创作技能 → 剧本、分镜、提示词工程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48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999232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Step 3：工具精通 → 即梦AI、可灵AI、Seedance等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776472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703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Step 4：后期制作 → 音频、剪辑、调色、成片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7033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553712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Step 5：商业运营 → 平台分发、变现、合规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480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5330952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257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Step 6：综合实战 → 从0到1独立完成一集AI漫剧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257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模块00 · 课程导论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0" y="1097280"/>
            <a:ext cx="969265" cy="381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26864" y="1097280"/>
            <a:ext cx="969264" cy="38100"/>
          </a:xfrm>
          <a:prstGeom prst="rect">
            <a:avLst/>
          </a:prstGeom>
          <a:solidFill>
            <a:srgbClr val="00A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596128" y="1097280"/>
            <a:ext cx="969264" cy="38100"/>
          </a:xfrm>
          <a:prstGeom prst="rect">
            <a:avLst/>
          </a:prstGeom>
          <a:solidFill>
            <a:srgbClr val="008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65392" y="1097280"/>
            <a:ext cx="969264" cy="38100"/>
          </a:xfrm>
          <a:prstGeom prst="rect">
            <a:avLst/>
          </a:prstGeom>
          <a:solidFill>
            <a:srgbClr val="006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534656" y="1097280"/>
            <a:ext cx="969264" cy="38100"/>
          </a:xfrm>
          <a:prstGeom prst="rect">
            <a:avLst/>
          </a:prstGeom>
          <a:solidFill>
            <a:srgbClr val="004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EEEEF4"/>
                </a:solidFill>
                <a:latin typeface="Microsoft YaHei"/>
              </a:defRPr>
            </a:pPr>
            <a:r>
              <a:t>AI漫剧的核心竞争力 = 创意 × 工具熟练度 × 量产能力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931920"/>
            <a:ext cx="2103120" cy="254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工具会更新迭代，但创意能力和工业化思维是持久的竞争力。本课程不仅教工具操作，更注重培养你的创作思维和生产效率。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模块00 · 课程导论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0" y="1371600"/>
            <a:ext cx="603505" cy="381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175504" y="1371600"/>
            <a:ext cx="603504" cy="38100"/>
          </a:xfrm>
          <a:prstGeom prst="rect">
            <a:avLst/>
          </a:prstGeom>
          <a:solidFill>
            <a:srgbClr val="00A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79008" y="1371600"/>
            <a:ext cx="603504" cy="38100"/>
          </a:xfrm>
          <a:prstGeom prst="rect">
            <a:avLst/>
          </a:prstGeom>
          <a:solidFill>
            <a:srgbClr val="008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82512" y="1371600"/>
            <a:ext cx="603504" cy="38100"/>
          </a:xfrm>
          <a:prstGeom prst="rect">
            <a:avLst/>
          </a:prstGeom>
          <a:solidFill>
            <a:srgbClr val="006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986016" y="1371600"/>
            <a:ext cx="603504" cy="38100"/>
          </a:xfrm>
          <a:prstGeom prst="rect">
            <a:avLst/>
          </a:prstGeom>
          <a:solidFill>
            <a:srgbClr val="004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00C0FF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EEEEF4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0" y="4023360"/>
            <a:ext cx="2103120" cy="254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89AA8"/>
                </a:solidFill>
                <a:latin typeface="Microsoft YaHei"/>
              </a:defRPr>
            </a:pPr>
            <a:r>
              <a:t>下一模块：行业认知与趋势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55768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