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10B981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34D399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6EE7B7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1A6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828800" cy="329184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E7B7"/>
                </a:solidFill>
                <a:latin typeface="Microsoft YaHei"/>
              </a:defRPr>
            </a:pPr>
            <a:r>
              <a:t>M O D U L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285751" cy="3810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950" y="4114800"/>
            <a:ext cx="285750" cy="38100"/>
          </a:xfrm>
          <a:prstGeom prst="rect">
            <a:avLst/>
          </a:prstGeom>
          <a:solidFill>
            <a:srgbClr val="60E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" y="4114800"/>
            <a:ext cx="285750" cy="38100"/>
          </a:xfrm>
          <a:prstGeom prst="rect">
            <a:avLst/>
          </a:prstGeom>
          <a:solidFill>
            <a:srgbClr val="53D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450" y="4114800"/>
            <a:ext cx="285750" cy="38100"/>
          </a:xfrm>
          <a:prstGeom prst="rect">
            <a:avLst/>
          </a:prstGeom>
          <a:solidFill>
            <a:srgbClr val="45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0200" y="4114800"/>
            <a:ext cx="285750" cy="38100"/>
          </a:xfrm>
          <a:prstGeom prst="rect">
            <a:avLst/>
          </a:prstGeom>
          <a:solidFill>
            <a:srgbClr val="38C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5950" y="4114800"/>
            <a:ext cx="285750" cy="38100"/>
          </a:xfrm>
          <a:prstGeom prst="rect">
            <a:avLst/>
          </a:prstGeom>
          <a:solidFill>
            <a:srgbClr val="2AC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1700" y="4114800"/>
            <a:ext cx="285750" cy="38100"/>
          </a:xfrm>
          <a:prstGeom prst="rect">
            <a:avLst/>
          </a:prstGeom>
          <a:solidFill>
            <a:srgbClr val="1DB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7450" y="4114800"/>
            <a:ext cx="28575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0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EE7B7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模块11：剪辑与后期——剪映专业版全流程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6课时 · 掌握剪映核心功能、剪辑节奏设计、画面修复与调色统一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6EE7B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4D39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剪映专业版AI功能全解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漫剧剪辑节奏设计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2530856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22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剪映AI配音实战</a:t>
            </a:r>
          </a:p>
        </p:txBody>
      </p:sp>
      <p:sp>
        <p:nvSpPr>
          <p:cNvPr id="50" name="Oval 49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画面修复与增强</a:t>
            </a:r>
          </a:p>
        </p:txBody>
      </p:sp>
      <p:sp>
        <p:nvSpPr>
          <p:cNvPr id="53" name="Oval 52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调色与视觉风格统一</a:t>
            </a:r>
          </a:p>
        </p:txBody>
      </p:sp>
      <p:sp>
        <p:nvSpPr>
          <p:cNvPr id="56" name="Oval 55"/>
          <p:cNvSpPr/>
          <p:nvPr/>
        </p:nvSpPr>
        <p:spPr>
          <a:xfrm>
            <a:off x="6400800" y="2530856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350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从素材到成片的完整流程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模块11 · 剪辑后期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4D39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剪映专业版核心AI功能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功能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漫剧应用场景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智能字幕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自动识别语音生成字幕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对白字幕/旁白字幕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AI混剪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自动匹配画面与音频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快速粗剪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自动踩点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BGM节拍自动标记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卡点视频/动作场景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AI修复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提升画质、去噪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画质增强/瑕疵修复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AI配音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文本转语音+音色克隆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角色对白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模块11 · 剪辑后期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10B981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34D399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第1秒视觉冲击 → 第2秒情绪建立 → 第3秒信息传达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第1秒用震撼画面/冲突场景抓住注意力；第2秒呈现核心冲突激发好奇心；第3秒告诉用户"这是什么故事"建立观看预期。避免缓慢开场，必须在3秒内留下继续观看的理由。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模块11 · 剪辑后期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4D39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5分钟漫剧节奏模板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00:00-00:03 钩子开场（吸引注意力）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00:03-00:10 上集回顾/背景铺垫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00:10-01:30 剧情推进A（建立矛盾）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01:30-01:35 小高潮/转折点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01:35-03:00 剧情推进B（矛盾升级）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03:00-04:30 高潮段落（爽点爆发）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模块11 · 剪辑后期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4D39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不同场景的剪辑节奏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668656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5855" y="1371600"/>
            <a:ext cx="668655" cy="381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94510" y="1371600"/>
            <a:ext cx="668655" cy="381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63165" y="1371600"/>
            <a:ext cx="668655" cy="381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31820" y="1371600"/>
            <a:ext cx="668655" cy="381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0475" y="1371600"/>
            <a:ext cx="668655" cy="381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69130" y="1371600"/>
            <a:ext cx="668655" cy="381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37785" y="1371600"/>
            <a:ext cx="668655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Microsoft YaHei"/>
              </a:defRPr>
            </a:pPr>
            <a:r>
              <a:t>快节奏场景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103120"/>
            <a:ext cx="205741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7260" y="2103120"/>
            <a:ext cx="205740" cy="254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" y="2103120"/>
            <a:ext cx="205740" cy="254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48740" y="2103120"/>
            <a:ext cx="205740" cy="254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54480" y="2103120"/>
            <a:ext cx="205740" cy="254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60220" y="2103120"/>
            <a:ext cx="205740" cy="254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65960" y="2103120"/>
            <a:ext cx="205740" cy="254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71700" y="2103120"/>
            <a:ext cx="20574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1520" y="2386584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动作场景：镜头1-3秒，快切/闪白转场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" y="291693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搞笑场景：镜头1-2秒，快切/定格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344728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悬疑场景：镜头2-4秒，黑场/闪回</a:t>
            </a:r>
          </a:p>
        </p:txBody>
      </p:sp>
      <p:sp>
        <p:nvSpPr>
          <p:cNvPr id="65" name="Oval 64"/>
          <p:cNvSpPr/>
          <p:nvPr/>
        </p:nvSpPr>
        <p:spPr>
          <a:xfrm>
            <a:off x="731520" y="3977640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追逐场景：镜头1-2秒，快速剪辑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6364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63640" y="1371600"/>
            <a:ext cx="668656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932295" y="1371600"/>
            <a:ext cx="668655" cy="38100"/>
          </a:xfrm>
          <a:prstGeom prst="rect">
            <a:avLst/>
          </a:prstGeom>
          <a:solidFill>
            <a:srgbClr val="3CD5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600950" y="1371600"/>
            <a:ext cx="668655" cy="38100"/>
          </a:xfrm>
          <a:prstGeom prst="rect">
            <a:avLst/>
          </a:prstGeom>
          <a:solidFill>
            <a:srgbClr val="44D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69605" y="1371600"/>
            <a:ext cx="668655" cy="38100"/>
          </a:xfrm>
          <a:prstGeom prst="rect">
            <a:avLst/>
          </a:prstGeom>
          <a:solidFill>
            <a:srgbClr val="4CD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38260" y="1371600"/>
            <a:ext cx="668655" cy="38100"/>
          </a:xfrm>
          <a:prstGeom prst="rect">
            <a:avLst/>
          </a:prstGeom>
          <a:solidFill>
            <a:srgbClr val="55D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606915" y="1371600"/>
            <a:ext cx="668655" cy="38100"/>
          </a:xfrm>
          <a:prstGeom prst="rect">
            <a:avLst/>
          </a:prstGeom>
          <a:solidFill>
            <a:srgbClr val="5DE1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275570" y="1371600"/>
            <a:ext cx="668655" cy="38100"/>
          </a:xfrm>
          <a:prstGeom prst="rect">
            <a:avLst/>
          </a:prstGeom>
          <a:solidFill>
            <a:srgbClr val="65E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944225" y="1371600"/>
            <a:ext cx="668655" cy="3810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3796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Microsoft YaHei"/>
              </a:defRPr>
            </a:pPr>
            <a:r>
              <a:t>慢节奏场景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37960" y="2103120"/>
            <a:ext cx="205741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743700" y="2103120"/>
            <a:ext cx="205740" cy="25400"/>
          </a:xfrm>
          <a:prstGeom prst="rect">
            <a:avLst/>
          </a:prstGeom>
          <a:solidFill>
            <a:srgbClr val="3CD5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49440" y="2103120"/>
            <a:ext cx="205740" cy="25400"/>
          </a:xfrm>
          <a:prstGeom prst="rect">
            <a:avLst/>
          </a:prstGeom>
          <a:solidFill>
            <a:srgbClr val="44D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55180" y="2103120"/>
            <a:ext cx="205740" cy="25400"/>
          </a:xfrm>
          <a:prstGeom prst="rect">
            <a:avLst/>
          </a:prstGeom>
          <a:solidFill>
            <a:srgbClr val="4CD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60920" y="2103120"/>
            <a:ext cx="205740" cy="25400"/>
          </a:xfrm>
          <a:prstGeom prst="rect">
            <a:avLst/>
          </a:prstGeom>
          <a:solidFill>
            <a:srgbClr val="55D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66660" y="2103120"/>
            <a:ext cx="205740" cy="25400"/>
          </a:xfrm>
          <a:prstGeom prst="rect">
            <a:avLst/>
          </a:prstGeom>
          <a:solidFill>
            <a:srgbClr val="5DE1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72400" y="2103120"/>
            <a:ext cx="205740" cy="25400"/>
          </a:xfrm>
          <a:prstGeom prst="rect">
            <a:avLst/>
          </a:prstGeom>
          <a:solidFill>
            <a:srgbClr val="65E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978140" y="2103120"/>
            <a:ext cx="205740" cy="2540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537960" y="2386584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对话场景：镜头3-5秒，硬切/淡入淡出</a:t>
            </a:r>
          </a:p>
        </p:txBody>
      </p:sp>
      <p:sp>
        <p:nvSpPr>
          <p:cNvPr id="87" name="Oval 86"/>
          <p:cNvSpPr/>
          <p:nvPr/>
        </p:nvSpPr>
        <p:spPr>
          <a:xfrm>
            <a:off x="6537960" y="2916936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1228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情感场景：镜头4-6秒，慢dissolve</a:t>
            </a:r>
          </a:p>
        </p:txBody>
      </p:sp>
      <p:sp>
        <p:nvSpPr>
          <p:cNvPr id="89" name="Oval 88"/>
          <p:cNvSpPr/>
          <p:nvPr/>
        </p:nvSpPr>
        <p:spPr>
          <a:xfrm>
            <a:off x="6537960" y="3447288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1228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回忆场景：镜头3-5秒，柔焦/慢动作</a:t>
            </a:r>
          </a:p>
        </p:txBody>
      </p:sp>
      <p:sp>
        <p:nvSpPr>
          <p:cNvPr id="91" name="Oval 90"/>
          <p:cNvSpPr/>
          <p:nvPr/>
        </p:nvSpPr>
        <p:spPr>
          <a:xfrm>
            <a:off x="6537960" y="397764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1228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日常场景：镜头3-4秒，自然过渡</a:t>
            </a:r>
          </a:p>
        </p:txBody>
      </p:sp>
      <p:sp>
        <p:nvSpPr>
          <p:cNvPr id="93" name="Rectangle 92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模块11 · 剪辑后期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4D39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AI视频常见瑕疵与修复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闪烁：画面明暗跳动 → AI去闪烁功能，预防：降低运动幅度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变形：角色形状异常 → 裁剪或重新生成，预防：简化动作描述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模糊：画面不清晰 → AI超分辨率，预防：使用1080P输出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抖动：镜头不稳定 → 视频稳定功能，预防：使用固定镜头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穿模：身体部位重叠 → 裁剪或重新生成，预防：降低运动幅度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色彩失真：颜色不准确 → 调色修复，预防：提示词指定色调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模块11 · 剪辑后期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4D39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常见风格调色参数速查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风格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色温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对比度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饱和度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效果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玄幻/仙侠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偏冷 -10~-20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中高 +15~+25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 +5~+10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神秘仙气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都市/现代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自然 0~+5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 +10~+15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中高 +10~+15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清新明亮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古风/武侠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偏暖 +5~+15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 +10~+15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中低 -5~+5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古朴典雅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赛博朋克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偏冷 -15~-25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高 +20~+30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高 +15~+25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科幻霓虹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模块11 · 剪辑后期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4D39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从素材到成片的完整流程（约60分钟）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整理素材（5分钟）：按镜头编号命名，整理配音/BGM/音效文件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221992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8378" y="2221992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5236" y="2221992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2094" y="2221992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8952" y="2221992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5810" y="2221992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2668" y="2221992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9526" y="2221992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" y="2148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粗剪（10分钟）：按分镜脚本排列视频片段，确定大致时长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2999232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8378" y="2999232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5236" y="2999232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2094" y="2999232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8952" y="2999232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5810" y="2999232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2668" y="2999232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526" y="2999232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精剪（15分钟）：调整入出点，添加转场，调整衔接节奏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3776472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8378" y="3776472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5236" y="3776472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52094" y="3776472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58952" y="3776472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5810" y="3776472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2668" y="3776472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9526" y="3776472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" y="3703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音频处理（10分钟）：添加配音/BGM/音效，音量平衡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3703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" y="4553712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8378" y="4553712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5236" y="4553712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2094" y="4553712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8952" y="4553712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5810" y="4553712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2668" y="4553712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9526" y="4553712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2688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字幕与特效（10分钟）：智能字幕+拟声字特效+画面特效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4480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1520" y="5330952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38378" y="5330952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45236" y="5330952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52094" y="5330952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58952" y="5330952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5810" y="5330952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72668" y="5330952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79526" y="5330952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32688" y="5257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调色（5分钟）：统一画面色调，应用滤镜预设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20" y="5257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模块11 · 剪辑后期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4D39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各平台导出参数速查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抖音/快手：1080×1920竖屏，30fps，8-10Mbps，H.264编码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B站：1920×1080横屏，24fps，10-12Mbps，H.264编码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红果：1080×1920竖屏，30fps，8-10Mbps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YouTube：1920×1080横屏，30fps，12-15Mbps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音频统一：AAC 320kbps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文件命名：[项目名]_[集数]_[版本]_[日期].mp4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模块11 · 剪辑后期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4D39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◆  本模块实操任务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14447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14447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" y="14447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14447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" y="14447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" y="14447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4447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" y="14447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" y="14447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使用剪映智能字幕功能为一集漫剧生成对白字幕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22199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22199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" y="222199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" y="222199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" y="222199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" y="222199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222199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" y="222199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" y="222199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为漫剧设计3种不同的前3秒开场方案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299923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299923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" y="299923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299923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" y="299923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" y="299923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299923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0976" y="299923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299923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使用AI修复功能修复视频中的闪烁和模糊问题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7647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377647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" y="377647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" y="377647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" y="377647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" y="377647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77647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" y="377647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7552" y="377647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创建玄幻/都市/古风3种不同风格的调色预设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55371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455371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" y="455371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" y="455371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455371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" y="455371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455371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0976" y="455371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7552" y="455371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完成一集漫剧的完整剪辑（粗剪→精剪→音频→字幕→调色→导出）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模块11 · 剪辑后期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10B981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BAC8"/>
                </a:solidFill>
                <a:latin typeface="Microsoft YaHei"/>
              </a:defRPr>
            </a:pPr>
            <a:r>
              <a:t>下一模块：一站式AI漫剧平台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