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6C5C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572000"/>
            <a:ext cx="3657600" cy="3657600"/>
          </a:xfrm>
          <a:prstGeom prst="ellipse">
            <a:avLst/>
          </a:prstGeom>
          <a:solidFill>
            <a:srgbClr val="00D4F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0"/>
            <a:ext cx="182880" cy="68580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0"/>
            <a:ext cx="91440" cy="6858000"/>
          </a:xfrm>
          <a:prstGeom prst="rect">
            <a:avLst/>
          </a:prstGeom>
          <a:solidFill>
            <a:srgbClr val="362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0312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502920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55448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2880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77440" y="530352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0312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77440" y="5577840"/>
            <a:ext cx="38100" cy="38100"/>
          </a:xfrm>
          <a:prstGeom prst="ellipse">
            <a:avLst/>
          </a:prstGeom>
          <a:solidFill>
            <a:srgbClr val="F0F0F5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7315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57600"/>
            <a:ext cx="1828800" cy="329184"/>
          </a:xfrm>
          <a:prstGeom prst="roundRect">
            <a:avLst/>
          </a:prstGeom>
          <a:solidFill>
            <a:srgbClr val="0A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57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D4FF"/>
                </a:solidFill>
                <a:latin typeface="Microsoft YaHei"/>
              </a:defRPr>
            </a:pPr>
            <a:r>
              <a:t>M O D U L 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285751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2950" y="4114800"/>
            <a:ext cx="285750" cy="38100"/>
          </a:xfrm>
          <a:prstGeom prst="rect">
            <a:avLst/>
          </a:prstGeom>
          <a:solidFill>
            <a:srgbClr val="07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" y="4114800"/>
            <a:ext cx="285750" cy="38100"/>
          </a:xfrm>
          <a:prstGeom prst="rect">
            <a:avLst/>
          </a:prstGeom>
          <a:solidFill>
            <a:srgbClr val="1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14450" y="4114800"/>
            <a:ext cx="285750" cy="38100"/>
          </a:xfrm>
          <a:prstGeom prst="rect">
            <a:avLst/>
          </a:prstGeom>
          <a:solidFill>
            <a:srgbClr val="18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00200" y="4114800"/>
            <a:ext cx="285750" cy="38100"/>
          </a:xfrm>
          <a:prstGeom prst="rect">
            <a:avLst/>
          </a:prstGeom>
          <a:solidFill>
            <a:srgbClr val="2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85950" y="4114800"/>
            <a:ext cx="285750" cy="38100"/>
          </a:xfrm>
          <a:prstGeom prst="rect">
            <a:avLst/>
          </a:prstGeom>
          <a:solidFill>
            <a:srgbClr val="289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71700" y="4114800"/>
            <a:ext cx="285750" cy="38100"/>
          </a:xfrm>
          <a:prstGeom prst="rect">
            <a:avLst/>
          </a:prstGeom>
          <a:solidFill>
            <a:srgbClr val="30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7450" y="4114800"/>
            <a:ext cx="285750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1097280"/>
            <a:ext cx="5486400" cy="457200"/>
          </a:xfrm>
          <a:prstGeom prst="round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4FF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20116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F0F5"/>
                </a:solidFill>
                <a:latin typeface="Microsoft YaHei"/>
              </a:defRPr>
            </a:pPr>
            <a:r>
              <a:t>模块 17.5：实战工作流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840480"/>
            <a:ext cx="40005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5090" y="3840480"/>
            <a:ext cx="40005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5140" y="3840480"/>
            <a:ext cx="40005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5190" y="3840480"/>
            <a:ext cx="40005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840480"/>
            <a:ext cx="40005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35290" y="3840480"/>
            <a:ext cx="40005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35340" y="3840480"/>
            <a:ext cx="40005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35390" y="3840480"/>
            <a:ext cx="40005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0" y="4206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Seedance 2.0 + 小云雀 + 剪映 — 5.5 小时/集 ¥40-80/集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5040" y="5303520"/>
            <a:ext cx="5486400" cy="6400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124课时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38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17模块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325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154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8-16周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04120" y="5486400"/>
            <a:ext cx="12700" cy="27432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87000" y="530352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87AFF"/>
                </a:solidFill>
                <a:latin typeface="Microsoft YaHei"/>
              </a:defRPr>
            </a:pPr>
            <a:r>
              <a:t>全流程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155680" y="0"/>
            <a:ext cx="1036015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978640" y="0"/>
            <a:ext cx="38100" cy="7315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521440" y="274320"/>
            <a:ext cx="137160" cy="137160"/>
          </a:xfrm>
          <a:prstGeom prst="ellipse">
            <a:avLst/>
          </a:prstGeom>
          <a:solidFill>
            <a:srgbClr val="00D4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§  本节内容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1520" y="139700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22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整体管线一图看清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" y="196392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422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70/30 工具分工策略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253085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422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5.5 小时单集时间预算</a:t>
            </a:r>
          </a:p>
        </p:txBody>
      </p:sp>
      <p:sp>
        <p:nvSpPr>
          <p:cNvPr id="50" name="Oval 49"/>
          <p:cNvSpPr/>
          <p:nvPr/>
        </p:nvSpPr>
        <p:spPr>
          <a:xfrm>
            <a:off x="731520" y="3097784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422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¥40-80 单集成本拆解</a:t>
            </a:r>
          </a:p>
        </p:txBody>
      </p:sp>
      <p:sp>
        <p:nvSpPr>
          <p:cNvPr id="53" name="Oval 52"/>
          <p:cNvSpPr/>
          <p:nvPr/>
        </p:nvSpPr>
        <p:spPr>
          <a:xfrm>
            <a:off x="731520" y="3664712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422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即梦 AI 资产准备 SOP</a:t>
            </a:r>
          </a:p>
        </p:txBody>
      </p:sp>
      <p:sp>
        <p:nvSpPr>
          <p:cNvPr id="56" name="Oval 55"/>
          <p:cNvSpPr/>
          <p:nvPr/>
        </p:nvSpPr>
        <p:spPr>
          <a:xfrm>
            <a:off x="6400800" y="1397000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3500" y="13970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Seedance 2.0 视频生成 SOP</a:t>
            </a:r>
          </a:p>
        </p:txBody>
      </p:sp>
      <p:sp>
        <p:nvSpPr>
          <p:cNvPr id="59" name="Oval 58"/>
          <p:cNvSpPr/>
          <p:nvPr/>
        </p:nvSpPr>
        <p:spPr>
          <a:xfrm>
            <a:off x="6400800" y="1963928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13500" y="19639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小云雀短剧 Agent SOP</a:t>
            </a:r>
          </a:p>
        </p:txBody>
      </p:sp>
      <p:sp>
        <p:nvSpPr>
          <p:cNvPr id="62" name="Oval 61"/>
          <p:cNvSpPr/>
          <p:nvPr/>
        </p:nvSpPr>
        <p:spPr>
          <a:xfrm>
            <a:off x="6400800" y="2530856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13500" y="25308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250545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剪映合成 + 调色 + 字幕</a:t>
            </a:r>
          </a:p>
        </p:txBody>
      </p:sp>
      <p:sp>
        <p:nvSpPr>
          <p:cNvPr id="65" name="Oval 64"/>
          <p:cNvSpPr/>
          <p:nvPr/>
        </p:nvSpPr>
        <p:spPr>
          <a:xfrm>
            <a:off x="6400800" y="3097784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3500" y="3097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3072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质量自检清单 5 大类</a:t>
            </a:r>
          </a:p>
        </p:txBody>
      </p:sp>
      <p:sp>
        <p:nvSpPr>
          <p:cNvPr id="68" name="Oval 67"/>
          <p:cNvSpPr/>
          <p:nvPr/>
        </p:nvSpPr>
        <p:spPr>
          <a:xfrm>
            <a:off x="6400800" y="3664712"/>
            <a:ext cx="274320" cy="274320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13500" y="366471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F0F5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0" y="3639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量产排班 + 数据反馈循环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6C5C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AI 漫剧不是技术活，是生产流程管理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你掌握的不是工具，是把 4 个工具变成一条流水线的能力。流水线建好后，每周稳定出 3 集就比 95% 的同行强。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整体管线（5 步流水线）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1 · DeepSeek/文心：剧本 + 25-30 切片清单（30 min）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2 · 即梦 AI：角色基准图 + 场景母版 + 关键帧（60 min）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3 · Seedance 2.0：6-10 段关键剧情视频（90 min）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4 · 小云雀：14-22 段对话/旁白/空镜视频（60 min）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5 · 剪映：合成 + 调色 + 字幕 + 配乐 + 音效（90 min）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70/30 工具分工策略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7AFF"/>
                </a:solidFill>
                <a:latin typeface="Microsoft YaHei"/>
              </a:defRPr>
            </a:pPr>
            <a:r>
              <a:t>Seedance 2.0（30%）质量优先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角色情绪特写（脸部到位）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动作戏（打斗 / 追车 / 跳跃）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关键转折（对峙 / 表白）</a:t>
            </a:r>
          </a:p>
        </p:txBody>
      </p:sp>
      <p:sp>
        <p:nvSpPr>
          <p:cNvPr id="65" name="Oval 64"/>
          <p:cNvSpPr/>
          <p:nvPr/>
        </p:nvSpPr>
        <p:spPr>
          <a:xfrm>
            <a:off x="731520" y="3977640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高难度运镜（环绕 / 推拉）</a:t>
            </a:r>
          </a:p>
        </p:txBody>
      </p:sp>
      <p:sp>
        <p:nvSpPr>
          <p:cNvPr id="67" name="Oval 66"/>
          <p:cNvSpPr/>
          <p:nvPr/>
        </p:nvSpPr>
        <p:spPr>
          <a:xfrm>
            <a:off x="731520" y="4507992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6-10 段 / 集 · ¥30-60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5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4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3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2E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1E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0F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FF"/>
                </a:solidFill>
                <a:latin typeface="Microsoft YaHei"/>
              </a:defRPr>
            </a:pPr>
            <a:r>
              <a:t>小云雀（70%）效率优先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5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4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3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2E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1E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0F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对话戏（双人 / 三人对白）</a:t>
            </a:r>
          </a:p>
        </p:txBody>
      </p:sp>
      <p:sp>
        <p:nvSpPr>
          <p:cNvPr id="89" name="Oval 88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旁白叙事（独白 + 切换）</a:t>
            </a:r>
          </a:p>
        </p:txBody>
      </p:sp>
      <p:sp>
        <p:nvSpPr>
          <p:cNvPr id="91" name="Oval 90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风景空镜（建立场景）</a:t>
            </a:r>
          </a:p>
        </p:txBody>
      </p:sp>
      <p:sp>
        <p:nvSpPr>
          <p:cNvPr id="93" name="Oval 92"/>
          <p:cNvSpPr/>
          <p:nvPr/>
        </p:nvSpPr>
        <p:spPr>
          <a:xfrm>
            <a:off x="6537960" y="3977640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812280" y="3922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过渡转场</a:t>
            </a:r>
          </a:p>
        </p:txBody>
      </p:sp>
      <p:sp>
        <p:nvSpPr>
          <p:cNvPr id="95" name="Oval 94"/>
          <p:cNvSpPr/>
          <p:nvPr/>
        </p:nvSpPr>
        <p:spPr>
          <a:xfrm>
            <a:off x="6537960" y="4507992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12280" y="44531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14-22 段 / 集 · 免费 + ¥6-12 充会员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单集时间预算（5-8 分钟漫剧）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工具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时长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选题 + 剧本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DeepSeek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30 min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资产准备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即梦 AI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60 min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关键视频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Seedance 2.0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90 min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文戏视频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小云雀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60 min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后期合成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剪映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90 min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5.5 小时 / 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单集成本拆解 ¥40-80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工具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用量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成本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DeepSeek API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50K tokens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¥1-2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即梦 AI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30 张图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免费 / ¥5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Seedance 2.0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6-10 段视频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¥30-60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小云雀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14-22 段视频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免费 / ¥6-12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剪映专业版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后期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¥0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对比传统漫剧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¥5-20 万 / 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即梦 AI 资产准备 SOP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每个主要角色出 3 张基准图：正面 / 半侧 3/4 / 全身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每个核心场景出 1 张母版图（白底纯净）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每个 [SD] 切片出 1 张关键帧（作为 Seedance 首帧）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Prompt 公式：[人物特征] + [服饰细节] + [姿态] + [画风] + [镜头] + [光线]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关键技巧：服饰描述精确到颜色 + 款式 + 配件，确保跨镜头一致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Seedance 2.0 视频生成 SOP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强烈用图生视频：上传即梦关键帧作为首帧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绑定角色档案（每角色 3-8 张高清图）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动作描述按 3-5 秒一段，最多 4 段动作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时长固定 15s（高级设置 → 视频时长）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验收四看：脸不变形 / 手指 5 根 / 镜头流畅 / 物理通顺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质量不行时：调 prompt 重生 → 仍不行换小云雀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小云雀短剧 Agent SOP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剧本 docx 标准格式：角色表 + 场景表 + 切片标注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2249424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8378" y="2249424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5236" y="2249424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2094" y="2249424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2" y="2249424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5810" y="2249424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668" y="2249424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9526" y="2249424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" y="2176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每切片包含：[镜头描述] + 旁白 + (动作) + 角色台词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054096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8378" y="3054096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236" y="3054096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52094" y="3054096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" y="3054096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5810" y="3054096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2668" y="3054096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9526" y="3054096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298094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上传 docx → 选「自动分镜 + 智能配音 + 自动配图」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0" y="3858768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8378" y="3858768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" y="3858768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52094" y="3858768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8952" y="3858768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65810" y="3858768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2668" y="3858768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9526" y="3858768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2688" y="378561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在故事蓝图编辑器：把角色形象改成与即梦一致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663440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8378" y="4663440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5236" y="4663440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2094" y="4663440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58952" y="4663440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65810" y="4663440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2668" y="4663440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9526" y="4663440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" y="45902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每天 120 免费积分 ≈ 12 段，分 2 天或 ¥6-12 充会员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" y="54681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8378" y="546811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45236" y="546811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2094" y="546811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8952" y="546811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65810" y="546811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8" y="546811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9526" y="546811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2688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设置：时长 15s / 比例 9:16 / 关闭字幕（剪映加）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剪映合成 6 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14447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378" y="14447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5236" y="14447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2094" y="14447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" y="14447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5810" y="14447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" y="14447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9526" y="14447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1 · 项目设置：1080×1920 / 30fps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22199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8378" y="222199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" y="222199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2094" y="222199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8952" y="222199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5810" y="222199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2668" y="222199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526" y="222199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2148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2 · 素材排序：按命名 ep01_01_xyq.mp4 严格排序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148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299923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8378" y="299923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5236" y="299923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2094" y="299923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8952" y="299923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810" y="299923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2668" y="299923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526" y="299923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3 · 切口处理：每两段加 0.3-0.5s 转场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377647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8378" y="377647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5236" y="377647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52094" y="377647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58952" y="377647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5810" y="377647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2668" y="377647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9526" y="377647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" y="3703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4 · 全局调色：加 LUT「电影感-暖调」+ 饱和度+10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3703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455371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8378" y="455371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" y="455371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2094" y="455371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8952" y="455371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5810" y="455371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2668" y="455371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9526" y="455371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5 · 字幕配音：智能字幕 + 关键台词金色加粗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480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5330952"/>
            <a:ext cx="6859" cy="36576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8378" y="5330952"/>
            <a:ext cx="6858" cy="36576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5236" y="5330952"/>
            <a:ext cx="6858" cy="36576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2094" y="5330952"/>
            <a:ext cx="6858" cy="36576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8952" y="5330952"/>
            <a:ext cx="6858" cy="36576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65810" y="5330952"/>
            <a:ext cx="6858" cy="36576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72668" y="5330952"/>
            <a:ext cx="6858" cy="36576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79526" y="5330952"/>
            <a:ext cx="6858" cy="3657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Step 6 · 配乐音效：铺底 BGM + 转场 whoosh + 高潮重音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257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质量自检 5 大类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1371600"/>
            <a:ext cx="668656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25855" y="1371600"/>
            <a:ext cx="668655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94510" y="1371600"/>
            <a:ext cx="668655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63165" y="1371600"/>
            <a:ext cx="668655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31820" y="1371600"/>
            <a:ext cx="668655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00475" y="1371600"/>
            <a:ext cx="668655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69130" y="1371600"/>
            <a:ext cx="668655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37785" y="1371600"/>
            <a:ext cx="668655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7AFF"/>
                </a:solidFill>
                <a:latin typeface="Microsoft YaHei"/>
              </a:defRPr>
            </a:pPr>
            <a:r>
              <a:t>前 3 类（必过）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2103120"/>
            <a:ext cx="20574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7260" y="2103120"/>
            <a:ext cx="20574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43000" y="2103120"/>
            <a:ext cx="20574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48740" y="2103120"/>
            <a:ext cx="20574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554480" y="2103120"/>
            <a:ext cx="20574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60220" y="2103120"/>
            <a:ext cx="20574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65960" y="2103120"/>
            <a:ext cx="20574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71700" y="2103120"/>
            <a:ext cx="20574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31520" y="2386584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画面：无闪烁 / 脸不变形 / 手指对 / 不穿模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" y="2916936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剧情：前 3 秒钩子 / 30 秒小高潮 / 结尾留钩</a:t>
            </a:r>
          </a:p>
        </p:txBody>
      </p:sp>
      <p:sp>
        <p:nvSpPr>
          <p:cNvPr id="63" name="Oval 62"/>
          <p:cNvSpPr/>
          <p:nvPr/>
        </p:nvSpPr>
        <p:spPr>
          <a:xfrm>
            <a:off x="731520" y="3447288"/>
            <a:ext cx="146304" cy="146304"/>
          </a:xfrm>
          <a:prstGeom prst="ellipse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音画：口型对得上 / BGM 不盖台词 / 音效对齐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63640" y="1371600"/>
            <a:ext cx="5349240" cy="4754880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2A2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63640" y="1371600"/>
            <a:ext cx="668656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932295" y="1371600"/>
            <a:ext cx="668655" cy="38100"/>
          </a:xfrm>
          <a:prstGeom prst="rect">
            <a:avLst/>
          </a:prstGeom>
          <a:solidFill>
            <a:srgbClr val="5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600950" y="1371600"/>
            <a:ext cx="668655" cy="38100"/>
          </a:xfrm>
          <a:prstGeom prst="rect">
            <a:avLst/>
          </a:prstGeom>
          <a:solidFill>
            <a:srgbClr val="4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69605" y="1371600"/>
            <a:ext cx="668655" cy="38100"/>
          </a:xfrm>
          <a:prstGeom prst="rect">
            <a:avLst/>
          </a:prstGeom>
          <a:solidFill>
            <a:srgbClr val="3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38260" y="1371600"/>
            <a:ext cx="668655" cy="38100"/>
          </a:xfrm>
          <a:prstGeom prst="rect">
            <a:avLst/>
          </a:prstGeom>
          <a:solidFill>
            <a:srgbClr val="2E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606915" y="1371600"/>
            <a:ext cx="668655" cy="38100"/>
          </a:xfrm>
          <a:prstGeom prst="rect">
            <a:avLst/>
          </a:prstGeom>
          <a:solidFill>
            <a:srgbClr val="1E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75570" y="1371600"/>
            <a:ext cx="668655" cy="38100"/>
          </a:xfrm>
          <a:prstGeom prst="rect">
            <a:avLst/>
          </a:prstGeom>
          <a:solidFill>
            <a:srgbClr val="0F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944225" y="1371600"/>
            <a:ext cx="668655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3796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5CFF"/>
                </a:solidFill>
                <a:latin typeface="Microsoft YaHei"/>
              </a:defRPr>
            </a:pPr>
            <a:r>
              <a:t>后 2 类（建议过）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60" y="2103120"/>
            <a:ext cx="205741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43700" y="2103120"/>
            <a:ext cx="205740" cy="25400"/>
          </a:xfrm>
          <a:prstGeom prst="rect">
            <a:avLst/>
          </a:prstGeom>
          <a:solidFill>
            <a:srgbClr val="5C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49440" y="2103120"/>
            <a:ext cx="205740" cy="25400"/>
          </a:xfrm>
          <a:prstGeom prst="rect">
            <a:avLst/>
          </a:prstGeom>
          <a:solidFill>
            <a:srgbClr val="4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55180" y="2103120"/>
            <a:ext cx="205740" cy="25400"/>
          </a:xfrm>
          <a:prstGeom prst="rect">
            <a:avLst/>
          </a:prstGeom>
          <a:solidFill>
            <a:srgbClr val="3D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60920" y="2103120"/>
            <a:ext cx="205740" cy="25400"/>
          </a:xfrm>
          <a:prstGeom prst="rect">
            <a:avLst/>
          </a:prstGeom>
          <a:solidFill>
            <a:srgbClr val="2E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66660" y="2103120"/>
            <a:ext cx="205740" cy="25400"/>
          </a:xfrm>
          <a:prstGeom prst="rect">
            <a:avLst/>
          </a:prstGeom>
          <a:solidFill>
            <a:srgbClr val="1EB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772400" y="2103120"/>
            <a:ext cx="205740" cy="25400"/>
          </a:xfrm>
          <a:prstGeom prst="rect">
            <a:avLst/>
          </a:prstGeom>
          <a:solidFill>
            <a:srgbClr val="0F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978140" y="2103120"/>
            <a:ext cx="2057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537960" y="2386584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字幕：无错别字 / 关键台词强调 / 不挡画面</a:t>
            </a:r>
          </a:p>
        </p:txBody>
      </p:sp>
      <p:sp>
        <p:nvSpPr>
          <p:cNvPr id="85" name="Oval 84"/>
          <p:cNvSpPr/>
          <p:nvPr/>
        </p:nvSpPr>
        <p:spPr>
          <a:xfrm>
            <a:off x="6537960" y="2916936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812280" y="2862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合规：第 1s 标注「AI 生成」 / 无敏感词 / 无侵权 IP</a:t>
            </a:r>
          </a:p>
        </p:txBody>
      </p:sp>
      <p:sp>
        <p:nvSpPr>
          <p:cNvPr id="87" name="Oval 86"/>
          <p:cNvSpPr/>
          <p:nvPr/>
        </p:nvSpPr>
        <p:spPr>
          <a:xfrm>
            <a:off x="6537960" y="3447288"/>
            <a:ext cx="146304" cy="146304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33924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BAC8"/>
                </a:solidFill>
                <a:latin typeface="Microsoft YaHei"/>
              </a:defRPr>
            </a:pPr>
            <a:r>
              <a:t>不达标必返工，没有"大概"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量产排班建议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模式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产量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单人 · 周 3 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月 12 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周一/三/五各 1 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单人 · 日产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月 30 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熟练后 3.5 小时/集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双人 · 你+剪辑助理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月 25-30 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你 4h/集 + 助理 1.5h/集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团队 · 4 人流水线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月 60+集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剧本/资产/视频/剪辑各 1 人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数据反馈循环（24h 关键指标）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00D4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1280160"/>
          <a:ext cx="11064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健康线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0F5"/>
                          </a:solidFill>
                          <a:latin typeface="Microsoft YaHei"/>
                        </a:defRPr>
                      </a:pPr>
                      <a:r>
                        <a:t>不达标处理</a:t>
                      </a:r>
                    </a:p>
                  </a:txBody>
                  <a:tcPr anchor="ctr">
                    <a:solidFill>
                      <a:srgbClr val="387A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完播率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&gt; 35%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&lt; 25% 弃坑换题材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点赞率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&gt; 3%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&lt; 1% 重写钩子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评论率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&gt; 0.8%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&lt; 0.3% 加爽点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5s 留存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&gt; 50%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&lt; 40% 换冲击画面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连续 3 集不达标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立刻换题材</a:t>
                      </a:r>
                    </a:p>
                  </a:txBody>
                  <a:tcPr anchor="ctr">
                    <a:solidFill>
                      <a:srgbClr val="1416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连续 3 集 &gt; 50 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B8BAC8"/>
                          </a:solidFill>
                          <a:latin typeface="Microsoft YaHei"/>
                        </a:defRPr>
                      </a:pPr>
                      <a:r>
                        <a:t>拉 8-12 集长篇</a:t>
                      </a:r>
                    </a:p>
                  </a:txBody>
                  <a:tcPr anchor="ctr">
                    <a:solidFill>
                      <a:srgbClr val="1A1D2C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0"/>
            <a:ext cx="6400800" cy="6400800"/>
          </a:xfrm>
          <a:prstGeom prst="ellipse">
            <a:avLst/>
          </a:prstGeom>
          <a:solidFill>
            <a:srgbClr val="387A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6C5C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7200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20490" y="1097280"/>
            <a:ext cx="72009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40580" y="1097280"/>
            <a:ext cx="72009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60670" y="1097280"/>
            <a:ext cx="72009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72009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00850" y="1097280"/>
            <a:ext cx="72009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0940" y="1097280"/>
            <a:ext cx="72009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41030" y="1097280"/>
            <a:ext cx="72009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不在视频里渲染中文 · 不让 Seedance 处理对话戏 · 不一次生成超 15s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93192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3931920"/>
            <a:ext cx="26289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3931920"/>
            <a:ext cx="26289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3931920"/>
            <a:ext cx="26289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26289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3931920"/>
            <a:ext cx="26289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3931920"/>
            <a:ext cx="26289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3931920"/>
            <a:ext cx="26289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97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BAC8"/>
                </a:solidFill>
                <a:latin typeface="Microsoft YaHei"/>
              </a:defRPr>
            </a:pPr>
            <a:r>
              <a:t>中文乱码 99% / Seedance 嘴型崩溃严重 / 超过 15s 角色一致性必崩。这三条违反任何一条，整集质量直接坍塌。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C5C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2124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01400" y="502920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01400" y="534924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32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8136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01400" y="566928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2124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6132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8136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201400" y="5989320"/>
            <a:ext cx="38100" cy="38100"/>
          </a:xfrm>
          <a:prstGeom prst="ellipse">
            <a:avLst/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523962" cy="381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23961" y="0"/>
            <a:ext cx="1523961" cy="381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7922" y="0"/>
            <a:ext cx="1523961" cy="381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1883" y="0"/>
            <a:ext cx="1523961" cy="381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5844" y="0"/>
            <a:ext cx="1523961" cy="381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19805" y="0"/>
            <a:ext cx="1523961" cy="381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766" y="0"/>
            <a:ext cx="1523961" cy="381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7727" y="0"/>
            <a:ext cx="1523961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38100"/>
            <a:ext cx="12191695" cy="960120"/>
          </a:xfrm>
          <a:prstGeom prst="rect">
            <a:avLst/>
          </a:prstGeom>
          <a:solidFill>
            <a:srgbClr val="14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38100"/>
            <a:ext cx="63500" cy="96012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Microsoft YaHei"/>
              </a:defRPr>
            </a:pPr>
            <a:r>
              <a:t>◆  本模块实操任务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078992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30000" y="228600"/>
            <a:ext cx="109728" cy="109728"/>
          </a:xfrm>
          <a:prstGeom prst="ellipse">
            <a:avLst/>
          </a:prstGeom>
          <a:solidFill>
            <a:srgbClr val="6EE7B7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144475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144475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" y="144475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144475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1248" y="144475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7824" y="144475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44475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0976" y="144475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7552" y="144475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592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注册 4 个工具账号：即梦 / Seedance / 小云雀 / 剪映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222199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0" y="222199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8096" y="222199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" y="222199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41248" y="222199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77824" y="222199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400" y="222199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" y="222199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7552" y="222199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2148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4592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从《爆款剧本模板库》选 1 个模板写第 1 集 25 切片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299923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" y="299923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68096" y="299923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4672" y="299923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1248" y="299923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77824" y="299923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" y="299923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50976" y="299923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299923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88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0" y="2926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按《第 1 集完整可执行包 · 代码之外》产出第 1 集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" y="377647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1520" y="377647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68096" y="377647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4672" y="377647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1248" y="377647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7824" y="377647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377647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976" y="377647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7552" y="377647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72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45920" y="3703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发布到抖音 / 视频号，24 小时后看数据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4553712"/>
            <a:ext cx="292608" cy="292608"/>
          </a:xfrm>
          <a:prstGeom prst="roundRect">
            <a:avLst/>
          </a:prstGeom>
          <a:solidFill>
            <a:srgbClr val="141622"/>
          </a:solidFill>
          <a:ln w="12700">
            <a:solidFill>
              <a:srgbClr val="00C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0" y="4553712"/>
            <a:ext cx="36577" cy="25400"/>
          </a:xfrm>
          <a:prstGeom prst="rect">
            <a:avLst/>
          </a:prstGeom>
          <a:solidFill>
            <a:srgbClr val="00C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8096" y="4553712"/>
            <a:ext cx="36576" cy="25400"/>
          </a:xfrm>
          <a:prstGeom prst="rect">
            <a:avLst/>
          </a:prstGeom>
          <a:solidFill>
            <a:srgbClr val="07C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4672" y="4553712"/>
            <a:ext cx="36576" cy="25400"/>
          </a:xfrm>
          <a:prstGeom prst="rect">
            <a:avLst/>
          </a:prstGeom>
          <a:solidFill>
            <a:srgbClr val="0ECF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1248" y="4553712"/>
            <a:ext cx="36576" cy="25400"/>
          </a:xfrm>
          <a:prstGeom prst="rect">
            <a:avLst/>
          </a:prstGeom>
          <a:solidFill>
            <a:srgbClr val="16D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77824" y="4553712"/>
            <a:ext cx="36576" cy="25400"/>
          </a:xfrm>
          <a:prstGeom prst="rect">
            <a:avLst/>
          </a:prstGeom>
          <a:solidFill>
            <a:srgbClr val="1DD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4553712"/>
            <a:ext cx="36576" cy="25400"/>
          </a:xfrm>
          <a:prstGeom prst="rect">
            <a:avLst/>
          </a:prstGeom>
          <a:solidFill>
            <a:srgbClr val="25D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50976" y="4553712"/>
            <a:ext cx="36576" cy="25400"/>
          </a:xfrm>
          <a:prstGeom prst="rect">
            <a:avLst/>
          </a:prstGeom>
          <a:solidFill>
            <a:srgbClr val="2CD2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7552" y="4553712"/>
            <a:ext cx="36576" cy="25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8872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E7E"/>
                </a:solidFill>
                <a:latin typeface="Microsoft YaHei"/>
              </a:defRPr>
            </a:pPr>
            <a:r>
              <a:t>#5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920" y="4480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BAC8"/>
                </a:solidFill>
                <a:latin typeface="Microsoft YaHei"/>
              </a:defRPr>
            </a:pPr>
            <a:r>
              <a:t>根据数据反馈表决定：续做 / 换题材 / 加大投入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446520"/>
            <a:ext cx="12191695" cy="12700"/>
          </a:xfrm>
          <a:prstGeom prst="rect">
            <a:avLst/>
          </a:prstGeom>
          <a:solidFill>
            <a:srgbClr val="2A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152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模块18 · 实战工作流-Seedance+小云雀+剪映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E7082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" y="6446520"/>
            <a:ext cx="17145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2970" y="6446520"/>
            <a:ext cx="17145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74420" y="6446520"/>
            <a:ext cx="17145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45870" y="6446520"/>
            <a:ext cx="17145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17320" y="6446520"/>
            <a:ext cx="17145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588770" y="6446520"/>
            <a:ext cx="17145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760220" y="6446520"/>
            <a:ext cx="17145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931670" y="6446520"/>
            <a:ext cx="17145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387A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1371600"/>
            <a:ext cx="491491" cy="381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06290" y="1371600"/>
            <a:ext cx="491490" cy="381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97780" y="1371600"/>
            <a:ext cx="491490" cy="381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9270" y="1371600"/>
            <a:ext cx="491490" cy="381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1371600"/>
            <a:ext cx="491490" cy="381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72250" y="1371600"/>
            <a:ext cx="491490" cy="381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63740" y="1371600"/>
            <a:ext cx="491490" cy="381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55230" y="1371600"/>
            <a:ext cx="491490" cy="381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7AFF"/>
                </a:solidFill>
                <a:latin typeface="Microsoft YaHei"/>
              </a:defRPr>
            </a:pPr>
            <a: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3200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0F0F5"/>
                </a:solidFill>
                <a:latin typeface="Microsoft YaHei"/>
              </a:defRPr>
            </a:pPr>
            <a:r>
              <a:t>本模块结束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262891" cy="2540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92090" y="4023360"/>
            <a:ext cx="262890" cy="25400"/>
          </a:xfrm>
          <a:prstGeom prst="rect">
            <a:avLst/>
          </a:prstGeom>
          <a:solidFill>
            <a:srgbClr val="3F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54980" y="4023360"/>
            <a:ext cx="262890" cy="25400"/>
          </a:xfrm>
          <a:prstGeom prst="rect">
            <a:avLst/>
          </a:prstGeom>
          <a:solidFill>
            <a:srgbClr val="46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7870" y="4023360"/>
            <a:ext cx="262890" cy="25400"/>
          </a:xfrm>
          <a:prstGeom prst="rect">
            <a:avLst/>
          </a:prstGeom>
          <a:solidFill>
            <a:srgbClr val="4E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4023360"/>
            <a:ext cx="262890" cy="25400"/>
          </a:xfrm>
          <a:prstGeom prst="rect">
            <a:avLst/>
          </a:prstGeom>
          <a:solidFill>
            <a:srgbClr val="55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3650" y="4023360"/>
            <a:ext cx="262890" cy="25400"/>
          </a:xfrm>
          <a:prstGeom prst="rect">
            <a:avLst/>
          </a:prstGeom>
          <a:solidFill>
            <a:srgbClr val="5D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06540" y="4023360"/>
            <a:ext cx="262890" cy="25400"/>
          </a:xfrm>
          <a:prstGeom prst="rect">
            <a:avLst/>
          </a:prstGeom>
          <a:solidFill>
            <a:srgbClr val="64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69430" y="4023360"/>
            <a:ext cx="262890" cy="2540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BAC8"/>
                </a:solidFill>
                <a:latin typeface="Microsoft YaHei"/>
              </a:defRPr>
            </a:pPr>
            <a:r>
              <a:t>下一模块：完结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E7082"/>
                </a:solidFill>
                <a:latin typeface="Microsoft YaHei"/>
              </a:defRPr>
            </a:pPr>
            <a:r>
              <a:t>AI漫剧制作全流程课程 · 2026版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