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29200" cy="68580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0" cy="9144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5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4572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972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41732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73736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05740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37744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97480" y="502920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72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772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972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1732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73736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05740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37744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697480" y="534924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72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772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972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1732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73736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05740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37744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697480" y="5669280"/>
            <a:ext cx="38100" cy="381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1097280"/>
            <a:ext cx="3657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0" b="1">
                <a:solidFill>
                  <a:srgbClr val="1A243C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1234440"/>
            <a:ext cx="2743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0" b="1">
                <a:solidFill>
                  <a:srgbClr val="00E5F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657600"/>
            <a:ext cx="1645920" cy="3200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65760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A8B8D0"/>
                </a:solidFill>
                <a:latin typeface="Microsoft YaHei"/>
              </a:defRPr>
            </a:pPr>
            <a:r>
              <a:t>M O D U L 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4114800"/>
            <a:ext cx="182880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5486400" y="1371600"/>
            <a:ext cx="5943600" cy="457200"/>
          </a:xfrm>
          <a:prstGeom prst="round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5F7FC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0" y="2377440"/>
            <a:ext cx="5943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5F7FC"/>
                </a:solidFill>
                <a:latin typeface="Microsoft YaHei"/>
              </a:defRPr>
            </a:pPr>
            <a:r>
              <a:t>模块二：大语言模型与AI剧本创作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0" y="4114800"/>
            <a:ext cx="274320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0" y="4114800"/>
            <a:ext cx="914400" cy="508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0" y="448056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8课时 · 掌握5大AI模型的剧本创作能力与完整方法论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0" y="5486400"/>
            <a:ext cx="5943600" cy="640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6928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124课时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3232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17模块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8-16周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0" y="5532120"/>
            <a:ext cx="128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E5FF"/>
                </a:solidFill>
                <a:latin typeface="Microsoft YaHei"/>
              </a:defRPr>
            </a:pPr>
            <a:r>
              <a:t>全流程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247120" y="0"/>
            <a:ext cx="944575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2051792" y="0"/>
            <a:ext cx="50800" cy="7315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54864" cy="96012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572768"/>
            <a:ext cx="411480" cy="4114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文心5.0全面解析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60" y="1371600"/>
            <a:ext cx="54864" cy="96012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389120" y="1572768"/>
            <a:ext cx="411480" cy="4114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103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DeepSeek深度使用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137160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09560" y="1371600"/>
            <a:ext cx="54864" cy="96012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46720" y="1572768"/>
            <a:ext cx="411480" cy="411480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46720" y="157276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67928" y="153619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豆包大模型应用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2606040"/>
            <a:ext cx="54864" cy="96012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1520" y="2807208"/>
            <a:ext cx="411480" cy="411480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527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通义千问创意写作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51960" y="2606040"/>
            <a:ext cx="54864" cy="96012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89120" y="2807208"/>
            <a:ext cx="411480" cy="411480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103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智谱清言角色设定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09560" y="260604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09560" y="2606040"/>
            <a:ext cx="54864" cy="960120"/>
          </a:xfrm>
          <a:prstGeom prst="rect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46720" y="2807208"/>
            <a:ext cx="411480" cy="411480"/>
          </a:xfrm>
          <a:prstGeom prst="ellipse">
            <a:avLst/>
          </a:prstGeom>
          <a:solidFill>
            <a:srgbClr val="FF3D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0" y="280720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7928" y="277063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AI剧本创作方法论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94360" y="3840480"/>
            <a:ext cx="54864" cy="960120"/>
          </a:xfrm>
          <a:prstGeom prst="rect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41648"/>
            <a:ext cx="411480" cy="411480"/>
          </a:xfrm>
          <a:prstGeom prst="ellipse">
            <a:avLst/>
          </a:prstGeom>
          <a:solidFill>
            <a:srgbClr val="387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527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AI漫剧剧本特殊要求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51960" y="3840480"/>
            <a:ext cx="3383280" cy="960120"/>
          </a:xfrm>
          <a:prstGeom prst="roundRect">
            <a:avLst/>
          </a:prstGeom>
          <a:solidFill>
            <a:srgbClr val="131B30"/>
          </a:solidFill>
          <a:ln w="12700">
            <a:solidFill>
              <a:srgbClr val="223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51960" y="3840480"/>
            <a:ext cx="54864" cy="960120"/>
          </a:xfrm>
          <a:prstGeom prst="rect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4389120" y="4041648"/>
            <a:ext cx="411480" cy="411480"/>
          </a:xfrm>
          <a:prstGeom prst="ellipse">
            <a:avLst/>
          </a:prstGeom>
          <a:solidFill>
            <a:srgbClr val="FF6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0" y="40416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5F7FC"/>
                </a:solidFill>
                <a:latin typeface="Microsoft YaHei"/>
              </a:defRPr>
            </a:pPr>
            <a:r>
              <a:t>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10328" y="4005072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8B8D0"/>
                </a:solidFill>
                <a:latin typeface="Microsoft YaHei"/>
              </a:defRPr>
            </a:pPr>
            <a:r>
              <a:t>实战：12集漫剧完整剧本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文心5.0核心能力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参数规模：2.4万亿（2.4T），上下文窗口128K tokens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核心优势：中文创意写作最强、长文本生成、剧情节奏把控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调用方式：百度智能云千帆平台 / 文心一言 / API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适用场景：剧本整体把控、节奏优化、大纲生成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进阶技巧：多轮对话迭代法、角色锚定提示词、批量生成法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DeepSeek两大杀手锏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联网搜索：实时抓取网络热点、趋势数据、竞品信息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长文本推理：处理复杂剧情线、多角色关系、伏笔设计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性价比极高：约GPT-4o的1/100价格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思维链引导：用"请逐步思考"引导深度分析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适用场景：热点题材抓取、复杂剧情设计、竞品分析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🤖 五大AI模型速览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4360" y="1371600"/>
            <a:ext cx="338328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5FF"/>
                </a:solidFill>
                <a:latin typeface="Microsoft YaHei"/>
              </a:defRPr>
            </a:pPr>
            <a:r>
              <a:t>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文心5.0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2.4T参数 · 中文创意写作最强 · 128K上下文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371600"/>
            <a:ext cx="338328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056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A855F7"/>
                </a:solidFill>
                <a:latin typeface="Microsoft YaHei"/>
              </a:defRPr>
            </a:pPr>
            <a:r>
              <a:t>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DeepSeek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联网搜索+长文本推理 · 性价比极高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37160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1371600"/>
            <a:ext cx="3383280" cy="50800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3880" y="15544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6D2E"/>
                </a:solidFill>
                <a:latin typeface="Microsoft YaHei"/>
              </a:defRPr>
            </a:pPr>
            <a:r>
              <a:t>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80" y="208483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豆包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246888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对话感最自然 · 口语化对白打磨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61188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" y="3611880"/>
            <a:ext cx="3383280" cy="508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E696"/>
                </a:solidFill>
                <a:latin typeface="Microsoft YaHei"/>
              </a:defRPr>
            </a:pPr>
            <a:r>
              <a:t>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325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通义千问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逻辑严谨 · 整体审校 · 知识面广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97680" y="3611880"/>
            <a:ext cx="3383280" cy="192024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97680" y="3611880"/>
            <a:ext cx="3383280" cy="50800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3794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FFB800"/>
                </a:solidFill>
                <a:latin typeface="Microsoft YaHei"/>
              </a:defRPr>
            </a:pPr>
            <a:r>
              <a:t>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432511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5F7FC"/>
                </a:solidFill>
                <a:latin typeface="Microsoft YaHei"/>
              </a:defRPr>
            </a:pPr>
            <a:r>
              <a:t>智谱清言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4709160"/>
            <a:ext cx="3017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角色一致性 · 人格档案 · 深度设定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五大AI模型创作分工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371600"/>
            <a:ext cx="5349240" cy="508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E5FF"/>
                </a:solidFill>
                <a:latin typeface="Microsoft YaHei"/>
              </a:defRPr>
            </a:pPr>
            <a:r>
              <a:t>创作环节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148840"/>
            <a:ext cx="1371600" cy="25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247802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热点分析 → DeepSeek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298094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世界观构建 → 文心5.0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348386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角色设定 → GLM-4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398678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剧情架构 → DeepSeek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4489704"/>
            <a:ext cx="182880" cy="1828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剧本初稿 → DeepSeek / 文心5.0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1371600"/>
            <a:ext cx="5349240" cy="47548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1371600"/>
            <a:ext cx="5349240" cy="508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64592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855F7"/>
                </a:solidFill>
                <a:latin typeface="Microsoft YaHei"/>
              </a:defRPr>
            </a:pPr>
            <a:r>
              <a:t>优化环节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60" y="2148840"/>
            <a:ext cx="1371600" cy="254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537960" y="247802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0" y="24231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节奏优化 → 文心5.0</a:t>
            </a:r>
          </a:p>
        </p:txBody>
      </p:sp>
      <p:sp>
        <p:nvSpPr>
          <p:cNvPr id="28" name="Oval 27"/>
          <p:cNvSpPr/>
          <p:nvPr/>
        </p:nvSpPr>
        <p:spPr>
          <a:xfrm>
            <a:off x="6537960" y="298094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对白打磨 → 豆包</a:t>
            </a:r>
          </a:p>
        </p:txBody>
      </p:sp>
      <p:sp>
        <p:nvSpPr>
          <p:cNvPr id="30" name="Oval 29"/>
          <p:cNvSpPr/>
          <p:nvPr/>
        </p:nvSpPr>
        <p:spPr>
          <a:xfrm>
            <a:off x="6537960" y="348386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34290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整体审校 → 通义千问</a:t>
            </a:r>
          </a:p>
        </p:txBody>
      </p:sp>
      <p:sp>
        <p:nvSpPr>
          <p:cNvPr id="32" name="Oval 31"/>
          <p:cNvSpPr/>
          <p:nvPr/>
        </p:nvSpPr>
        <p:spPr>
          <a:xfrm>
            <a:off x="6537960" y="398678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0" y="39319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角色检查 → GLM-4</a:t>
            </a:r>
          </a:p>
        </p:txBody>
      </p:sp>
      <p:sp>
        <p:nvSpPr>
          <p:cNvPr id="34" name="Oval 33"/>
          <p:cNvSpPr/>
          <p:nvPr/>
        </p:nvSpPr>
        <p:spPr>
          <a:xfrm>
            <a:off x="6537960" y="4489704"/>
            <a:ext cx="182880" cy="182880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0" y="44348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创意发散 → 通义千问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AI剧本创作方法论全景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Phase 1 热点抓取：联网搜索 → 数据分析 → 趋势研判 → 用户画像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2737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627376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810256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1025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8011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Phase 2 选题决策：竞品分析 → 蓝海判断 → 差异化定位 → 可行性评估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7459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974592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4157472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415747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14832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Phase 3 故事构建：世界观设定 → 角色设计 → 剧情架构 → 爽点分布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Phase 4 剧本落地：大纲生成 → 分集细化 → 对白打磨 → 钩子优化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选题决策评分模型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3716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评估维度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权重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F7FC"/>
                          </a:solidFill>
                          <a:latin typeface="Microsoft YaHei"/>
                        </a:defRPr>
                      </a:pPr>
                      <a:r>
                        <a:t>评分标准</a:t>
                      </a:r>
                    </a:p>
                  </a:txBody>
                  <a:tcPr anchor="ctr">
                    <a:solidFill>
                      <a:srgbClr val="00E5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市场热度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搜索指数、相关作品播放量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竞争程度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同题材作品数量（越少分越高）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差异化空间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20%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是否有独特切入角度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变现潜力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付费意愿、广告适配度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制作难度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15%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AI工具能否胜任</a:t>
                      </a:r>
                    </a:p>
                  </a:txBody>
                  <a:tcPr anchor="ctr">
                    <a:solidFill>
                      <a:srgbClr val="131B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个人兴趣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10%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A8B8D0"/>
                          </a:solidFill>
                          <a:latin typeface="Microsoft YaHei"/>
                        </a:defRPr>
                      </a:pPr>
                      <a:r>
                        <a:t>能否持续创作不厌倦</a:t>
                      </a:r>
                    </a:p>
                  </a:txBody>
                  <a:tcPr anchor="ctr">
                    <a:solidFill>
                      <a:srgbClr val="1A243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💡 AI漫剧剧本核心原则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463040"/>
            <a:ext cx="10698480" cy="2926080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463040"/>
            <a:ext cx="10698480" cy="635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1463040"/>
            <a:ext cx="63500" cy="292608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332720" y="1737360"/>
            <a:ext cx="731520" cy="73152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1920240"/>
            <a:ext cx="93268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写给"AI+人"看，而非只写给人看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10698480" cy="1463040"/>
          </a:xfrm>
          <a:prstGeom prst="roundRect">
            <a:avLst/>
          </a:prstGeom>
          <a:solidFill>
            <a:srgbClr val="1A24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663440"/>
            <a:ext cx="50800" cy="1463040"/>
          </a:xfrm>
          <a:prstGeom prst="rect">
            <a:avLst/>
          </a:prstGeom>
          <a:solidFill>
            <a:srgbClr val="5C6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800600"/>
            <a:ext cx="9875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场景描述必须具体到颜色、光线、构图；动作描写要精确到可执行；每个场景附带AI生图提示词；角色外貌描述要保持一致；避免抽象词汇，用具体特征代替。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DD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可视化描写三原则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280160"/>
            <a:ext cx="73152" cy="713232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13232" y="1463040"/>
            <a:ext cx="347472" cy="347472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4630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453896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具体化：把"她很美"变成"长发及腰，杏眼樱唇，白色连衣裙"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290572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290572"/>
            <a:ext cx="73152" cy="71323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13232" y="2473452"/>
            <a:ext cx="347472" cy="347472"/>
          </a:xfrm>
          <a:prstGeom prst="ellipse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473452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2464308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画面化：用"摄影机视角"写，如"镜头从门口向内推进——"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00984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00984"/>
            <a:ext cx="73152" cy="713232"/>
          </a:xfrm>
          <a:prstGeom prst="rect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13232" y="3483864"/>
            <a:ext cx="347472" cy="347472"/>
          </a:xfrm>
          <a:prstGeom prst="ellipse">
            <a:avLst/>
          </a:prstGeom>
          <a:solidFill>
            <a:srgbClr val="FF6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3232" y="3483864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474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五感化：调动视觉以外的感官，如"雨点砸在脸上，冰凉刺骨"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311396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4311396"/>
            <a:ext cx="73152" cy="713232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13232" y="4494276"/>
            <a:ext cx="347472" cy="347472"/>
          </a:xfrm>
          <a:prstGeom prst="ellipse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494276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48513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镜头标注：每个场景标注【特写/中景/远景/俯拍/过肩】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21808"/>
            <a:ext cx="11247120" cy="713232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5321808"/>
            <a:ext cx="73152" cy="713232"/>
          </a:xfrm>
          <a:prstGeom prst="rect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13232" y="5504688"/>
            <a:ext cx="347472" cy="347472"/>
          </a:xfrm>
          <a:prstGeom prst="ellipse">
            <a:avLst/>
          </a:prstGeom>
          <a:solidFill>
            <a:srgbClr val="FFB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" y="5504688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5F7FC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495544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AI适配：避免复杂多人同框，每场景最多2-3个角色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6200"/>
            <a:ext cx="12191695" cy="38100"/>
          </a:xfrm>
          <a:prstGeom prst="rect">
            <a:avLst/>
          </a:prstGeom>
          <a:solidFill>
            <a:srgbClr val="00B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"/>
            <a:ext cx="12191695" cy="914400"/>
          </a:xfrm>
          <a:prstGeom prst="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14300"/>
            <a:ext cx="109728" cy="914400"/>
          </a:xfrm>
          <a:prstGeom prst="rect">
            <a:avLst/>
          </a:prstGeom>
          <a:solidFill>
            <a:srgbClr val="00E69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2880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5F7FC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9728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42646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371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716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用DeepSeek联网搜索分析当前抖音漫剧TOP10题材分布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84832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2231136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1762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17627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用文心5.0生成一个12集都市逆袭漫剧的完整大纲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89504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035808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2980944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980944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用GLM-4创建5个核心角色的深度档案与人格卡片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94176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3785616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3785616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用豆包对5段对白进行"网感优化"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98848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4645152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590288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590288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用通义千问完成整体审校，输出修改建议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303520"/>
            <a:ext cx="11247120" cy="658368"/>
          </a:xfrm>
          <a:prstGeom prst="roundRect">
            <a:avLst/>
          </a:prstGeom>
          <a:solidFill>
            <a:srgbClr val="131B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5449824"/>
            <a:ext cx="329184" cy="329184"/>
          </a:xfrm>
          <a:prstGeom prst="roundRect">
            <a:avLst/>
          </a:prstGeom>
          <a:noFill/>
          <a:ln w="12700">
            <a:solidFill>
              <a:srgbClr val="00E6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5394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E696"/>
                </a:solidFill>
                <a:latin typeface="Microsoft YaHei"/>
              </a:defRPr>
            </a:pPr>
            <a:r>
              <a:t>#6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9496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A8B8D0"/>
                </a:solidFill>
                <a:latin typeface="Microsoft YaHei"/>
              </a:defRPr>
            </a:pPr>
            <a:r>
              <a:t>完成一部12集漫剧的完整剧本（含AI生图提示词）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46520"/>
            <a:ext cx="12191695" cy="12700"/>
          </a:xfrm>
          <a:prstGeom prst="rect">
            <a:avLst/>
          </a:prstGeom>
          <a:solidFill>
            <a:srgbClr val="22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64922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模块02 · 大语言模型与AI剧本创作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5C6E8A"/>
                </a:solidFill>
                <a:latin typeface="Microsoft YaHei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952847" y="1508760"/>
            <a:ext cx="2286000" cy="2286000"/>
          </a:xfrm>
          <a:prstGeom prst="ellipse">
            <a:avLst/>
          </a:prstGeom>
          <a:solidFill>
            <a:srgbClr val="00A9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5090007" y="1645920"/>
            <a:ext cx="2011680" cy="2011680"/>
          </a:xfrm>
          <a:prstGeom prst="ellipse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90007" y="192024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5F7FC"/>
                </a:solidFill>
                <a:latin typeface="Microsoft YaHei"/>
              </a:defRPr>
            </a:pPr>
            <a: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931920"/>
            <a:ext cx="121916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5F7FC"/>
                </a:solidFill>
                <a:latin typeface="Microsoft YaHei"/>
              </a:defRPr>
            </a:pPr>
            <a:r>
              <a:t>本模块结束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4754880"/>
            <a:ext cx="2103120" cy="38100"/>
          </a:xfrm>
          <a:prstGeom prst="rect">
            <a:avLst/>
          </a:prstGeom>
          <a:solidFill>
            <a:srgbClr val="00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0" y="4754880"/>
            <a:ext cx="701040" cy="38100"/>
          </a:xfrm>
          <a:prstGeom prst="rect">
            <a:avLst/>
          </a:prstGeom>
          <a:solidFill>
            <a:srgbClr val="1E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0" y="50292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A8B8D0"/>
                </a:solidFill>
                <a:latin typeface="Microsoft YaHei"/>
              </a:defRPr>
            </a:pPr>
            <a:r>
              <a:t>下一模块：分镜设计与提示词工程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0" y="594360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5C6E8A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