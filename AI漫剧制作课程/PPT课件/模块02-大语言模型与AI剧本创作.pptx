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0" y="-1828800"/>
            <a:ext cx="7315200" cy="7315200"/>
          </a:xfrm>
          <a:prstGeom prst="ellipse">
            <a:avLst/>
          </a:prstGeom>
          <a:solidFill>
            <a:srgbClr val="00C97B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743200" y="2743200"/>
            <a:ext cx="5486400" cy="5486400"/>
          </a:xfrm>
          <a:prstGeom prst="ellipse">
            <a:avLst/>
          </a:prstGeom>
          <a:solidFill>
            <a:srgbClr val="00E696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0" y="4572000"/>
            <a:ext cx="3657600" cy="3657600"/>
          </a:xfrm>
          <a:prstGeom prst="ellipse">
            <a:avLst/>
          </a:prstGeom>
          <a:solidFill>
            <a:srgbClr val="38FFBD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5303520" cy="685800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03520" y="0"/>
            <a:ext cx="182880" cy="68580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0" y="0"/>
            <a:ext cx="91440" cy="6858000"/>
          </a:xfrm>
          <a:prstGeom prst="rect">
            <a:avLst/>
          </a:prstGeom>
          <a:solidFill>
            <a:srgbClr val="007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5720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0584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8016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55448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82880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10312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37744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720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584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28016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55448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82880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10312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37744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5720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3152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0584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28016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55448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82880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10312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37744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4320" y="73152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0" b="1">
                <a:solidFill>
                  <a:srgbClr val="FFFFFF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657600"/>
            <a:ext cx="1828800" cy="329184"/>
          </a:xfrm>
          <a:prstGeom prst="roundRect">
            <a:avLst/>
          </a:prstGeom>
          <a:solidFill>
            <a:srgbClr val="0A0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3657600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8FFBD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4114800"/>
            <a:ext cx="285751" cy="38100"/>
          </a:xfrm>
          <a:prstGeom prst="rect">
            <a:avLst/>
          </a:prstGeom>
          <a:solidFill>
            <a:srgbClr val="38FF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42950" y="4114800"/>
            <a:ext cx="285750" cy="38100"/>
          </a:xfrm>
          <a:prstGeom prst="rect">
            <a:avLst/>
          </a:prstGeom>
          <a:solidFill>
            <a:srgbClr val="30F7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28700" y="4114800"/>
            <a:ext cx="285750" cy="38100"/>
          </a:xfrm>
          <a:prstGeom prst="rect">
            <a:avLst/>
          </a:prstGeom>
          <a:solidFill>
            <a:srgbClr val="28E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314450" y="4114800"/>
            <a:ext cx="285750" cy="38100"/>
          </a:xfrm>
          <a:prstGeom prst="rect">
            <a:avLst/>
          </a:prstGeom>
          <a:solidFill>
            <a:srgbClr val="20E7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600200" y="4114800"/>
            <a:ext cx="285750" cy="38100"/>
          </a:xfrm>
          <a:prstGeom prst="rect">
            <a:avLst/>
          </a:prstGeom>
          <a:solidFill>
            <a:srgbClr val="18E0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885950" y="4114800"/>
            <a:ext cx="285750" cy="38100"/>
          </a:xfrm>
          <a:prstGeom prst="rect">
            <a:avLst/>
          </a:prstGeom>
          <a:solidFill>
            <a:srgbClr val="10D8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171700" y="4114800"/>
            <a:ext cx="285750" cy="38100"/>
          </a:xfrm>
          <a:prstGeom prst="rect">
            <a:avLst/>
          </a:prstGeom>
          <a:solidFill>
            <a:srgbClr val="08D0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457450" y="4114800"/>
            <a:ext cx="285750" cy="3810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035040" y="1097280"/>
            <a:ext cx="5486400" cy="457200"/>
          </a:xfrm>
          <a:prstGeom prst="roundRect">
            <a:avLst/>
          </a:prstGeom>
          <a:solidFill>
            <a:srgbClr val="0A3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35040" y="10972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8FFBD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35040" y="201168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F0F0F5"/>
                </a:solidFill>
                <a:latin typeface="Microsoft YaHei"/>
              </a:defRPr>
            </a:pPr>
            <a:r>
              <a:t>模块二：大语言模型与AI剧本创作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35040" y="3840480"/>
            <a:ext cx="400051" cy="3810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435090" y="3840480"/>
            <a:ext cx="400050" cy="38100"/>
          </a:xfrm>
          <a:prstGeom prst="rect">
            <a:avLst/>
          </a:prstGeom>
          <a:solidFill>
            <a:srgbClr val="00C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835140" y="3840480"/>
            <a:ext cx="400050" cy="38100"/>
          </a:xfrm>
          <a:prstGeom prst="rect">
            <a:avLst/>
          </a:prstGeom>
          <a:solidFill>
            <a:srgbClr val="00D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235190" y="3840480"/>
            <a:ext cx="400050" cy="38100"/>
          </a:xfrm>
          <a:prstGeom prst="rect">
            <a:avLst/>
          </a:prstGeom>
          <a:solidFill>
            <a:srgbClr val="00D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635240" y="3840480"/>
            <a:ext cx="400050" cy="38100"/>
          </a:xfrm>
          <a:prstGeom prst="rect">
            <a:avLst/>
          </a:prstGeom>
          <a:solidFill>
            <a:srgbClr val="00D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035290" y="3840480"/>
            <a:ext cx="400050" cy="38100"/>
          </a:xfrm>
          <a:prstGeom prst="rect">
            <a:avLst/>
          </a:prstGeom>
          <a:solidFill>
            <a:srgbClr val="00D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435340" y="3840480"/>
            <a:ext cx="400050" cy="38100"/>
          </a:xfrm>
          <a:prstGeom prst="rect">
            <a:avLst/>
          </a:prstGeom>
          <a:solidFill>
            <a:srgbClr val="00E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835390" y="3840480"/>
            <a:ext cx="400050" cy="381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035040" y="420624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8课时 · 掌握5大AI模型的剧本创作能力与完整方法论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035040" y="5303520"/>
            <a:ext cx="5486400" cy="6400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1722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C97B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609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5438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C97B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7325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9154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C97B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1041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2870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C97B"/>
                </a:solidFill>
                <a:latin typeface="Microsoft YaHei"/>
              </a:defRPr>
            </a:pPr>
            <a:r>
              <a:t>全流程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1155680" y="0"/>
            <a:ext cx="1036015" cy="3810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1978640" y="0"/>
            <a:ext cx="38100" cy="73152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1521440" y="274320"/>
            <a:ext cx="137160" cy="137160"/>
          </a:xfrm>
          <a:prstGeom prst="ellipse">
            <a:avLst/>
          </a:prstGeom>
          <a:solidFill>
            <a:srgbClr val="38FFBD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00C97B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00E696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00C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00D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00D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00D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00D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00E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📋  本节内容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38FFBD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31520" y="1397000"/>
            <a:ext cx="274320" cy="274320"/>
          </a:xfrm>
          <a:prstGeom prst="ellipse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4220" y="1397000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文心5.0全面解析</a:t>
            </a:r>
          </a:p>
        </p:txBody>
      </p:sp>
      <p:sp>
        <p:nvSpPr>
          <p:cNvPr id="44" name="Oval 43"/>
          <p:cNvSpPr/>
          <p:nvPr/>
        </p:nvSpPr>
        <p:spPr>
          <a:xfrm>
            <a:off x="731520" y="1963928"/>
            <a:ext cx="274320" cy="274320"/>
          </a:xfrm>
          <a:prstGeom prst="ellipse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4220" y="1963928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728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DeepSeek深度使用</a:t>
            </a:r>
          </a:p>
        </p:txBody>
      </p:sp>
      <p:sp>
        <p:nvSpPr>
          <p:cNvPr id="47" name="Oval 46"/>
          <p:cNvSpPr/>
          <p:nvPr/>
        </p:nvSpPr>
        <p:spPr>
          <a:xfrm>
            <a:off x="731520" y="2530856"/>
            <a:ext cx="274320" cy="274320"/>
          </a:xfrm>
          <a:prstGeom prst="ellipse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44220" y="2530856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7280" y="250545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豆包大模型应用</a:t>
            </a:r>
          </a:p>
        </p:txBody>
      </p:sp>
      <p:sp>
        <p:nvSpPr>
          <p:cNvPr id="50" name="Oval 49"/>
          <p:cNvSpPr/>
          <p:nvPr/>
        </p:nvSpPr>
        <p:spPr>
          <a:xfrm>
            <a:off x="731520" y="3097784"/>
            <a:ext cx="274320" cy="274320"/>
          </a:xfrm>
          <a:prstGeom prst="ellipse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44220" y="3097784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97280" y="3072384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通义千问创意写作</a:t>
            </a:r>
          </a:p>
        </p:txBody>
      </p:sp>
      <p:sp>
        <p:nvSpPr>
          <p:cNvPr id="53" name="Oval 52"/>
          <p:cNvSpPr/>
          <p:nvPr/>
        </p:nvSpPr>
        <p:spPr>
          <a:xfrm>
            <a:off x="6400800" y="1397000"/>
            <a:ext cx="274320" cy="274320"/>
          </a:xfrm>
          <a:prstGeom prst="ellipse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13500" y="1397000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6656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智谱清言角色设定</a:t>
            </a:r>
          </a:p>
        </p:txBody>
      </p:sp>
      <p:sp>
        <p:nvSpPr>
          <p:cNvPr id="56" name="Oval 55"/>
          <p:cNvSpPr/>
          <p:nvPr/>
        </p:nvSpPr>
        <p:spPr>
          <a:xfrm>
            <a:off x="6400800" y="1963928"/>
            <a:ext cx="274320" cy="274320"/>
          </a:xfrm>
          <a:prstGeom prst="ellipse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13500" y="1963928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76656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AI剧本创作方法论</a:t>
            </a:r>
          </a:p>
        </p:txBody>
      </p:sp>
      <p:sp>
        <p:nvSpPr>
          <p:cNvPr id="59" name="Oval 58"/>
          <p:cNvSpPr/>
          <p:nvPr/>
        </p:nvSpPr>
        <p:spPr>
          <a:xfrm>
            <a:off x="6400800" y="2530856"/>
            <a:ext cx="274320" cy="274320"/>
          </a:xfrm>
          <a:prstGeom prst="ellipse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13500" y="2530856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766560" y="250545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AI漫剧剧本特殊要求</a:t>
            </a:r>
          </a:p>
        </p:txBody>
      </p:sp>
      <p:sp>
        <p:nvSpPr>
          <p:cNvPr id="62" name="Oval 61"/>
          <p:cNvSpPr/>
          <p:nvPr/>
        </p:nvSpPr>
        <p:spPr>
          <a:xfrm>
            <a:off x="6400800" y="3097784"/>
            <a:ext cx="274320" cy="274320"/>
          </a:xfrm>
          <a:prstGeom prst="ellipse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13500" y="3097784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766560" y="3072384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实战：12集漫剧完整剧本</a:t>
            </a:r>
          </a:p>
        </p:txBody>
      </p:sp>
      <p:sp>
        <p:nvSpPr>
          <p:cNvPr id="65" name="Rectangle 64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模块02 · 大语言模型与AI剧本创作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00C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00D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00D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00D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00D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00E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00C97B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00E696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00C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00D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00D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00D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00D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00E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文心5.0核心能力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38FFBD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00C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00D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00D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00D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00D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00E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参数规模：2.4万亿（2.4T），上下文窗口128K tokens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00C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00D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00D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00D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00D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00E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核心优势：中文创意写作最强、长文本生成、剧情节奏把控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00C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00D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00D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00D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00D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00E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调用方式：百度智能云千帆平台 / 文心一言 / API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00C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00D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00D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00D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00D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00E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适用场景：剧本整体把控、节奏优化、大纲生成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4663440"/>
            <a:ext cx="6859" cy="36576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8378" y="4663440"/>
            <a:ext cx="6858" cy="365760"/>
          </a:xfrm>
          <a:prstGeom prst="rect">
            <a:avLst/>
          </a:prstGeom>
          <a:solidFill>
            <a:srgbClr val="00C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5236" y="4663440"/>
            <a:ext cx="6858" cy="365760"/>
          </a:xfrm>
          <a:prstGeom prst="rect">
            <a:avLst/>
          </a:prstGeom>
          <a:solidFill>
            <a:srgbClr val="00D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52094" y="4663440"/>
            <a:ext cx="6858" cy="365760"/>
          </a:xfrm>
          <a:prstGeom prst="rect">
            <a:avLst/>
          </a:prstGeom>
          <a:solidFill>
            <a:srgbClr val="00D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8952" y="4663440"/>
            <a:ext cx="6858" cy="365760"/>
          </a:xfrm>
          <a:prstGeom prst="rect">
            <a:avLst/>
          </a:prstGeom>
          <a:solidFill>
            <a:srgbClr val="00D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65810" y="4663440"/>
            <a:ext cx="6858" cy="365760"/>
          </a:xfrm>
          <a:prstGeom prst="rect">
            <a:avLst/>
          </a:prstGeom>
          <a:solidFill>
            <a:srgbClr val="00D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2668" y="4663440"/>
            <a:ext cx="6858" cy="365760"/>
          </a:xfrm>
          <a:prstGeom prst="rect">
            <a:avLst/>
          </a:prstGeom>
          <a:solidFill>
            <a:srgbClr val="00E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79526" y="4663440"/>
            <a:ext cx="6858" cy="36576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2688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进阶技巧：多轮对话迭代法、角色锚定提示词、批量生成法</a:t>
            </a:r>
          </a:p>
        </p:txBody>
      </p:sp>
      <p:sp>
        <p:nvSpPr>
          <p:cNvPr id="86" name="Rectangle 8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模块02 · 大语言模型与AI剧本创作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00C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00D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00D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00D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00D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00E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00C97B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00E696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00C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00D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00D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00D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00D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00E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DeepSeek两大杀手锏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38FFBD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00C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00D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00D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00D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00D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00E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联网搜索：实时抓取网络热点、趋势数据、竞品信息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00C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00D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00D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00D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00D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00E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长文本推理：处理复杂剧情线、多角色关系、伏笔设计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00C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00D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00D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00D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00D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00E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性价比极高：约GPT-4o的1/100价格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00C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00D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00D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00D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00D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00E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思维链引导：用"请逐步思考"引导深度分析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4663440"/>
            <a:ext cx="6859" cy="36576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8378" y="4663440"/>
            <a:ext cx="6858" cy="365760"/>
          </a:xfrm>
          <a:prstGeom prst="rect">
            <a:avLst/>
          </a:prstGeom>
          <a:solidFill>
            <a:srgbClr val="00C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5236" y="4663440"/>
            <a:ext cx="6858" cy="365760"/>
          </a:xfrm>
          <a:prstGeom prst="rect">
            <a:avLst/>
          </a:prstGeom>
          <a:solidFill>
            <a:srgbClr val="00D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52094" y="4663440"/>
            <a:ext cx="6858" cy="365760"/>
          </a:xfrm>
          <a:prstGeom prst="rect">
            <a:avLst/>
          </a:prstGeom>
          <a:solidFill>
            <a:srgbClr val="00D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8952" y="4663440"/>
            <a:ext cx="6858" cy="365760"/>
          </a:xfrm>
          <a:prstGeom prst="rect">
            <a:avLst/>
          </a:prstGeom>
          <a:solidFill>
            <a:srgbClr val="00D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65810" y="4663440"/>
            <a:ext cx="6858" cy="365760"/>
          </a:xfrm>
          <a:prstGeom prst="rect">
            <a:avLst/>
          </a:prstGeom>
          <a:solidFill>
            <a:srgbClr val="00D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2668" y="4663440"/>
            <a:ext cx="6858" cy="365760"/>
          </a:xfrm>
          <a:prstGeom prst="rect">
            <a:avLst/>
          </a:prstGeom>
          <a:solidFill>
            <a:srgbClr val="00E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79526" y="4663440"/>
            <a:ext cx="6858" cy="36576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2688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适用场景：热点题材抓取、复杂剧情设计、竞品分析</a:t>
            </a:r>
          </a:p>
        </p:txBody>
      </p:sp>
      <p:sp>
        <p:nvSpPr>
          <p:cNvPr id="86" name="Rectangle 8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模块02 · 大语言模型与AI剧本创作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00C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00D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00D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00D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00D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00E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00C97B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00E696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00C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00D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00D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00D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00D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00E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🤖 五大AI模型速览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38FFBD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594360" y="1280160"/>
            <a:ext cx="3383280" cy="182880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94360" y="1280160"/>
            <a:ext cx="422911" cy="3810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17270" y="1280160"/>
            <a:ext cx="422910" cy="38100"/>
          </a:xfrm>
          <a:prstGeom prst="rect">
            <a:avLst/>
          </a:prstGeom>
          <a:solidFill>
            <a:srgbClr val="00C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440180" y="1280160"/>
            <a:ext cx="422910" cy="38100"/>
          </a:xfrm>
          <a:prstGeom prst="rect">
            <a:avLst/>
          </a:prstGeom>
          <a:solidFill>
            <a:srgbClr val="00D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863090" y="1280160"/>
            <a:ext cx="422910" cy="38100"/>
          </a:xfrm>
          <a:prstGeom prst="rect">
            <a:avLst/>
          </a:prstGeom>
          <a:solidFill>
            <a:srgbClr val="00D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286000" y="1280160"/>
            <a:ext cx="422910" cy="38100"/>
          </a:xfrm>
          <a:prstGeom prst="rect">
            <a:avLst/>
          </a:prstGeom>
          <a:solidFill>
            <a:srgbClr val="00D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708910" y="1280160"/>
            <a:ext cx="422910" cy="38100"/>
          </a:xfrm>
          <a:prstGeom prst="rect">
            <a:avLst/>
          </a:prstGeom>
          <a:solidFill>
            <a:srgbClr val="00D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131820" y="1280160"/>
            <a:ext cx="422910" cy="38100"/>
          </a:xfrm>
          <a:prstGeom prst="rect">
            <a:avLst/>
          </a:prstGeom>
          <a:solidFill>
            <a:srgbClr val="00E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554730" y="1280160"/>
            <a:ext cx="422910" cy="381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77240" y="14630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00C97B"/>
                </a:solidFill>
                <a:latin typeface="Microsoft YaHei"/>
              </a:defRPr>
            </a:pPr>
            <a:r>
              <a:t>🔵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77240" y="19659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0F0F5"/>
                </a:solidFill>
                <a:latin typeface="Microsoft YaHei"/>
              </a:defRPr>
            </a:pPr>
            <a:r>
              <a:t>文心5.0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7240" y="2377440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E7082"/>
                </a:solidFill>
                <a:latin typeface="Microsoft YaHei"/>
              </a:defRPr>
            </a:pPr>
            <a:r>
              <a:t>2.4T参数 · 中文创意写作最强 · 128K上下文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297680" y="1280160"/>
            <a:ext cx="3383280" cy="182880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297680" y="1280160"/>
            <a:ext cx="422911" cy="3810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720590" y="1280160"/>
            <a:ext cx="422910" cy="38100"/>
          </a:xfrm>
          <a:prstGeom prst="rect">
            <a:avLst/>
          </a:prstGeom>
          <a:solidFill>
            <a:srgbClr val="00C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143500" y="1280160"/>
            <a:ext cx="422910" cy="38100"/>
          </a:xfrm>
          <a:prstGeom prst="rect">
            <a:avLst/>
          </a:prstGeom>
          <a:solidFill>
            <a:srgbClr val="00D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566410" y="1280160"/>
            <a:ext cx="422910" cy="38100"/>
          </a:xfrm>
          <a:prstGeom prst="rect">
            <a:avLst/>
          </a:prstGeom>
          <a:solidFill>
            <a:srgbClr val="00D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989320" y="1280160"/>
            <a:ext cx="422910" cy="38100"/>
          </a:xfrm>
          <a:prstGeom prst="rect">
            <a:avLst/>
          </a:prstGeom>
          <a:solidFill>
            <a:srgbClr val="00D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412230" y="1280160"/>
            <a:ext cx="422910" cy="38100"/>
          </a:xfrm>
          <a:prstGeom prst="rect">
            <a:avLst/>
          </a:prstGeom>
          <a:solidFill>
            <a:srgbClr val="00D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835140" y="1280160"/>
            <a:ext cx="422910" cy="38100"/>
          </a:xfrm>
          <a:prstGeom prst="rect">
            <a:avLst/>
          </a:prstGeom>
          <a:solidFill>
            <a:srgbClr val="00E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258050" y="1280160"/>
            <a:ext cx="422910" cy="381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480560" y="14630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00C97B"/>
                </a:solidFill>
                <a:latin typeface="Microsoft YaHei"/>
              </a:defRPr>
            </a:pPr>
            <a:r>
              <a:t>🟢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480560" y="19659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0F0F5"/>
                </a:solidFill>
                <a:latin typeface="Microsoft YaHei"/>
              </a:defRPr>
            </a:pPr>
            <a:r>
              <a:t>DeepSeek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480560" y="2377440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E7082"/>
                </a:solidFill>
                <a:latin typeface="Microsoft YaHei"/>
              </a:defRPr>
            </a:pPr>
            <a:r>
              <a:t>联网搜索+长文本推理 · 性价比极高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001000" y="1280160"/>
            <a:ext cx="3383280" cy="182880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001000" y="1280160"/>
            <a:ext cx="422911" cy="3810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423910" y="1280160"/>
            <a:ext cx="422910" cy="38100"/>
          </a:xfrm>
          <a:prstGeom prst="rect">
            <a:avLst/>
          </a:prstGeom>
          <a:solidFill>
            <a:srgbClr val="00C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846820" y="1280160"/>
            <a:ext cx="422910" cy="38100"/>
          </a:xfrm>
          <a:prstGeom prst="rect">
            <a:avLst/>
          </a:prstGeom>
          <a:solidFill>
            <a:srgbClr val="00D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9269730" y="1280160"/>
            <a:ext cx="422910" cy="38100"/>
          </a:xfrm>
          <a:prstGeom prst="rect">
            <a:avLst/>
          </a:prstGeom>
          <a:solidFill>
            <a:srgbClr val="00D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692640" y="1280160"/>
            <a:ext cx="422910" cy="38100"/>
          </a:xfrm>
          <a:prstGeom prst="rect">
            <a:avLst/>
          </a:prstGeom>
          <a:solidFill>
            <a:srgbClr val="00D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0115550" y="1280160"/>
            <a:ext cx="422910" cy="38100"/>
          </a:xfrm>
          <a:prstGeom prst="rect">
            <a:avLst/>
          </a:prstGeom>
          <a:solidFill>
            <a:srgbClr val="00D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0538460" y="1280160"/>
            <a:ext cx="422910" cy="38100"/>
          </a:xfrm>
          <a:prstGeom prst="rect">
            <a:avLst/>
          </a:prstGeom>
          <a:solidFill>
            <a:srgbClr val="00E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0961370" y="1280160"/>
            <a:ext cx="422910" cy="381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183880" y="14630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00C97B"/>
                </a:solidFill>
                <a:latin typeface="Microsoft YaHei"/>
              </a:defRPr>
            </a:pPr>
            <a:r>
              <a:t>🟠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183880" y="19659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0F0F5"/>
                </a:solidFill>
                <a:latin typeface="Microsoft YaHei"/>
              </a:defRPr>
            </a:pPr>
            <a:r>
              <a:t>豆包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183880" y="2377440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E7082"/>
                </a:solidFill>
                <a:latin typeface="Microsoft YaHei"/>
              </a:defRPr>
            </a:pPr>
            <a:r>
              <a:t>对话感最自然 · 口语化对白打磨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594360" y="3429000"/>
            <a:ext cx="3383280" cy="182880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594360" y="3429000"/>
            <a:ext cx="422911" cy="3810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1017270" y="3429000"/>
            <a:ext cx="422910" cy="38100"/>
          </a:xfrm>
          <a:prstGeom prst="rect">
            <a:avLst/>
          </a:prstGeom>
          <a:solidFill>
            <a:srgbClr val="00C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440180" y="3429000"/>
            <a:ext cx="422910" cy="38100"/>
          </a:xfrm>
          <a:prstGeom prst="rect">
            <a:avLst/>
          </a:prstGeom>
          <a:solidFill>
            <a:srgbClr val="00D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863090" y="3429000"/>
            <a:ext cx="422910" cy="38100"/>
          </a:xfrm>
          <a:prstGeom prst="rect">
            <a:avLst/>
          </a:prstGeom>
          <a:solidFill>
            <a:srgbClr val="00D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2286000" y="3429000"/>
            <a:ext cx="422910" cy="38100"/>
          </a:xfrm>
          <a:prstGeom prst="rect">
            <a:avLst/>
          </a:prstGeom>
          <a:solidFill>
            <a:srgbClr val="00D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2708910" y="3429000"/>
            <a:ext cx="422910" cy="38100"/>
          </a:xfrm>
          <a:prstGeom prst="rect">
            <a:avLst/>
          </a:prstGeom>
          <a:solidFill>
            <a:srgbClr val="00D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131820" y="3429000"/>
            <a:ext cx="422910" cy="38100"/>
          </a:xfrm>
          <a:prstGeom prst="rect">
            <a:avLst/>
          </a:prstGeom>
          <a:solidFill>
            <a:srgbClr val="00E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554730" y="3429000"/>
            <a:ext cx="422910" cy="381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77240" y="3611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00C97B"/>
                </a:solidFill>
                <a:latin typeface="Microsoft YaHei"/>
              </a:defRPr>
            </a:pPr>
            <a:r>
              <a:t>🔴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77240" y="411480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0F0F5"/>
                </a:solidFill>
                <a:latin typeface="Microsoft YaHei"/>
              </a:defRPr>
            </a:pPr>
            <a:r>
              <a:t>通义千问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77240" y="4526280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E7082"/>
                </a:solidFill>
                <a:latin typeface="Microsoft YaHei"/>
              </a:defRPr>
            </a:pPr>
            <a:r>
              <a:t>逻辑严谨 · 整体审校 · 知识面广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4297680" y="3429000"/>
            <a:ext cx="3383280" cy="182880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4297680" y="3429000"/>
            <a:ext cx="422911" cy="3810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4720590" y="3429000"/>
            <a:ext cx="422910" cy="38100"/>
          </a:xfrm>
          <a:prstGeom prst="rect">
            <a:avLst/>
          </a:prstGeom>
          <a:solidFill>
            <a:srgbClr val="00C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5143500" y="3429000"/>
            <a:ext cx="422910" cy="38100"/>
          </a:xfrm>
          <a:prstGeom prst="rect">
            <a:avLst/>
          </a:prstGeom>
          <a:solidFill>
            <a:srgbClr val="00D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5566410" y="3429000"/>
            <a:ext cx="422910" cy="38100"/>
          </a:xfrm>
          <a:prstGeom prst="rect">
            <a:avLst/>
          </a:prstGeom>
          <a:solidFill>
            <a:srgbClr val="00D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5989320" y="3429000"/>
            <a:ext cx="422910" cy="38100"/>
          </a:xfrm>
          <a:prstGeom prst="rect">
            <a:avLst/>
          </a:prstGeom>
          <a:solidFill>
            <a:srgbClr val="00D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6412230" y="3429000"/>
            <a:ext cx="422910" cy="38100"/>
          </a:xfrm>
          <a:prstGeom prst="rect">
            <a:avLst/>
          </a:prstGeom>
          <a:solidFill>
            <a:srgbClr val="00D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6835140" y="3429000"/>
            <a:ext cx="422910" cy="38100"/>
          </a:xfrm>
          <a:prstGeom prst="rect">
            <a:avLst/>
          </a:prstGeom>
          <a:solidFill>
            <a:srgbClr val="00E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7258050" y="3429000"/>
            <a:ext cx="422910" cy="381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480560" y="3611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00C97B"/>
                </a:solidFill>
                <a:latin typeface="Microsoft YaHei"/>
              </a:defRPr>
            </a:pPr>
            <a:r>
              <a:t>🟣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480560" y="411480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0F0F5"/>
                </a:solidFill>
                <a:latin typeface="Microsoft YaHei"/>
              </a:defRPr>
            </a:pPr>
            <a:r>
              <a:t>智谱清言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480560" y="4526280"/>
            <a:ext cx="3017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E7082"/>
                </a:solidFill>
                <a:latin typeface="Microsoft YaHei"/>
              </a:defRPr>
            </a:pPr>
            <a:r>
              <a:t>角色一致性 · 人格档案 · 深度设定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模块02 · 大语言模型与AI剧本创作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00C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00D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00D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00D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00D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00E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00C97B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00E696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00C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00D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00D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00D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00D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00E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五大AI模型创作分工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38FFBD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57200" y="1371600"/>
            <a:ext cx="5349240" cy="47548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1371600"/>
            <a:ext cx="668656" cy="3810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125855" y="1371600"/>
            <a:ext cx="668655" cy="38100"/>
          </a:xfrm>
          <a:prstGeom prst="rect">
            <a:avLst/>
          </a:prstGeom>
          <a:solidFill>
            <a:srgbClr val="00C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794510" y="1371600"/>
            <a:ext cx="668655" cy="38100"/>
          </a:xfrm>
          <a:prstGeom prst="rect">
            <a:avLst/>
          </a:prstGeom>
          <a:solidFill>
            <a:srgbClr val="00D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463165" y="1371600"/>
            <a:ext cx="668655" cy="38100"/>
          </a:xfrm>
          <a:prstGeom prst="rect">
            <a:avLst/>
          </a:prstGeom>
          <a:solidFill>
            <a:srgbClr val="00D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131820" y="1371600"/>
            <a:ext cx="668655" cy="38100"/>
          </a:xfrm>
          <a:prstGeom prst="rect">
            <a:avLst/>
          </a:prstGeom>
          <a:solidFill>
            <a:srgbClr val="00D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800475" y="1371600"/>
            <a:ext cx="668655" cy="38100"/>
          </a:xfrm>
          <a:prstGeom prst="rect">
            <a:avLst/>
          </a:prstGeom>
          <a:solidFill>
            <a:srgbClr val="00D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469130" y="1371600"/>
            <a:ext cx="668655" cy="38100"/>
          </a:xfrm>
          <a:prstGeom prst="rect">
            <a:avLst/>
          </a:prstGeom>
          <a:solidFill>
            <a:srgbClr val="00E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137785" y="1371600"/>
            <a:ext cx="668655" cy="381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3152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C97B"/>
                </a:solidFill>
                <a:latin typeface="Microsoft YaHei"/>
              </a:defRPr>
            </a:pPr>
            <a:r>
              <a:t>创作环节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31520" y="2103120"/>
            <a:ext cx="205741" cy="2540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37260" y="2103120"/>
            <a:ext cx="205740" cy="25400"/>
          </a:xfrm>
          <a:prstGeom prst="rect">
            <a:avLst/>
          </a:prstGeom>
          <a:solidFill>
            <a:srgbClr val="00C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143000" y="2103120"/>
            <a:ext cx="205740" cy="25400"/>
          </a:xfrm>
          <a:prstGeom prst="rect">
            <a:avLst/>
          </a:prstGeom>
          <a:solidFill>
            <a:srgbClr val="00D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348740" y="2103120"/>
            <a:ext cx="205740" cy="25400"/>
          </a:xfrm>
          <a:prstGeom prst="rect">
            <a:avLst/>
          </a:prstGeom>
          <a:solidFill>
            <a:srgbClr val="00D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554480" y="2103120"/>
            <a:ext cx="205740" cy="25400"/>
          </a:xfrm>
          <a:prstGeom prst="rect">
            <a:avLst/>
          </a:prstGeom>
          <a:solidFill>
            <a:srgbClr val="00D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760220" y="2103120"/>
            <a:ext cx="205740" cy="25400"/>
          </a:xfrm>
          <a:prstGeom prst="rect">
            <a:avLst/>
          </a:prstGeom>
          <a:solidFill>
            <a:srgbClr val="00D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965960" y="2103120"/>
            <a:ext cx="205740" cy="25400"/>
          </a:xfrm>
          <a:prstGeom prst="rect">
            <a:avLst/>
          </a:prstGeom>
          <a:solidFill>
            <a:srgbClr val="00E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171700" y="2103120"/>
            <a:ext cx="205740" cy="254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31520" y="2386584"/>
            <a:ext cx="146304" cy="146304"/>
          </a:xfrm>
          <a:prstGeom prst="ellipse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05840" y="2331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热点分析 → DeepSeek</a:t>
            </a:r>
          </a:p>
        </p:txBody>
      </p:sp>
      <p:sp>
        <p:nvSpPr>
          <p:cNvPr id="61" name="Oval 60"/>
          <p:cNvSpPr/>
          <p:nvPr/>
        </p:nvSpPr>
        <p:spPr>
          <a:xfrm>
            <a:off x="731520" y="2916936"/>
            <a:ext cx="146304" cy="146304"/>
          </a:xfrm>
          <a:prstGeom prst="ellipse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05840" y="286207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世界观构建 → 文心5.0</a:t>
            </a:r>
          </a:p>
        </p:txBody>
      </p:sp>
      <p:sp>
        <p:nvSpPr>
          <p:cNvPr id="63" name="Oval 62"/>
          <p:cNvSpPr/>
          <p:nvPr/>
        </p:nvSpPr>
        <p:spPr>
          <a:xfrm>
            <a:off x="731520" y="3447288"/>
            <a:ext cx="146304" cy="146304"/>
          </a:xfrm>
          <a:prstGeom prst="ellipse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05840" y="3392424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角色设定 → GLM-4</a:t>
            </a:r>
          </a:p>
        </p:txBody>
      </p:sp>
      <p:sp>
        <p:nvSpPr>
          <p:cNvPr id="65" name="Oval 64"/>
          <p:cNvSpPr/>
          <p:nvPr/>
        </p:nvSpPr>
        <p:spPr>
          <a:xfrm>
            <a:off x="731520" y="3977640"/>
            <a:ext cx="146304" cy="146304"/>
          </a:xfrm>
          <a:prstGeom prst="ellipse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05840" y="3922776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剧情架构 → DeepSeek</a:t>
            </a:r>
          </a:p>
        </p:txBody>
      </p:sp>
      <p:sp>
        <p:nvSpPr>
          <p:cNvPr id="67" name="Oval 66"/>
          <p:cNvSpPr/>
          <p:nvPr/>
        </p:nvSpPr>
        <p:spPr>
          <a:xfrm>
            <a:off x="731520" y="4507992"/>
            <a:ext cx="146304" cy="146304"/>
          </a:xfrm>
          <a:prstGeom prst="ellipse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05840" y="445312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剧本初稿 → DeepSeek / 文心5.0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263640" y="1371600"/>
            <a:ext cx="5349240" cy="47548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263640" y="1371600"/>
            <a:ext cx="668656" cy="381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932295" y="1371600"/>
            <a:ext cx="668655" cy="38100"/>
          </a:xfrm>
          <a:prstGeom prst="rect">
            <a:avLst/>
          </a:prstGeom>
          <a:solidFill>
            <a:srgbClr val="07E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600950" y="1371600"/>
            <a:ext cx="668655" cy="38100"/>
          </a:xfrm>
          <a:prstGeom prst="rect">
            <a:avLst/>
          </a:prstGeom>
          <a:solidFill>
            <a:srgbClr val="10ED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8269605" y="1371600"/>
            <a:ext cx="668655" cy="38100"/>
          </a:xfrm>
          <a:prstGeom prst="rect">
            <a:avLst/>
          </a:prstGeom>
          <a:solidFill>
            <a:srgbClr val="18F0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8938260" y="1371600"/>
            <a:ext cx="668655" cy="38100"/>
          </a:xfrm>
          <a:prstGeom prst="rect">
            <a:avLst/>
          </a:prstGeom>
          <a:solidFill>
            <a:srgbClr val="20F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606915" y="1371600"/>
            <a:ext cx="668655" cy="38100"/>
          </a:xfrm>
          <a:prstGeom prst="rect">
            <a:avLst/>
          </a:prstGeom>
          <a:solidFill>
            <a:srgbClr val="28F7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0275570" y="1371600"/>
            <a:ext cx="668655" cy="38100"/>
          </a:xfrm>
          <a:prstGeom prst="rect">
            <a:avLst/>
          </a:prstGeom>
          <a:solidFill>
            <a:srgbClr val="30F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0944225" y="1371600"/>
            <a:ext cx="668655" cy="38100"/>
          </a:xfrm>
          <a:prstGeom prst="rect">
            <a:avLst/>
          </a:prstGeom>
          <a:solidFill>
            <a:srgbClr val="38FF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53796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E696"/>
                </a:solidFill>
                <a:latin typeface="Microsoft YaHei"/>
              </a:defRPr>
            </a:pPr>
            <a:r>
              <a:t>优化环节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537960" y="2103120"/>
            <a:ext cx="205741" cy="254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743700" y="2103120"/>
            <a:ext cx="205740" cy="25400"/>
          </a:xfrm>
          <a:prstGeom prst="rect">
            <a:avLst/>
          </a:prstGeom>
          <a:solidFill>
            <a:srgbClr val="07E9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949440" y="2103120"/>
            <a:ext cx="205740" cy="25400"/>
          </a:xfrm>
          <a:prstGeom prst="rect">
            <a:avLst/>
          </a:prstGeom>
          <a:solidFill>
            <a:srgbClr val="10ED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155180" y="2103120"/>
            <a:ext cx="205740" cy="25400"/>
          </a:xfrm>
          <a:prstGeom prst="rect">
            <a:avLst/>
          </a:prstGeom>
          <a:solidFill>
            <a:srgbClr val="18F0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360920" y="2103120"/>
            <a:ext cx="205740" cy="25400"/>
          </a:xfrm>
          <a:prstGeom prst="rect">
            <a:avLst/>
          </a:prstGeom>
          <a:solidFill>
            <a:srgbClr val="20F4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566660" y="2103120"/>
            <a:ext cx="205740" cy="25400"/>
          </a:xfrm>
          <a:prstGeom prst="rect">
            <a:avLst/>
          </a:prstGeom>
          <a:solidFill>
            <a:srgbClr val="28F7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772400" y="2103120"/>
            <a:ext cx="205740" cy="25400"/>
          </a:xfrm>
          <a:prstGeom prst="rect">
            <a:avLst/>
          </a:prstGeom>
          <a:solidFill>
            <a:srgbClr val="30FB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978140" y="2103120"/>
            <a:ext cx="205740" cy="25400"/>
          </a:xfrm>
          <a:prstGeom prst="rect">
            <a:avLst/>
          </a:prstGeom>
          <a:solidFill>
            <a:srgbClr val="38FF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6537960" y="2386584"/>
            <a:ext cx="146304" cy="146304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812280" y="2331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节奏优化 → 文心5.0</a:t>
            </a:r>
          </a:p>
        </p:txBody>
      </p:sp>
      <p:sp>
        <p:nvSpPr>
          <p:cNvPr id="89" name="Oval 88"/>
          <p:cNvSpPr/>
          <p:nvPr/>
        </p:nvSpPr>
        <p:spPr>
          <a:xfrm>
            <a:off x="6537960" y="2916936"/>
            <a:ext cx="146304" cy="146304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812280" y="286207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对白打磨 → 豆包</a:t>
            </a:r>
          </a:p>
        </p:txBody>
      </p:sp>
      <p:sp>
        <p:nvSpPr>
          <p:cNvPr id="91" name="Oval 90"/>
          <p:cNvSpPr/>
          <p:nvPr/>
        </p:nvSpPr>
        <p:spPr>
          <a:xfrm>
            <a:off x="6537960" y="3447288"/>
            <a:ext cx="146304" cy="146304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812280" y="3392424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整体审校 → 通义千问</a:t>
            </a:r>
          </a:p>
        </p:txBody>
      </p:sp>
      <p:sp>
        <p:nvSpPr>
          <p:cNvPr id="93" name="Oval 92"/>
          <p:cNvSpPr/>
          <p:nvPr/>
        </p:nvSpPr>
        <p:spPr>
          <a:xfrm>
            <a:off x="6537960" y="3977640"/>
            <a:ext cx="146304" cy="146304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812280" y="3922776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角色检查 → GLM-4</a:t>
            </a:r>
          </a:p>
        </p:txBody>
      </p:sp>
      <p:sp>
        <p:nvSpPr>
          <p:cNvPr id="95" name="Oval 94"/>
          <p:cNvSpPr/>
          <p:nvPr/>
        </p:nvSpPr>
        <p:spPr>
          <a:xfrm>
            <a:off x="6537960" y="4507992"/>
            <a:ext cx="146304" cy="146304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812280" y="445312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创意发散 → 通义千问</a:t>
            </a:r>
          </a:p>
        </p:txBody>
      </p:sp>
      <p:sp>
        <p:nvSpPr>
          <p:cNvPr id="97" name="Rectangle 9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模块02 · 大语言模型与AI剧本创作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00C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00D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00D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00D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00D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00E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00C97B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00E696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00C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00D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00D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00D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00D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00E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AI剧本创作方法论全景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38FFBD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00C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00D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00D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00D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00D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00E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Phase 1 热点抓取：联网搜索 → 数据分析 → 趋势研判 → 用户画像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00C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00D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00D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00D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00D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00E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Phase 2 选题决策：竞品分析 → 蓝海判断 → 差异化定位 → 可行性评估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00C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00D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00D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00D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00D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00E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Phase 3 故事构建：世界观设定 → 角色设计 → 剧情架构 → 爽点分布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00C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00D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00D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00D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00D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00E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Phase 4 剧本落地：大纲生成 → 分集细化 → 对白打磨 → 钩子优化</a:t>
            </a:r>
          </a:p>
        </p:txBody>
      </p:sp>
      <p:sp>
        <p:nvSpPr>
          <p:cNvPr id="77" name="Rectangle 7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模块02 · 大语言模型与AI剧本创作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00C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00D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00D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00D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00D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00E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00C97B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00E696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00C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00D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00D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00D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00D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00E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选题决策评分模型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38FFBD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548640" y="1280160"/>
          <a:ext cx="11064240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评估维度</a:t>
                      </a:r>
                    </a:p>
                  </a:txBody>
                  <a:tcPr anchor="ctr">
                    <a:solidFill>
                      <a:srgbClr val="00C97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权重</a:t>
                      </a:r>
                    </a:p>
                  </a:txBody>
                  <a:tcPr anchor="ctr">
                    <a:solidFill>
                      <a:srgbClr val="00C97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评分标准</a:t>
                      </a:r>
                    </a:p>
                  </a:txBody>
                  <a:tcPr anchor="ctr">
                    <a:solidFill>
                      <a:srgbClr val="00C97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市场热度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20%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搜索指数、相关作品播放量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竞争程度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20%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同题材作品数量（越少分越高）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差异化空间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20%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是否有独特切入角度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变现潜力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15%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付费意愿、广告适配度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制作难度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15%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AI工具能否胜任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个人兴趣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10%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能否持续创作不厌倦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</a:tr>
            </a:tbl>
          </a:graphicData>
        </a:graphic>
      </p:graphicFrame>
      <p:sp>
        <p:nvSpPr>
          <p:cNvPr id="42" name="Rectangle 4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模块02 · 大语言模型与AI剧本创作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00C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00D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00D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00D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00D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00E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743200" y="0"/>
            <a:ext cx="6400800" cy="6400800"/>
          </a:xfrm>
          <a:prstGeom prst="ellipse">
            <a:avLst/>
          </a:prstGeom>
          <a:solidFill>
            <a:srgbClr val="00C97B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0" y="2743200"/>
            <a:ext cx="4572000" cy="4572000"/>
          </a:xfrm>
          <a:prstGeom prst="ellipse">
            <a:avLst/>
          </a:prstGeom>
          <a:solidFill>
            <a:srgbClr val="00E696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0" y="1097280"/>
            <a:ext cx="720091" cy="3810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920490" y="1097280"/>
            <a:ext cx="720090" cy="38100"/>
          </a:xfrm>
          <a:prstGeom prst="rect">
            <a:avLst/>
          </a:prstGeom>
          <a:solidFill>
            <a:srgbClr val="00C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640580" y="1097280"/>
            <a:ext cx="720090" cy="38100"/>
          </a:xfrm>
          <a:prstGeom prst="rect">
            <a:avLst/>
          </a:prstGeom>
          <a:solidFill>
            <a:srgbClr val="00D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360670" y="1097280"/>
            <a:ext cx="720090" cy="38100"/>
          </a:xfrm>
          <a:prstGeom prst="rect">
            <a:avLst/>
          </a:prstGeom>
          <a:solidFill>
            <a:srgbClr val="00D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80760" y="1097280"/>
            <a:ext cx="720090" cy="38100"/>
          </a:xfrm>
          <a:prstGeom prst="rect">
            <a:avLst/>
          </a:prstGeom>
          <a:solidFill>
            <a:srgbClr val="00D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00850" y="1097280"/>
            <a:ext cx="720090" cy="38100"/>
          </a:xfrm>
          <a:prstGeom prst="rect">
            <a:avLst/>
          </a:prstGeom>
          <a:solidFill>
            <a:srgbClr val="00D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20940" y="1097280"/>
            <a:ext cx="720090" cy="38100"/>
          </a:xfrm>
          <a:prstGeom prst="rect">
            <a:avLst/>
          </a:prstGeom>
          <a:solidFill>
            <a:srgbClr val="00E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41030" y="1097280"/>
            <a:ext cx="720090" cy="381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16459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0F0F5"/>
                </a:solidFill>
                <a:latin typeface="Microsoft YaHei"/>
              </a:defRPr>
            </a:pPr>
            <a:r>
              <a:t>写给"AI+人"看，而非只写给人看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3931920"/>
            <a:ext cx="262891" cy="2540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92090" y="3931920"/>
            <a:ext cx="262890" cy="25400"/>
          </a:xfrm>
          <a:prstGeom prst="rect">
            <a:avLst/>
          </a:prstGeom>
          <a:solidFill>
            <a:srgbClr val="00C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554980" y="3931920"/>
            <a:ext cx="262890" cy="25400"/>
          </a:xfrm>
          <a:prstGeom prst="rect">
            <a:avLst/>
          </a:prstGeom>
          <a:solidFill>
            <a:srgbClr val="00D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17870" y="3931920"/>
            <a:ext cx="262890" cy="25400"/>
          </a:xfrm>
          <a:prstGeom prst="rect">
            <a:avLst/>
          </a:prstGeom>
          <a:solidFill>
            <a:srgbClr val="00D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80760" y="3931920"/>
            <a:ext cx="262890" cy="25400"/>
          </a:xfrm>
          <a:prstGeom prst="rect">
            <a:avLst/>
          </a:prstGeom>
          <a:solidFill>
            <a:srgbClr val="00D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43650" y="3931920"/>
            <a:ext cx="262890" cy="25400"/>
          </a:xfrm>
          <a:prstGeom prst="rect">
            <a:avLst/>
          </a:prstGeom>
          <a:solidFill>
            <a:srgbClr val="00D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06540" y="3931920"/>
            <a:ext cx="262890" cy="25400"/>
          </a:xfrm>
          <a:prstGeom prst="rect">
            <a:avLst/>
          </a:prstGeom>
          <a:solidFill>
            <a:srgbClr val="00E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69430" y="3931920"/>
            <a:ext cx="262890" cy="254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0" y="4297680"/>
            <a:ext cx="9418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场景描述必须具体到颜色、光线、构图；动作描写要精确到可执行；每个场景附带AI生图提示词；角色外貌描述要保持一致；避免抽象词汇，用具体特征代替。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模块02 · 大语言模型与AI剧本创作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00C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00D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00D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00D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00D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00E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00C97B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00E696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00C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00D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00D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00D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00D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00E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可视化描写三原则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38FFBD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00C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00D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00D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00D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00D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00E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具体化：把"她很美"变成"长发及腰，杏眼樱唇，白色连衣裙"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00C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00D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00D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00D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00D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00E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画面化：用"摄影机视角"写，如"镜头从门口向内推进——"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00C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00D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00D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00D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00D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00E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五感化：调动视觉以外的感官，如"雨点砸在脸上，冰凉刺骨"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00C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00D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00D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00D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00D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00E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镜头标注：每个场景标注【特写/中景/远景/俯拍/过肩】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4663440"/>
            <a:ext cx="6859" cy="36576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8378" y="4663440"/>
            <a:ext cx="6858" cy="365760"/>
          </a:xfrm>
          <a:prstGeom prst="rect">
            <a:avLst/>
          </a:prstGeom>
          <a:solidFill>
            <a:srgbClr val="00C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5236" y="4663440"/>
            <a:ext cx="6858" cy="365760"/>
          </a:xfrm>
          <a:prstGeom prst="rect">
            <a:avLst/>
          </a:prstGeom>
          <a:solidFill>
            <a:srgbClr val="00D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52094" y="4663440"/>
            <a:ext cx="6858" cy="365760"/>
          </a:xfrm>
          <a:prstGeom prst="rect">
            <a:avLst/>
          </a:prstGeom>
          <a:solidFill>
            <a:srgbClr val="00D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8952" y="4663440"/>
            <a:ext cx="6858" cy="365760"/>
          </a:xfrm>
          <a:prstGeom prst="rect">
            <a:avLst/>
          </a:prstGeom>
          <a:solidFill>
            <a:srgbClr val="00D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65810" y="4663440"/>
            <a:ext cx="6858" cy="365760"/>
          </a:xfrm>
          <a:prstGeom prst="rect">
            <a:avLst/>
          </a:prstGeom>
          <a:solidFill>
            <a:srgbClr val="00D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2668" y="4663440"/>
            <a:ext cx="6858" cy="365760"/>
          </a:xfrm>
          <a:prstGeom prst="rect">
            <a:avLst/>
          </a:prstGeom>
          <a:solidFill>
            <a:srgbClr val="00E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79526" y="4663440"/>
            <a:ext cx="6858" cy="36576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2688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AI适配：避免复杂多人同框，每场景最多2-3个角色</a:t>
            </a:r>
          </a:p>
        </p:txBody>
      </p:sp>
      <p:sp>
        <p:nvSpPr>
          <p:cNvPr id="86" name="Rectangle 8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模块02 · 大语言模型与AI剧本创作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9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00C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00D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00D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00D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00D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00E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00C97B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00E696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38FFB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🛠️  本模块实操任务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6EE7B7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31520" y="144475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1520" y="144475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68096" y="144475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04672" y="144475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41248" y="144475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77824" y="144475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14400" y="144475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50976" y="144475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87552" y="144475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8872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645920" y="13716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用DeepSeek联网搜索分析当前抖音漫剧TOP10题材分布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31520" y="222199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31520" y="222199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68096" y="222199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04672" y="222199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41248" y="222199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77824" y="222199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14400" y="222199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50976" y="222199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87552" y="222199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88720" y="21488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645920" y="21488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用文心5.0生成一个12集都市逆袭漫剧的完整大纲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31520" y="299923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31520" y="299923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68096" y="299923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04672" y="299923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41248" y="299923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77824" y="299923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914400" y="299923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50976" y="299923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87552" y="299923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188720" y="2926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645920" y="2926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用GLM-4创建5个核心角色的深度档案与人格卡片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31520" y="377647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31520" y="377647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68096" y="377647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04672" y="377647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41248" y="377647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77824" y="377647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14400" y="377647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950976" y="377647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987552" y="377647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188720" y="3703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645920" y="37033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用豆包对5段对白进行"网感优化"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731520" y="455371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31520" y="455371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68096" y="455371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804672" y="455371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841248" y="455371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877824" y="455371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914400" y="455371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950976" y="455371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987552" y="455371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188720" y="44805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645920" y="448056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用通义千问完成整体审校，输出修改建议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731520" y="533095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731520" y="533095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768096" y="533095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04672" y="533095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41248" y="533095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877824" y="533095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914400" y="533095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950976" y="533095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987552" y="533095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188720" y="52578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645920" y="52578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完成一部12集漫剧的完整剧本（含AI生图提示词）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模块02 · 大语言模型与AI剧本创作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10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00C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00D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00D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00D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00D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00E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743200" y="914400"/>
            <a:ext cx="6400800" cy="6400800"/>
          </a:xfrm>
          <a:prstGeom prst="ellipse">
            <a:avLst/>
          </a:prstGeom>
          <a:solidFill>
            <a:srgbClr val="00C97B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1371600"/>
            <a:ext cx="491491" cy="3810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606290" y="1371600"/>
            <a:ext cx="491490" cy="38100"/>
          </a:xfrm>
          <a:prstGeom prst="rect">
            <a:avLst/>
          </a:prstGeom>
          <a:solidFill>
            <a:srgbClr val="00C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97780" y="1371600"/>
            <a:ext cx="491490" cy="38100"/>
          </a:xfrm>
          <a:prstGeom prst="rect">
            <a:avLst/>
          </a:prstGeom>
          <a:solidFill>
            <a:srgbClr val="00D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589270" y="1371600"/>
            <a:ext cx="491490" cy="38100"/>
          </a:xfrm>
          <a:prstGeom prst="rect">
            <a:avLst/>
          </a:prstGeom>
          <a:solidFill>
            <a:srgbClr val="00D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80760" y="1371600"/>
            <a:ext cx="491490" cy="38100"/>
          </a:xfrm>
          <a:prstGeom prst="rect">
            <a:avLst/>
          </a:prstGeom>
          <a:solidFill>
            <a:srgbClr val="00D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72250" y="1371600"/>
            <a:ext cx="491490" cy="38100"/>
          </a:xfrm>
          <a:prstGeom prst="rect">
            <a:avLst/>
          </a:prstGeom>
          <a:solidFill>
            <a:srgbClr val="00D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063740" y="1371600"/>
            <a:ext cx="491490" cy="38100"/>
          </a:xfrm>
          <a:prstGeom prst="rect">
            <a:avLst/>
          </a:prstGeom>
          <a:solidFill>
            <a:srgbClr val="00E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55230" y="1371600"/>
            <a:ext cx="491490" cy="381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400" b="1">
                <a:solidFill>
                  <a:srgbClr val="00C97B"/>
                </a:solidFill>
                <a:latin typeface="Microsoft YaHei"/>
              </a:defRPr>
            </a:pPr>
            <a: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320040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0F0F5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4023360"/>
            <a:ext cx="262891" cy="25400"/>
          </a:xfrm>
          <a:prstGeom prst="rect">
            <a:avLst/>
          </a:prstGeom>
          <a:solidFill>
            <a:srgbClr val="00C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92090" y="4023360"/>
            <a:ext cx="262890" cy="25400"/>
          </a:xfrm>
          <a:prstGeom prst="rect">
            <a:avLst/>
          </a:prstGeom>
          <a:solidFill>
            <a:srgbClr val="00C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554980" y="4023360"/>
            <a:ext cx="262890" cy="25400"/>
          </a:xfrm>
          <a:prstGeom prst="rect">
            <a:avLst/>
          </a:prstGeom>
          <a:solidFill>
            <a:srgbClr val="00D1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17870" y="4023360"/>
            <a:ext cx="262890" cy="25400"/>
          </a:xfrm>
          <a:prstGeom prst="rect">
            <a:avLst/>
          </a:prstGeom>
          <a:solidFill>
            <a:srgbClr val="00D5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80760" y="4023360"/>
            <a:ext cx="262890" cy="25400"/>
          </a:xfrm>
          <a:prstGeom prst="rect">
            <a:avLst/>
          </a:prstGeom>
          <a:solidFill>
            <a:srgbClr val="00D9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43650" y="4023360"/>
            <a:ext cx="262890" cy="25400"/>
          </a:xfrm>
          <a:prstGeom prst="rect">
            <a:avLst/>
          </a:prstGeom>
          <a:solidFill>
            <a:srgbClr val="00DD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06540" y="4023360"/>
            <a:ext cx="262890" cy="25400"/>
          </a:xfrm>
          <a:prstGeom prst="rect">
            <a:avLst/>
          </a:prstGeom>
          <a:solidFill>
            <a:srgbClr val="00E1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69430" y="4023360"/>
            <a:ext cx="262890" cy="254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0" y="429768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8BAC8"/>
                </a:solidFill>
                <a:latin typeface="Microsoft YaHei"/>
              </a:defRPr>
            </a:pPr>
            <a:r>
              <a:t>下一模块：分镜设计与提示词工程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E7082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  <p:transition spd="med" advClick="1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