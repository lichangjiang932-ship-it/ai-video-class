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315200" y="-1828800"/>
            <a:ext cx="7315200" cy="7315200"/>
          </a:xfrm>
          <a:prstGeom prst="ellipse">
            <a:avLst/>
          </a:prstGeom>
          <a:solidFill>
            <a:srgbClr val="0096FF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743200" y="2743200"/>
            <a:ext cx="5486400" cy="5486400"/>
          </a:xfrm>
          <a:prstGeom prst="ellipse">
            <a:avLst/>
          </a:prstGeom>
          <a:solidFill>
            <a:srgbClr val="38B6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572000" y="4572000"/>
            <a:ext cx="3657600" cy="3657600"/>
          </a:xfrm>
          <a:prstGeom prst="ellipse">
            <a:avLst/>
          </a:prstGeom>
          <a:solidFill>
            <a:srgbClr val="64D2FF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303520" y="0"/>
            <a:ext cx="182880" cy="68580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91440" cy="6858000"/>
          </a:xfrm>
          <a:prstGeom prst="rect">
            <a:avLst/>
          </a:prstGeom>
          <a:solidFill>
            <a:srgbClr val="1C5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572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28016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55448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82880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10312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377440" y="502920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72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58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28016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55448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82880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10312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377440" y="530352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572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058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28016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55448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82880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10312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2377440" y="5577840"/>
            <a:ext cx="38100" cy="38100"/>
          </a:xfrm>
          <a:prstGeom prst="ellipse">
            <a:avLst/>
          </a:prstGeom>
          <a:solidFill>
            <a:srgbClr val="F0F0F5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" y="73152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FFFFFF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657600"/>
            <a:ext cx="1828800" cy="329184"/>
          </a:xfrm>
          <a:prstGeom prst="roundRect">
            <a:avLst/>
          </a:prstGeom>
          <a:solidFill>
            <a:srgbClr val="0A0A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365760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4D2FF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114800"/>
            <a:ext cx="285751" cy="38100"/>
          </a:xfrm>
          <a:prstGeom prst="rect">
            <a:avLst/>
          </a:prstGeom>
          <a:solidFill>
            <a:srgbClr val="64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2950" y="4114800"/>
            <a:ext cx="285750" cy="38100"/>
          </a:xfrm>
          <a:prstGeom prst="rect">
            <a:avLst/>
          </a:prstGeom>
          <a:solidFill>
            <a:srgbClr val="55C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28700" y="4114800"/>
            <a:ext cx="285750" cy="38100"/>
          </a:xfrm>
          <a:prstGeom prst="rect">
            <a:avLst/>
          </a:prstGeom>
          <a:solidFill>
            <a:srgbClr val="47C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314450" y="4114800"/>
            <a:ext cx="285750" cy="38100"/>
          </a:xfrm>
          <a:prstGeom prst="rect">
            <a:avLst/>
          </a:prstGeom>
          <a:solidFill>
            <a:srgbClr val="39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600200" y="4114800"/>
            <a:ext cx="285750" cy="38100"/>
          </a:xfrm>
          <a:prstGeom prst="rect">
            <a:avLst/>
          </a:prstGeom>
          <a:solidFill>
            <a:srgbClr val="2AA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885950" y="4114800"/>
            <a:ext cx="285750" cy="38100"/>
          </a:xfrm>
          <a:prstGeom prst="rect">
            <a:avLst/>
          </a:prstGeom>
          <a:solidFill>
            <a:srgbClr val="1CA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171700" y="4114800"/>
            <a:ext cx="285750" cy="38100"/>
          </a:xfrm>
          <a:prstGeom prst="rect">
            <a:avLst/>
          </a:prstGeom>
          <a:solidFill>
            <a:srgbClr val="0E9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457450" y="4114800"/>
            <a:ext cx="285750" cy="381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035040" y="1097280"/>
            <a:ext cx="5486400" cy="457200"/>
          </a:xfrm>
          <a:prstGeom prst="roundRect">
            <a:avLst/>
          </a:prstGeom>
          <a:solidFill>
            <a:srgbClr val="0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35040" y="109728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D2FF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35040" y="20116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>
                <a:solidFill>
                  <a:srgbClr val="F0F0F5"/>
                </a:solidFill>
                <a:latin typeface="Microsoft YaHei"/>
              </a:defRPr>
            </a:pPr>
            <a:r>
              <a:t>模块六：可灵AI深度精通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0" y="3840480"/>
            <a:ext cx="400051" cy="381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35090" y="3840480"/>
            <a:ext cx="400050" cy="381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835140" y="3840480"/>
            <a:ext cx="400050" cy="381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235190" y="3840480"/>
            <a:ext cx="400050" cy="381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635240" y="3840480"/>
            <a:ext cx="400050" cy="381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035290" y="3840480"/>
            <a:ext cx="400050" cy="381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435340" y="3840480"/>
            <a:ext cx="400050" cy="381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835390" y="3840480"/>
            <a:ext cx="400050" cy="381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035040" y="42062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8课时 · 从平台认知到动作类漫剧实战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035040" y="5303520"/>
            <a:ext cx="5486400" cy="6400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722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96FF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609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5438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96FF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7325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154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96FF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104120" y="5486400"/>
            <a:ext cx="12700" cy="27432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287000" y="530352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0096FF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1155680" y="0"/>
            <a:ext cx="1036015" cy="381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1978640" y="0"/>
            <a:ext cx="38100" cy="73152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1521440" y="274320"/>
            <a:ext cx="137160" cy="137160"/>
          </a:xfrm>
          <a:prstGeom prst="ellipse">
            <a:avLst/>
          </a:prstGeom>
          <a:solidFill>
            <a:srgbClr val="64D2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0096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38B6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📋  本节内容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4D2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1520" y="1397000"/>
            <a:ext cx="274320" cy="274320"/>
          </a:xfrm>
          <a:prstGeom prst="ellipse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422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可灵AI 3.0全面解析</a:t>
            </a:r>
          </a:p>
        </p:txBody>
      </p:sp>
      <p:sp>
        <p:nvSpPr>
          <p:cNvPr id="44" name="Oval 43"/>
          <p:cNvSpPr/>
          <p:nvPr/>
        </p:nvSpPr>
        <p:spPr>
          <a:xfrm>
            <a:off x="731520" y="1963928"/>
            <a:ext cx="274320" cy="274320"/>
          </a:xfrm>
          <a:prstGeom prst="ellipse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422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图生视频核心操作</a:t>
            </a:r>
          </a:p>
        </p:txBody>
      </p:sp>
      <p:sp>
        <p:nvSpPr>
          <p:cNvPr id="47" name="Oval 46"/>
          <p:cNvSpPr/>
          <p:nvPr/>
        </p:nvSpPr>
        <p:spPr>
          <a:xfrm>
            <a:off x="731520" y="2530856"/>
            <a:ext cx="274320" cy="274320"/>
          </a:xfrm>
          <a:prstGeom prst="ellipse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422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文生视频提示词公式</a:t>
            </a:r>
          </a:p>
        </p:txBody>
      </p:sp>
      <p:sp>
        <p:nvSpPr>
          <p:cNvPr id="50" name="Oval 49"/>
          <p:cNvSpPr/>
          <p:nvPr/>
        </p:nvSpPr>
        <p:spPr>
          <a:xfrm>
            <a:off x="731520" y="3097784"/>
            <a:ext cx="274320" cy="274320"/>
          </a:xfrm>
          <a:prstGeom prst="ellipse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4220" y="3097784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728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高级运动控制（运动笔刷·动作大师）</a:t>
            </a:r>
          </a:p>
        </p:txBody>
      </p:sp>
      <p:sp>
        <p:nvSpPr>
          <p:cNvPr id="53" name="Oval 52"/>
          <p:cNvSpPr/>
          <p:nvPr/>
        </p:nvSpPr>
        <p:spPr>
          <a:xfrm>
            <a:off x="6400800" y="1397000"/>
            <a:ext cx="274320" cy="274320"/>
          </a:xfrm>
          <a:prstGeom prst="ellipse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13500" y="1397000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6656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1080p高清输出与画质优化</a:t>
            </a:r>
          </a:p>
        </p:txBody>
      </p:sp>
      <p:sp>
        <p:nvSpPr>
          <p:cNvPr id="56" name="Oval 55"/>
          <p:cNvSpPr/>
          <p:nvPr/>
        </p:nvSpPr>
        <p:spPr>
          <a:xfrm>
            <a:off x="6400800" y="1963928"/>
            <a:ext cx="274320" cy="274320"/>
          </a:xfrm>
          <a:prstGeom prst="ellipse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13500" y="1963928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1938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首尾帧精准控制</a:t>
            </a:r>
          </a:p>
        </p:txBody>
      </p:sp>
      <p:sp>
        <p:nvSpPr>
          <p:cNvPr id="59" name="Oval 58"/>
          <p:cNvSpPr/>
          <p:nvPr/>
        </p:nvSpPr>
        <p:spPr>
          <a:xfrm>
            <a:off x="6400800" y="2530856"/>
            <a:ext cx="274320" cy="274320"/>
          </a:xfrm>
          <a:prstGeom prst="ellipse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13500" y="2530856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66560" y="250545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打斗场景实战</a:t>
            </a:r>
          </a:p>
        </p:txBody>
      </p:sp>
      <p:sp>
        <p:nvSpPr>
          <p:cNvPr id="62" name="Oval 61"/>
          <p:cNvSpPr/>
          <p:nvPr/>
        </p:nvSpPr>
        <p:spPr>
          <a:xfrm>
            <a:off x="6400800" y="3097784"/>
            <a:ext cx="274320" cy="274320"/>
          </a:xfrm>
          <a:prstGeom prst="ellipse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13500" y="3097784"/>
            <a:ext cx="2560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0F0F5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66560" y="307238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实战项目：一集动作类漫剧全流程</a:t>
            </a:r>
          </a:p>
        </p:txBody>
      </p:sp>
      <p:sp>
        <p:nvSpPr>
          <p:cNvPr id="65" name="Rectangle 64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📊  🚀 可灵AI 3.0 核心参数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4D2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1371600"/>
            <a:ext cx="262890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1371600"/>
            <a:ext cx="328613" cy="381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5812" y="1371600"/>
            <a:ext cx="328612" cy="381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14424" y="1371600"/>
            <a:ext cx="328612" cy="381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43036" y="1371600"/>
            <a:ext cx="328612" cy="381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71648" y="1371600"/>
            <a:ext cx="328612" cy="381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00260" y="1371600"/>
            <a:ext cx="328612" cy="381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428872" y="1371600"/>
            <a:ext cx="328612" cy="381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57484" y="1371600"/>
            <a:ext cx="328612" cy="381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57250" y="914400"/>
            <a:ext cx="1828800" cy="1828800"/>
          </a:xfrm>
          <a:prstGeom prst="ellipse">
            <a:avLst/>
          </a:prstGeom>
          <a:solidFill>
            <a:srgbClr val="0096FF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1371600"/>
            <a:ext cx="328613" cy="508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85812" y="1371600"/>
            <a:ext cx="328612" cy="508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14424" y="1371600"/>
            <a:ext cx="328612" cy="508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43036" y="1371600"/>
            <a:ext cx="328612" cy="508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771648" y="1371600"/>
            <a:ext cx="328612" cy="508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100260" y="1371600"/>
            <a:ext cx="328612" cy="508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428872" y="1371600"/>
            <a:ext cx="328612" cy="508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757484" y="1371600"/>
            <a:ext cx="328612" cy="508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173736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0096FF"/>
                </a:solidFill>
                <a:latin typeface="Microsoft YaHei"/>
              </a:defRPr>
            </a:pPr>
            <a:r>
              <a:t>1080p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292608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E7082"/>
                </a:solidFill>
                <a:latin typeface="Microsoft YaHei"/>
              </a:defRPr>
            </a:pPr>
            <a:r>
              <a:t>30fps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" y="3337560"/>
            <a:ext cx="2080260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352044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0F0F5"/>
                </a:solidFill>
                <a:latin typeface="Microsoft YaHei"/>
              </a:defRPr>
            </a:pPr>
            <a:r>
              <a:t>输出分辨率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5029200"/>
            <a:ext cx="2263140" cy="320040"/>
          </a:xfrm>
          <a:prstGeom prst="roundRect">
            <a:avLst/>
          </a:prstGeom>
          <a:solidFill>
            <a:srgbClr val="1A1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5029200"/>
            <a:ext cx="22631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CE7E"/>
                </a:solidFill>
                <a:latin typeface="Microsoft YaHei"/>
              </a:defRPr>
            </a:pPr>
            <a:r>
              <a:t>↑ 影像级画质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314700" y="1371600"/>
            <a:ext cx="262890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14700" y="1371600"/>
            <a:ext cx="328613" cy="381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43312" y="1371600"/>
            <a:ext cx="328612" cy="381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971924" y="1371600"/>
            <a:ext cx="328612" cy="381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300536" y="1371600"/>
            <a:ext cx="328612" cy="381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629148" y="1371600"/>
            <a:ext cx="328612" cy="381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957760" y="1371600"/>
            <a:ext cx="328612" cy="381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286372" y="1371600"/>
            <a:ext cx="328612" cy="381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614984" y="1371600"/>
            <a:ext cx="328612" cy="381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714750" y="914400"/>
            <a:ext cx="1828800" cy="1828800"/>
          </a:xfrm>
          <a:prstGeom prst="ellipse">
            <a:avLst/>
          </a:prstGeom>
          <a:solidFill>
            <a:srgbClr val="0096FF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314700" y="1371600"/>
            <a:ext cx="328613" cy="508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643312" y="1371600"/>
            <a:ext cx="328612" cy="508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971924" y="1371600"/>
            <a:ext cx="328612" cy="508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300536" y="1371600"/>
            <a:ext cx="328612" cy="508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629148" y="1371600"/>
            <a:ext cx="328612" cy="508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957760" y="1371600"/>
            <a:ext cx="328612" cy="508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286372" y="1371600"/>
            <a:ext cx="328612" cy="508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614984" y="1371600"/>
            <a:ext cx="328612" cy="508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406140" y="173736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0096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06140" y="292608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E7082"/>
                </a:solidFill>
                <a:latin typeface="Microsoft YaHei"/>
              </a:defRPr>
            </a:pPr>
            <a:r>
              <a:t>分钟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589020" y="3337560"/>
            <a:ext cx="2080260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406140" y="352044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0F0F5"/>
                </a:solidFill>
                <a:latin typeface="Microsoft YaHei"/>
              </a:defRPr>
            </a:pPr>
            <a:r>
              <a:t>最大时长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497580" y="5029200"/>
            <a:ext cx="2263140" cy="320040"/>
          </a:xfrm>
          <a:prstGeom prst="roundRect">
            <a:avLst/>
          </a:prstGeom>
          <a:solidFill>
            <a:srgbClr val="1A1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497580" y="5029200"/>
            <a:ext cx="22631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CE7E"/>
                </a:solidFill>
                <a:latin typeface="Microsoft YaHei"/>
              </a:defRPr>
            </a:pPr>
            <a:r>
              <a:t>↑ 较上代x4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172200" y="1371600"/>
            <a:ext cx="262890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172200" y="1371600"/>
            <a:ext cx="328613" cy="381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500812" y="1371600"/>
            <a:ext cx="328612" cy="381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829424" y="1371600"/>
            <a:ext cx="328612" cy="381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58036" y="1371600"/>
            <a:ext cx="328612" cy="381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486648" y="1371600"/>
            <a:ext cx="328612" cy="381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815260" y="1371600"/>
            <a:ext cx="328612" cy="381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143872" y="1371600"/>
            <a:ext cx="328612" cy="381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472484" y="1371600"/>
            <a:ext cx="328612" cy="381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572250" y="914400"/>
            <a:ext cx="1828800" cy="1828800"/>
          </a:xfrm>
          <a:prstGeom prst="ellipse">
            <a:avLst/>
          </a:prstGeom>
          <a:solidFill>
            <a:srgbClr val="0096FF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1371600"/>
            <a:ext cx="328613" cy="508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500812" y="1371600"/>
            <a:ext cx="328612" cy="508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829424" y="1371600"/>
            <a:ext cx="328612" cy="508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158036" y="1371600"/>
            <a:ext cx="328612" cy="508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486648" y="1371600"/>
            <a:ext cx="328612" cy="508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815260" y="1371600"/>
            <a:ext cx="328612" cy="508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143872" y="1371600"/>
            <a:ext cx="328612" cy="508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472484" y="1371600"/>
            <a:ext cx="328612" cy="508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63640" y="173736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0096FF"/>
                </a:solidFill>
                <a:latin typeface="Microsoft YaHei"/>
              </a:defRPr>
            </a:pPr>
            <a:r>
              <a:t>3.0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263640" y="292608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E7082"/>
                </a:solidFill>
                <a:latin typeface="Microsoft YaHei"/>
              </a:defRPr>
            </a:pPr>
            <a:r>
              <a:t>版本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446520" y="3337560"/>
            <a:ext cx="2080260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263640" y="352044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0F0F5"/>
                </a:solidFill>
                <a:latin typeface="Microsoft YaHei"/>
              </a:defRPr>
            </a:pPr>
            <a:r>
              <a:t>物理仿真引擎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309360" y="4023360"/>
            <a:ext cx="23545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6E7082"/>
                </a:solidFill>
                <a:latin typeface="Microsoft YaHei"/>
              </a:defRPr>
            </a:pPr>
            <a:r>
              <a:t>人体动力学+环境交互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9029700" y="1371600"/>
            <a:ext cx="262890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9029700" y="1371600"/>
            <a:ext cx="328613" cy="381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9358312" y="1371600"/>
            <a:ext cx="328612" cy="381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9686924" y="1371600"/>
            <a:ext cx="328612" cy="381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015536" y="1371600"/>
            <a:ext cx="328612" cy="381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344148" y="1371600"/>
            <a:ext cx="328612" cy="381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672760" y="1371600"/>
            <a:ext cx="328612" cy="381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1001372" y="1371600"/>
            <a:ext cx="328612" cy="381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1329984" y="1371600"/>
            <a:ext cx="328612" cy="381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9429750" y="914400"/>
            <a:ext cx="1828800" cy="1828800"/>
          </a:xfrm>
          <a:prstGeom prst="ellipse">
            <a:avLst/>
          </a:prstGeom>
          <a:solidFill>
            <a:srgbClr val="0096FF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9029700" y="1371600"/>
            <a:ext cx="328613" cy="508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9358312" y="1371600"/>
            <a:ext cx="328612" cy="508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9686924" y="1371600"/>
            <a:ext cx="328612" cy="508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015536" y="1371600"/>
            <a:ext cx="328612" cy="508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344148" y="1371600"/>
            <a:ext cx="328612" cy="508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672760" y="1371600"/>
            <a:ext cx="328612" cy="508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1001372" y="1371600"/>
            <a:ext cx="328612" cy="508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1329984" y="1371600"/>
            <a:ext cx="328612" cy="508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121140" y="1737360"/>
            <a:ext cx="24460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0096FF"/>
                </a:solidFill>
                <a:latin typeface="Microsoft YaHei"/>
              </a:defRPr>
            </a:pPr>
            <a:r>
              <a:t>95%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121140" y="2926080"/>
            <a:ext cx="24460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E7082"/>
                </a:solidFill>
                <a:latin typeface="Microsoft YaHei"/>
              </a:defRPr>
            </a:pPr>
            <a:r>
              <a:t>+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9304020" y="3337560"/>
            <a:ext cx="2080260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9121140" y="3520440"/>
            <a:ext cx="24460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0F0F5"/>
                </a:solidFill>
                <a:latin typeface="Microsoft YaHei"/>
              </a:defRPr>
            </a:pPr>
            <a:r>
              <a:t>动作准确率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9212580" y="5029200"/>
            <a:ext cx="2263140" cy="320040"/>
          </a:xfrm>
          <a:prstGeom prst="roundRect">
            <a:avLst/>
          </a:prstGeom>
          <a:solidFill>
            <a:srgbClr val="1A1D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212580" y="5029200"/>
            <a:ext cx="22631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CE7E"/>
                </a:solidFill>
                <a:latin typeface="Microsoft YaHei"/>
              </a:defRPr>
            </a:pPr>
            <a:r>
              <a:t>↑ 多物体协同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0096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38B6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可灵AI 3.0 技术突破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4D2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基于 All-in-one 多模态输入输出一体化理念，2026年1月全球上线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三大模型：视频3.0 / 视频3.0 Omni / 图片3.0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物理仿真深度升级：人体动力学、环境交互、多物体协同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影像级输出：1080p / 30fps / 最长2分钟 / 多宽高比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覆盖影视制作全流程：图片生成 → 视频生成 → 视频编辑 → 后期处理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0096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38B6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图生视频 vs 文生视频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4D2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1371600"/>
            <a:ext cx="668656" cy="381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125855" y="1371600"/>
            <a:ext cx="668655" cy="381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794510" y="1371600"/>
            <a:ext cx="668655" cy="381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463165" y="1371600"/>
            <a:ext cx="668655" cy="381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131820" y="1371600"/>
            <a:ext cx="668655" cy="381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800475" y="1371600"/>
            <a:ext cx="668655" cy="381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469130" y="1371600"/>
            <a:ext cx="668655" cy="381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137785" y="1371600"/>
            <a:ext cx="668655" cy="381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3152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96FF"/>
                </a:solidFill>
                <a:latin typeface="Microsoft YaHei"/>
              </a:defRPr>
            </a:pPr>
            <a:r>
              <a:t>图生视频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103120"/>
            <a:ext cx="205741" cy="254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937260" y="2103120"/>
            <a:ext cx="205740" cy="254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143000" y="2103120"/>
            <a:ext cx="205740" cy="254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348740" y="2103120"/>
            <a:ext cx="205740" cy="254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554480" y="2103120"/>
            <a:ext cx="205740" cy="254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60220" y="2103120"/>
            <a:ext cx="205740" cy="254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965960" y="2103120"/>
            <a:ext cx="205740" cy="254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171700" y="2103120"/>
            <a:ext cx="205740" cy="254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31520" y="2386584"/>
            <a:ext cx="146304" cy="146304"/>
          </a:xfrm>
          <a:prstGeom prst="ellipse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0584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输入：静态图片 + 文本描述（可选）</a:t>
            </a:r>
          </a:p>
        </p:txBody>
      </p:sp>
      <p:sp>
        <p:nvSpPr>
          <p:cNvPr id="61" name="Oval 60"/>
          <p:cNvSpPr/>
          <p:nvPr/>
        </p:nvSpPr>
        <p:spPr>
          <a:xfrm>
            <a:off x="731520" y="2916936"/>
            <a:ext cx="146304" cy="146304"/>
          </a:xfrm>
          <a:prstGeom prst="ellipse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0584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画面受原图约束，一致性更好</a:t>
            </a:r>
          </a:p>
        </p:txBody>
      </p:sp>
      <p:sp>
        <p:nvSpPr>
          <p:cNvPr id="63" name="Oval 62"/>
          <p:cNvSpPr/>
          <p:nvPr/>
        </p:nvSpPr>
        <p:spPr>
          <a:xfrm>
            <a:off x="731520" y="3447288"/>
            <a:ext cx="146304" cy="146304"/>
          </a:xfrm>
          <a:prstGeom prst="ellipse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0584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适合已有角色设定图的动态化</a:t>
            </a:r>
          </a:p>
        </p:txBody>
      </p:sp>
      <p:sp>
        <p:nvSpPr>
          <p:cNvPr id="65" name="Oval 64"/>
          <p:cNvSpPr/>
          <p:nvPr/>
        </p:nvSpPr>
        <p:spPr>
          <a:xfrm>
            <a:off x="731520" y="3977640"/>
            <a:ext cx="146304" cy="146304"/>
          </a:xfrm>
          <a:prstGeom prst="ellipse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0584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推荐分辨率：≥1024×1024</a:t>
            </a:r>
          </a:p>
        </p:txBody>
      </p:sp>
      <p:sp>
        <p:nvSpPr>
          <p:cNvPr id="67" name="Oval 66"/>
          <p:cNvSpPr/>
          <p:nvPr/>
        </p:nvSpPr>
        <p:spPr>
          <a:xfrm>
            <a:off x="731520" y="4507992"/>
            <a:ext cx="146304" cy="146304"/>
          </a:xfrm>
          <a:prstGeom prst="ellipse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05840" y="44531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运动幅度：低/中/高可调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2A2D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263640" y="1371600"/>
            <a:ext cx="668656" cy="381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932295" y="1371600"/>
            <a:ext cx="668655" cy="38100"/>
          </a:xfrm>
          <a:prstGeom prst="rect">
            <a:avLst/>
          </a:prstGeom>
          <a:solidFill>
            <a:srgbClr val="3EB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600950" y="1371600"/>
            <a:ext cx="668655" cy="38100"/>
          </a:xfrm>
          <a:prstGeom prst="rect">
            <a:avLst/>
          </a:prstGeom>
          <a:solidFill>
            <a:srgbClr val="44B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8269605" y="1371600"/>
            <a:ext cx="668655" cy="38100"/>
          </a:xfrm>
          <a:prstGeom prst="rect">
            <a:avLst/>
          </a:prstGeom>
          <a:solidFill>
            <a:srgbClr val="4A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938260" y="1371600"/>
            <a:ext cx="668655" cy="38100"/>
          </a:xfrm>
          <a:prstGeom prst="rect">
            <a:avLst/>
          </a:prstGeom>
          <a:solidFill>
            <a:srgbClr val="51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606915" y="1371600"/>
            <a:ext cx="668655" cy="38100"/>
          </a:xfrm>
          <a:prstGeom prst="rect">
            <a:avLst/>
          </a:prstGeom>
          <a:solidFill>
            <a:srgbClr val="57C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0275570" y="1371600"/>
            <a:ext cx="668655" cy="38100"/>
          </a:xfrm>
          <a:prstGeom prst="rect">
            <a:avLst/>
          </a:prstGeom>
          <a:solidFill>
            <a:srgbClr val="5DC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944225" y="1371600"/>
            <a:ext cx="668655" cy="38100"/>
          </a:xfrm>
          <a:prstGeom prst="rect">
            <a:avLst/>
          </a:prstGeom>
          <a:solidFill>
            <a:srgbClr val="64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537960" y="160020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8B6FF"/>
                </a:solidFill>
                <a:latin typeface="Microsoft YaHei"/>
              </a:defRPr>
            </a:pPr>
            <a:r>
              <a:t>文生视频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537960" y="2103120"/>
            <a:ext cx="205741" cy="254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743700" y="2103120"/>
            <a:ext cx="205740" cy="25400"/>
          </a:xfrm>
          <a:prstGeom prst="rect">
            <a:avLst/>
          </a:prstGeom>
          <a:solidFill>
            <a:srgbClr val="3EB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949440" y="2103120"/>
            <a:ext cx="205740" cy="25400"/>
          </a:xfrm>
          <a:prstGeom prst="rect">
            <a:avLst/>
          </a:prstGeom>
          <a:solidFill>
            <a:srgbClr val="44B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155180" y="2103120"/>
            <a:ext cx="205740" cy="25400"/>
          </a:xfrm>
          <a:prstGeom prst="rect">
            <a:avLst/>
          </a:prstGeom>
          <a:solidFill>
            <a:srgbClr val="4AC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360920" y="2103120"/>
            <a:ext cx="205740" cy="25400"/>
          </a:xfrm>
          <a:prstGeom prst="rect">
            <a:avLst/>
          </a:prstGeom>
          <a:solidFill>
            <a:srgbClr val="51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566660" y="2103120"/>
            <a:ext cx="205740" cy="25400"/>
          </a:xfrm>
          <a:prstGeom prst="rect">
            <a:avLst/>
          </a:prstGeom>
          <a:solidFill>
            <a:srgbClr val="57C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772400" y="2103120"/>
            <a:ext cx="205740" cy="25400"/>
          </a:xfrm>
          <a:prstGeom prst="rect">
            <a:avLst/>
          </a:prstGeom>
          <a:solidFill>
            <a:srgbClr val="5DC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978140" y="2103120"/>
            <a:ext cx="205740" cy="25400"/>
          </a:xfrm>
          <a:prstGeom prst="rect">
            <a:avLst/>
          </a:prstGeom>
          <a:solidFill>
            <a:srgbClr val="64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537960" y="2386584"/>
            <a:ext cx="146304" cy="146304"/>
          </a:xfrm>
          <a:prstGeom prst="ellipse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812280" y="2331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输入：纯文本提示词</a:t>
            </a:r>
          </a:p>
        </p:txBody>
      </p:sp>
      <p:sp>
        <p:nvSpPr>
          <p:cNvPr id="89" name="Oval 88"/>
          <p:cNvSpPr/>
          <p:nvPr/>
        </p:nvSpPr>
        <p:spPr>
          <a:xfrm>
            <a:off x="6537960" y="2916936"/>
            <a:ext cx="146304" cy="146304"/>
          </a:xfrm>
          <a:prstGeom prst="ellipse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812280" y="286207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创意自由度高，完全由提示词决定</a:t>
            </a:r>
          </a:p>
        </p:txBody>
      </p:sp>
      <p:sp>
        <p:nvSpPr>
          <p:cNvPr id="91" name="Oval 90"/>
          <p:cNvSpPr/>
          <p:nvPr/>
        </p:nvSpPr>
        <p:spPr>
          <a:xfrm>
            <a:off x="6537960" y="3447288"/>
            <a:ext cx="146304" cy="146304"/>
          </a:xfrm>
          <a:prstGeom prst="ellipse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812280" y="3392424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适合全新概念探索与灵感激发</a:t>
            </a:r>
          </a:p>
        </p:txBody>
      </p:sp>
      <p:sp>
        <p:nvSpPr>
          <p:cNvPr id="93" name="Oval 92"/>
          <p:cNvSpPr/>
          <p:nvPr/>
        </p:nvSpPr>
        <p:spPr>
          <a:xfrm>
            <a:off x="6537960" y="3977640"/>
            <a:ext cx="146304" cy="146304"/>
          </a:xfrm>
          <a:prstGeom prst="ellipse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812280" y="3922776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核心公式：主体+运动+场景+镜头+光影+氛围</a:t>
            </a:r>
          </a:p>
        </p:txBody>
      </p:sp>
      <p:sp>
        <p:nvSpPr>
          <p:cNvPr id="95" name="Oval 94"/>
          <p:cNvSpPr/>
          <p:nvPr/>
        </p:nvSpPr>
        <p:spPr>
          <a:xfrm>
            <a:off x="6537960" y="4507992"/>
            <a:ext cx="146304" cy="146304"/>
          </a:xfrm>
          <a:prstGeom prst="ellipse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812280" y="4453128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8BAC8"/>
                </a:solidFill>
                <a:latin typeface="Microsoft YaHei"/>
              </a:defRPr>
            </a:pPr>
            <a:r>
              <a:t>细粒度提示词（100-200字）效果最佳</a:t>
            </a:r>
          </a:p>
        </p:txBody>
      </p:sp>
      <p:sp>
        <p:nvSpPr>
          <p:cNvPr id="97" name="Rectangle 9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0"/>
            <a:ext cx="6400800" cy="6400800"/>
          </a:xfrm>
          <a:prstGeom prst="ellipse">
            <a:avLst/>
          </a:prstGeom>
          <a:solidFill>
            <a:srgbClr val="0096FF">
              <a:alpha val="7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0" y="2743200"/>
            <a:ext cx="4572000" cy="4572000"/>
          </a:xfrm>
          <a:prstGeom prst="ellipse">
            <a:avLst/>
          </a:prstGeom>
          <a:solidFill>
            <a:srgbClr val="38B6FF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0" y="1097280"/>
            <a:ext cx="720091" cy="381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920490" y="1097280"/>
            <a:ext cx="720090" cy="381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40580" y="1097280"/>
            <a:ext cx="720090" cy="381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60670" y="1097280"/>
            <a:ext cx="720090" cy="381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80760" y="1097280"/>
            <a:ext cx="720090" cy="381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00850" y="1097280"/>
            <a:ext cx="720090" cy="381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20940" y="1097280"/>
            <a:ext cx="720090" cy="381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41030" y="1097280"/>
            <a:ext cx="720090" cy="381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1645920"/>
            <a:ext cx="9418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提示词 = 主体(描述) + 运动 + 场景(描述) + 镜头语言 + 光影 + 氛围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3931920"/>
            <a:ext cx="262891" cy="254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3931920"/>
            <a:ext cx="262890" cy="254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3931920"/>
            <a:ext cx="262890" cy="254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3931920"/>
            <a:ext cx="262890" cy="254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3931920"/>
            <a:ext cx="262890" cy="254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3931920"/>
            <a:ext cx="262890" cy="254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3931920"/>
            <a:ext cx="262890" cy="254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3931920"/>
            <a:ext cx="262890" cy="254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429768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各要素详解：主体指视频中的主要对象及其外貌服饰姿态；运动指主体的动作状态；场景指所处环境及细节；镜头语言指摄影机角度和运动（特写/跟拍/航拍等）；光影指光线效果（逆光/暖色调等）；氛围指整体情感基调（紧张/温馨/史诗感）。漫剧制作建议使用细粒度提示词，精确描述角色外观、动作和场景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0096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38B6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运动控制系统层级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4D2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548640" y="1280160"/>
          <a:ext cx="1106424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层级</a:t>
                      </a:r>
                    </a:p>
                  </a:txBody>
                  <a:tcPr anchor="ctr">
                    <a:solidFill>
                      <a:srgbClr val="009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控制方式</a:t>
                      </a:r>
                    </a:p>
                  </a:txBody>
                  <a:tcPr anchor="ctr">
                    <a:solidFill>
                      <a:srgbClr val="009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精度</a:t>
                      </a:r>
                    </a:p>
                  </a:txBody>
                  <a:tcPr anchor="ctr">
                    <a:solidFill>
                      <a:srgbClr val="009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0F0F5"/>
                          </a:solidFill>
                          <a:latin typeface="Microsoft YaHei"/>
                        </a:defRPr>
                      </a:pPr>
                      <a:r>
                        <a:t>适用场景</a:t>
                      </a:r>
                    </a:p>
                  </a:txBody>
                  <a:tcPr anchor="ctr">
                    <a:solidFill>
                      <a:srgbClr val="0096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Level 1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提示词控制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基础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通过文字描述运动方向和幅度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Level 2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运动笔刷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精准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在画面上直接绘制运动轨迹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Level 3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动作大师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专业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人体骨骼级动作控制/参考视频迁移</a:t>
                      </a:r>
                    </a:p>
                  </a:txBody>
                  <a:tcPr anchor="ctr">
                    <a:solidFill>
                      <a:srgbClr val="14162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Level 4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首尾帧控制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高级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8BAC8"/>
                          </a:solidFill>
                          <a:latin typeface="Microsoft YaHei"/>
                        </a:defRPr>
                      </a:pPr>
                      <a:r>
                        <a:t>精确控制起始帧与结束帧</a:t>
                      </a:r>
                    </a:p>
                  </a:txBody>
                  <a:tcPr anchor="ctr">
                    <a:solidFill>
                      <a:srgbClr val="1A1D2C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0096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38B6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首尾帧控制工作流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4D2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准备起始帧图片（上一段视频最后一帧截图或设计稿）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" y="13716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31520" y="2221992"/>
            <a:ext cx="6859" cy="36576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38378" y="2221992"/>
            <a:ext cx="6858" cy="36576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45236" y="2221992"/>
            <a:ext cx="6858" cy="36576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2094" y="2221992"/>
            <a:ext cx="6858" cy="36576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58952" y="2221992"/>
            <a:ext cx="6858" cy="36576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65810" y="2221992"/>
            <a:ext cx="6858" cy="36576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2668" y="2221992"/>
            <a:ext cx="6858" cy="36576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79526" y="2221992"/>
            <a:ext cx="6858" cy="36576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32688" y="21488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准备结束帧图片（下一段视频第一帧或目标姿态）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" y="21488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31520" y="2999232"/>
            <a:ext cx="6859" cy="36576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38378" y="2999232"/>
            <a:ext cx="6858" cy="36576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45236" y="2999232"/>
            <a:ext cx="6858" cy="36576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52094" y="2999232"/>
            <a:ext cx="6858" cy="36576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58952" y="2999232"/>
            <a:ext cx="6858" cy="36576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65810" y="2999232"/>
            <a:ext cx="6858" cy="36576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72668" y="2999232"/>
            <a:ext cx="6858" cy="36576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79526" y="2999232"/>
            <a:ext cx="6858" cy="36576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32688" y="2926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进入可灵AI「图生视频」→ 启用「首尾帧控制」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" y="292608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71" name="Rectangle 70"/>
          <p:cNvSpPr/>
          <p:nvPr/>
        </p:nvSpPr>
        <p:spPr>
          <a:xfrm>
            <a:off x="731520" y="3776472"/>
            <a:ext cx="6859" cy="36576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38378" y="3776472"/>
            <a:ext cx="6858" cy="36576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45236" y="3776472"/>
            <a:ext cx="6858" cy="36576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52094" y="3776472"/>
            <a:ext cx="6858" cy="36576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58952" y="3776472"/>
            <a:ext cx="6858" cy="36576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5810" y="3776472"/>
            <a:ext cx="6858" cy="36576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72668" y="3776472"/>
            <a:ext cx="6858" cy="36576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79526" y="3776472"/>
            <a:ext cx="6858" cy="36576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32688" y="37033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分别上传起始帧和结束帧，设置过渡参数（时长3-5秒）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31520" y="37033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81" name="Rectangle 80"/>
          <p:cNvSpPr/>
          <p:nvPr/>
        </p:nvSpPr>
        <p:spPr>
          <a:xfrm>
            <a:off x="731520" y="4553712"/>
            <a:ext cx="6859" cy="36576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38378" y="4553712"/>
            <a:ext cx="6858" cy="36576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45236" y="4553712"/>
            <a:ext cx="6858" cy="36576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52094" y="4553712"/>
            <a:ext cx="6858" cy="36576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58952" y="4553712"/>
            <a:ext cx="6858" cy="36576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65810" y="4553712"/>
            <a:ext cx="6858" cy="36576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72668" y="4553712"/>
            <a:ext cx="6858" cy="36576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79526" y="4553712"/>
            <a:ext cx="6858" cy="36576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32688" y="44805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添加过渡描述提示词（如"人物从站立缓缓坐下"）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31520" y="4480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31520" y="5330952"/>
            <a:ext cx="6859" cy="36576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38378" y="5330952"/>
            <a:ext cx="6858" cy="36576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45236" y="5330952"/>
            <a:ext cx="6858" cy="36576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52094" y="5330952"/>
            <a:ext cx="6858" cy="36576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758952" y="5330952"/>
            <a:ext cx="6858" cy="36576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765810" y="5330952"/>
            <a:ext cx="6858" cy="36576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72668" y="5330952"/>
            <a:ext cx="6858" cy="36576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79526" y="5330952"/>
            <a:ext cx="6858" cy="36576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32688" y="52578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生成并验证过渡自然度，必要时调整参数重新生成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31520" y="52578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0F0F5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0096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38B6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打斗场景生成策略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4D2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提示词公式：角色A动作 + 角色B反应 + 镜头运动 + 画面风格 + 氛围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复杂动作分解为多个3-5秒短片段，用首尾帧衔接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常用镜头：低角度仰拍（气势）、跟拍（速度感）、环绕（紧张感）、慢动作（关键时刻）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参数推荐：模型3.0 / 30fps / 1080p / 运动幅度中-高 / 每次生成4个版本选优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节奏控制：快节奏3秒高运动 / 中节奏5秒中运动 / 慢节奏5-10秒低运动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0096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38B6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实战项目：《剑客对决》分镜规划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4D2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1444752"/>
            <a:ext cx="6859" cy="36576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8378" y="1444752"/>
            <a:ext cx="6858" cy="36576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45236" y="1444752"/>
            <a:ext cx="6858" cy="36576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2094" y="1444752"/>
            <a:ext cx="6858" cy="36576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58952" y="1444752"/>
            <a:ext cx="6858" cy="36576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65810" y="1444752"/>
            <a:ext cx="6858" cy="36576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" y="1444752"/>
            <a:ext cx="6858" cy="36576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79526" y="1444752"/>
            <a:ext cx="6858" cy="36576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32688" y="13716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项目目标：完成约2-3分钟动作类漫剧，16个视频片段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2249424"/>
            <a:ext cx="6859" cy="36576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38378" y="2249424"/>
            <a:ext cx="6858" cy="36576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5236" y="2249424"/>
            <a:ext cx="6858" cy="36576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52094" y="2249424"/>
            <a:ext cx="6858" cy="36576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58952" y="2249424"/>
            <a:ext cx="6858" cy="36576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65810" y="2249424"/>
            <a:ext cx="6858" cy="36576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72668" y="2249424"/>
            <a:ext cx="6858" cy="36576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79526" y="2249424"/>
            <a:ext cx="6858" cy="36576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2688" y="2176272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角色设定：白衣剑客（主角）+ 黑衣刺客（对手），各含外貌/服装/武器详细描述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31520" y="3054096"/>
            <a:ext cx="6859" cy="36576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38378" y="3054096"/>
            <a:ext cx="6858" cy="36576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45236" y="3054096"/>
            <a:ext cx="6858" cy="36576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2094" y="3054096"/>
            <a:ext cx="6858" cy="36576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58952" y="3054096"/>
            <a:ext cx="6858" cy="36576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5810" y="3054096"/>
            <a:ext cx="6858" cy="36576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2668" y="3054096"/>
            <a:ext cx="6858" cy="36576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9526" y="3054096"/>
            <a:ext cx="6858" cy="36576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32688" y="2980944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分镜结构：开场(2片段) → 铺垫(2片段) → 对峙(2片段) → 高潮打斗(6片段) → 结尾(4片段)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" y="3858768"/>
            <a:ext cx="6859" cy="36576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8378" y="3858768"/>
            <a:ext cx="6858" cy="36576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45236" y="3858768"/>
            <a:ext cx="6858" cy="36576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752094" y="3858768"/>
            <a:ext cx="6858" cy="36576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758952" y="3858768"/>
            <a:ext cx="6858" cy="36576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65810" y="3858768"/>
            <a:ext cx="6858" cy="36576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72668" y="3858768"/>
            <a:ext cx="6858" cy="36576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79526" y="3858768"/>
            <a:ext cx="6858" cy="36576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32688" y="3785616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工作流：角色设定图 → 关键帧 → 分片段生成 → 截取末帧 → 首尾帧衔接 → 剪辑合成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31520" y="4663440"/>
            <a:ext cx="6859" cy="36576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38378" y="4663440"/>
            <a:ext cx="6858" cy="36576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745236" y="4663440"/>
            <a:ext cx="6858" cy="36576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52094" y="4663440"/>
            <a:ext cx="6858" cy="36576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8952" y="4663440"/>
            <a:ext cx="6858" cy="36576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65810" y="4663440"/>
            <a:ext cx="6858" cy="36576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72668" y="4663440"/>
            <a:ext cx="6858" cy="36576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79526" y="4663440"/>
            <a:ext cx="6858" cy="36576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32688" y="459028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8BAC8"/>
                </a:solidFill>
                <a:latin typeface="Microsoft YaHei"/>
              </a:defRPr>
            </a:pPr>
            <a:r>
              <a:t>质量保障：每片段4版本选优、角色外观检查、光影方向统一、动作衔接验证</a:t>
            </a:r>
          </a:p>
        </p:txBody>
      </p:sp>
      <p:sp>
        <p:nvSpPr>
          <p:cNvPr id="86" name="Rectangle 8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9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-914400"/>
            <a:ext cx="4572000" cy="4572000"/>
          </a:xfrm>
          <a:prstGeom prst="ellipse">
            <a:avLst/>
          </a:prstGeom>
          <a:solidFill>
            <a:srgbClr val="0096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3657600"/>
            <a:ext cx="3657600" cy="3657600"/>
          </a:xfrm>
          <a:prstGeom prst="ellipse">
            <a:avLst/>
          </a:prstGeom>
          <a:solidFill>
            <a:srgbClr val="38B6FF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2124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24128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6132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88136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1201400" y="502920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92124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24128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56132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88136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201400" y="534924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92124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24128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56132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88136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01400" y="566928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60120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92124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24128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56132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8136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1201400" y="5989320"/>
            <a:ext cx="38100" cy="38100"/>
          </a:xfrm>
          <a:prstGeom prst="ellipse">
            <a:avLst/>
          </a:prstGeom>
          <a:solidFill>
            <a:srgbClr val="64D2FF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0"/>
            <a:ext cx="1523962" cy="381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523961" y="0"/>
            <a:ext cx="1523961" cy="381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047922" y="0"/>
            <a:ext cx="1523961" cy="381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1883" y="0"/>
            <a:ext cx="1523961" cy="381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095844" y="0"/>
            <a:ext cx="1523961" cy="381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19805" y="0"/>
            <a:ext cx="1523961" cy="381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43766" y="0"/>
            <a:ext cx="1523961" cy="381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667727" y="0"/>
            <a:ext cx="1523961" cy="381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38100"/>
            <a:ext cx="12191695" cy="960120"/>
          </a:xfrm>
          <a:prstGeom prst="rect">
            <a:avLst/>
          </a:prstGeom>
          <a:solidFill>
            <a:srgbClr val="1416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38100"/>
            <a:ext cx="63500" cy="96012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146304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0F0F5"/>
                </a:solidFill>
                <a:latin typeface="Microsoft YaHei"/>
              </a:defRPr>
            </a:pPr>
            <a:r>
              <a:t>🛠️  本模块实操任务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1078992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430000" y="228600"/>
            <a:ext cx="109728" cy="109728"/>
          </a:xfrm>
          <a:prstGeom prst="ellipse">
            <a:avLst/>
          </a:prstGeom>
          <a:solidFill>
            <a:srgbClr val="6EE7B7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31520" y="14447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31520" y="14447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8096" y="14447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4672" y="14447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41248" y="14447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77824" y="14447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14400" y="14447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50976" y="14447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87552" y="14447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8872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45920" y="13716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注册可灵AI平台，使用提示词模板各生成一段文生视频和图生视频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1520" y="222199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31520" y="222199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68096" y="222199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04672" y="222199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41248" y="222199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77824" y="222199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14400" y="222199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950976" y="222199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87552" y="222199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88720" y="21488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645920" y="21488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对同一张角色图分别设置低/中/高运动幅度，对比效果差异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31520" y="299923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31520" y="299923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68096" y="299923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04672" y="299923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41248" y="299923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77824" y="299923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14400" y="299923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50976" y="299923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87552" y="299923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8872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45920" y="2926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使用运动笔刷为角色图片分别控制头部转动、手臂挥动、身体移动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31520" y="377647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31520" y="377647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68096" y="377647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04672" y="377647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841248" y="377647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77824" y="377647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4400" y="377647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50976" y="377647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987552" y="377647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188720" y="37033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645920" y="37033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使用首尾帧控制，将角色的"站"和"坐"两种姿态生成过渡视频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31520" y="455371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1520" y="455371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68096" y="455371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04672" y="455371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41248" y="455371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77824" y="455371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914400" y="455371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950976" y="455371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987552" y="455371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188720" y="44805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645920" y="44805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将一个完整打斗动作分解为3个片段，用首尾帧衔接制作连贯动作序列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731520" y="5330952"/>
            <a:ext cx="292608" cy="292608"/>
          </a:xfrm>
          <a:prstGeom prst="roundRect">
            <a:avLst/>
          </a:prstGeom>
          <a:solidFill>
            <a:srgbClr val="141622"/>
          </a:solidFill>
          <a:ln w="12700">
            <a:solidFill>
              <a:srgbClr val="00C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31520" y="5330952"/>
            <a:ext cx="36577" cy="25400"/>
          </a:xfrm>
          <a:prstGeom prst="rect">
            <a:avLst/>
          </a:prstGeom>
          <a:solidFill>
            <a:srgbClr val="00C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768096" y="5330952"/>
            <a:ext cx="36576" cy="25400"/>
          </a:xfrm>
          <a:prstGeom prst="rect">
            <a:avLst/>
          </a:prstGeom>
          <a:solidFill>
            <a:srgbClr val="07CE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04672" y="5330952"/>
            <a:ext cx="36576" cy="25400"/>
          </a:xfrm>
          <a:prstGeom prst="rect">
            <a:avLst/>
          </a:prstGeom>
          <a:solidFill>
            <a:srgbClr val="0ECF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41248" y="5330952"/>
            <a:ext cx="36576" cy="25400"/>
          </a:xfrm>
          <a:prstGeom prst="rect">
            <a:avLst/>
          </a:prstGeom>
          <a:solidFill>
            <a:srgbClr val="16D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77824" y="5330952"/>
            <a:ext cx="36576" cy="25400"/>
          </a:xfrm>
          <a:prstGeom prst="rect">
            <a:avLst/>
          </a:prstGeom>
          <a:solidFill>
            <a:srgbClr val="1DD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14400" y="5330952"/>
            <a:ext cx="36576" cy="25400"/>
          </a:xfrm>
          <a:prstGeom prst="rect">
            <a:avLst/>
          </a:prstGeom>
          <a:solidFill>
            <a:srgbClr val="25D1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950976" y="5330952"/>
            <a:ext cx="36576" cy="25400"/>
          </a:xfrm>
          <a:prstGeom prst="rect">
            <a:avLst/>
          </a:prstGeom>
          <a:solidFill>
            <a:srgbClr val="2CD2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87552" y="5330952"/>
            <a:ext cx="36576" cy="254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1188720" y="5257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CE7E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645920" y="52578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8BAC8"/>
                </a:solidFill>
                <a:latin typeface="Microsoft YaHei"/>
              </a:defRPr>
            </a:pPr>
            <a:r>
              <a:t>完成《剑客对决》全部16个片段的生成，剪辑成2-3分钟完整视频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A2D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模块06 · 可灵AI深度精通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E7082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731520" y="6446520"/>
            <a:ext cx="171451" cy="254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02970" y="6446520"/>
            <a:ext cx="171450" cy="254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1074420" y="6446520"/>
            <a:ext cx="171450" cy="254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1245870" y="6446520"/>
            <a:ext cx="171450" cy="254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417320" y="6446520"/>
            <a:ext cx="171450" cy="254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588770" y="6446520"/>
            <a:ext cx="171450" cy="254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760220" y="6446520"/>
            <a:ext cx="171450" cy="254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1931670" y="6446520"/>
            <a:ext cx="171450" cy="254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 advClick="1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743200" y="914400"/>
            <a:ext cx="6400800" cy="6400800"/>
          </a:xfrm>
          <a:prstGeom prst="ellipse">
            <a:avLst/>
          </a:prstGeom>
          <a:solidFill>
            <a:srgbClr val="0096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114800" y="1371600"/>
            <a:ext cx="491491" cy="381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606290" y="1371600"/>
            <a:ext cx="491490" cy="381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97780" y="1371600"/>
            <a:ext cx="491490" cy="381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89270" y="1371600"/>
            <a:ext cx="491490" cy="381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80760" y="1371600"/>
            <a:ext cx="491490" cy="381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72250" y="1371600"/>
            <a:ext cx="491490" cy="381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63740" y="1371600"/>
            <a:ext cx="491490" cy="381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55230" y="1371600"/>
            <a:ext cx="491490" cy="381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0" y="20116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0096FF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>
                <a:solidFill>
                  <a:srgbClr val="F0F0F5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4023360"/>
            <a:ext cx="262891" cy="25400"/>
          </a:xfrm>
          <a:prstGeom prst="rect">
            <a:avLst/>
          </a:prstGeom>
          <a:solidFill>
            <a:srgbClr val="009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92090" y="4023360"/>
            <a:ext cx="262890" cy="25400"/>
          </a:xfrm>
          <a:prstGeom prst="rect">
            <a:avLst/>
          </a:prstGeom>
          <a:solidFill>
            <a:srgbClr val="079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54980" y="4023360"/>
            <a:ext cx="262890" cy="25400"/>
          </a:xfrm>
          <a:prstGeom prst="rect">
            <a:avLst/>
          </a:prstGeom>
          <a:solidFill>
            <a:srgbClr val="109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817870" y="4023360"/>
            <a:ext cx="262890" cy="25400"/>
          </a:xfrm>
          <a:prstGeom prst="rect">
            <a:avLst/>
          </a:prstGeom>
          <a:solidFill>
            <a:srgbClr val="18A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0760" y="4023360"/>
            <a:ext cx="262890" cy="25400"/>
          </a:xfrm>
          <a:prstGeom prst="rect">
            <a:avLst/>
          </a:prstGeom>
          <a:solidFill>
            <a:srgbClr val="20A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3650" y="4023360"/>
            <a:ext cx="262890" cy="25400"/>
          </a:xfrm>
          <a:prstGeom prst="rect">
            <a:avLst/>
          </a:prstGeom>
          <a:solidFill>
            <a:srgbClr val="28A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606540" y="4023360"/>
            <a:ext cx="262890" cy="25400"/>
          </a:xfrm>
          <a:prstGeom prst="rect">
            <a:avLst/>
          </a:prstGeom>
          <a:solidFill>
            <a:srgbClr val="30B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69430" y="4023360"/>
            <a:ext cx="262890" cy="25400"/>
          </a:xfrm>
          <a:prstGeom prst="rect">
            <a:avLst/>
          </a:prstGeom>
          <a:solidFill>
            <a:srgbClr val="38B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0" y="429768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8BAC8"/>
                </a:solidFill>
                <a:latin typeface="Microsoft YaHei"/>
              </a:defRPr>
            </a:pPr>
            <a:r>
              <a:t>下一模块：Seedance 2.0深度精通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E7082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  <p:transition spd="med"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