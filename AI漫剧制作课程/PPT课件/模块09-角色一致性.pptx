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37160" cy="3200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1440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00D4FF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64592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4000" b="1">
                <a:solidFill>
                  <a:srgbClr val="FFFFFF"/>
                </a:solidFill>
                <a:latin typeface="Microsoft YaHei"/>
              </a:defRPr>
            </a:pPr>
            <a:r>
              <a:t>模块九：角色一致性攻克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3200400"/>
            <a:ext cx="27432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3566160"/>
            <a:ext cx="91440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000" b="0">
                <a:solidFill>
                  <a:srgbClr val="B0BCD4"/>
                </a:solidFill>
                <a:latin typeface="Microsoft YaHei"/>
              </a:defRPr>
            </a:pPr>
            <a:r>
              <a:t>6课时 · 跨镜头角色形象统一核心技术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0" y="4114800"/>
            <a:ext cx="36576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0" b="1">
                <a:solidFill>
                  <a:srgbClr val="1A253C"/>
                </a:solidFill>
                <a:latin typeface="Microsoft YaHei"/>
              </a:defRPr>
            </a:pPr>
            <a:r>
              <a:t>09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21792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630936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6B7B9E"/>
                </a:solidFill>
                <a:latin typeface="Microsoft YaHei"/>
              </a:defRPr>
            </a:pPr>
            <a:r>
              <a:t>124课时 · 17个模块 · 从零基础到独立制作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FFFFF"/>
                </a:solidFill>
                <a:latin typeface="Microsoft YaHei"/>
              </a:defRPr>
            </a:pPr>
            <a:r>
              <a:t>📋 本节内容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3716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角色一致性技术全景</a:t>
            </a:r>
          </a:p>
        </p:txBody>
      </p:sp>
      <p:sp>
        <p:nvSpPr>
          <p:cNvPr id="6" name="Oval 5"/>
          <p:cNvSpPr/>
          <p:nvPr/>
        </p:nvSpPr>
        <p:spPr>
          <a:xfrm>
            <a:off x="731520" y="201168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ComfyUI IP-Adapter FaceID工作流</a:t>
            </a:r>
          </a:p>
        </p:txBody>
      </p:sp>
      <p:sp>
        <p:nvSpPr>
          <p:cNvPr id="8" name="Oval 7"/>
          <p:cNvSpPr/>
          <p:nvPr/>
        </p:nvSpPr>
        <p:spPr>
          <a:xfrm>
            <a:off x="731520" y="265176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LoRA微调训练实战</a:t>
            </a:r>
          </a:p>
        </p:txBody>
      </p:sp>
      <p:sp>
        <p:nvSpPr>
          <p:cNvPr id="10" name="Oval 9"/>
          <p:cNvSpPr/>
          <p:nvPr/>
        </p:nvSpPr>
        <p:spPr>
          <a:xfrm>
            <a:off x="6217920" y="13716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0" y="137160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ADetailer面部偏移自动修复</a:t>
            </a:r>
          </a:p>
        </p:txBody>
      </p:sp>
      <p:sp>
        <p:nvSpPr>
          <p:cNvPr id="12" name="Oval 11"/>
          <p:cNvSpPr/>
          <p:nvPr/>
        </p:nvSpPr>
        <p:spPr>
          <a:xfrm>
            <a:off x="6217920" y="201168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58000" y="201168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14" name="Oval 13"/>
          <p:cNvSpPr/>
          <p:nvPr/>
        </p:nvSpPr>
        <p:spPr>
          <a:xfrm>
            <a:off x="6217920" y="265176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858000" y="265176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实战：建立完整角色资产体系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为什么角色一致性是最难的问题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914400" y="1828800"/>
            <a:ext cx="10058400" cy="228600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914400" y="1828800"/>
            <a:ext cx="76200" cy="22860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210312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F59E0B"/>
                </a:solidFill>
                <a:latin typeface="Microsoft YaHei"/>
              </a:defRPr>
            </a:pPr>
            <a:r>
              <a:t>💡 核心要点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651760"/>
            <a:ext cx="91440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FFFFFF"/>
                </a:solidFill>
                <a:latin typeface="Microsoft YaHei"/>
              </a:defRPr>
            </a:pPr>
            <a:r>
              <a:t>AI模型每次生成都是从随机噪声开始，没有"记忆"能力，无法天然保证同一角色在不同镜头中长得一样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572000"/>
            <a:ext cx="100584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500" b="0">
                <a:solidFill>
                  <a:srgbClr val="B0BCD4"/>
                </a:solidFill>
                <a:latin typeface="Microsoft YaHei"/>
              </a:defRPr>
            </a:pPr>
            <a:r>
              <a:t>不一致的具体表现：面部特征变化（最严重）、发型发色变化、服装颜色/款式变化、体型变化、配饰/武器变化、整体画风漂移。角色一致性的商业价值：品牌识别、粉丝粘性、IP价值、专业感。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2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角色一致性解决方案对比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3200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  <a:gridCol w="210312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方案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技术原理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适用工具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难度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一致性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角色参考图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输入参考图约束生成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即梦AI/通义万相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角色档案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多角度参考图集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Seedance 2.0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★★☆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IP-Adapter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图像特征注入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LoRA微调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训练角色专属模型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最高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ADetailer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面部检测+重渲染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中高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组合方案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IP-Adapter+LoRA+ADetailer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ComfyUI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★★★★★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最完美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ComfyUI IP-Adapter FaceID 工作流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原理：通过IP-Adapter模型注入面部特征，ControlNet固定姿态，ADetailer修复面部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核心参数：IP-Adapter权重0.7-0.85（推荐0.75）、ControlNet强度0.5-0.7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工作流连接：Checkpoint→IPAdapter FaceID→ControlNet→KSampler→ADetailer→Save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权重过高（0.95+）会过拟合，几乎复制参考图失去多样性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ADetailer参数：检测阈值0.3、重渲染强度0.4-0.6、使用与主模型相同的重渲染模型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4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LoRA微调训练要点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原理：在基础模型上添加小的"适配层"，只学习"这个角色长什么样"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训练数据：30-50张角色图片，覆盖正面/侧面/3/4角度/全身/特写，统一1024×1024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关键参数：network_dim 32-64、learning_rate 1e-4~5e-5、max_epochs 8-15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训练时间：40张图/10 epoch约2-4小时（RTX 3080）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使用时LoRA强度建议0.6-0.8，过高可能过拟合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31520" y="53213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9728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过拟合判断：生成图与训练图完全一样、缺乏多样性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5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角色资产库工业化管理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43510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标准化目录：角色A/参考图 + LoRA + 提示词 + 设定文档</a:t>
            </a:r>
          </a:p>
        </p:txBody>
      </p:sp>
      <p:sp>
        <p:nvSpPr>
          <p:cNvPr id="6" name="Rectangle 5"/>
          <p:cNvSpPr/>
          <p:nvPr/>
        </p:nvSpPr>
        <p:spPr>
          <a:xfrm>
            <a:off x="731520" y="221234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9728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图片规范：1024×1024 PNG、纯色背景、统一柔光、覆盖全部角度和表情</a:t>
            </a:r>
          </a:p>
        </p:txBody>
      </p:sp>
      <p:sp>
        <p:nvSpPr>
          <p:cNvPr id="8" name="Rectangle 7"/>
          <p:cNvSpPr/>
          <p:nvPr/>
        </p:nvSpPr>
        <p:spPr>
          <a:xfrm>
            <a:off x="731520" y="298958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版本命名：角色名_v1.0_日期.safetensors，记录每次变化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" y="376682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9728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提示词模板：base_prompt.txt（基础）+ scene_prompts.txt（场景）+ action_prompts.txt（动作）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4544060"/>
            <a:ext cx="101600" cy="1016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跨项目复用：打包角色文件夹，复制到新项目后调整提示词适配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6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一致性验收评分标准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731520" y="1371600"/>
          <a:ext cx="10515600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505200"/>
                <a:gridCol w="3505200"/>
                <a:gridCol w="3505200"/>
              </a:tblGrid>
              <a:tr h="457200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评分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通过场景数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  <a:latin typeface="Microsoft YaHei"/>
                        </a:defRPr>
                      </a:pPr>
                      <a:r>
                        <a:t>说明</a:t>
                      </a:r>
                    </a:p>
                  </a:txBody>
                  <a:tcPr>
                    <a:solidFill>
                      <a:srgbClr val="00D4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优秀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10/10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角色高度一致，可直接用于正式项目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良好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8-9/10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角色基本一致，少量场景需微调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合格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6-7/10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需要优化训练数据或参数</a:t>
                      </a:r>
                    </a:p>
                  </a:txBody>
                  <a:tcPr>
                    <a:solidFill>
                      <a:srgbClr val="1A253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不合格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&lt;6/10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0BCD4"/>
                          </a:solidFill>
                          <a:latin typeface="Microsoft YaHei"/>
                        </a:defRPr>
                      </a:pPr>
                      <a:r>
                        <a:t>需要重新训练或更换方案</a:t>
                      </a:r>
                    </a:p>
                  </a:txBody>
                  <a:tcPr>
                    <a:solidFill>
                      <a:srgbClr val="0F172A"/>
                    </a:solidFill>
                  </a:tcPr>
                </a:tc>
              </a:tr>
            </a:tbl>
          </a:graphicData>
        </a:graphic>
      </p:graphicFrame>
      <p:sp>
        <p:nvSpPr>
          <p:cNvPr id="5" name="Rectangle 4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7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完整角色资产体系建设流程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731520" y="1371600"/>
            <a:ext cx="457200" cy="457200"/>
          </a:xfrm>
          <a:prstGeom prst="ellipse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1</a:t>
            </a:r>
          </a:p>
        </p:txBody>
      </p:sp>
      <p:sp>
        <p:nvSpPr>
          <p:cNvPr id="5" name="Rectangle 4"/>
          <p:cNvSpPr/>
          <p:nvPr/>
        </p:nvSpPr>
        <p:spPr>
          <a:xfrm>
            <a:off x="941832" y="1828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463040" y="1371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确定角色设定（外貌/服装/性格），编写角色设定文档</a:t>
            </a:r>
          </a:p>
        </p:txBody>
      </p:sp>
      <p:sp>
        <p:nvSpPr>
          <p:cNvPr id="7" name="Oval 6"/>
          <p:cNvSpPr/>
          <p:nvPr/>
        </p:nvSpPr>
        <p:spPr>
          <a:xfrm>
            <a:off x="731520" y="2286000"/>
            <a:ext cx="457200" cy="457200"/>
          </a:xfrm>
          <a:prstGeom prst="ellipse">
            <a:avLst/>
          </a:prstGeom>
          <a:solidFill>
            <a:srgbClr val="7C3AE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941832" y="27432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463040" y="22860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用即梦AI生成初始参考图20-30张（正面×10、侧面×5、3/4×5、全身×5、特写×5）</a:t>
            </a:r>
          </a:p>
        </p:txBody>
      </p:sp>
      <p:sp>
        <p:nvSpPr>
          <p:cNvPr id="10" name="Oval 9"/>
          <p:cNvSpPr/>
          <p:nvPr/>
        </p:nvSpPr>
        <p:spPr>
          <a:xfrm>
            <a:off x="731520" y="3200400"/>
            <a:ext cx="457200" cy="457200"/>
          </a:xfrm>
          <a:prstGeom prst="ellipse">
            <a:avLst/>
          </a:prstGeom>
          <a:solidFill>
            <a:srgbClr val="FF6B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1832" y="36576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463040" y="32004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筛选最佳图片保留15-20张，检查角色一致性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41148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4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41832" y="45720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63040" y="41148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用ComfyUI IP-Adapter测试10个不同场景的一致性</a:t>
            </a:r>
          </a:p>
        </p:txBody>
      </p:sp>
      <p:sp>
        <p:nvSpPr>
          <p:cNvPr id="16" name="Oval 15"/>
          <p:cNvSpPr/>
          <p:nvPr/>
        </p:nvSpPr>
        <p:spPr>
          <a:xfrm>
            <a:off x="731520" y="5029200"/>
            <a:ext cx="457200" cy="457200"/>
          </a:xfrm>
          <a:prstGeom prst="ellipse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41832" y="54864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463040" y="50292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如效果不佳，准备30-50张训练集训练LoRA模型</a:t>
            </a:r>
          </a:p>
        </p:txBody>
      </p:sp>
      <p:sp>
        <p:nvSpPr>
          <p:cNvPr id="19" name="Oval 18"/>
          <p:cNvSpPr/>
          <p:nvPr/>
        </p:nvSpPr>
        <p:spPr>
          <a:xfrm>
            <a:off x="731520" y="5943600"/>
            <a:ext cx="457200" cy="457200"/>
          </a:xfrm>
          <a:prstGeom prst="ellipse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/>
          <a:lstStyle/>
          <a:p>
            <a:pPr algn="ctr">
              <a:spcBef>
                <a:spcPts val="0"/>
              </a:spcBef>
              <a:spcAft>
                <a:spcPts val="0"/>
              </a:spcAft>
              <a:defRPr sz="1400" b="1">
                <a:solidFill>
                  <a:srgbClr val="FFFFFF"/>
                </a:solidFill>
                <a:latin typeface="Microsoft YaHei"/>
              </a:defRPr>
            </a:pPr>
            <a:r>
              <a:t>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1832" y="6400800"/>
            <a:ext cx="25400" cy="4572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63040" y="5943600"/>
            <a:ext cx="96012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建立角色资产文件夹结构，编写提示词模板</a:t>
            </a:r>
          </a:p>
        </p:txBody>
      </p:sp>
      <p:sp>
        <p:nvSpPr>
          <p:cNvPr id="22" name="Rectangle 21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600" b="1">
                <a:solidFill>
                  <a:srgbClr val="FFFFFF"/>
                </a:solidFill>
                <a:latin typeface="Microsoft YaHei"/>
              </a:defRPr>
            </a:pPr>
            <a:r>
              <a:t>🛠️ 本模块实操任务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280160" y="13716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用AI工具生成同一角色的5张图片，观察并记录不一致的具体表现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31520" y="214884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280160" y="214884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搭建ComfyUI IP-Adapter FaceID工作流，测试不同权重值（0.6/0.75/0.85）的效果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292608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280160" y="292608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为角色准备40张训练图片并编写标注，执行LoRA微调训练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20" y="370332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280160" y="370332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使用ADetailer对有面部问题的图片进行自动修复，测试不同重渲染强度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448056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280160" y="44805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建立标准化角色资产库目录，整理所有角色参考图、LoRA模型和提示词模板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" y="5257800"/>
            <a:ext cx="320040" cy="320040"/>
          </a:xfrm>
          <a:prstGeom prst="roundRect">
            <a:avLst/>
          </a:prstGeom>
          <a:solidFill>
            <a:srgbClr val="1A253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280160" y="525780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B0BCD4"/>
                </a:solidFill>
                <a:latin typeface="Microsoft YaHei"/>
              </a:defRPr>
            </a:pPr>
            <a:r>
              <a:t>完成2个主要角色的完整资产建设，通过一致性验收测试（≥8/10场景通过）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492240"/>
            <a:ext cx="12191695" cy="25400"/>
          </a:xfrm>
          <a:prstGeom prst="rect">
            <a:avLst/>
          </a:prstGeom>
          <a:solidFill>
            <a:srgbClr val="2D3B5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模块09：角色一致性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537960"/>
            <a:ext cx="1371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B7B9E"/>
                </a:solidFill>
                <a:latin typeface="Microsoft YaHei"/>
              </a:defRPr>
            </a:pPr>
            <a:r>
              <a:t>9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926080"/>
            <a:ext cx="12191695" cy="25400"/>
          </a:xfrm>
          <a:prstGeom prst="rect">
            <a:avLst/>
          </a:prstGeom>
          <a:solidFill>
            <a:srgbClr val="00D4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0" y="1828800"/>
            <a:ext cx="12191695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FFFFF"/>
                </a:solidFill>
                <a:latin typeface="Microsoft YaHei"/>
              </a:defRPr>
            </a:pPr>
            <a:r>
              <a:t>✅ 本模块结束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0" y="347472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800" b="0">
                <a:solidFill>
                  <a:srgbClr val="B0BCD4"/>
                </a:solidFill>
                <a:latin typeface="Microsoft YaHei"/>
              </a:defRPr>
            </a:pPr>
            <a:r>
              <a:t>下一模块：配音配乐与音画同步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0" y="4572000"/>
            <a:ext cx="121916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6B7B9E"/>
                </a:solidFill>
                <a:latin typeface="Microsoft YaHei"/>
              </a:defRPr>
            </a:pPr>
            <a:r>
              <a:t>AI漫剧制作全流程课程 · 2026版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