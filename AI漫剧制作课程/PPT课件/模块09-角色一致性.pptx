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0" cy="1097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0" b="1">
                <a:solidFill>
                  <a:srgbClr val="FFFFFF"/>
                </a:solidFill>
                <a:latin typeface="Microsoft YaHei"/>
              </a:defRPr>
            </a:pPr>
            <a: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576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0" y="1371600"/>
            <a:ext cx="5943600" cy="45720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286000"/>
            <a:ext cx="5943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模块九：角色一致性攻克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0" y="4023360"/>
            <a:ext cx="274320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0" y="438912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BD5E8"/>
                </a:solidFill>
                <a:latin typeface="Microsoft YaHei"/>
              </a:defRPr>
            </a:pPr>
            <a:r>
              <a:t>6课时 · 跨镜头角色形象统一核心技术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0" y="5669280"/>
            <a:ext cx="5943600" cy="64008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0" y="57150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EF4444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57150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EF4444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57150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EF4444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5715000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EF4444"/>
                </a:solidFill>
                <a:latin typeface="Microsoft YaHei"/>
              </a:defRPr>
            </a:pPr>
            <a:r>
              <a:t>全流程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📋 本节内容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" y="1600200"/>
            <a:ext cx="457200" cy="45720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0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15544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角色一致性技术全景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137160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389120" y="1600200"/>
            <a:ext cx="457200" cy="45720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1600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83480" y="15544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ComfyUI IP-Adapter FaceID工作流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80" y="137160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092440" y="1600200"/>
            <a:ext cx="457200" cy="45720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92440" y="1600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15544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LoRA微调训练实战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260604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2834640"/>
            <a:ext cx="457200" cy="45720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78892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ADetailer面部偏移自动修复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51960" y="260604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389120" y="2834640"/>
            <a:ext cx="457200" cy="45720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83480" y="278892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角色资产库工业化管理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55280" y="2606040"/>
            <a:ext cx="3383280" cy="1005840"/>
          </a:xfrm>
          <a:prstGeom prst="roundRect">
            <a:avLst/>
          </a:prstGeom>
          <a:solidFill>
            <a:srgbClr val="141E33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092440" y="2834640"/>
            <a:ext cx="457200" cy="45720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92440" y="28346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278892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8"/>
                </a:solidFill>
                <a:latin typeface="Microsoft YaHei"/>
              </a:defRPr>
            </a:pPr>
            <a:r>
              <a:t>实战：建立完整角色资产体系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模块09：角色一致性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🎯 六大一致性方案速览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3383280" cy="201168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3383280" cy="54864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00D4FF"/>
                </a:solidFill>
                <a:latin typeface="Microsoft YaHei"/>
              </a:defRPr>
            </a:pPr>
            <a:r>
              <a:t>🖼️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0312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角色参考图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56032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B9E"/>
                </a:solidFill>
                <a:latin typeface="Microsoft YaHei"/>
              </a:defRPr>
            </a:pPr>
            <a:r>
              <a:t>输入参考图约束生成，即梦AI/通义万相，难度★★☆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371600"/>
            <a:ext cx="3383280" cy="201168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60" y="1371600"/>
            <a:ext cx="3383280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155448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7C3AED"/>
                </a:solidFill>
                <a:latin typeface="Microsoft YaHei"/>
              </a:defRPr>
            </a:pPr>
            <a:r>
              <a:t>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210312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角色档案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56032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B9E"/>
                </a:solidFill>
                <a:latin typeface="Microsoft YaHei"/>
              </a:defRPr>
            </a:pPr>
            <a:r>
              <a:t>多角度参考图集，Seedance 2.0，难度★★☆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80" y="1371600"/>
            <a:ext cx="3383280" cy="201168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55280" y="1371600"/>
            <a:ext cx="3383280" cy="54864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8160" y="155448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FF6B35"/>
                </a:solidFill>
                <a:latin typeface="Microsoft YaHei"/>
              </a:defRPr>
            </a:pPr>
            <a:r>
              <a:t>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210312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IP-Adapter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256032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B9E"/>
                </a:solidFill>
                <a:latin typeface="Microsoft YaHei"/>
              </a:defRPr>
            </a:pPr>
            <a:r>
              <a:t>特征向量注入，ComfyUI，难度★★★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657600"/>
            <a:ext cx="3383280" cy="201168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3657600"/>
            <a:ext cx="338328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384048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10B981"/>
                </a:solidFill>
                <a:latin typeface="Microsoft YaHei"/>
              </a:defRPr>
            </a:pPr>
            <a:r>
              <a:t>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38912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LoRA微调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84632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B9E"/>
                </a:solidFill>
                <a:latin typeface="Microsoft YaHei"/>
              </a:defRPr>
            </a:pPr>
            <a:r>
              <a:t>训练专属模型，SD WebUI，难度★★★★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51960" y="3657600"/>
            <a:ext cx="3383280" cy="201168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51960" y="3657600"/>
            <a:ext cx="338328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34840" y="384048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F59E0B"/>
                </a:solidFill>
                <a:latin typeface="Microsoft YaHei"/>
              </a:defRPr>
            </a:pPr>
            <a:r>
              <a:t>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438912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ADetailer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34840" y="484632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B9E"/>
                </a:solidFill>
                <a:latin typeface="Microsoft YaHei"/>
              </a:defRPr>
            </a:pPr>
            <a:r>
              <a:t>面部偏移自动修复，ComfyUI，难度★★☆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55280" y="3657600"/>
            <a:ext cx="3383280" cy="201168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55280" y="3657600"/>
            <a:ext cx="3383280" cy="54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38160" y="384048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EF4444"/>
                </a:solidFill>
                <a:latin typeface="Microsoft YaHei"/>
              </a:defRPr>
            </a:pPr>
            <a:r>
              <a:t>📦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0" y="438912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资产库管理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8160" y="484632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B9E"/>
                </a:solidFill>
                <a:latin typeface="Microsoft YaHei"/>
              </a:defRPr>
            </a:pPr>
            <a:r>
              <a:t>工业化标准数据集，全工具通用，难度★★☆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模块09：角色一致性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为什么角色一致性是最难的问题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10698480" cy="27432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645920"/>
            <a:ext cx="10698480" cy="914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645920"/>
            <a:ext cx="109728" cy="27432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0">
                <a:solidFill>
                  <a:srgbClr val="EF4444"/>
                </a:solidFill>
                <a:latin typeface="Microsoft YaHei"/>
              </a:defRPr>
            </a:pPr>
            <a:r>
              <a:t>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19659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F4444"/>
                </a:solidFill>
                <a:latin typeface="Microsoft YaHei"/>
              </a:defRPr>
            </a:pPr>
            <a:r>
              <a:t>核心要点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560320"/>
            <a:ext cx="9784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t>AI模型每次生成都是从随机噪声开始，没有"记忆"能力，无法天然保证同一角色在不同镜头中长得一样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754880"/>
            <a:ext cx="10698480" cy="1371600"/>
          </a:xfrm>
          <a:prstGeom prst="roundRect">
            <a:avLst/>
          </a:prstGeom>
          <a:solidFill>
            <a:srgbClr val="1A2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4754880"/>
            <a:ext cx="73152" cy="1371600"/>
          </a:xfrm>
          <a:prstGeom prst="rect">
            <a:avLst/>
          </a:prstGeom>
          <a:solidFill>
            <a:srgbClr val="6B7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8920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BD5E8"/>
                </a:solidFill>
                <a:latin typeface="Microsoft YaHei"/>
              </a:defRPr>
            </a:pPr>
            <a:r>
              <a:t>不一致的具体表现：面部特征变化（最严重）、发型发色变化、服装颜色/款式变化、体型变化、配饰/武器变化、整体画风漂移。角色一致性的商业价值：品牌识别、粉丝粘性、IP价值、专业感。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模块09：角色一致性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角色一致性解决方案对比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1106424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5943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方案</a:t>
                      </a:r>
                    </a:p>
                  </a:txBody>
                  <a:tcPr anchor="ctr">
                    <a:solidFill>
                      <a:srgbClr val="EF44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技术原理</a:t>
                      </a:r>
                    </a:p>
                  </a:txBody>
                  <a:tcPr anchor="ctr">
                    <a:solidFill>
                      <a:srgbClr val="EF44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适用工具</a:t>
                      </a:r>
                    </a:p>
                  </a:txBody>
                  <a:tcPr anchor="ctr">
                    <a:solidFill>
                      <a:srgbClr val="EF44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难度</a:t>
                      </a:r>
                    </a:p>
                  </a:txBody>
                  <a:tcPr anchor="ctr">
                    <a:solidFill>
                      <a:srgbClr val="EF44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一致性</a:t>
                      </a:r>
                    </a:p>
                  </a:txBody>
                  <a:tcPr anchor="ctr">
                    <a:solidFill>
                      <a:srgbClr val="EF4444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角色参考图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输入参考图约束生成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即梦AI/通义万相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★★☆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角色档案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多角度参考图集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Seedance 2.0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★★☆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IP-Adapter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图像特征注入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ComfyUI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★★★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LoRA微调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训练角色专属模型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ComfyUI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★★★★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最高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ADetailer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面部检测+重渲染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ComfyUI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★★★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中高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组合方案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IP-Adapter+LoRA+ADetailer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ComfyUI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最完美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模块09：角色一致性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ComfyUI IP-Adapter FaceID 工作流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25880"/>
            <a:ext cx="73152" cy="7315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490472"/>
            <a:ext cx="365760" cy="36576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904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17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原理：通过IP-Adapter模型注入面部特征，ControlNet固定姿态，ADetailer修复面部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19456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73152" cy="7315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2359152"/>
            <a:ext cx="365760" cy="36576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35915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286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核心参数：IP-Adapter权重0.7-0.85（推荐0.75）、ControlNet强度0.5-0.7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6324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063240"/>
            <a:ext cx="73152" cy="7315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3227832"/>
            <a:ext cx="365760" cy="36576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22783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54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工作流连接：Checkpoint→IPAdapter FaceID→ControlNet→KSampler→ADetailer→Save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31919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931919"/>
            <a:ext cx="73152" cy="7315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1520" y="4096511"/>
            <a:ext cx="365760" cy="36576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096511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02335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权重过高（0.95+）会过拟合，几乎复制参考图失去多样性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80060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800600"/>
            <a:ext cx="73152" cy="7315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1520" y="4965192"/>
            <a:ext cx="365760" cy="36576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9651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4892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ADetailer参数：检测阈值0.3、重渲染强度0.4-0.6、使用与主模型相同的重渲染模型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模块09：角色一致性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LoRA微调训练要点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25880"/>
            <a:ext cx="73152" cy="7315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490472"/>
            <a:ext cx="365760" cy="36576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904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17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原理：在基础模型上添加小的"适配层"，只学习"这个角色长什么样"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19456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73152" cy="7315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2359152"/>
            <a:ext cx="365760" cy="36576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35915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286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训练数据：30-50张角色图片，覆盖正面/侧面/3/4角度/全身/特写，统一1024×1024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6324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063240"/>
            <a:ext cx="73152" cy="7315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3227832"/>
            <a:ext cx="365760" cy="36576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22783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54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关键参数：network_dim 32-64、learning_rate 1e-4~5e-5、max_epochs 8-15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31919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931919"/>
            <a:ext cx="73152" cy="7315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1520" y="4096511"/>
            <a:ext cx="365760" cy="36576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096511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02335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训练时间：40张图/10 epoch约2-4小时（RTX 3080）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80060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800600"/>
            <a:ext cx="73152" cy="7315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1520" y="4965192"/>
            <a:ext cx="365760" cy="36576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9651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4892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使用时LoRA强度建议0.6-0.8，过高可能过拟合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66928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5669280"/>
            <a:ext cx="73152" cy="7315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1520" y="5833872"/>
            <a:ext cx="365760" cy="36576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58338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5760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过拟合判断：生成图与训练图完全一样、缺乏多样性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模块09：角色一致性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角色资产库工业化管理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25880"/>
            <a:ext cx="73152" cy="7315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490472"/>
            <a:ext cx="365760" cy="36576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9047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17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标准化目录：角色A/参考图 + LoRA + 提示词 + 设定文档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19456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4560"/>
            <a:ext cx="73152" cy="7315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2359152"/>
            <a:ext cx="365760" cy="36576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35915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286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图片规范：1024×1024 PNG、纯色背景、统一柔光、覆盖全部角度和表情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6324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3063240"/>
            <a:ext cx="73152" cy="7315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3227832"/>
            <a:ext cx="365760" cy="36576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22783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546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版本命名：角色名_v1.0_日期.safetensors，记录每次变化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931919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931919"/>
            <a:ext cx="73152" cy="7315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1520" y="4096511"/>
            <a:ext cx="365760" cy="36576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096511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02335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提示词模板：base_prompt.txt（基础）+ scene_prompts.txt（场景）+ action_prompts.txt（动作）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800600"/>
            <a:ext cx="11247120" cy="73152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800600"/>
            <a:ext cx="73152" cy="7315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1520" y="4965192"/>
            <a:ext cx="365760" cy="36576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965192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4892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跨项目复用：打包角色文件夹，复制到新项目后调整提示词适配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模块09：角色一致性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一致性验收评分标准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63040"/>
          <a:ext cx="1106424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943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评分</a:t>
                      </a:r>
                    </a:p>
                  </a:txBody>
                  <a:tcPr anchor="ctr">
                    <a:solidFill>
                      <a:srgbClr val="EF44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通过场景数</a:t>
                      </a:r>
                    </a:p>
                  </a:txBody>
                  <a:tcPr anchor="ctr">
                    <a:solidFill>
                      <a:srgbClr val="EF444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说明</a:t>
                      </a:r>
                    </a:p>
                  </a:txBody>
                  <a:tcPr anchor="ctr">
                    <a:solidFill>
                      <a:srgbClr val="EF4444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优秀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10/10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角色高度一致，可直接用于正式项目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良好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8-9/10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角色基本一致，少量场景需微调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合格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6-7/10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需要优化训练数据或参数</a:t>
                      </a:r>
                    </a:p>
                  </a:txBody>
                  <a:tcPr anchor="ctr">
                    <a:solidFill>
                      <a:srgbClr val="141E33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不合格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&lt;6/10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CBD5E8"/>
                          </a:solidFill>
                          <a:latin typeface="Microsoft YaHei"/>
                        </a:defRPr>
                      </a:pPr>
                      <a:r>
                        <a:t>需要重新训练或更换方案</a:t>
                      </a:r>
                    </a:p>
                  </a:txBody>
                  <a:tcPr anchor="ctr">
                    <a:solidFill>
                      <a:srgbClr val="1A284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模块09：角色一致性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完整角色资产体系建设流程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73152" cy="6858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481328"/>
            <a:ext cx="411480" cy="41148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8132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46304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确定角色设定（外貌/服装/性格），编写角色设定文档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2057400"/>
            <a:ext cx="25400" cy="13716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219456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194560"/>
            <a:ext cx="73152" cy="685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1520" y="2304288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30428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228600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用即梦AI生成初始参考图20-30张（正面×10、侧面×5、3/4×5、全身×5、特写×5）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2880360"/>
            <a:ext cx="25400" cy="1371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57200" y="301752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017520"/>
            <a:ext cx="73152" cy="6858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520" y="3127248"/>
            <a:ext cx="411480" cy="41148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1272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310896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筛选最佳图片保留15-20张，检查角色一致性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0" y="3703320"/>
            <a:ext cx="25400" cy="13716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57200" y="384048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3840480"/>
            <a:ext cx="73152" cy="685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520" y="3950208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3950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393192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用ComfyUI IP-Adapter测试10个不同场景的一致性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" y="4526280"/>
            <a:ext cx="25400" cy="1371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57200" y="466344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4663440"/>
            <a:ext cx="73152" cy="685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31520" y="4773168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47731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71600" y="475488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如效果不佳，准备30-50张训练集训练LoRA模型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5349240"/>
            <a:ext cx="25400" cy="1371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57200" y="548640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" y="5486400"/>
            <a:ext cx="73152" cy="6858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31520" y="5596128"/>
            <a:ext cx="411480" cy="4114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559612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71600" y="557784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建立角色资产文件夹结构，编写提示词模板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模块09：角色一致性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10515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🛠️ 本模块实操任务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25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50876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4630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46304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用AI工具生成同一角色的5张图片，观察并记录不一致的具体表现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9456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233172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22860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28600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搭建ComfyUI IP-Adapter FaceID工作流，测试不同权重值（0.6/0.75/0.85）的效果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01752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315468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31089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310896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为角色准备40张训练图片并编写标注，执行LoRA微调训练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4048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397764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393192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使用ADetailer对有面部问题的图片进行自动修复，测试不同重渲染强度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66344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0080" y="480060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88720" y="47548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5920" y="475488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建立标准化角色资产库目录，整理所有角色参考图、LoRA模型和提示词模板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486400"/>
            <a:ext cx="11247120" cy="685800"/>
          </a:xfrm>
          <a:prstGeom prst="roundRect">
            <a:avLst/>
          </a:prstGeom>
          <a:solidFill>
            <a:srgbClr val="141E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0080" y="5623560"/>
            <a:ext cx="365760" cy="365760"/>
          </a:xfrm>
          <a:prstGeom prst="roundRect">
            <a:avLst/>
          </a:prstGeom>
          <a:noFill/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88720" y="5577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  <a:latin typeface="Microsoft YaHei"/>
              </a:defRPr>
            </a:pPr>
            <a:r>
              <a:t>#6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45920" y="5577840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8"/>
                </a:solidFill>
                <a:latin typeface="Microsoft YaHei"/>
              </a:defRPr>
            </a:pPr>
            <a:r>
              <a:t>完成2个主要角色的完整资产建设，通过一致性验收测试（≥8/10场景通过）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446520"/>
            <a:ext cx="12191695" cy="1905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模块09：角色一致性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B9E"/>
                </a:solidFill>
                <a:latin typeface="Microsoft YaHe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0" y="1371600"/>
            <a:ext cx="2103120" cy="210312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0" y="164592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0">
                <a:solidFill>
                  <a:srgbClr val="FFFFFF"/>
                </a:solidFill>
                <a:latin typeface="Microsoft YaHei"/>
              </a:defRPr>
            </a:pPr>
            <a:r>
              <a:t>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840480"/>
            <a:ext cx="121916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4754880"/>
            <a:ext cx="2103120" cy="3810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50292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BD5E8"/>
                </a:solidFill>
                <a:latin typeface="Microsoft YaHei"/>
              </a:defRPr>
            </a:pPr>
            <a:r>
              <a:t>下一模块：配音配乐与音画同步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B7B9E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