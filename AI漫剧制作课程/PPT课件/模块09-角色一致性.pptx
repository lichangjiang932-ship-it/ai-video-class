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F43F5E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2743200"/>
            <a:ext cx="5486400" cy="5486400"/>
          </a:xfrm>
          <a:prstGeom prst="ellipse">
            <a:avLst/>
          </a:prstGeom>
          <a:solidFill>
            <a:srgbClr val="FB7185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4572000"/>
            <a:ext cx="3657600" cy="3657600"/>
          </a:xfrm>
          <a:prstGeom prst="ellipse">
            <a:avLst/>
          </a:prstGeom>
          <a:solidFill>
            <a:srgbClr val="FDA4A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182880" cy="68580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91440" cy="6858000"/>
          </a:xfrm>
          <a:prstGeom prst="rect">
            <a:avLst/>
          </a:prstGeom>
          <a:solidFill>
            <a:srgbClr val="7D3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016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031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774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8016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5448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288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774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288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1031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774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7315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0" b="1">
                <a:solidFill>
                  <a:srgbClr val="FFFF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657600"/>
            <a:ext cx="1828800" cy="329184"/>
          </a:xfrm>
          <a:prstGeom prst="round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657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DA4AF"/>
                </a:solidFill>
                <a:latin typeface="Microsoft YaHei"/>
              </a:defRPr>
            </a:pPr>
            <a:r>
              <a:t>M O D U L 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14800"/>
            <a:ext cx="285751" cy="38100"/>
          </a:xfrm>
          <a:prstGeom prst="rect">
            <a:avLst/>
          </a:prstGeom>
          <a:solidFill>
            <a:srgbClr val="FD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2950" y="4114800"/>
            <a:ext cx="285750" cy="38100"/>
          </a:xfrm>
          <a:prstGeom prst="rect">
            <a:avLst/>
          </a:prstGeom>
          <a:solidFill>
            <a:srgbClr val="FB9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8700" y="4114800"/>
            <a:ext cx="285750" cy="38100"/>
          </a:xfrm>
          <a:prstGeom prst="rect">
            <a:avLst/>
          </a:prstGeom>
          <a:solidFill>
            <a:srgbClr val="FA8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14450" y="4114800"/>
            <a:ext cx="285750" cy="38100"/>
          </a:xfrm>
          <a:prstGeom prst="rect">
            <a:avLst/>
          </a:prstGeom>
          <a:solidFill>
            <a:srgbClr val="F9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00200" y="4114800"/>
            <a:ext cx="285750" cy="38100"/>
          </a:xfrm>
          <a:prstGeom prst="rect">
            <a:avLst/>
          </a:prstGeom>
          <a:solidFill>
            <a:srgbClr val="F7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85950" y="4114800"/>
            <a:ext cx="285750" cy="38100"/>
          </a:xfrm>
          <a:prstGeom prst="rect">
            <a:avLst/>
          </a:prstGeom>
          <a:solidFill>
            <a:srgbClr val="F65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71700" y="4114800"/>
            <a:ext cx="285750" cy="38100"/>
          </a:xfrm>
          <a:prstGeom prst="rect">
            <a:avLst/>
          </a:prstGeom>
          <a:solidFill>
            <a:srgbClr val="F5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57450" y="4114800"/>
            <a:ext cx="285750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040" y="1097280"/>
            <a:ext cx="5486400" cy="457200"/>
          </a:xfrm>
          <a:prstGeom prst="roundRect">
            <a:avLst/>
          </a:prstGeom>
          <a:solidFill>
            <a:srgbClr val="4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DA4AF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2011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Microsoft YaHei"/>
              </a:defRPr>
            </a:pPr>
            <a:r>
              <a:t>模块九：角色一致性攻克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840480"/>
            <a:ext cx="400051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5090" y="3840480"/>
            <a:ext cx="400050" cy="381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35140" y="3840480"/>
            <a:ext cx="400050" cy="381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35190" y="3840480"/>
            <a:ext cx="400050" cy="381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35240" y="3840480"/>
            <a:ext cx="400050" cy="381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35290" y="3840480"/>
            <a:ext cx="400050" cy="381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35340" y="3840480"/>
            <a:ext cx="400050" cy="381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35390" y="3840480"/>
            <a:ext cx="400050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42062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6课时 · 跨镜头角色形象统一核心技术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35040" y="5303520"/>
            <a:ext cx="5486400" cy="6400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43F5E"/>
                </a:solidFill>
                <a:latin typeface="Microsoft YaHei"/>
              </a:defRPr>
            </a:pPr>
            <a:r>
              <a:t>124课时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609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438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43F5E"/>
                </a:solidFill>
                <a:latin typeface="Microsoft YaHei"/>
              </a:defRPr>
            </a:pPr>
            <a:r>
              <a:t>17模块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325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154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43F5E"/>
                </a:solidFill>
                <a:latin typeface="Microsoft YaHei"/>
              </a:defRPr>
            </a:pPr>
            <a:r>
              <a:t>8-16周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041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870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43F5E"/>
                </a:solidFill>
                <a:latin typeface="Microsoft YaHei"/>
              </a:defRPr>
            </a:pPr>
            <a:r>
              <a:t>全流程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80" y="0"/>
            <a:ext cx="1036015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978640" y="0"/>
            <a:ext cx="38100" cy="7315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521440" y="274320"/>
            <a:ext cx="137160" cy="137160"/>
          </a:xfrm>
          <a:prstGeom prst="ellipse">
            <a:avLst/>
          </a:prstGeom>
          <a:solidFill>
            <a:srgbClr val="FDA4A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43F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B718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§  本节内容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DA4A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31520" y="1397000"/>
            <a:ext cx="274320" cy="27432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22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角色一致性技术全景</a:t>
            </a:r>
          </a:p>
        </p:txBody>
      </p:sp>
      <p:sp>
        <p:nvSpPr>
          <p:cNvPr id="44" name="Oval 43"/>
          <p:cNvSpPr/>
          <p:nvPr/>
        </p:nvSpPr>
        <p:spPr>
          <a:xfrm>
            <a:off x="731520" y="1963928"/>
            <a:ext cx="274320" cy="27432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422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ComfyUI IP-Adapter FaceID工作流</a:t>
            </a:r>
          </a:p>
        </p:txBody>
      </p:sp>
      <p:sp>
        <p:nvSpPr>
          <p:cNvPr id="47" name="Oval 46"/>
          <p:cNvSpPr/>
          <p:nvPr/>
        </p:nvSpPr>
        <p:spPr>
          <a:xfrm>
            <a:off x="731520" y="2530856"/>
            <a:ext cx="274320" cy="27432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422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LoRA微调训练实战</a:t>
            </a:r>
          </a:p>
        </p:txBody>
      </p:sp>
      <p:sp>
        <p:nvSpPr>
          <p:cNvPr id="50" name="Oval 49"/>
          <p:cNvSpPr/>
          <p:nvPr/>
        </p:nvSpPr>
        <p:spPr>
          <a:xfrm>
            <a:off x="6400800" y="1397000"/>
            <a:ext cx="274320" cy="27432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1350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ADetailer面部偏移自动修复</a:t>
            </a:r>
          </a:p>
        </p:txBody>
      </p:sp>
      <p:sp>
        <p:nvSpPr>
          <p:cNvPr id="53" name="Oval 52"/>
          <p:cNvSpPr/>
          <p:nvPr/>
        </p:nvSpPr>
        <p:spPr>
          <a:xfrm>
            <a:off x="6400800" y="1963928"/>
            <a:ext cx="274320" cy="27432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1350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角色资产库工业化管理</a:t>
            </a:r>
          </a:p>
        </p:txBody>
      </p:sp>
      <p:sp>
        <p:nvSpPr>
          <p:cNvPr id="56" name="Oval 55"/>
          <p:cNvSpPr/>
          <p:nvPr/>
        </p:nvSpPr>
        <p:spPr>
          <a:xfrm>
            <a:off x="6400800" y="2530856"/>
            <a:ext cx="274320" cy="27432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1350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实战：建立完整角色资产体系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模块09 · 角色一致性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43F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B718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◎ 六大一致性方案速览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DA4A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94360" y="1280160"/>
            <a:ext cx="3383280" cy="18288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4360" y="1280160"/>
            <a:ext cx="422911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17270" y="1280160"/>
            <a:ext cx="422910" cy="381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440180" y="1280160"/>
            <a:ext cx="422910" cy="381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863090" y="1280160"/>
            <a:ext cx="422910" cy="381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86000" y="1280160"/>
            <a:ext cx="422910" cy="381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08910" y="1280160"/>
            <a:ext cx="422910" cy="381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131820" y="1280160"/>
            <a:ext cx="422910" cy="381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554730" y="1280160"/>
            <a:ext cx="422910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43F5E"/>
                </a:solidFill>
                <a:latin typeface="Microsoft YaHei"/>
              </a:defRPr>
            </a:pPr>
            <a:r>
              <a:t>◆️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1965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Microsoft YaHei"/>
              </a:defRPr>
            </a:pPr>
            <a:r>
              <a:t>角色参考图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" y="237744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输入参考图约束生成，即梦AI/通义万相，难度★★☆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297680" y="1280160"/>
            <a:ext cx="3383280" cy="18288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97680" y="1280160"/>
            <a:ext cx="422911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720590" y="1280160"/>
            <a:ext cx="422910" cy="381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43500" y="1280160"/>
            <a:ext cx="422910" cy="381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566410" y="1280160"/>
            <a:ext cx="422910" cy="381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989320" y="1280160"/>
            <a:ext cx="422910" cy="381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412230" y="1280160"/>
            <a:ext cx="422910" cy="381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835140" y="1280160"/>
            <a:ext cx="422910" cy="381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258050" y="1280160"/>
            <a:ext cx="422910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8056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43F5E"/>
                </a:solidFill>
                <a:latin typeface="Microsoft YaHei"/>
              </a:defRPr>
            </a:pPr>
            <a:r>
              <a:t>§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80560" y="1965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Microsoft YaHei"/>
              </a:defRPr>
            </a:pPr>
            <a:r>
              <a:t>角色档案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80560" y="237744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多角度参考图集，Seedance 2.0，难度★★☆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001000" y="1280160"/>
            <a:ext cx="3383280" cy="18288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01000" y="1280160"/>
            <a:ext cx="422911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23910" y="1280160"/>
            <a:ext cx="422910" cy="381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846820" y="1280160"/>
            <a:ext cx="422910" cy="381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269730" y="1280160"/>
            <a:ext cx="422910" cy="381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692640" y="1280160"/>
            <a:ext cx="422910" cy="381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115550" y="1280160"/>
            <a:ext cx="422910" cy="381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538460" y="1280160"/>
            <a:ext cx="422910" cy="381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961370" y="1280160"/>
            <a:ext cx="422910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18388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43F5E"/>
                </a:solidFill>
                <a:latin typeface="Microsoft YaHei"/>
              </a:defRPr>
            </a:pPr>
            <a:r>
              <a:t>◇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83880" y="1965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Microsoft YaHei"/>
              </a:defRPr>
            </a:pPr>
            <a:r>
              <a:t>IP-Adapter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183880" y="237744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特征向量注入，ComfyUI，难度★★★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94360" y="3429000"/>
            <a:ext cx="3383280" cy="18288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94360" y="3429000"/>
            <a:ext cx="422911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17270" y="3429000"/>
            <a:ext cx="422910" cy="381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440180" y="3429000"/>
            <a:ext cx="422910" cy="381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863090" y="3429000"/>
            <a:ext cx="422910" cy="381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286000" y="3429000"/>
            <a:ext cx="422910" cy="381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708910" y="3429000"/>
            <a:ext cx="422910" cy="381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131820" y="3429000"/>
            <a:ext cx="422910" cy="381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554730" y="3429000"/>
            <a:ext cx="422910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77240" y="3611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43F5E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7240" y="4114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Microsoft YaHei"/>
              </a:defRPr>
            </a:pPr>
            <a:r>
              <a:t>LoRA微调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77240" y="452628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训练专属模型，SD WebUI，难度★★★★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297680" y="3429000"/>
            <a:ext cx="3383280" cy="18288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297680" y="3429000"/>
            <a:ext cx="422911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720590" y="3429000"/>
            <a:ext cx="422910" cy="381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143500" y="3429000"/>
            <a:ext cx="422910" cy="381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5566410" y="3429000"/>
            <a:ext cx="422910" cy="381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989320" y="3429000"/>
            <a:ext cx="422910" cy="381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412230" y="3429000"/>
            <a:ext cx="422910" cy="381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835140" y="3429000"/>
            <a:ext cx="422910" cy="381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258050" y="3429000"/>
            <a:ext cx="422910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480560" y="3611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43F5E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480560" y="4114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Microsoft YaHei"/>
              </a:defRPr>
            </a:pPr>
            <a:r>
              <a:t>ADetailer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480560" y="452628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面部偏移自动修复，ComfyUI，难度★★☆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8001000" y="3429000"/>
            <a:ext cx="3383280" cy="18288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001000" y="3429000"/>
            <a:ext cx="422911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423910" y="3429000"/>
            <a:ext cx="422910" cy="381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46820" y="3429000"/>
            <a:ext cx="422910" cy="381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69730" y="3429000"/>
            <a:ext cx="422910" cy="381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692640" y="3429000"/>
            <a:ext cx="422910" cy="381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115550" y="3429000"/>
            <a:ext cx="422910" cy="381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538460" y="3429000"/>
            <a:ext cx="422910" cy="381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961370" y="3429000"/>
            <a:ext cx="422910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183880" y="3611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43F5E"/>
                </a:solidFill>
                <a:latin typeface="Microsoft YaHei"/>
              </a:defRPr>
            </a:pPr>
            <a:r>
              <a:t>■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183880" y="4114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Microsoft YaHei"/>
              </a:defRPr>
            </a:pPr>
            <a:r>
              <a:t>资产库管理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183880" y="452628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工业化标准数据集，全工具通用，难度★★☆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模块09 · 角色一致性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0"/>
            <a:ext cx="6400800" cy="6400800"/>
          </a:xfrm>
          <a:prstGeom prst="ellipse">
            <a:avLst/>
          </a:prstGeom>
          <a:solidFill>
            <a:srgbClr val="F43F5E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2743200"/>
            <a:ext cx="4572000" cy="4572000"/>
          </a:xfrm>
          <a:prstGeom prst="ellipse">
            <a:avLst/>
          </a:prstGeom>
          <a:solidFill>
            <a:srgbClr val="FB7185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720091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20490" y="1097280"/>
            <a:ext cx="720090" cy="381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40580" y="1097280"/>
            <a:ext cx="720090" cy="381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60670" y="1097280"/>
            <a:ext cx="720090" cy="381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097280"/>
            <a:ext cx="720090" cy="381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00850" y="1097280"/>
            <a:ext cx="720090" cy="381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20940" y="1097280"/>
            <a:ext cx="720090" cy="381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41030" y="1097280"/>
            <a:ext cx="720090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6459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AI模型每次生成都是从随机噪声开始，没有"记忆"能力，无法天然保证同一角色在不同镜头中长得一样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931920"/>
            <a:ext cx="262891" cy="254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3931920"/>
            <a:ext cx="262890" cy="254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3931920"/>
            <a:ext cx="262890" cy="254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3931920"/>
            <a:ext cx="262890" cy="254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931920"/>
            <a:ext cx="262890" cy="254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3931920"/>
            <a:ext cx="262890" cy="254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3931920"/>
            <a:ext cx="262890" cy="254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3931920"/>
            <a:ext cx="262890" cy="254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97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不一致的具体表现：面部特征变化（最严重）、发型发色变化、服装颜色/款式变化、体型变化、配饰/武器变化、整体画风漂移。角色一致性的商业价值：品牌识别、粉丝粘性、IP价值、专业感。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模块09 · 角色一致性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43F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B718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角色一致性解决方案对比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DA4A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方案</a:t>
                      </a:r>
                    </a:p>
                  </a:txBody>
                  <a:tcPr anchor="ctr">
                    <a:solidFill>
                      <a:srgbClr val="F43F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技术原理</a:t>
                      </a:r>
                    </a:p>
                  </a:txBody>
                  <a:tcPr anchor="ctr">
                    <a:solidFill>
                      <a:srgbClr val="F43F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适用工具</a:t>
                      </a:r>
                    </a:p>
                  </a:txBody>
                  <a:tcPr anchor="ctr">
                    <a:solidFill>
                      <a:srgbClr val="F43F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难度</a:t>
                      </a:r>
                    </a:p>
                  </a:txBody>
                  <a:tcPr anchor="ctr">
                    <a:solidFill>
                      <a:srgbClr val="F43F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一致性</a:t>
                      </a:r>
                    </a:p>
                  </a:txBody>
                  <a:tcPr anchor="ctr">
                    <a:solidFill>
                      <a:srgbClr val="F43F5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角色参考图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输入参考图约束生成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即梦AI/通义万相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角色档案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多角度参考图集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Seedance 2.0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IP-Adapter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图像特征注入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ComfyUI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LoRA微调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训练角色专属模型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ComfyUI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★★★★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最高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ADetailer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面部检测+重渲染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ComfyUI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中高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组合方案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IP-Adapter+LoRA+ADetailer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ComfyUI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最完美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模块09 · 角色一致性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43F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B718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ComfyUI IP-Adapter FaceID 工作流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DA4A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原理：通过IP-Adapter模型注入面部特征，ControlNet固定姿态，ADetailer修复面部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核心参数：IP-Adapter权重0.7-0.85（推荐0.75）、ControlNet强度0.5-0.7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工作流连接：Checkpoint→IPAdapter FaceID→ControlNet→KSampler→ADetailer→Save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权重过高（0.95+）会过拟合，几乎复制参考图失去多样性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ADetailer参数：检测阈值0.3、重渲染强度0.4-0.6、使用与主模型相同的重渲染模型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模块09 · 角色一致性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43F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B718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LoRA微调训练要点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DA4A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原理：在基础模型上添加小的"适配层"，只学习"这个角色长什么样"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训练数据：30-50张角色图片，覆盖正面/侧面/3/4角度/全身/特写，统一1024×1024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关键参数：network_dim 32-64、learning_rate 1e-4~5e-5、max_epochs 8-15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训练时间：40张图/10 epoch约2-4小时（RTX 3080）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使用时LoRA强度建议0.6-0.8，过高可能过拟合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过拟合判断：生成图与训练图完全一样、缺乏多样性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模块09 · 角色一致性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43F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B718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角色资产库工业化管理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DA4A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标准化目录：角色A/参考图 + LoRA + 提示词 + 设定文档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图片规范：1024×1024 PNG、纯色背景、统一柔光、覆盖全部角度和表情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版本命名：角色名_v1.0_日期.safetensors，记录每次变化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提示词模板：base_prompt.txt（基础）+ scene_prompts.txt（场景）+ action_prompts.txt（动作）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跨项目复用：打包角色文件夹，复制到新项目后调整提示词适配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模块09 · 角色一致性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43F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B718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一致性验收评分标准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DA4A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评分</a:t>
                      </a:r>
                    </a:p>
                  </a:txBody>
                  <a:tcPr anchor="ctr">
                    <a:solidFill>
                      <a:srgbClr val="F43F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通过场景数</a:t>
                      </a:r>
                    </a:p>
                  </a:txBody>
                  <a:tcPr anchor="ctr">
                    <a:solidFill>
                      <a:srgbClr val="F43F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F43F5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优秀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10/10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角色高度一致，可直接用于正式项目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良好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8-9/10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角色基本一致，少量场景需微调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合格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6-7/10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需要优化训练数据或参数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不合格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&lt;6/10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需要重新训练或更换方案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模块09 · 角色一致性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43F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B718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完整角色资产体系建设流程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DA4A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确定角色设定（外貌/服装/性格），编写角色设定文档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1371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221992"/>
            <a:ext cx="6859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8378" y="2221992"/>
            <a:ext cx="6858" cy="36576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5236" y="2221992"/>
            <a:ext cx="6858" cy="36576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2094" y="2221992"/>
            <a:ext cx="6858" cy="36576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8952" y="2221992"/>
            <a:ext cx="6858" cy="36576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5810" y="2221992"/>
            <a:ext cx="6858" cy="36576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2668" y="2221992"/>
            <a:ext cx="6858" cy="36576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9526" y="2221992"/>
            <a:ext cx="6858" cy="365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" y="2148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用即梦AI生成初始参考图20-30张（正面×10、侧面×5、3/4×5、全身×5、特写×5）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2148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2999232"/>
            <a:ext cx="6859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8378" y="2999232"/>
            <a:ext cx="6858" cy="36576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45236" y="2999232"/>
            <a:ext cx="6858" cy="36576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52094" y="2999232"/>
            <a:ext cx="6858" cy="36576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58952" y="2999232"/>
            <a:ext cx="6858" cy="36576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65810" y="2999232"/>
            <a:ext cx="6858" cy="36576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72668" y="2999232"/>
            <a:ext cx="6858" cy="36576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9526" y="2999232"/>
            <a:ext cx="6858" cy="365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2688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筛选最佳图片保留15-20张，检查角色一致性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" y="3776472"/>
            <a:ext cx="6859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8378" y="3776472"/>
            <a:ext cx="6858" cy="36576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45236" y="3776472"/>
            <a:ext cx="6858" cy="36576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52094" y="3776472"/>
            <a:ext cx="6858" cy="36576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58952" y="3776472"/>
            <a:ext cx="6858" cy="36576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5810" y="3776472"/>
            <a:ext cx="6858" cy="36576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72668" y="3776472"/>
            <a:ext cx="6858" cy="36576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79526" y="3776472"/>
            <a:ext cx="6858" cy="365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2688" y="3703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用ComfyUI IP-Adapter测试10个不同场景的一致性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3703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1520" y="4553712"/>
            <a:ext cx="6859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8378" y="4553712"/>
            <a:ext cx="6858" cy="36576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5236" y="4553712"/>
            <a:ext cx="6858" cy="36576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2094" y="4553712"/>
            <a:ext cx="6858" cy="36576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8952" y="4553712"/>
            <a:ext cx="6858" cy="36576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5810" y="4553712"/>
            <a:ext cx="6858" cy="36576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2668" y="4553712"/>
            <a:ext cx="6858" cy="36576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9526" y="4553712"/>
            <a:ext cx="6858" cy="365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32688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如效果不佳，准备30-50张训练集训练LoRA模型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1520" y="4480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31520" y="5330952"/>
            <a:ext cx="6859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38378" y="5330952"/>
            <a:ext cx="6858" cy="36576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45236" y="5330952"/>
            <a:ext cx="6858" cy="36576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52094" y="5330952"/>
            <a:ext cx="6858" cy="36576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58952" y="5330952"/>
            <a:ext cx="6858" cy="36576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65810" y="5330952"/>
            <a:ext cx="6858" cy="36576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72668" y="5330952"/>
            <a:ext cx="6858" cy="36576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79526" y="5330952"/>
            <a:ext cx="6858" cy="365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32688" y="5257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建立角色资产文件夹结构，编写提示词模板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31520" y="5257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模块09 · 角色一致性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43F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B718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◆  本模块实操任务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14447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14447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8096" y="14447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" y="14447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1248" y="14447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7824" y="14447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14447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0976" y="14447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7552" y="14447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用AI工具生成同一角色的5张图片，观察并记录不一致的具体表现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222199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1520" y="222199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8096" y="222199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672" y="222199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1248" y="222199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7824" y="222199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400" y="222199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50976" y="222199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7552" y="222199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887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45920" y="2148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搭建ComfyUI IP-Adapter FaceID工作流，测试不同权重值（0.6/0.75/0.85）的效果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299923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" y="299923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68096" y="299923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4672" y="299923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1248" y="299923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" y="299923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4400" y="299923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50976" y="299923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7552" y="299923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887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45920" y="2926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为角色准备40张训练图片并编写标注，执行LoRA微调训练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" y="377647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31520" y="377647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8096" y="377647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4672" y="377647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1248" y="377647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77824" y="377647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4400" y="377647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50976" y="377647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87552" y="377647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8872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45920" y="3703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使用ADetailer对有面部问题的图片进行自动修复，测试不同重渲染强度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" y="455371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" y="455371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8096" y="455371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4672" y="455371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1248" y="455371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77824" y="455371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14400" y="455371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50976" y="455371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87552" y="455371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8872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45920" y="4480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建立标准化角色资产库目录，整理所有角色参考图、LoRA模型和提示词模板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31520" y="53309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31520" y="53309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68096" y="53309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04672" y="53309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41248" y="53309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7824" y="53309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14400" y="53309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50976" y="53309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87552" y="53309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88720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645920" y="5257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完成2个主要角色的完整资产建设，通过一致性验收测试（≥8/10场景通过）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模块09 · 角色一致性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F43F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1371600"/>
            <a:ext cx="491491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06290" y="1371600"/>
            <a:ext cx="491490" cy="381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97780" y="1371600"/>
            <a:ext cx="491490" cy="381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9270" y="1371600"/>
            <a:ext cx="491490" cy="381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1371600"/>
            <a:ext cx="491490" cy="381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72250" y="1371600"/>
            <a:ext cx="491490" cy="381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63740" y="1371600"/>
            <a:ext cx="491490" cy="381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55230" y="1371600"/>
            <a:ext cx="491490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43F5E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32004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本模块结束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023360"/>
            <a:ext cx="262891" cy="254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4023360"/>
            <a:ext cx="262890" cy="254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4023360"/>
            <a:ext cx="262890" cy="254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4023360"/>
            <a:ext cx="262890" cy="254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4023360"/>
            <a:ext cx="262890" cy="254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4023360"/>
            <a:ext cx="262890" cy="254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4023360"/>
            <a:ext cx="262890" cy="254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4023360"/>
            <a:ext cx="262890" cy="254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8BAC8"/>
                </a:solidFill>
                <a:latin typeface="Microsoft YaHei"/>
              </a:defRPr>
            </a:pPr>
            <a:r>
              <a:t>下一模块：配音配乐与音画同步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7082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