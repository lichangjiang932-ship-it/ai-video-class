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0"/>
            <a:ext cx="137160" cy="6858000"/>
          </a:xfrm>
          <a:prstGeom prst="rect">
            <a:avLst/>
          </a:prstGeom>
          <a:solidFill>
            <a:srgbClr val="009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166360" y="0"/>
            <a:ext cx="73152" cy="6858000"/>
          </a:xfrm>
          <a:prstGeom prst="rect">
            <a:avLst/>
          </a:prstGeom>
          <a:solidFill>
            <a:srgbClr val="005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39512" y="0"/>
            <a:ext cx="36576" cy="6858000"/>
          </a:xfrm>
          <a:prstGeom prst="rect">
            <a:avLst/>
          </a:prstGeom>
          <a:solidFill>
            <a:srgbClr val="0029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5276088" cy="25400"/>
          </a:xfrm>
          <a:prstGeom prst="rect">
            <a:avLst/>
          </a:prstGeom>
          <a:solidFill>
            <a:srgbClr val="EE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32600"/>
            <a:ext cx="5276088" cy="25400"/>
          </a:xfrm>
          <a:prstGeom prst="rect">
            <a:avLst/>
          </a:prstGeom>
          <a:solidFill>
            <a:srgbClr val="EE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25400" cy="6858000"/>
          </a:xfrm>
          <a:prstGeom prst="rect">
            <a:avLst/>
          </a:prstGeom>
          <a:solidFill>
            <a:srgbClr val="EE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5300" y="95250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0" b="1">
                <a:solidFill>
                  <a:srgbClr val="00331F"/>
                </a:solidFill>
                <a:latin typeface="Microsoft YaHei"/>
              </a:defRPr>
            </a:pPr>
            <a: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91440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0" b="1">
                <a:solidFill>
                  <a:srgbClr val="00CE7E"/>
                </a:solidFill>
                <a:latin typeface="Microsoft YaHei"/>
              </a:defRPr>
            </a:pPr>
            <a:r>
              <a:t>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657600"/>
            <a:ext cx="1463040" cy="292608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65760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89AA8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069080"/>
            <a:ext cx="402337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50976" y="4069080"/>
            <a:ext cx="402336" cy="38100"/>
          </a:xfrm>
          <a:prstGeom prst="rect">
            <a:avLst/>
          </a:prstGeom>
          <a:solidFill>
            <a:srgbClr val="00A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53312" y="4069080"/>
            <a:ext cx="402336" cy="38100"/>
          </a:xfrm>
          <a:prstGeom prst="rect">
            <a:avLst/>
          </a:prstGeom>
          <a:solidFill>
            <a:srgbClr val="009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55648" y="4069080"/>
            <a:ext cx="402336" cy="38100"/>
          </a:xfrm>
          <a:prstGeom prst="rect">
            <a:avLst/>
          </a:prstGeom>
          <a:solidFill>
            <a:srgbClr val="007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157984" y="4069080"/>
            <a:ext cx="402336" cy="38100"/>
          </a:xfrm>
          <a:prstGeom prst="rect">
            <a:avLst/>
          </a:prstGeom>
          <a:solidFill>
            <a:srgbClr val="005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669280" y="1280160"/>
            <a:ext cx="5760720" cy="438912"/>
          </a:xfrm>
          <a:prstGeom prst="round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0" y="1280160"/>
            <a:ext cx="5760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EEEF4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2286000"/>
            <a:ext cx="5760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EEEEF4"/>
                </a:solidFill>
                <a:latin typeface="Microsoft YaHei"/>
              </a:defRPr>
            </a:pPr>
            <a:r>
              <a:t>模块15：平台分发与商业变现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0" y="4023360"/>
            <a:ext cx="548641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4023360"/>
            <a:ext cx="548640" cy="38100"/>
          </a:xfrm>
          <a:prstGeom prst="rect">
            <a:avLst/>
          </a:prstGeom>
          <a:solidFill>
            <a:srgbClr val="00A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66560" y="4023360"/>
            <a:ext cx="548640" cy="38100"/>
          </a:xfrm>
          <a:prstGeom prst="rect">
            <a:avLst/>
          </a:prstGeom>
          <a:solidFill>
            <a:srgbClr val="009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0" y="4023360"/>
            <a:ext cx="548640" cy="38100"/>
          </a:xfrm>
          <a:prstGeom prst="rect">
            <a:avLst/>
          </a:prstGeom>
          <a:solidFill>
            <a:srgbClr val="007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863840" y="4023360"/>
            <a:ext cx="548640" cy="38100"/>
          </a:xfrm>
          <a:prstGeom prst="rect">
            <a:avLst/>
          </a:prstGeom>
          <a:solidFill>
            <a:srgbClr val="005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0" y="4389120"/>
            <a:ext cx="5760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89AA8"/>
                </a:solidFill>
                <a:latin typeface="Microsoft YaHei"/>
              </a:defRPr>
            </a:pPr>
            <a:r>
              <a:t>8课时 · 主流平台运营策略与多元化变现路径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0" y="5486400"/>
            <a:ext cx="5760720" cy="59436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0644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4662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2698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0" y="0"/>
            <a:ext cx="761695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070080" y="0"/>
            <a:ext cx="38100" cy="6400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D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📋  本节内容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E7E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抖音漫剧运营全攻略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3852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E7E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红果短剧分账机制详解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0545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E7E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快手漫剧分发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07238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E7E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B站漫剧生态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3716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E7E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火龙漫剧（腾讯）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93852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E7E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AI漫剧出海变现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50545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E7E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IP授权与衍生开发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07238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E7E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实战——从制作到多平台分发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D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📊  💰 变现阶梯与收入预期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2628900" cy="475488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71600"/>
            <a:ext cx="525781" cy="508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2980" y="1371600"/>
            <a:ext cx="525780" cy="50800"/>
          </a:xfrm>
          <a:prstGeom prst="rect">
            <a:avLst/>
          </a:prstGeom>
          <a:solidFill>
            <a:srgbClr val="00A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508760" y="1371600"/>
            <a:ext cx="525780" cy="50800"/>
          </a:xfrm>
          <a:prstGeom prst="rect">
            <a:avLst/>
          </a:prstGeom>
          <a:solidFill>
            <a:srgbClr val="009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34540" y="1371600"/>
            <a:ext cx="525780" cy="50800"/>
          </a:xfrm>
          <a:prstGeom prst="rect">
            <a:avLst/>
          </a:prstGeom>
          <a:solidFill>
            <a:srgbClr val="007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60320" y="1371600"/>
            <a:ext cx="525780" cy="50800"/>
          </a:xfrm>
          <a:prstGeom prst="rect">
            <a:avLst/>
          </a:prstGeom>
          <a:solidFill>
            <a:srgbClr val="005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73736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00CE7E"/>
                </a:solidFill>
                <a:latin typeface="Microsoft YaHei"/>
              </a:defRPr>
            </a:pPr>
            <a:r>
              <a:t>1-10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92608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55768"/>
                </a:solidFill>
                <a:latin typeface="Microsoft YaHei"/>
              </a:defRPr>
            </a:pPr>
            <a:r>
              <a:t>万/月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337560"/>
            <a:ext cx="2080260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52044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EEEF4"/>
                </a:solidFill>
                <a:latin typeface="Microsoft YaHei"/>
              </a:defRPr>
            </a:pPr>
            <a:r>
              <a:t>Level 1 平台分账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023360"/>
            <a:ext cx="23545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55768"/>
                </a:solidFill>
                <a:latin typeface="Microsoft YaHei"/>
              </a:defRPr>
            </a:pPr>
            <a:r>
              <a:t>入门级，抖音/红果/B站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14700" y="1371600"/>
            <a:ext cx="2628900" cy="475488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314700" y="1371600"/>
            <a:ext cx="525781" cy="508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40480" y="1371600"/>
            <a:ext cx="525780" cy="50800"/>
          </a:xfrm>
          <a:prstGeom prst="rect">
            <a:avLst/>
          </a:prstGeom>
          <a:solidFill>
            <a:srgbClr val="00A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66260" y="1371600"/>
            <a:ext cx="525780" cy="50800"/>
          </a:xfrm>
          <a:prstGeom prst="rect">
            <a:avLst/>
          </a:prstGeom>
          <a:solidFill>
            <a:srgbClr val="009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892040" y="1371600"/>
            <a:ext cx="525780" cy="50800"/>
          </a:xfrm>
          <a:prstGeom prst="rect">
            <a:avLst/>
          </a:prstGeom>
          <a:solidFill>
            <a:srgbClr val="007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17820" y="1371600"/>
            <a:ext cx="525780" cy="50800"/>
          </a:xfrm>
          <a:prstGeom prst="rect">
            <a:avLst/>
          </a:prstGeom>
          <a:solidFill>
            <a:srgbClr val="005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06140" y="173736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00CE7E"/>
                </a:solidFill>
                <a:latin typeface="Microsoft YaHei"/>
              </a:defRPr>
            </a:pPr>
            <a:r>
              <a:t>5-30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06140" y="292608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55768"/>
                </a:solidFill>
                <a:latin typeface="Microsoft YaHei"/>
              </a:defRPr>
            </a:pPr>
            <a:r>
              <a:t>万/月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89020" y="3337560"/>
            <a:ext cx="2080260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06140" y="352044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EEEF4"/>
                </a:solidFill>
                <a:latin typeface="Microsoft YaHei"/>
              </a:defRPr>
            </a:pPr>
            <a:r>
              <a:t>Level 2 付费解锁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1860" y="4023360"/>
            <a:ext cx="23545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55768"/>
                </a:solidFill>
                <a:latin typeface="Microsoft YaHei"/>
              </a:defRPr>
            </a:pPr>
            <a:r>
              <a:t>进阶级，付费卡点设计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1371600"/>
            <a:ext cx="2628900" cy="475488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72200" y="1371600"/>
            <a:ext cx="525781" cy="508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697980" y="1371600"/>
            <a:ext cx="525780" cy="50800"/>
          </a:xfrm>
          <a:prstGeom prst="rect">
            <a:avLst/>
          </a:prstGeom>
          <a:solidFill>
            <a:srgbClr val="00A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223760" y="1371600"/>
            <a:ext cx="525780" cy="50800"/>
          </a:xfrm>
          <a:prstGeom prst="rect">
            <a:avLst/>
          </a:prstGeom>
          <a:solidFill>
            <a:srgbClr val="009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49540" y="1371600"/>
            <a:ext cx="525780" cy="50800"/>
          </a:xfrm>
          <a:prstGeom prst="rect">
            <a:avLst/>
          </a:prstGeom>
          <a:solidFill>
            <a:srgbClr val="007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75320" y="1371600"/>
            <a:ext cx="525780" cy="50800"/>
          </a:xfrm>
          <a:prstGeom prst="rect">
            <a:avLst/>
          </a:prstGeom>
          <a:solidFill>
            <a:srgbClr val="005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173736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00CE7E"/>
                </a:solidFill>
                <a:latin typeface="Microsoft YaHei"/>
              </a:defRPr>
            </a:pPr>
            <a:r>
              <a:t>10-50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292608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55768"/>
                </a:solidFill>
                <a:latin typeface="Microsoft YaHei"/>
              </a:defRPr>
            </a:pPr>
            <a:r>
              <a:t>万/月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46520" y="3337560"/>
            <a:ext cx="2080260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352044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EEEF4"/>
                </a:solidFill>
                <a:latin typeface="Microsoft YaHei"/>
              </a:defRPr>
            </a:pPr>
            <a:r>
              <a:t>Level 3 广告植入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4023360"/>
            <a:ext cx="23545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55768"/>
                </a:solidFill>
                <a:latin typeface="Microsoft YaHei"/>
              </a:defRPr>
            </a:pPr>
            <a:r>
              <a:t>品牌合作，剧情软植入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29700" y="1371600"/>
            <a:ext cx="2628900" cy="475488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29700" y="1371600"/>
            <a:ext cx="525781" cy="508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555480" y="1371600"/>
            <a:ext cx="525780" cy="50800"/>
          </a:xfrm>
          <a:prstGeom prst="rect">
            <a:avLst/>
          </a:prstGeom>
          <a:solidFill>
            <a:srgbClr val="00A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081260" y="1371600"/>
            <a:ext cx="525780" cy="50800"/>
          </a:xfrm>
          <a:prstGeom prst="rect">
            <a:avLst/>
          </a:prstGeom>
          <a:solidFill>
            <a:srgbClr val="009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607040" y="1371600"/>
            <a:ext cx="525780" cy="50800"/>
          </a:xfrm>
          <a:prstGeom prst="rect">
            <a:avLst/>
          </a:prstGeom>
          <a:solidFill>
            <a:srgbClr val="007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132820" y="1371600"/>
            <a:ext cx="525780" cy="50800"/>
          </a:xfrm>
          <a:prstGeom prst="rect">
            <a:avLst/>
          </a:prstGeom>
          <a:solidFill>
            <a:srgbClr val="005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21140" y="173736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00CE7E"/>
                </a:solidFill>
                <a:latin typeface="Microsoft YaHei"/>
              </a:defRPr>
            </a:pPr>
            <a:r>
              <a:t>500+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21140" y="292608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55768"/>
                </a:solidFill>
                <a:latin typeface="Microsoft YaHei"/>
              </a:defRPr>
            </a:pPr>
            <a:r>
              <a:t>万/年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304020" y="3337560"/>
            <a:ext cx="2080260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21140" y="352044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EEEF4"/>
                </a:solidFill>
                <a:latin typeface="Microsoft YaHei"/>
              </a:defRPr>
            </a:pPr>
            <a:r>
              <a:t>Level 5 品牌联名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66860" y="4023360"/>
            <a:ext cx="23545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55768"/>
                </a:solidFill>
                <a:latin typeface="Microsoft YaHei"/>
              </a:defRPr>
            </a:pPr>
            <a:r>
              <a:t>跨界合作，联名产品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D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各平台核心指标对比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28016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平台</a:t>
                      </a:r>
                    </a:p>
                  </a:txBody>
                  <a:tcPr anchor="ctr">
                    <a:solidFill>
                      <a:srgbClr val="00CE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核心优势</a:t>
                      </a:r>
                    </a:p>
                  </a:txBody>
                  <a:tcPr anchor="ctr">
                    <a:solidFill>
                      <a:srgbClr val="00CE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最佳题材</a:t>
                      </a:r>
                    </a:p>
                  </a:txBody>
                  <a:tcPr anchor="ctr">
                    <a:solidFill>
                      <a:srgbClr val="00CE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变现方式</a:t>
                      </a:r>
                    </a:p>
                  </a:txBody>
                  <a:tcPr anchor="ctr">
                    <a:solidFill>
                      <a:srgbClr val="00CE7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抖音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流量最大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玄幻/都市/逆袭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流量分账+星图广告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快手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用户粘性高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接地气/情感/家庭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流量分账+直播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B站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粉丝价值高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有深度/高品质/二次元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创作激励+充电+悬赏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红果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变现直接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付费短剧/爽剧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分账（S级3000-5000元/10万播放）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火龙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腾讯生态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全品类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流量分账+微信分发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D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抖音推荐算法核心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完播率（最重要）：前3秒决定生死，优化开头钩子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互动率：点赞、评论、分享，增加互动引导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关注率：看完后关注，优化结尾钩子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流量池递进：200→5000→10万→100万+播放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63440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前3秒法则：第1秒视觉冲击 → 第2秒情绪建立 → 第3秒信息传达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D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封面设计四原则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2628900" cy="457200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71600"/>
            <a:ext cx="525781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2980" y="1371600"/>
            <a:ext cx="525780" cy="38100"/>
          </a:xfrm>
          <a:prstGeom prst="rect">
            <a:avLst/>
          </a:prstGeom>
          <a:solidFill>
            <a:srgbClr val="00A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508760" y="1371600"/>
            <a:ext cx="525780" cy="38100"/>
          </a:xfrm>
          <a:prstGeom prst="rect">
            <a:avLst/>
          </a:prstGeom>
          <a:solidFill>
            <a:srgbClr val="009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34540" y="1371600"/>
            <a:ext cx="525780" cy="38100"/>
          </a:xfrm>
          <a:prstGeom prst="rect">
            <a:avLst/>
          </a:prstGeom>
          <a:solidFill>
            <a:srgbClr val="007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60320" y="1371600"/>
            <a:ext cx="525780" cy="38100"/>
          </a:xfrm>
          <a:prstGeom prst="rect">
            <a:avLst/>
          </a:prstGeom>
          <a:solidFill>
            <a:srgbClr val="005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1645920"/>
            <a:ext cx="22631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CE7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560320"/>
            <a:ext cx="2080260" cy="1905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743200"/>
            <a:ext cx="22631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高对比色彩：使用红/黄/蓝等醒目颜色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95244" y="256032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CE7E"/>
                </a:solidFill>
                <a:latin typeface="Microsoft YaHei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14700" y="1371600"/>
            <a:ext cx="2628900" cy="457200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14700" y="1371600"/>
            <a:ext cx="525781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840480" y="1371600"/>
            <a:ext cx="525780" cy="38100"/>
          </a:xfrm>
          <a:prstGeom prst="rect">
            <a:avLst/>
          </a:prstGeom>
          <a:solidFill>
            <a:srgbClr val="00A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66260" y="1371600"/>
            <a:ext cx="525780" cy="38100"/>
          </a:xfrm>
          <a:prstGeom prst="rect">
            <a:avLst/>
          </a:prstGeom>
          <a:solidFill>
            <a:srgbClr val="009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92040" y="1371600"/>
            <a:ext cx="525780" cy="38100"/>
          </a:xfrm>
          <a:prstGeom prst="rect">
            <a:avLst/>
          </a:prstGeom>
          <a:solidFill>
            <a:srgbClr val="007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17820" y="1371600"/>
            <a:ext cx="525780" cy="38100"/>
          </a:xfrm>
          <a:prstGeom prst="rect">
            <a:avLst/>
          </a:prstGeom>
          <a:solidFill>
            <a:srgbClr val="005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97580" y="1645920"/>
            <a:ext cx="22631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CE7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89020" y="2560320"/>
            <a:ext cx="2080260" cy="1905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97580" y="2743200"/>
            <a:ext cx="22631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大字标题：6-10个字，清晰可读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52744" y="256032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CE7E"/>
                </a:solidFill>
                <a:latin typeface="Microsoft YaHei"/>
              </a:defRPr>
            </a:pPr>
            <a:r>
              <a:t>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1371600"/>
            <a:ext cx="2628900" cy="457200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72200" y="1371600"/>
            <a:ext cx="525781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697980" y="1371600"/>
            <a:ext cx="525780" cy="38100"/>
          </a:xfrm>
          <a:prstGeom prst="rect">
            <a:avLst/>
          </a:prstGeom>
          <a:solidFill>
            <a:srgbClr val="00A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23760" y="1371600"/>
            <a:ext cx="525780" cy="38100"/>
          </a:xfrm>
          <a:prstGeom prst="rect">
            <a:avLst/>
          </a:prstGeom>
          <a:solidFill>
            <a:srgbClr val="009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49540" y="1371600"/>
            <a:ext cx="525780" cy="38100"/>
          </a:xfrm>
          <a:prstGeom prst="rect">
            <a:avLst/>
          </a:prstGeom>
          <a:solidFill>
            <a:srgbClr val="007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75320" y="1371600"/>
            <a:ext cx="525780" cy="38100"/>
          </a:xfrm>
          <a:prstGeom prst="rect">
            <a:avLst/>
          </a:prstGeom>
          <a:solidFill>
            <a:srgbClr val="005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5080" y="1645920"/>
            <a:ext cx="22631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CE7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46520" y="2560320"/>
            <a:ext cx="2080260" cy="1905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5080" y="2743200"/>
            <a:ext cx="22631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角色突出：表情夸张，主体占画面60%+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10244" y="256032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CE7E"/>
                </a:solidFill>
                <a:latin typeface="Microsoft YaHei"/>
              </a:defRPr>
            </a:pPr>
            <a:r>
              <a:t>›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29700" y="1371600"/>
            <a:ext cx="2628900" cy="457200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029700" y="1371600"/>
            <a:ext cx="525781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555480" y="1371600"/>
            <a:ext cx="525780" cy="38100"/>
          </a:xfrm>
          <a:prstGeom prst="rect">
            <a:avLst/>
          </a:prstGeom>
          <a:solidFill>
            <a:srgbClr val="00A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081260" y="1371600"/>
            <a:ext cx="525780" cy="38100"/>
          </a:xfrm>
          <a:prstGeom prst="rect">
            <a:avLst/>
          </a:prstGeom>
          <a:solidFill>
            <a:srgbClr val="009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607040" y="1371600"/>
            <a:ext cx="525780" cy="38100"/>
          </a:xfrm>
          <a:prstGeom prst="rect">
            <a:avLst/>
          </a:prstGeom>
          <a:solidFill>
            <a:srgbClr val="007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1132820" y="1371600"/>
            <a:ext cx="525780" cy="38100"/>
          </a:xfrm>
          <a:prstGeom prst="rect">
            <a:avLst/>
          </a:prstGeom>
          <a:solidFill>
            <a:srgbClr val="005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12580" y="1645920"/>
            <a:ext cx="22631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CE7E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304020" y="2560320"/>
            <a:ext cx="2080260" cy="1905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12580" y="2743200"/>
            <a:ext cx="22631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冲突感：展示矛盾或悬念，系列风格统一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D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红果分账与评级体系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收益公式：有效播放量 × 单价 × 分成系数 × 评级系数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S级（完播率&gt;50%，互动率&gt;8%）：分成系数1.0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A级（完播率&gt;40%，互动率&gt;5%）：分成系数0.7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B级（完播率&gt;30%，互动率&gt;3%）：分成系数0.5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63440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发布策略：首批发3-5集建立追剧习惯，之后日更/隔日更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D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国内平台 vs 出海平台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71600"/>
            <a:ext cx="5349240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CE7E"/>
                </a:solidFill>
                <a:latin typeface="Microsoft YaHei"/>
              </a:defRPr>
            </a:pPr>
            <a:r>
              <a:t>国内平台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103120"/>
            <a:ext cx="1371600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86584"/>
            <a:ext cx="146304" cy="146304"/>
          </a:xfrm>
          <a:prstGeom prst="ellipse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抖音/快手/B站/红果/火龙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2916936"/>
            <a:ext cx="146304" cy="146304"/>
          </a:xfrm>
          <a:prstGeom prst="ellipse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中文内容，本地用户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3447288"/>
            <a:ext cx="146304" cy="146304"/>
          </a:xfrm>
          <a:prstGeom prst="ellipse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流量分账+广告+付费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3977640"/>
            <a:ext cx="146304" cy="146304"/>
          </a:xfrm>
          <a:prstGeom prst="ellipse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竞争激烈，审核严格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371600"/>
            <a:ext cx="5349240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A4EF0"/>
                </a:solidFill>
                <a:latin typeface="Microsoft YaHei"/>
              </a:defRPr>
            </a:pPr>
            <a:r>
              <a:t>出海平台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37960" y="2103120"/>
            <a:ext cx="1371600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37960" y="2386584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1228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TikTok/YouTube/Instagram Reels</a:t>
            </a:r>
          </a:p>
        </p:txBody>
      </p:sp>
      <p:sp>
        <p:nvSpPr>
          <p:cNvPr id="27" name="Oval 26"/>
          <p:cNvSpPr/>
          <p:nvPr/>
        </p:nvSpPr>
        <p:spPr>
          <a:xfrm>
            <a:off x="6537960" y="2916936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1228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多语言本地化（AI翻译+AI配音+AI换口型）</a:t>
            </a:r>
          </a:p>
        </p:txBody>
      </p:sp>
      <p:sp>
        <p:nvSpPr>
          <p:cNvPr id="29" name="Oval 28"/>
          <p:cNvSpPr/>
          <p:nvPr/>
        </p:nvSpPr>
        <p:spPr>
          <a:xfrm>
            <a:off x="6537960" y="3447288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东南亚推荐度最高，竞争低</a:t>
            </a:r>
          </a:p>
        </p:txBody>
      </p:sp>
      <p:sp>
        <p:nvSpPr>
          <p:cNvPr id="31" name="Oval 30"/>
          <p:cNvSpPr/>
          <p:nvPr/>
        </p:nvSpPr>
        <p:spPr>
          <a:xfrm>
            <a:off x="6537960" y="3977640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1228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欧美CPM更高但竞争激烈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D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五级变现体系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Level 1 平台分账：月入1-10万（起步期）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Level 2 付费解锁：月入5-30万（成长期）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Level 3 广告植入：月入10-50万（成熟期）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Level 4 IP授权：年入100万+（品牌期）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63440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Level 5 品牌联名：年入500万+（头部期）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0" y="1097280"/>
            <a:ext cx="969265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26864" y="1097280"/>
            <a:ext cx="969264" cy="38100"/>
          </a:xfrm>
          <a:prstGeom prst="rect">
            <a:avLst/>
          </a:prstGeom>
          <a:solidFill>
            <a:srgbClr val="00A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596128" y="1097280"/>
            <a:ext cx="969264" cy="38100"/>
          </a:xfrm>
          <a:prstGeom prst="rect">
            <a:avLst/>
          </a:prstGeom>
          <a:solidFill>
            <a:srgbClr val="009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65392" y="1097280"/>
            <a:ext cx="969264" cy="38100"/>
          </a:xfrm>
          <a:prstGeom prst="rect">
            <a:avLst/>
          </a:prstGeom>
          <a:solidFill>
            <a:srgbClr val="007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534656" y="1097280"/>
            <a:ext cx="969264" cy="38100"/>
          </a:xfrm>
          <a:prstGeom prst="rect">
            <a:avLst/>
          </a:prstGeom>
          <a:solidFill>
            <a:srgbClr val="005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EEEEF4"/>
                </a:solidFill>
                <a:latin typeface="Microsoft YaHei"/>
              </a:defRPr>
            </a:pPr>
            <a:r>
              <a:t>使用可灵AI生成内容可获得快手额外流量推荐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931920"/>
            <a:ext cx="2103120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429768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快手对可灵AI生成的内容有流量倾斜和创作者激励。获取扶持的方法：1.使用可灵AI创作并直接发布到快手；2.添加"可灵AI创作"标签；3.保持内容质量达标和更新频率。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D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多平台分发实操流程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制作完成漫剧（至少5集，1080P，完成AIGC标识）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221992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148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准备各平台素材（封面/标题/简介，注意尺寸差异）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1488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999232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2926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注册各平台账号并提交备案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776472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703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按平台要求调整格式（竖屏9:16 vs 横屏16:9）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7033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553712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80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选择最佳时间段发布，错开各平台时间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480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5330952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257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每日监控数据，每周分析核心指标并优化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257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D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🛠️  本模块实操任务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44475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371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为你的漫剧设计3款封面，撰写5个备选标题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22199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在抖音/快手/B站各注册创作者账号并熟悉规则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99923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将你的漫剧发布到至少3个平台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77647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3703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3703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监控2周数据，分析完播率/互动率/关注率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55371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88720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44805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根据数据差异制定针对性优化计划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33095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88720" y="5257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45920" y="52578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研究红果平台S级作品的共同特点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0" y="1371600"/>
            <a:ext cx="603505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175504" y="1371600"/>
            <a:ext cx="603504" cy="38100"/>
          </a:xfrm>
          <a:prstGeom prst="rect">
            <a:avLst/>
          </a:prstGeom>
          <a:solidFill>
            <a:srgbClr val="00A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79008" y="1371600"/>
            <a:ext cx="603504" cy="38100"/>
          </a:xfrm>
          <a:prstGeom prst="rect">
            <a:avLst/>
          </a:prstGeom>
          <a:solidFill>
            <a:srgbClr val="009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82512" y="1371600"/>
            <a:ext cx="603504" cy="38100"/>
          </a:xfrm>
          <a:prstGeom prst="rect">
            <a:avLst/>
          </a:prstGeom>
          <a:solidFill>
            <a:srgbClr val="007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986016" y="1371600"/>
            <a:ext cx="603504" cy="38100"/>
          </a:xfrm>
          <a:prstGeom prst="rect">
            <a:avLst/>
          </a:prstGeom>
          <a:solidFill>
            <a:srgbClr val="005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00CE7E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EEEEF4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0" y="4023360"/>
            <a:ext cx="2103120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89AA8"/>
                </a:solidFill>
                <a:latin typeface="Microsoft YaHei"/>
              </a:defRPr>
            </a:pPr>
            <a:r>
              <a:t>下一模块：合规规范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55768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