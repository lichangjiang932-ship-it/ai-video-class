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029200" cy="6858000"/>
          </a:xfrm>
          <a:prstGeom prst="rect">
            <a:avLst/>
          </a:prstGeom>
          <a:solidFill>
            <a:srgbClr val="8B5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0"/>
            <a:ext cx="41148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0" b="1">
                <a:solidFill>
                  <a:srgbClr val="FFFFFF"/>
                </a:solidFill>
                <a:latin typeface="Microsoft YaHei"/>
              </a:defRPr>
            </a:pPr>
            <a: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960120"/>
            <a:ext cx="41148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0" b="1">
                <a:solidFill>
                  <a:srgbClr val="C78CFF"/>
                </a:solidFill>
                <a:latin typeface="Microsoft YaHei"/>
              </a:defRPr>
            </a:pPr>
            <a: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84048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0F0F5"/>
                </a:solidFill>
                <a:latin typeface="Microsoft YaHei"/>
              </a:defRPr>
            </a:pPr>
            <a:r>
              <a:t>M O D U L E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4251960"/>
            <a:ext cx="1828800" cy="19050"/>
          </a:xfrm>
          <a:prstGeom prst="rect">
            <a:avLst/>
          </a:prstGeom>
          <a:solidFill>
            <a:srgbClr val="F0F0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0" y="1371600"/>
            <a:ext cx="5760720" cy="411480"/>
          </a:xfrm>
          <a:prstGeom prst="roundRect">
            <a:avLst/>
          </a:prstGeom>
          <a:solidFill>
            <a:srgbClr val="8B5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0" y="1371600"/>
            <a:ext cx="5760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F0F0F5"/>
                </a:solidFill>
                <a:latin typeface="Microsoft YaHei"/>
              </a:defRPr>
            </a:pPr>
            <a:r>
              <a:t>AI漫剧制作全流程课程 · 2026版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0" y="2377440"/>
            <a:ext cx="57607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200" b="1">
                <a:solidFill>
                  <a:srgbClr val="F0F0F5"/>
                </a:solidFill>
                <a:latin typeface="Microsoft YaHei"/>
              </a:defRPr>
            </a:pPr>
            <a:r>
              <a:t>模块三：分镜设计与提示词工程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0" y="4114800"/>
            <a:ext cx="2286000" cy="19050"/>
          </a:xfrm>
          <a:prstGeom prst="rect">
            <a:avLst/>
          </a:prstGeom>
          <a:solidFill>
            <a:srgbClr val="8B5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0" y="4480560"/>
            <a:ext cx="5760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9090A0"/>
                </a:solidFill>
                <a:latin typeface="Microsoft YaHei"/>
              </a:defRPr>
            </a:pPr>
            <a:r>
              <a:t>10课时 · 从分镜思维到提示词实操的完整技能链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0" y="5577840"/>
            <a:ext cx="5760720" cy="548640"/>
          </a:xfrm>
          <a:prstGeom prst="rect">
            <a:avLst/>
          </a:prstGeom>
          <a:solidFill>
            <a:srgbClr val="1111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760720" y="5577840"/>
            <a:ext cx="1371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8B50F0"/>
                </a:solidFill>
                <a:latin typeface="Microsoft YaHei"/>
              </a:defRPr>
            </a:pPr>
            <a:r>
              <a:t>124课时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00900" y="5577840"/>
            <a:ext cx="1371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8B50F0"/>
                </a:solidFill>
                <a:latin typeface="Microsoft YaHei"/>
              </a:defRPr>
            </a:pPr>
            <a:r>
              <a:t>17模块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41080" y="5577840"/>
            <a:ext cx="1371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8B50F0"/>
                </a:solidFill>
                <a:latin typeface="Microsoft YaHei"/>
              </a:defRPr>
            </a:pPr>
            <a:r>
              <a:t>8-16周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81260" y="5577840"/>
            <a:ext cx="1371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8B50F0"/>
                </a:solidFill>
                <a:latin typeface="Microsoft YaHei"/>
              </a:defRPr>
            </a:pPr>
            <a:r>
              <a:t>全流程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0F0F5"/>
                </a:solidFill>
                <a:latin typeface="Microsoft YaHei"/>
              </a:defRPr>
            </a:pPr>
            <a:r>
              <a:t>本节内容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960120"/>
            <a:ext cx="1828800" cy="19050"/>
          </a:xfrm>
          <a:prstGeom prst="rect">
            <a:avLst/>
          </a:prstGeom>
          <a:solidFill>
            <a:srgbClr val="8B5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8B50F0"/>
                </a:solidFill>
                <a:latin typeface="Microsoft YaHei"/>
              </a:defRPr>
            </a:pPr>
            <a: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128016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090A0"/>
                </a:solidFill>
                <a:latin typeface="Microsoft YaHei"/>
              </a:defRPr>
            </a:pPr>
            <a:r>
              <a:t>分镜设计基础：景别·构图·镜头运动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87452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8B50F0"/>
                </a:solidFill>
                <a:latin typeface="Microsoft YaHei"/>
              </a:defRPr>
            </a:pPr>
            <a: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87452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090A0"/>
                </a:solidFill>
                <a:latin typeface="Microsoft YaHei"/>
              </a:defRPr>
            </a:pPr>
            <a:r>
              <a:t>提示词六要素框架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4688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8B50F0"/>
                </a:solidFill>
                <a:latin typeface="Microsoft YaHei"/>
              </a:defRPr>
            </a:pPr>
            <a:r>
              <a:t>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246888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090A0"/>
                </a:solidFill>
                <a:latin typeface="Microsoft YaHei"/>
              </a:defRPr>
            </a:pPr>
            <a:r>
              <a:t>提示词模板库搭建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06324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8B50F0"/>
                </a:solidFill>
                <a:latin typeface="Microsoft YaHei"/>
              </a:defRPr>
            </a:pPr>
            <a:r>
              <a:t>04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30632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090A0"/>
                </a:solidFill>
                <a:latin typeface="Microsoft YaHei"/>
              </a:defRPr>
            </a:pPr>
            <a:r>
              <a:t>负面提示词系统化使用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36576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8B50F0"/>
                </a:solidFill>
                <a:latin typeface="Microsoft YaHei"/>
              </a:defRPr>
            </a:pPr>
            <a:r>
              <a:t>05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365760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090A0"/>
                </a:solidFill>
                <a:latin typeface="Microsoft YaHei"/>
              </a:defRPr>
            </a:pPr>
            <a:r>
              <a:t>Drawstory分镜软件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128016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8B50F0"/>
                </a:solidFill>
                <a:latin typeface="Microsoft YaHei"/>
              </a:defRPr>
            </a:pPr>
            <a:r>
              <a:t>06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128016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090A0"/>
                </a:solidFill>
                <a:latin typeface="Microsoft YaHei"/>
              </a:defRPr>
            </a:pPr>
            <a:r>
              <a:t>DomoAI动态分镜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187452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8B50F0"/>
                </a:solidFill>
                <a:latin typeface="Microsoft YaHei"/>
              </a:defRPr>
            </a:pPr>
            <a:r>
              <a:t>07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40880" y="187452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090A0"/>
                </a:solidFill>
                <a:latin typeface="Microsoft YaHei"/>
              </a:defRPr>
            </a:pPr>
            <a:r>
              <a:t>即梦AI智能多帧分镜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24688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8B50F0"/>
                </a:solidFill>
                <a:latin typeface="Microsoft YaHei"/>
              </a:defRPr>
            </a:pPr>
            <a:r>
              <a:t>08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40880" y="246888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090A0"/>
                </a:solidFill>
                <a:latin typeface="Microsoft YaHei"/>
              </a:defRPr>
            </a:pPr>
            <a:r>
              <a:t>角色参考图制作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306324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8B50F0"/>
                </a:solidFill>
                <a:latin typeface="Microsoft YaHei"/>
              </a:defRPr>
            </a:pPr>
            <a:r>
              <a:t>09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40880" y="30632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090A0"/>
                </a:solidFill>
                <a:latin typeface="Microsoft YaHei"/>
              </a:defRPr>
            </a:pPr>
            <a:r>
              <a:t>高级分镜技巧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36576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8B50F0"/>
                </a:solidFill>
                <a:latin typeface="Microsoft YaHei"/>
              </a:defRPr>
            </a:pPr>
            <a:r>
              <a:t>10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365760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090A0"/>
                </a:solidFill>
                <a:latin typeface="Microsoft YaHei"/>
              </a:defRPr>
            </a:pPr>
            <a:r>
              <a:t>实战：15镜头完整分镜设计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446520"/>
            <a:ext cx="12191695" cy="19050"/>
          </a:xfrm>
          <a:prstGeom prst="rect">
            <a:avLst/>
          </a:prstGeom>
          <a:solidFill>
            <a:srgbClr val="1E1E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05060"/>
                </a:solidFill>
                <a:latin typeface="Microsoft YaHei"/>
              </a:defRPr>
            </a:pPr>
            <a:r>
              <a:t>模块03 · 分镜设计与提示词工程</a:t>
            </a:r>
          </a:p>
        </p:txBody>
      </p:sp>
      <p:sp>
        <p:nvSpPr>
          <p:cNvPr id="26" name="Rectangle 25"/>
          <p:cNvSpPr/>
          <p:nvPr/>
        </p:nvSpPr>
        <p:spPr>
          <a:xfrm>
            <a:off x="0" y="6446520"/>
            <a:ext cx="12191695" cy="19050"/>
          </a:xfrm>
          <a:prstGeom prst="rect">
            <a:avLst/>
          </a:prstGeom>
          <a:solidFill>
            <a:srgbClr val="1E1E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05060"/>
                </a:solidFill>
                <a:latin typeface="Microsoft YaHei"/>
              </a:defRPr>
            </a:pPr>
            <a:r>
              <a:t>模块03 · 分镜设计与提示词工程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0F5"/>
                </a:solidFill>
                <a:latin typeface="Microsoft YaHei"/>
              </a:defRPr>
            </a:pPr>
            <a:r>
              <a:t>五大景别详解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960120"/>
            <a:ext cx="1828800" cy="19050"/>
          </a:xfrm>
          <a:prstGeom prst="rect">
            <a:avLst/>
          </a:prstGeom>
          <a:solidFill>
            <a:srgbClr val="8B5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280160"/>
          <a:ext cx="1106424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66060"/>
                <a:gridCol w="2766060"/>
                <a:gridCol w="2766060"/>
                <a:gridCol w="2766060"/>
              </a:tblGrid>
              <a:tr h="50292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0F0F5"/>
                          </a:solidFill>
                          <a:latin typeface="Microsoft YaHei"/>
                        </a:defRPr>
                      </a:pPr>
                      <a:r>
                        <a:t>景别</a:t>
                      </a:r>
                    </a:p>
                  </a:txBody>
                  <a:tcPr anchor="ctr">
                    <a:solidFill>
                      <a:srgbClr val="8B50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0F0F5"/>
                          </a:solidFill>
                          <a:latin typeface="Microsoft YaHei"/>
                        </a:defRPr>
                      </a:pPr>
                      <a:r>
                        <a:t>英文</a:t>
                      </a:r>
                    </a:p>
                  </a:txBody>
                  <a:tcPr anchor="ctr">
                    <a:solidFill>
                      <a:srgbClr val="8B50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0F0F5"/>
                          </a:solidFill>
                          <a:latin typeface="Microsoft YaHei"/>
                        </a:defRPr>
                      </a:pPr>
                      <a:r>
                        <a:t>画面范围</a:t>
                      </a:r>
                    </a:p>
                  </a:txBody>
                  <a:tcPr anchor="ctr">
                    <a:solidFill>
                      <a:srgbClr val="8B50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0F0F5"/>
                          </a:solidFill>
                          <a:latin typeface="Microsoft YaHei"/>
                        </a:defRPr>
                      </a:pPr>
                      <a:r>
                        <a:t>叙事功能</a:t>
                      </a:r>
                    </a:p>
                  </a:txBody>
                  <a:tcPr anchor="ctr">
                    <a:solidFill>
                      <a:srgbClr val="8B50F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090A0"/>
                          </a:solidFill>
                          <a:latin typeface="Microsoft YaHei"/>
                        </a:defRPr>
                      </a:pPr>
                      <a:r>
                        <a:t>远景</a:t>
                      </a:r>
                    </a:p>
                  </a:txBody>
                  <a:tcPr anchor="ctr">
                    <a:solidFill>
                      <a:srgbClr val="11111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090A0"/>
                          </a:solidFill>
                          <a:latin typeface="Microsoft YaHei"/>
                        </a:defRPr>
                      </a:pPr>
                      <a:r>
                        <a:t>ELS</a:t>
                      </a:r>
                    </a:p>
                  </a:txBody>
                  <a:tcPr anchor="ctr">
                    <a:solidFill>
                      <a:srgbClr val="11111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090A0"/>
                          </a:solidFill>
                          <a:latin typeface="Microsoft YaHei"/>
                        </a:defRPr>
                      </a:pPr>
                      <a:r>
                        <a:t>环境全貌</a:t>
                      </a:r>
                    </a:p>
                  </a:txBody>
                  <a:tcPr anchor="ctr">
                    <a:solidFill>
                      <a:srgbClr val="11111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090A0"/>
                          </a:solidFill>
                          <a:latin typeface="Microsoft YaHei"/>
                        </a:defRPr>
                      </a:pPr>
                      <a:r>
                        <a:t>交代环境、营造氛围</a:t>
                      </a:r>
                    </a:p>
                  </a:txBody>
                  <a:tcPr anchor="ctr">
                    <a:solidFill>
                      <a:srgbClr val="11111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090A0"/>
                          </a:solidFill>
                          <a:latin typeface="Microsoft YaHei"/>
                        </a:defRPr>
                      </a:pPr>
                      <a:r>
                        <a:t>全景</a:t>
                      </a:r>
                    </a:p>
                  </a:txBody>
                  <a:tcPr anchor="ctr">
                    <a:solidFill>
                      <a:srgbClr val="08080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090A0"/>
                          </a:solidFill>
                          <a:latin typeface="Microsoft YaHei"/>
                        </a:defRPr>
                      </a:pPr>
                      <a:r>
                        <a:t>LS</a:t>
                      </a:r>
                    </a:p>
                  </a:txBody>
                  <a:tcPr anchor="ctr">
                    <a:solidFill>
                      <a:srgbClr val="08080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090A0"/>
                          </a:solidFill>
                          <a:latin typeface="Microsoft YaHei"/>
                        </a:defRPr>
                      </a:pPr>
                      <a:r>
                        <a:t>完整人物+环境</a:t>
                      </a:r>
                    </a:p>
                  </a:txBody>
                  <a:tcPr anchor="ctr">
                    <a:solidFill>
                      <a:srgbClr val="08080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090A0"/>
                          </a:solidFill>
                          <a:latin typeface="Microsoft YaHei"/>
                        </a:defRPr>
                      </a:pPr>
                      <a:r>
                        <a:t>展示人物与环境关系</a:t>
                      </a:r>
                    </a:p>
                  </a:txBody>
                  <a:tcPr anchor="ctr">
                    <a:solidFill>
                      <a:srgbClr val="08080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090A0"/>
                          </a:solidFill>
                          <a:latin typeface="Microsoft YaHei"/>
                        </a:defRPr>
                      </a:pPr>
                      <a:r>
                        <a:t>中景</a:t>
                      </a:r>
                    </a:p>
                  </a:txBody>
                  <a:tcPr anchor="ctr">
                    <a:solidFill>
                      <a:srgbClr val="11111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090A0"/>
                          </a:solidFill>
                          <a:latin typeface="Microsoft YaHei"/>
                        </a:defRPr>
                      </a:pPr>
                      <a:r>
                        <a:t>MS</a:t>
                      </a:r>
                    </a:p>
                  </a:txBody>
                  <a:tcPr anchor="ctr">
                    <a:solidFill>
                      <a:srgbClr val="11111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090A0"/>
                          </a:solidFill>
                          <a:latin typeface="Microsoft YaHei"/>
                        </a:defRPr>
                      </a:pPr>
                      <a:r>
                        <a:t>膝盖以上</a:t>
                      </a:r>
                    </a:p>
                  </a:txBody>
                  <a:tcPr anchor="ctr">
                    <a:solidFill>
                      <a:srgbClr val="11111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090A0"/>
                          </a:solidFill>
                          <a:latin typeface="Microsoft YaHei"/>
                        </a:defRPr>
                      </a:pPr>
                      <a:r>
                        <a:t>平衡人物与环境、对话</a:t>
                      </a:r>
                    </a:p>
                  </a:txBody>
                  <a:tcPr anchor="ctr">
                    <a:solidFill>
                      <a:srgbClr val="11111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090A0"/>
                          </a:solidFill>
                          <a:latin typeface="Microsoft YaHei"/>
                        </a:defRPr>
                      </a:pPr>
                      <a:r>
                        <a:t>近景</a:t>
                      </a:r>
                    </a:p>
                  </a:txBody>
                  <a:tcPr anchor="ctr">
                    <a:solidFill>
                      <a:srgbClr val="08080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090A0"/>
                          </a:solidFill>
                          <a:latin typeface="Microsoft YaHei"/>
                        </a:defRPr>
                      </a:pPr>
                      <a:r>
                        <a:t>MCU</a:t>
                      </a:r>
                    </a:p>
                  </a:txBody>
                  <a:tcPr anchor="ctr">
                    <a:solidFill>
                      <a:srgbClr val="08080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090A0"/>
                          </a:solidFill>
                          <a:latin typeface="Microsoft YaHei"/>
                        </a:defRPr>
                      </a:pPr>
                      <a:r>
                        <a:t>胸部以上</a:t>
                      </a:r>
                    </a:p>
                  </a:txBody>
                  <a:tcPr anchor="ctr">
                    <a:solidFill>
                      <a:srgbClr val="08080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090A0"/>
                          </a:solidFill>
                          <a:latin typeface="Microsoft YaHei"/>
                        </a:defRPr>
                      </a:pPr>
                      <a:r>
                        <a:t>突出表情和肢体语言</a:t>
                      </a:r>
                    </a:p>
                  </a:txBody>
                  <a:tcPr anchor="ctr">
                    <a:solidFill>
                      <a:srgbClr val="08080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090A0"/>
                          </a:solidFill>
                          <a:latin typeface="Microsoft YaHei"/>
                        </a:defRPr>
                      </a:pPr>
                      <a:r>
                        <a:t>特写</a:t>
                      </a:r>
                    </a:p>
                  </a:txBody>
                  <a:tcPr anchor="ctr">
                    <a:solidFill>
                      <a:srgbClr val="11111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090A0"/>
                          </a:solidFill>
                          <a:latin typeface="Microsoft YaHei"/>
                        </a:defRPr>
                      </a:pPr>
                      <a:r>
                        <a:t>CU</a:t>
                      </a:r>
                    </a:p>
                  </a:txBody>
                  <a:tcPr anchor="ctr">
                    <a:solidFill>
                      <a:srgbClr val="11111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090A0"/>
                          </a:solidFill>
                          <a:latin typeface="Microsoft YaHei"/>
                        </a:defRPr>
                      </a:pPr>
                      <a:r>
                        <a:t>面部/物体细节</a:t>
                      </a:r>
                    </a:p>
                  </a:txBody>
                  <a:tcPr anchor="ctr">
                    <a:solidFill>
                      <a:srgbClr val="11111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090A0"/>
                          </a:solidFill>
                          <a:latin typeface="Microsoft YaHei"/>
                        </a:defRPr>
                      </a:pPr>
                      <a:r>
                        <a:t>强调情绪、揭示细节</a:t>
                      </a:r>
                    </a:p>
                  </a:txBody>
                  <a:tcPr anchor="ctr">
                    <a:solidFill>
                      <a:srgbClr val="111118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0" y="6446520"/>
            <a:ext cx="12191695" cy="19050"/>
          </a:xfrm>
          <a:prstGeom prst="rect">
            <a:avLst/>
          </a:prstGeom>
          <a:solidFill>
            <a:srgbClr val="1E1E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05060"/>
                </a:solidFill>
                <a:latin typeface="Microsoft YaHei"/>
              </a:defRPr>
            </a:pPr>
            <a:r>
              <a:t>模块03 · 分镜设计与提示词工程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1371600"/>
            <a:ext cx="94183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0F0F5"/>
                </a:solidFill>
                <a:latin typeface="Microsoft YaHei"/>
              </a:defRPr>
            </a:pPr>
            <a:r>
              <a:t>景别跳跃越大，视觉冲击越强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0" y="3840480"/>
            <a:ext cx="2103120" cy="19050"/>
          </a:xfrm>
          <a:prstGeom prst="rect">
            <a:avLst/>
          </a:prstGeom>
          <a:solidFill>
            <a:srgbClr val="8B5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4206240"/>
            <a:ext cx="94183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9090A0"/>
                </a:solidFill>
                <a:latin typeface="Microsoft YaHei"/>
              </a:defRPr>
            </a:pPr>
            <a:r>
              <a:t>远景→特写产生强烈震撼；中景→近景自然递进。避免特写→特写（视觉疲劳）和全景→全景（缺乏节奏）。口诀：先远后近定基调，急转直下造冲击。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46520"/>
            <a:ext cx="12191695" cy="19050"/>
          </a:xfrm>
          <a:prstGeom prst="rect">
            <a:avLst/>
          </a:prstGeom>
          <a:solidFill>
            <a:srgbClr val="1E1E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05060"/>
                </a:solidFill>
                <a:latin typeface="Microsoft YaHei"/>
              </a:defRPr>
            </a:pPr>
            <a:r>
              <a:t>模块03 · 分镜设计与提示词工程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0F5"/>
                </a:solidFill>
                <a:latin typeface="Microsoft YaHei"/>
              </a:defRPr>
            </a:pPr>
            <a:r>
              <a:t>六种核心构图法则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960120"/>
            <a:ext cx="1828800" cy="19050"/>
          </a:xfrm>
          <a:prstGeom prst="rect">
            <a:avLst/>
          </a:prstGeom>
          <a:solidFill>
            <a:srgbClr val="8B5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1325880"/>
            <a:ext cx="45720" cy="457200"/>
          </a:xfrm>
          <a:prstGeom prst="rect">
            <a:avLst/>
          </a:prstGeom>
          <a:solidFill>
            <a:srgbClr val="8B5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280160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090A0"/>
                </a:solidFill>
                <a:latin typeface="Microsoft YaHei"/>
              </a:defRPr>
            </a:pPr>
            <a:r>
              <a:t>三分法则：关键元素放在九宫格交叉点，避免AI默认居中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2103120"/>
            <a:ext cx="45720" cy="457200"/>
          </a:xfrm>
          <a:prstGeom prst="rect">
            <a:avLst/>
          </a:prstGeom>
          <a:solidFill>
            <a:srgbClr val="8B5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057400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090A0"/>
                </a:solidFill>
                <a:latin typeface="Microsoft YaHei"/>
              </a:defRPr>
            </a:pPr>
            <a:r>
              <a:t>对角线构图：元素沿对角线排列，创造动感和张力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880360"/>
            <a:ext cx="45720" cy="457200"/>
          </a:xfrm>
          <a:prstGeom prst="rect">
            <a:avLst/>
          </a:prstGeom>
          <a:solidFill>
            <a:srgbClr val="8B5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834640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090A0"/>
                </a:solidFill>
                <a:latin typeface="Microsoft YaHei"/>
              </a:defRPr>
            </a:pPr>
            <a:r>
              <a:t>对称构图：左右对称，传达秩序、庄严或诡异感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3657600"/>
            <a:ext cx="45720" cy="457200"/>
          </a:xfrm>
          <a:prstGeom prst="rect">
            <a:avLst/>
          </a:prstGeom>
          <a:solidFill>
            <a:srgbClr val="8B5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3611880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090A0"/>
                </a:solidFill>
                <a:latin typeface="Microsoft YaHei"/>
              </a:defRPr>
            </a:pPr>
            <a:r>
              <a:t>框中框构图：利用门框/窗户形成"画中画"效果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4434840"/>
            <a:ext cx="45720" cy="457200"/>
          </a:xfrm>
          <a:prstGeom prst="rect">
            <a:avLst/>
          </a:prstGeom>
          <a:solidFill>
            <a:srgbClr val="8B5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389120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090A0"/>
                </a:solidFill>
                <a:latin typeface="Microsoft YaHei"/>
              </a:defRPr>
            </a:pPr>
            <a:r>
              <a:t>前景遮挡构图：前方放置遮挡物，增加层次感和窥视感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520" y="5212080"/>
            <a:ext cx="45720" cy="457200"/>
          </a:xfrm>
          <a:prstGeom prst="rect">
            <a:avLst/>
          </a:prstGeom>
          <a:solidFill>
            <a:srgbClr val="8B5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5166360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090A0"/>
                </a:solidFill>
                <a:latin typeface="Microsoft YaHei"/>
              </a:defRPr>
            </a:pPr>
            <a:r>
              <a:t>负空间构图：大面积留白，营造孤独、渺小或宁静感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446520"/>
            <a:ext cx="12191695" cy="19050"/>
          </a:xfrm>
          <a:prstGeom prst="rect">
            <a:avLst/>
          </a:prstGeom>
          <a:solidFill>
            <a:srgbClr val="1E1E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05060"/>
                </a:solidFill>
                <a:latin typeface="Microsoft YaHei"/>
              </a:defRPr>
            </a:pPr>
            <a:r>
              <a:t>模块03 · 分镜设计与提示词工程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0F5"/>
                </a:solidFill>
                <a:latin typeface="Microsoft YaHei"/>
              </a:defRPr>
            </a:pPr>
            <a:r>
              <a:t>提示词六要素框架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960120"/>
            <a:ext cx="1828800" cy="19050"/>
          </a:xfrm>
          <a:prstGeom prst="rect">
            <a:avLst/>
          </a:prstGeom>
          <a:solidFill>
            <a:srgbClr val="8B5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1325880"/>
            <a:ext cx="45720" cy="457200"/>
          </a:xfrm>
          <a:prstGeom prst="rect">
            <a:avLst/>
          </a:prstGeom>
          <a:solidFill>
            <a:srgbClr val="8B5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280160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090A0"/>
                </a:solidFill>
                <a:latin typeface="Microsoft YaHei"/>
              </a:defRPr>
            </a:pPr>
            <a:r>
              <a:t>① 主体描述：性别+年龄+核心特征+服装+发型+配饰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2103120"/>
            <a:ext cx="45720" cy="457200"/>
          </a:xfrm>
          <a:prstGeom prst="rect">
            <a:avLst/>
          </a:prstGeom>
          <a:solidFill>
            <a:srgbClr val="8B5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057400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090A0"/>
                </a:solidFill>
                <a:latin typeface="Microsoft YaHei"/>
              </a:defRPr>
            </a:pPr>
            <a:r>
              <a:t>② 动作表情：静态姿势→动态动作→微动作（三个层次）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880360"/>
            <a:ext cx="45720" cy="457200"/>
          </a:xfrm>
          <a:prstGeom prst="rect">
            <a:avLst/>
          </a:prstGeom>
          <a:solidFill>
            <a:srgbClr val="8B5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834640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090A0"/>
                </a:solidFill>
                <a:latin typeface="Microsoft YaHei"/>
              </a:defRPr>
            </a:pPr>
            <a:r>
              <a:t>③ 环境：地点类型+具体场景+环境细节（天气/时间/季节）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3657600"/>
            <a:ext cx="45720" cy="457200"/>
          </a:xfrm>
          <a:prstGeom prst="rect">
            <a:avLst/>
          </a:prstGeom>
          <a:solidFill>
            <a:srgbClr val="8B5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3611880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090A0"/>
                </a:solidFill>
                <a:latin typeface="Microsoft YaHei"/>
              </a:defRPr>
            </a:pPr>
            <a:r>
              <a:t>④ 光线：自然光/金色时刻/逆光/侧光/霓虹光等10种类型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4434840"/>
            <a:ext cx="45720" cy="457200"/>
          </a:xfrm>
          <a:prstGeom prst="rect">
            <a:avLst/>
          </a:prstGeom>
          <a:solidFill>
            <a:srgbClr val="8B5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389120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090A0"/>
                </a:solidFill>
                <a:latin typeface="Microsoft YaHei"/>
              </a:defRPr>
            </a:pPr>
            <a:r>
              <a:t>⑤ 视角/景别：平视/仰视/俯视/鸟瞰/荷兰角/过肩/主观视角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520" y="5212080"/>
            <a:ext cx="45720" cy="457200"/>
          </a:xfrm>
          <a:prstGeom prst="rect">
            <a:avLst/>
          </a:prstGeom>
          <a:solidFill>
            <a:srgbClr val="8B5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5166360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090A0"/>
                </a:solidFill>
                <a:latin typeface="Microsoft YaHei"/>
              </a:defRPr>
            </a:pPr>
            <a:r>
              <a:t>⑥ 风格：画风基底+渲染方式+质量修饰词+参考艺术家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446520"/>
            <a:ext cx="12191695" cy="19050"/>
          </a:xfrm>
          <a:prstGeom prst="rect">
            <a:avLst/>
          </a:prstGeom>
          <a:solidFill>
            <a:srgbClr val="1E1E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05060"/>
                </a:solidFill>
                <a:latin typeface="Microsoft YaHei"/>
              </a:defRPr>
            </a:pPr>
            <a:r>
              <a:t>模块03 · 分镜设计与提示词工程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0F5"/>
                </a:solidFill>
                <a:latin typeface="Microsoft YaHei"/>
              </a:defRPr>
            </a:pPr>
            <a:r>
              <a:t>完整提示词组装公式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960120"/>
            <a:ext cx="1828800" cy="19050"/>
          </a:xfrm>
          <a:prstGeom prst="rect">
            <a:avLst/>
          </a:prstGeom>
          <a:solidFill>
            <a:srgbClr val="8B5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1353312"/>
            <a:ext cx="45720" cy="502920"/>
          </a:xfrm>
          <a:prstGeom prst="rect">
            <a:avLst/>
          </a:prstGeom>
          <a:solidFill>
            <a:srgbClr val="8B5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280160"/>
            <a:ext cx="3657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8B50F0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12801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090A0"/>
                </a:solidFill>
                <a:latin typeface="Microsoft YaHei"/>
              </a:defRPr>
            </a:pPr>
            <a:r>
              <a:t>第一步：确定主体（外貌、服装、配饰）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157984"/>
            <a:ext cx="45720" cy="502920"/>
          </a:xfrm>
          <a:prstGeom prst="rect">
            <a:avLst/>
          </a:prstGeom>
          <a:solidFill>
            <a:srgbClr val="8B5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2084832"/>
            <a:ext cx="3657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8B50F0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3040" y="2084832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090A0"/>
                </a:solidFill>
                <a:latin typeface="Microsoft YaHei"/>
              </a:defRPr>
            </a:pPr>
            <a:r>
              <a:t>第二步：设定动作和表情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2962656"/>
            <a:ext cx="45720" cy="502920"/>
          </a:xfrm>
          <a:prstGeom prst="rect">
            <a:avLst/>
          </a:prstGeom>
          <a:solidFill>
            <a:srgbClr val="8B5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2889504"/>
            <a:ext cx="3657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8B50F0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2889504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090A0"/>
                </a:solidFill>
                <a:latin typeface="Microsoft YaHei"/>
              </a:defRPr>
            </a:pPr>
            <a:r>
              <a:t>第三步：描述环境（地点、时间、天气）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" y="3767328"/>
            <a:ext cx="45720" cy="502920"/>
          </a:xfrm>
          <a:prstGeom prst="rect">
            <a:avLst/>
          </a:prstGeom>
          <a:solidFill>
            <a:srgbClr val="8B5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5840" y="3694176"/>
            <a:ext cx="3657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8B50F0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63040" y="3694176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090A0"/>
                </a:solidFill>
                <a:latin typeface="Microsoft YaHei"/>
              </a:defRPr>
            </a:pPr>
            <a:r>
              <a:t>第四步：指定光线类型和方向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1520" y="4572000"/>
            <a:ext cx="45720" cy="502920"/>
          </a:xfrm>
          <a:prstGeom prst="rect">
            <a:avLst/>
          </a:prstGeom>
          <a:solidFill>
            <a:srgbClr val="8B5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5840" y="4498848"/>
            <a:ext cx="3657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8B50F0"/>
                </a:solidFill>
                <a:latin typeface="Microsoft YaHei"/>
              </a:defRPr>
            </a:pPr>
            <a:r>
              <a:t>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63040" y="4498848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090A0"/>
                </a:solidFill>
                <a:latin typeface="Microsoft YaHei"/>
              </a:defRPr>
            </a:pPr>
            <a:r>
              <a:t>第五步：定义视角和景别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31520" y="5376672"/>
            <a:ext cx="45720" cy="502920"/>
          </a:xfrm>
          <a:prstGeom prst="rect">
            <a:avLst/>
          </a:prstGeom>
          <a:solidFill>
            <a:srgbClr val="8B5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5840" y="5303520"/>
            <a:ext cx="3657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8B50F0"/>
                </a:solidFill>
                <a:latin typeface="Microsoft YaHei"/>
              </a:defRPr>
            </a:pPr>
            <a:r>
              <a:t>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63040" y="53035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090A0"/>
                </a:solidFill>
                <a:latin typeface="Microsoft YaHei"/>
              </a:defRPr>
            </a:pPr>
            <a:r>
              <a:t>第六步：添加风格和质量修饰词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446520"/>
            <a:ext cx="12191695" cy="19050"/>
          </a:xfrm>
          <a:prstGeom prst="rect">
            <a:avLst/>
          </a:prstGeom>
          <a:solidFill>
            <a:srgbClr val="1E1E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05060"/>
                </a:solidFill>
                <a:latin typeface="Microsoft YaHei"/>
              </a:defRPr>
            </a:pPr>
            <a:r>
              <a:t>模块03 · 分镜设计与提示词工程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0F5"/>
                </a:solidFill>
                <a:latin typeface="Microsoft YaHei"/>
              </a:defRPr>
            </a:pPr>
            <a:r>
              <a:t>负面提示词使用策略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960120"/>
            <a:ext cx="1828800" cy="19050"/>
          </a:xfrm>
          <a:prstGeom prst="rect">
            <a:avLst/>
          </a:prstGeom>
          <a:solidFill>
            <a:srgbClr val="8B5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8B50F0"/>
                </a:solidFill>
                <a:latin typeface="Microsoft YaHei"/>
              </a:defRPr>
            </a:pPr>
            <a:r>
              <a:t>始终使用（基础层）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783080"/>
            <a:ext cx="1371600" cy="19050"/>
          </a:xfrm>
          <a:prstGeom prst="rect">
            <a:avLst/>
          </a:prstGeom>
          <a:solidFill>
            <a:srgbClr val="8B5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201168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090A0"/>
                </a:solidFill>
                <a:latin typeface="Microsoft YaHei"/>
              </a:defRPr>
            </a:pPr>
            <a:r>
              <a:t>▸  low quality, worst quality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56032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090A0"/>
                </a:solidFill>
                <a:latin typeface="Microsoft YaHei"/>
              </a:defRPr>
            </a:pPr>
            <a:r>
              <a:t>▸  blurry, out of focus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10896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090A0"/>
                </a:solidFill>
                <a:latin typeface="Microsoft YaHei"/>
              </a:defRPr>
            </a:pPr>
            <a:r>
              <a:t>▸  deformed, disfigured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65760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090A0"/>
                </a:solidFill>
                <a:latin typeface="Microsoft YaHei"/>
              </a:defRPr>
            </a:pPr>
            <a:r>
              <a:t>▸  extra limbs, missing fingers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20624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090A0"/>
                </a:solidFill>
                <a:latin typeface="Microsoft YaHei"/>
              </a:defRPr>
            </a:pPr>
            <a:r>
              <a:t>▸  text, watermark, signature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128016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8B50F0"/>
                </a:solidFill>
                <a:latin typeface="Microsoft YaHei"/>
              </a:defRPr>
            </a:pPr>
            <a:r>
              <a:t>按场景添加（场景层）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0" y="1783080"/>
            <a:ext cx="1371600" cy="19050"/>
          </a:xfrm>
          <a:prstGeom prst="rect">
            <a:avLst/>
          </a:prstGeom>
          <a:solidFill>
            <a:srgbClr val="8B5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201168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090A0"/>
                </a:solidFill>
                <a:latin typeface="Microsoft YaHei"/>
              </a:defRPr>
            </a:pPr>
            <a:r>
              <a:t>▸  动作场景：bad anatomy, static pose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256032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090A0"/>
                </a:solidFill>
                <a:latin typeface="Microsoft YaHei"/>
              </a:defRPr>
            </a:pPr>
            <a:r>
              <a:t>▸  情感场景：stiff pose, robotic expression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310896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090A0"/>
                </a:solidFill>
                <a:latin typeface="Microsoft YaHei"/>
              </a:defRPr>
            </a:pPr>
            <a:r>
              <a:t>▸  特写场景：plastic skin, uncanny valley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365760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090A0"/>
                </a:solidFill>
                <a:latin typeface="Microsoft YaHei"/>
              </a:defRPr>
            </a:pPr>
            <a:r>
              <a:t>▸  场景展示：flat lighting, cluttered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420624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090A0"/>
                </a:solidFill>
                <a:latin typeface="Microsoft YaHei"/>
              </a:defRPr>
            </a:pPr>
            <a:r>
              <a:t>▸  ⚠️ 不要堆砌过多，限制AI创作空间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6446520"/>
            <a:ext cx="12191695" cy="19050"/>
          </a:xfrm>
          <a:prstGeom prst="rect">
            <a:avLst/>
          </a:prstGeom>
          <a:solidFill>
            <a:srgbClr val="1E1E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05060"/>
                </a:solidFill>
                <a:latin typeface="Microsoft YaHei"/>
              </a:defRPr>
            </a:pPr>
            <a:r>
              <a:t>模块03 · 分镜设计与提示词工程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0F5"/>
                </a:solidFill>
                <a:latin typeface="Microsoft YaHei"/>
              </a:defRPr>
            </a:pPr>
            <a:r>
              <a:t>Master Reference设计规范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960120"/>
            <a:ext cx="1828800" cy="19050"/>
          </a:xfrm>
          <a:prstGeom prst="rect">
            <a:avLst/>
          </a:prstGeom>
          <a:solidFill>
            <a:srgbClr val="8B5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1325880"/>
            <a:ext cx="45720" cy="457200"/>
          </a:xfrm>
          <a:prstGeom prst="rect">
            <a:avLst/>
          </a:prstGeom>
          <a:solidFill>
            <a:srgbClr val="8B5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280160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090A0"/>
                </a:solidFill>
                <a:latin typeface="Microsoft YaHei"/>
              </a:defRPr>
            </a:pPr>
            <a:r>
              <a:t>分辨率至少1024×1024，推荐2048×2048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2103120"/>
            <a:ext cx="45720" cy="457200"/>
          </a:xfrm>
          <a:prstGeom prst="rect">
            <a:avLst/>
          </a:prstGeom>
          <a:solidFill>
            <a:srgbClr val="8B5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057400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090A0"/>
                </a:solidFill>
                <a:latin typeface="Microsoft YaHei"/>
              </a:defRPr>
            </a:pPr>
            <a:r>
              <a:t>背景：纯白色或浅灰色（便于AI提取特征）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880360"/>
            <a:ext cx="45720" cy="457200"/>
          </a:xfrm>
          <a:prstGeom prst="rect">
            <a:avLst/>
          </a:prstGeom>
          <a:solidFill>
            <a:srgbClr val="8B5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834640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090A0"/>
                </a:solidFill>
                <a:latin typeface="Microsoft YaHei"/>
              </a:defRPr>
            </a:pPr>
            <a:r>
              <a:t>视角：正面或3/4侧面，展示最多面部信息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3657600"/>
            <a:ext cx="45720" cy="457200"/>
          </a:xfrm>
          <a:prstGeom prst="rect">
            <a:avLst/>
          </a:prstGeom>
          <a:solidFill>
            <a:srgbClr val="8B5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3611880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090A0"/>
                </a:solidFill>
                <a:latin typeface="Microsoft YaHei"/>
              </a:defRPr>
            </a:pPr>
            <a:r>
              <a:t>姿势：自然站立或T-pose，中性表情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4434840"/>
            <a:ext cx="45720" cy="457200"/>
          </a:xfrm>
          <a:prstGeom prst="rect">
            <a:avLst/>
          </a:prstGeom>
          <a:solidFill>
            <a:srgbClr val="8B5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389120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090A0"/>
                </a:solidFill>
                <a:latin typeface="Microsoft YaHei"/>
              </a:defRPr>
            </a:pPr>
            <a:r>
              <a:t>必须包含：完整全身、面部清晰、服装完整、发型完整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520" y="5212080"/>
            <a:ext cx="45720" cy="457200"/>
          </a:xfrm>
          <a:prstGeom prst="rect">
            <a:avLst/>
          </a:prstGeom>
          <a:solidFill>
            <a:srgbClr val="8B5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5166360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090A0"/>
                </a:solidFill>
                <a:latin typeface="Microsoft YaHei"/>
              </a:defRPr>
            </a:pPr>
            <a:r>
              <a:t>附带角色描述卡片：姓名、年龄、发色、瞳色、标志性特征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446520"/>
            <a:ext cx="12191695" cy="19050"/>
          </a:xfrm>
          <a:prstGeom prst="rect">
            <a:avLst/>
          </a:prstGeom>
          <a:solidFill>
            <a:srgbClr val="1E1E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05060"/>
                </a:solidFill>
                <a:latin typeface="Microsoft YaHei"/>
              </a:defRPr>
            </a:pPr>
            <a:r>
              <a:t>模块03 · 分镜设计与提示词工程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0F5"/>
                </a:solidFill>
                <a:latin typeface="Microsoft YaHei"/>
              </a:defRPr>
            </a:pPr>
            <a:r>
              <a:t>导演式分镜思维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960120"/>
            <a:ext cx="1828800" cy="19050"/>
          </a:xfrm>
          <a:prstGeom prst="rect">
            <a:avLst/>
          </a:prstGeom>
          <a:solidFill>
            <a:srgbClr val="8B5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1325880"/>
            <a:ext cx="45720" cy="457200"/>
          </a:xfrm>
          <a:prstGeom prst="rect">
            <a:avLst/>
          </a:prstGeom>
          <a:solidFill>
            <a:srgbClr val="8B5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280160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090A0"/>
                </a:solidFill>
                <a:latin typeface="Microsoft YaHei"/>
              </a:defRPr>
            </a:pPr>
            <a:r>
              <a:t>三个核心问题：传递什么信息？唤起什么情绪？在节奏中什么位置？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2103120"/>
            <a:ext cx="45720" cy="457200"/>
          </a:xfrm>
          <a:prstGeom prst="rect">
            <a:avLst/>
          </a:prstGeom>
          <a:solidFill>
            <a:srgbClr val="8B5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057400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090A0"/>
                </a:solidFill>
                <a:latin typeface="Microsoft YaHei"/>
              </a:defRPr>
            </a:pPr>
            <a:r>
              <a:t>闪回技巧：柔化边缘+不同色调+颗粒感+虚线边框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880360"/>
            <a:ext cx="45720" cy="457200"/>
          </a:xfrm>
          <a:prstGeom prst="rect">
            <a:avLst/>
          </a:prstGeom>
          <a:solidFill>
            <a:srgbClr val="8B5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834640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090A0"/>
                </a:solidFill>
                <a:latin typeface="Microsoft YaHei"/>
              </a:defRPr>
            </a:pPr>
            <a:r>
              <a:t>正反打：角色A过肩看B → B过肩看A → A近景反应 → B近景反应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3657600"/>
            <a:ext cx="45720" cy="457200"/>
          </a:xfrm>
          <a:prstGeom prst="rect">
            <a:avLst/>
          </a:prstGeom>
          <a:solidFill>
            <a:srgbClr val="8B5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3611880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090A0"/>
                </a:solidFill>
                <a:latin typeface="Microsoft YaHei"/>
              </a:defRPr>
            </a:pPr>
            <a:r>
              <a:t>时间压缩（蒙太奇）：4-6小格展示时间节点变化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4434840"/>
            <a:ext cx="45720" cy="457200"/>
          </a:xfrm>
          <a:prstGeom prst="rect">
            <a:avLst/>
          </a:prstGeom>
          <a:solidFill>
            <a:srgbClr val="8B5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389120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090A0"/>
                </a:solidFill>
                <a:latin typeface="Microsoft YaHei"/>
              </a:defRPr>
            </a:pPr>
            <a:r>
              <a:t>时间扩展（慢动作）：一个动作拆分3-4帧展示不同阶段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520" y="5212080"/>
            <a:ext cx="45720" cy="457200"/>
          </a:xfrm>
          <a:prstGeom prst="rect">
            <a:avLst/>
          </a:prstGeom>
          <a:solidFill>
            <a:srgbClr val="8B5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5166360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090A0"/>
                </a:solidFill>
                <a:latin typeface="Microsoft YaHei"/>
              </a:defRPr>
            </a:pPr>
            <a:r>
              <a:t>留白与悬念：大面积空白暗示孤独，画格外元素暗示威胁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446520"/>
            <a:ext cx="12191695" cy="19050"/>
          </a:xfrm>
          <a:prstGeom prst="rect">
            <a:avLst/>
          </a:prstGeom>
          <a:solidFill>
            <a:srgbClr val="1E1E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05060"/>
                </a:solidFill>
                <a:latin typeface="Microsoft YaHei"/>
              </a:defRPr>
            </a:pPr>
            <a:r>
              <a:t>模块03 · 分镜设计与提示词工程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0F5"/>
                </a:solidFill>
                <a:latin typeface="Microsoft YaHei"/>
              </a:defRPr>
            </a:pPr>
            <a:r>
              <a:t>本模块实操任务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960120"/>
            <a:ext cx="1828800" cy="19050"/>
          </a:xfrm>
          <a:prstGeom prst="rect">
            <a:avLst/>
          </a:prstGeom>
          <a:solidFill>
            <a:srgbClr val="00D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1353312"/>
            <a:ext cx="45720" cy="502920"/>
          </a:xfrm>
          <a:prstGeom prst="rect">
            <a:avLst/>
          </a:prstGeom>
          <a:solidFill>
            <a:srgbClr val="00D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28016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D080"/>
                </a:solidFill>
                <a:latin typeface="Microsoft YaHei"/>
              </a:defRPr>
            </a:pPr>
            <a:r>
              <a:t>#1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1280160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090A0"/>
                </a:solidFill>
                <a:latin typeface="Microsoft YaHei"/>
              </a:defRPr>
            </a:pPr>
            <a:r>
              <a:t>用五种景别为同一场景各写一组AI提示词并对比效果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130552"/>
            <a:ext cx="45720" cy="502920"/>
          </a:xfrm>
          <a:prstGeom prst="rect">
            <a:avLst/>
          </a:prstGeom>
          <a:solidFill>
            <a:srgbClr val="00D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20574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D080"/>
                </a:solidFill>
                <a:latin typeface="Microsoft YaHei"/>
              </a:defRPr>
            </a:pPr>
            <a:r>
              <a:t>#2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3040" y="2057400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090A0"/>
                </a:solidFill>
                <a:latin typeface="Microsoft YaHei"/>
              </a:defRPr>
            </a:pPr>
            <a:r>
              <a:t>用六要素框架为3个场景编写完整提示词并生成图片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2907792"/>
            <a:ext cx="45720" cy="502920"/>
          </a:xfrm>
          <a:prstGeom prst="rect">
            <a:avLst/>
          </a:prstGeom>
          <a:solidFill>
            <a:srgbClr val="00D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283464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D080"/>
                </a:solidFill>
                <a:latin typeface="Microsoft YaHei"/>
              </a:defRPr>
            </a:pPr>
            <a:r>
              <a:t>#3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2834640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090A0"/>
                </a:solidFill>
                <a:latin typeface="Microsoft YaHei"/>
              </a:defRPr>
            </a:pPr>
            <a:r>
              <a:t>建立个人提示词模板库（动作/情感/特写/场景各1个模板）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" y="3685032"/>
            <a:ext cx="45720" cy="502920"/>
          </a:xfrm>
          <a:prstGeom prst="rect">
            <a:avLst/>
          </a:prstGeom>
          <a:solidFill>
            <a:srgbClr val="00D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5840" y="36118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D080"/>
                </a:solidFill>
                <a:latin typeface="Microsoft YaHei"/>
              </a:defRPr>
            </a:pPr>
            <a:r>
              <a:t>#4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63040" y="3611880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090A0"/>
                </a:solidFill>
                <a:latin typeface="Microsoft YaHei"/>
              </a:defRPr>
            </a:pPr>
            <a:r>
              <a:t>用Drawstory或即梦AI制作一个4格分镜页面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1520" y="4462272"/>
            <a:ext cx="45720" cy="502920"/>
          </a:xfrm>
          <a:prstGeom prst="rect">
            <a:avLst/>
          </a:prstGeom>
          <a:solidFill>
            <a:srgbClr val="00D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5840" y="438912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D080"/>
                </a:solidFill>
                <a:latin typeface="Microsoft YaHei"/>
              </a:defRPr>
            </a:pPr>
            <a:r>
              <a:t>#5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63040" y="4389120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090A0"/>
                </a:solidFill>
                <a:latin typeface="Microsoft YaHei"/>
              </a:defRPr>
            </a:pPr>
            <a:r>
              <a:t>为你的漫剧主角制作一张Master Reference角色参考图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31520" y="5239512"/>
            <a:ext cx="45720" cy="502920"/>
          </a:xfrm>
          <a:prstGeom prst="rect">
            <a:avLst/>
          </a:prstGeom>
          <a:solidFill>
            <a:srgbClr val="00D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5840" y="516636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D080"/>
                </a:solidFill>
                <a:latin typeface="Microsoft YaHei"/>
              </a:defRPr>
            </a:pPr>
            <a:r>
              <a:t>#6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63040" y="5166360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090A0"/>
                </a:solidFill>
                <a:latin typeface="Microsoft YaHei"/>
              </a:defRPr>
            </a:pPr>
            <a:r>
              <a:t>完成一集15个镜头的完整分镜设计（含提示词）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446520"/>
            <a:ext cx="12191695" cy="19050"/>
          </a:xfrm>
          <a:prstGeom prst="rect">
            <a:avLst/>
          </a:prstGeom>
          <a:solidFill>
            <a:srgbClr val="1E1E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05060"/>
                </a:solidFill>
                <a:latin typeface="Microsoft YaHei"/>
              </a:defRPr>
            </a:pPr>
            <a:r>
              <a:t>模块03 · 分镜设计与提示词工程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1828800"/>
            <a:ext cx="121916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200" b="1">
                <a:solidFill>
                  <a:srgbClr val="8B50F0"/>
                </a:solidFill>
                <a:latin typeface="Microsoft YaHei"/>
              </a:defRPr>
            </a:pPr>
            <a:r>
              <a:t>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017520"/>
            <a:ext cx="121916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0F0F5"/>
                </a:solidFill>
                <a:latin typeface="Microsoft YaHei"/>
              </a:defRPr>
            </a:pPr>
            <a:r>
              <a:t>本模块结束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0" y="3931920"/>
            <a:ext cx="2103120" cy="19050"/>
          </a:xfrm>
          <a:prstGeom prst="rect">
            <a:avLst/>
          </a:prstGeom>
          <a:solidFill>
            <a:srgbClr val="8B5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0" y="4206240"/>
            <a:ext cx="121916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9090A0"/>
                </a:solidFill>
                <a:latin typeface="Microsoft YaHei"/>
              </a:defRPr>
            </a:pPr>
            <a:r>
              <a:t>下一模块：即梦AI深度精通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5943600"/>
            <a:ext cx="121916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505060"/>
                </a:solidFill>
                <a:latin typeface="Microsoft YaHei"/>
              </a:defRPr>
            </a:pPr>
            <a:r>
              <a:t>AI漫剧制作全流程课程 · 2026版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