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5943600" cy="45720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28600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模块三：分镜设计与提示词工程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4023360"/>
            <a:ext cx="274320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438912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BD5E8"/>
                </a:solidFill>
                <a:latin typeface="Microsoft YaHei"/>
              </a:defRPr>
            </a:pPr>
            <a:r>
              <a:t>10课时 · 从分镜思维到提示词实操的完整技能链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5669280"/>
            <a:ext cx="5943600" cy="64008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7C3AED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7C3AED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7C3AED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7C3AED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002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分镜设计基础：景别·构图·镜头运动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9120" y="16002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提示词六要素框架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92440" y="16002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提示词模板库搭建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283464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负面提示词系统化使用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89120" y="283464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348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Drawstory分镜软件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528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92440" y="283464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DomoAI动态分镜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384048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5800" y="406908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4069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0160" y="40233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即梦AI智能多帧分镜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51960" y="384048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389120" y="406908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0" y="4069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80" y="40233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角色参考图制作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55280" y="384048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092440" y="406908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92440" y="4069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40233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高级分镜技巧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07492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85800" y="530352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5303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80160" y="52578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实战：15镜头完整分镜设计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模块03：分镜设计与提示词工程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五大景别详解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景别</a:t>
                      </a:r>
                    </a:p>
                  </a:txBody>
                  <a:tcPr anchor="ctr"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英文</a:t>
                      </a:r>
                    </a:p>
                  </a:txBody>
                  <a:tcPr anchor="ctr"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画面范围</a:t>
                      </a:r>
                    </a:p>
                  </a:txBody>
                  <a:tcPr anchor="ctr"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叙事功能</a:t>
                      </a:r>
                    </a:p>
                  </a:txBody>
                  <a:tcPr anchor="ctr">
                    <a:solidFill>
                      <a:srgbClr val="7C3AED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远景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ELS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环境全貌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交代环境、营造氛围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全景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LS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完整人物+环境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展示人物与环境关系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中景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MS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膝盖以上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平衡人物与环境、对话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近景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MCU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胸部以上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突出表情和肢体语言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特写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CU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面部/物体细节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强调情绪、揭示细节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模块03：分镜设计与提示词工程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景别切换黄金法则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27432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1069848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109728" cy="27432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7C3AED"/>
                </a:solidFill>
                <a:latin typeface="Microsoft YaHei"/>
              </a:defRPr>
            </a:pPr>
            <a:r>
              <a:t>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965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  <a:latin typeface="Microsoft YaHei"/>
              </a:defRPr>
            </a:pPr>
            <a:r>
              <a:t>核心要点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560320"/>
            <a:ext cx="9784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景别跳跃越大，视觉冲击越强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754880"/>
            <a:ext cx="10698480" cy="1371600"/>
          </a:xfrm>
          <a:prstGeom prst="roundRect">
            <a:avLst/>
          </a:prstGeom>
          <a:solidFill>
            <a:srgbClr val="1A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754880"/>
            <a:ext cx="73152" cy="1371600"/>
          </a:xfrm>
          <a:prstGeom prst="rect">
            <a:avLst/>
          </a:prstGeom>
          <a:solidFill>
            <a:srgbClr val="6B7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892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远景→特写产生强烈震撼；中景→近景自然递进。避免特写→特写（视觉疲劳）和全景→全景（缺乏节奏）。口诀：先远后近定基调，急转直下造冲击。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模块03：分镜设计与提示词工程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六种核心构图法则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三分法则：关键元素放在九宫格交叉点，避免AI默认居中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对角线构图：元素沿对角线排列，创造动感和张力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对称构图：左右对称，传达秩序、庄严或诡异感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框中框构图：利用门框/窗户形成"画中画"效果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前景遮挡构图：前方放置遮挡物，增加层次感和窥视感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692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66928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583387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8338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负空间构图：大面积留白，营造孤独、渺小或宁静感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模块03：分镜设计与提示词工程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提示词六要素框架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① 主体描述：性别+年龄+核心特征+服装+发型+配饰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② 动作表情：静态姿势→动态动作→微动作（三个层次）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③ 环境：地点类型+具体场景+环境细节（天气/时间/季节）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④ 光线：自然光/金色时刻/逆光/侧光/霓虹光等10种类型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⑤ 视角/景别：平视/仰视/俯视/鸟瞰/荷兰角/过肩/主观视角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692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66928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583387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8338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⑥ 风格：画风基底+渲染方式+质量修饰词+参考艺术家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模块03：分镜设计与提示词工程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完整提示词组装公式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73152" cy="685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81328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8132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4630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第一步：确定主体（外貌、服装、配饰）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057400"/>
            <a:ext cx="25400" cy="1371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19456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194560"/>
            <a:ext cx="73152" cy="685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20" y="2304288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30428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2860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第二步：设定动作和表情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880360"/>
            <a:ext cx="25400" cy="1371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" y="301752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017520"/>
            <a:ext cx="73152" cy="6858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520" y="3127248"/>
            <a:ext cx="411480" cy="41148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1272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108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第三步：描述环境（地点、时间、天气）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3703320"/>
            <a:ext cx="25400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384048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840480"/>
            <a:ext cx="73152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520" y="39502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950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39319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第四步：指定光线类型和方向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4526280"/>
            <a:ext cx="25400" cy="137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7200" y="466344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663440"/>
            <a:ext cx="73152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31520" y="477316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47731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47548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第五步：定义视角和景别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349240"/>
            <a:ext cx="25400" cy="137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57200" y="54864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5486400"/>
            <a:ext cx="73152" cy="685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31520" y="5596128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59612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55778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第六步：添加风格和质量修饰词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模块03：分镜设计与提示词工程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负面提示词使用策略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371600"/>
            <a:ext cx="5486400" cy="48463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4864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Microsoft YaHei"/>
              </a:defRPr>
            </a:pPr>
            <a:r>
              <a:t>始终使用（基础层）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94560"/>
            <a:ext cx="137160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254203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46888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low quality, worst quality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13639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06324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blurry, out of focus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73075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5760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deformed, disfigured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32511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2519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extra limbs, missing fingers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491947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84632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text, watermark, signature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371600"/>
            <a:ext cx="5486400" cy="48463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1371600"/>
            <a:ext cx="54864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Microsoft YaHei"/>
              </a:defRPr>
            </a:pPr>
            <a:r>
              <a:t>按场景添加（场景层）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2194560"/>
            <a:ext cx="137160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83680" y="254203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246888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动作场景：bad anatomy, static pose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13639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03720" y="306324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情感场景：stiff pose, robotic expression</a:t>
            </a:r>
          </a:p>
        </p:txBody>
      </p:sp>
      <p:sp>
        <p:nvSpPr>
          <p:cNvPr id="28" name="Oval 27"/>
          <p:cNvSpPr/>
          <p:nvPr/>
        </p:nvSpPr>
        <p:spPr>
          <a:xfrm>
            <a:off x="6583680" y="373075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365760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特写场景：plastic skin, uncanny valley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432511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03720" y="42519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场景展示：flat lighting, cluttered</a:t>
            </a:r>
          </a:p>
        </p:txBody>
      </p:sp>
      <p:sp>
        <p:nvSpPr>
          <p:cNvPr id="32" name="Oval 31"/>
          <p:cNvSpPr/>
          <p:nvPr/>
        </p:nvSpPr>
        <p:spPr>
          <a:xfrm>
            <a:off x="6583680" y="491947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03720" y="484632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⚠️ 不要堆砌过多，限制AI创作空间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模块03：分镜设计与提示词工程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Master Reference设计规范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分辨率至少1024×1024，推荐2048×2048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背景：纯白色或浅灰色（便于AI提取特征）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视角：正面或3/4侧面，展示最多面部信息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姿势：自然站立或T-pose，中性表情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必须包含：完整全身、面部清晰、服装完整、发型完整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692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66928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583387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8338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附带角色描述卡片：姓名、年龄、发色、瞳色、标志性特征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模块03：分镜设计与提示词工程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导演式分镜思维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三个核心问题：传递什么信息？唤起什么情绪？在节奏中什么位置？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闪回技巧：柔化边缘+不同色调+颗粒感+虚线边框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正反打：角色A过肩看B → B过肩看A → A近景反应 → B近景反应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时间压缩（蒙太奇）：4-6小格展示时间节点变化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时间扩展（慢动作）：一个动作拆分3-4帧展示不同阶段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692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669280"/>
            <a:ext cx="731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5833872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8338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留白与悬念：大面积空白暗示孤独，画格外元素暗示威胁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模块03：分镜设计与提示词工程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4630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用五种景别为同一场景各写一组AI提示词并对比效果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9456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33172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2860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用六要素框架为3个场景编写完整提示词并生成图片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01752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315468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108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10896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建立个人提示词模板库（动作/情感/特写/场景各1个模板）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4048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397764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93192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用Drawstory或即梦AI制作一个4格分镜页面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6344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480060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4754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75488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为你的漫剧主角制作一张Master Reference角色参考图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4864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0080" y="562356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577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55778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完成一集15个镜头的完整分镜设计（含提示词）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模块03：分镜设计与提示词工程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0" y="1371600"/>
            <a:ext cx="2103120" cy="21031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0" y="164592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0">
                <a:solidFill>
                  <a:srgbClr val="FFFFFF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754880"/>
            <a:ext cx="21031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BD5E8"/>
                </a:solidFill>
                <a:latin typeface="Microsoft YaHei"/>
              </a:defRPr>
            </a:pPr>
            <a:r>
              <a:t>下一模块：即梦AI深度精通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