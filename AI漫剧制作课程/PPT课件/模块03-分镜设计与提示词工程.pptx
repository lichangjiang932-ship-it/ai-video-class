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754880" cy="68580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754880" cy="25400"/>
          </a:xfrm>
          <a:prstGeom prst="rect">
            <a:avLst/>
          </a:prstGeom>
          <a:solidFill>
            <a:srgbClr val="F0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5400" cy="6858000"/>
          </a:xfrm>
          <a:prstGeom prst="rect">
            <a:avLst/>
          </a:prstGeom>
          <a:solidFill>
            <a:srgbClr val="F0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36576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0" b="1">
                <a:solidFill>
                  <a:srgbClr val="F0F4FC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4747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0F4FC"/>
                </a:solidFill>
                <a:latin typeface="Microsoft YaHei"/>
              </a:defRPr>
            </a:pPr>
            <a:r>
              <a:t>M O D U L 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931920"/>
            <a:ext cx="1371600" cy="19050"/>
          </a:xfrm>
          <a:prstGeom prst="rect">
            <a:avLst/>
          </a:prstGeom>
          <a:solidFill>
            <a:srgbClr val="F0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0" y="1371600"/>
            <a:ext cx="5943600" cy="411480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0" y="1371600"/>
            <a:ext cx="5577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0F4FC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2377440"/>
            <a:ext cx="5943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0F4FC"/>
                </a:solidFill>
                <a:latin typeface="Microsoft YaHei"/>
              </a:defRPr>
            </a:pPr>
            <a:r>
              <a:t>模块三：分镜设计与提示词工程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0" y="4023360"/>
            <a:ext cx="2286000" cy="381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0" y="4389120"/>
            <a:ext cx="5943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AEC4"/>
                </a:solidFill>
                <a:latin typeface="Microsoft YaHei"/>
              </a:defRPr>
            </a:pPr>
            <a:r>
              <a:t>10课时 · 从分镜思维到提示词实操的完整技能链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0" y="5486400"/>
            <a:ext cx="5943600" cy="59436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0" y="55321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8B5CF6"/>
                </a:solidFill>
                <a:latin typeface="Microsoft YaHei"/>
              </a:defRPr>
            </a:pPr>
            <a:r>
              <a:t>124课时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55321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8B5CF6"/>
                </a:solidFill>
                <a:latin typeface="Microsoft YaHei"/>
              </a:defRPr>
            </a:pPr>
            <a:r>
              <a:t>17模块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0" y="55321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8B5CF6"/>
                </a:solidFill>
                <a:latin typeface="Microsoft YaHei"/>
              </a:defRPr>
            </a:pPr>
            <a:r>
              <a:t>8-16周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0" y="55321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8B5CF6"/>
                </a:solidFill>
                <a:latin typeface="Microsoft YaHei"/>
              </a:defRPr>
            </a:pPr>
            <a:r>
              <a:t>全流程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📋 本节内容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371600"/>
            <a:ext cx="3383280" cy="960120"/>
          </a:xfrm>
          <a:prstGeom prst="roundRect">
            <a:avLst/>
          </a:prstGeom>
          <a:solidFill>
            <a:srgbClr val="161F35"/>
          </a:solidFill>
          <a:ln w="12700">
            <a:solidFill>
              <a:srgbClr val="25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04088" y="1572768"/>
            <a:ext cx="411480" cy="41148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" y="157276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153619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4"/>
                </a:solidFill>
                <a:latin typeface="Microsoft YaHei"/>
              </a:defRPr>
            </a:pPr>
            <a:r>
              <a:t>分镜设计基础：景别·构图·镜头运动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60" y="1371600"/>
            <a:ext cx="3383280" cy="960120"/>
          </a:xfrm>
          <a:prstGeom prst="roundRect">
            <a:avLst/>
          </a:prstGeom>
          <a:solidFill>
            <a:srgbClr val="161F35"/>
          </a:solidFill>
          <a:ln w="12700">
            <a:solidFill>
              <a:srgbClr val="25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361688" y="1572768"/>
            <a:ext cx="411480" cy="41148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61688" y="157276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2040" y="153619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4"/>
                </a:solidFill>
                <a:latin typeface="Microsoft YaHei"/>
              </a:defRPr>
            </a:pPr>
            <a:r>
              <a:t>提示词六要素框架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09560" y="1371600"/>
            <a:ext cx="3383280" cy="960120"/>
          </a:xfrm>
          <a:prstGeom prst="roundRect">
            <a:avLst/>
          </a:prstGeom>
          <a:solidFill>
            <a:srgbClr val="161F35"/>
          </a:solidFill>
          <a:ln w="12700">
            <a:solidFill>
              <a:srgbClr val="25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19288" y="1572768"/>
            <a:ext cx="411480" cy="41148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19288" y="157276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49640" y="153619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4"/>
                </a:solidFill>
                <a:latin typeface="Microsoft YaHei"/>
              </a:defRPr>
            </a:pPr>
            <a:r>
              <a:t>提示词模板库搭建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2606040"/>
            <a:ext cx="3383280" cy="960120"/>
          </a:xfrm>
          <a:prstGeom prst="roundRect">
            <a:avLst/>
          </a:prstGeom>
          <a:solidFill>
            <a:srgbClr val="161F35"/>
          </a:solidFill>
          <a:ln w="12700">
            <a:solidFill>
              <a:srgbClr val="25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04088" y="2807208"/>
            <a:ext cx="411480" cy="41148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088" y="280720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277063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4"/>
                </a:solidFill>
                <a:latin typeface="Microsoft YaHei"/>
              </a:defRPr>
            </a:pPr>
            <a:r>
              <a:t>负面提示词系统化使用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51960" y="2606040"/>
            <a:ext cx="3383280" cy="960120"/>
          </a:xfrm>
          <a:prstGeom prst="roundRect">
            <a:avLst/>
          </a:prstGeom>
          <a:solidFill>
            <a:srgbClr val="161F35"/>
          </a:solidFill>
          <a:ln w="12700">
            <a:solidFill>
              <a:srgbClr val="25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361688" y="2807208"/>
            <a:ext cx="411480" cy="41148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61688" y="280720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92040" y="277063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4"/>
                </a:solidFill>
                <a:latin typeface="Microsoft YaHei"/>
              </a:defRPr>
            </a:pPr>
            <a:r>
              <a:t>Drawstory分镜软件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909560" y="2606040"/>
            <a:ext cx="3383280" cy="960120"/>
          </a:xfrm>
          <a:prstGeom prst="roundRect">
            <a:avLst/>
          </a:prstGeom>
          <a:solidFill>
            <a:srgbClr val="161F35"/>
          </a:solidFill>
          <a:ln w="12700">
            <a:solidFill>
              <a:srgbClr val="25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019288" y="2807208"/>
            <a:ext cx="411480" cy="41148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19288" y="280720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49640" y="277063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4"/>
                </a:solidFill>
                <a:latin typeface="Microsoft YaHei"/>
              </a:defRPr>
            </a:pPr>
            <a:r>
              <a:t>DomoAI动态分镜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94360" y="3840480"/>
            <a:ext cx="3383280" cy="960120"/>
          </a:xfrm>
          <a:prstGeom prst="roundRect">
            <a:avLst/>
          </a:prstGeom>
          <a:solidFill>
            <a:srgbClr val="161F35"/>
          </a:solidFill>
          <a:ln w="12700">
            <a:solidFill>
              <a:srgbClr val="25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04088" y="4041648"/>
            <a:ext cx="411480" cy="41148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04088" y="40416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34440" y="400507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4"/>
                </a:solidFill>
                <a:latin typeface="Microsoft YaHei"/>
              </a:defRPr>
            </a:pPr>
            <a:r>
              <a:t>即梦AI智能多帧分镜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51960" y="3840480"/>
            <a:ext cx="3383280" cy="960120"/>
          </a:xfrm>
          <a:prstGeom prst="roundRect">
            <a:avLst/>
          </a:prstGeom>
          <a:solidFill>
            <a:srgbClr val="161F35"/>
          </a:solidFill>
          <a:ln w="12700">
            <a:solidFill>
              <a:srgbClr val="25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361688" y="4041648"/>
            <a:ext cx="411480" cy="41148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61688" y="40416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92040" y="400507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4"/>
                </a:solidFill>
                <a:latin typeface="Microsoft YaHei"/>
              </a:defRPr>
            </a:pPr>
            <a:r>
              <a:t>角色参考图制作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909560" y="3840480"/>
            <a:ext cx="3383280" cy="960120"/>
          </a:xfrm>
          <a:prstGeom prst="roundRect">
            <a:avLst/>
          </a:prstGeom>
          <a:solidFill>
            <a:srgbClr val="161F35"/>
          </a:solidFill>
          <a:ln w="12700">
            <a:solidFill>
              <a:srgbClr val="25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019288" y="4041648"/>
            <a:ext cx="411480" cy="41148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019288" y="40416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49640" y="400507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4"/>
                </a:solidFill>
                <a:latin typeface="Microsoft YaHei"/>
              </a:defRPr>
            </a:pPr>
            <a:r>
              <a:t>高级分镜技巧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94360" y="5074920"/>
            <a:ext cx="3383280" cy="960120"/>
          </a:xfrm>
          <a:prstGeom prst="roundRect">
            <a:avLst/>
          </a:prstGeom>
          <a:solidFill>
            <a:srgbClr val="161F35"/>
          </a:solidFill>
          <a:ln w="12700">
            <a:solidFill>
              <a:srgbClr val="25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704088" y="5276088"/>
            <a:ext cx="411480" cy="41148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04088" y="527608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10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234440" y="523951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4"/>
                </a:solidFill>
                <a:latin typeface="Microsoft YaHei"/>
              </a:defRPr>
            </a:pPr>
            <a:r>
              <a:t>实战：15镜头完整分镜设计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模块03 · 分镜设计与提示词工程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五大景别详解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71600"/>
          <a:ext cx="110642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5486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F4FC"/>
                          </a:solidFill>
                          <a:latin typeface="Microsoft YaHei"/>
                        </a:defRPr>
                      </a:pPr>
                      <a:r>
                        <a:t>景别</a:t>
                      </a:r>
                    </a:p>
                  </a:txBody>
                  <a:tcPr anchor="ctr">
                    <a:solidFill>
                      <a:srgbClr val="8B5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F4FC"/>
                          </a:solidFill>
                          <a:latin typeface="Microsoft YaHei"/>
                        </a:defRPr>
                      </a:pPr>
                      <a:r>
                        <a:t>英文</a:t>
                      </a:r>
                    </a:p>
                  </a:txBody>
                  <a:tcPr anchor="ctr">
                    <a:solidFill>
                      <a:srgbClr val="8B5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F4FC"/>
                          </a:solidFill>
                          <a:latin typeface="Microsoft YaHei"/>
                        </a:defRPr>
                      </a:pPr>
                      <a:r>
                        <a:t>画面范围</a:t>
                      </a:r>
                    </a:p>
                  </a:txBody>
                  <a:tcPr anchor="ctr">
                    <a:solidFill>
                      <a:srgbClr val="8B5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F4FC"/>
                          </a:solidFill>
                          <a:latin typeface="Microsoft YaHei"/>
                        </a:defRPr>
                      </a:pPr>
                      <a:r>
                        <a:t>叙事功能</a:t>
                      </a:r>
                    </a:p>
                  </a:txBody>
                  <a:tcPr anchor="ctr">
                    <a:solidFill>
                      <a:srgbClr val="8B5CF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远景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ELS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环境全貌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交代环境、营造氛围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全景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LS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完整人物+环境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展示人物与环境关系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中景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MS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膝盖以上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平衡人物与环境、对话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近景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MCU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胸部以上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突出表情和肢体语言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特写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CU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面部/物体细节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强调情绪、揭示细节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模块03 · 分镜设计与提示词工程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💡 景别切换黄金法则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10698480" cy="292608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463040"/>
            <a:ext cx="10698480" cy="508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463040"/>
            <a:ext cx="63500" cy="2926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1920240"/>
            <a:ext cx="97840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0F4FC"/>
                </a:solidFill>
                <a:latin typeface="Microsoft YaHei"/>
              </a:defRPr>
            </a:pPr>
            <a:r>
              <a:t>景别跳跃越大，视觉冲击越强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663440"/>
            <a:ext cx="10698480" cy="1463040"/>
          </a:xfrm>
          <a:prstGeom prst="roundRect">
            <a:avLst/>
          </a:prstGeom>
          <a:solidFill>
            <a:srgbClr val="1C2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4663440"/>
            <a:ext cx="50800" cy="1463040"/>
          </a:xfrm>
          <a:prstGeom prst="rect">
            <a:avLst/>
          </a:prstGeom>
          <a:solidFill>
            <a:srgbClr val="607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4800600"/>
            <a:ext cx="9875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远景→特写产生强烈震撼；中景→近景自然递进。避免特写→特写（视觉疲劳）和全景→全景（缺乏节奏）。口诀：先远后近定基调，急转直下造冲击。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模块03 · 分镜设计与提示词工程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六种核心构图法则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" cy="6858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1463040"/>
            <a:ext cx="320040" cy="32004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6304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4401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三分法则：关键元素放在九宫格交叉点，避免AI默认居中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093976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093976"/>
            <a:ext cx="54864" cy="6858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85800" y="2276856"/>
            <a:ext cx="320040" cy="32004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276856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2253996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对角线构图：元素沿对角线排列，创造动感和张力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2907792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2907792"/>
            <a:ext cx="54864" cy="6858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3090672"/>
            <a:ext cx="320040" cy="32004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090672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06781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对称构图：左右对称，传达秩序、庄严或诡异感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3721608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3721608"/>
            <a:ext cx="54864" cy="6858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85800" y="3904488"/>
            <a:ext cx="320040" cy="32004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3904488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38816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框中框构图：利用门框/窗户形成"画中画"效果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4535424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4535424"/>
            <a:ext cx="54864" cy="6858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85800" y="4718304"/>
            <a:ext cx="320040" cy="32004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4718304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8720" y="469544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前景遮挡构图：前方放置遮挡物，增加层次感和窥视感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34924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5349240"/>
            <a:ext cx="54864" cy="6858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85800" y="5532120"/>
            <a:ext cx="320040" cy="32004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553212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88720" y="55092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负空间构图：大面积留白，营造孤独、渺小或宁静感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模块03 · 分镜设计与提示词工程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提示词六要素框架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" cy="6858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1463040"/>
            <a:ext cx="320040" cy="32004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6304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4401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① 主体描述：性别+年龄+核心特征+服装+发型+配饰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093976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093976"/>
            <a:ext cx="54864" cy="6858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85800" y="2276856"/>
            <a:ext cx="320040" cy="32004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276856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2253996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② 动作表情：静态姿势→动态动作→微动作（三个层次）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2907792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2907792"/>
            <a:ext cx="54864" cy="6858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3090672"/>
            <a:ext cx="320040" cy="32004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090672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06781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③ 环境：地点类型+具体场景+环境细节（天气/时间/季节）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3721608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3721608"/>
            <a:ext cx="54864" cy="6858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85800" y="3904488"/>
            <a:ext cx="320040" cy="32004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3904488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38816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④ 光线：自然光/金色时刻/逆光/侧光/霓虹光等10种类型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4535424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4535424"/>
            <a:ext cx="54864" cy="6858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85800" y="4718304"/>
            <a:ext cx="320040" cy="32004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4718304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8720" y="469544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⑤ 视角/景别：平视/仰视/俯视/鸟瞰/荷兰角/过肩/主观视角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34924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5349240"/>
            <a:ext cx="54864" cy="6858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85800" y="5532120"/>
            <a:ext cx="320040" cy="32004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553212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88720" y="55092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⑥ 风格：画风基底+渲染方式+质量修饰词+参考艺术家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模块03 · 分镜设计与提示词工程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完整提示词组装公式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" cy="658368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1399032"/>
            <a:ext cx="365760" cy="365760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39903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第一步：确定主体（外貌、服装、配饰）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0392" y="1938528"/>
            <a:ext cx="19050" cy="146304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200" y="2084832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084832"/>
            <a:ext cx="54864" cy="65836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85800" y="2203704"/>
            <a:ext cx="365760" cy="36576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203704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217627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第二步：设定动作和表情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50392" y="2743200"/>
            <a:ext cx="19050" cy="14630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57200" y="2889504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2889504"/>
            <a:ext cx="54864" cy="658368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85800" y="3008376"/>
            <a:ext cx="365760" cy="365760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3008376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2980944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第三步：描述环境（地点、时间、天气）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50392" y="3547872"/>
            <a:ext cx="19050" cy="146304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57200" y="3694176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3694176"/>
            <a:ext cx="54864" cy="65836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85800" y="3813048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3813048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34440" y="378561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第四步：指定光线类型和方向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50392" y="4352544"/>
            <a:ext cx="19050" cy="14630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57200" y="4498848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4498848"/>
            <a:ext cx="54864" cy="65836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85800" y="4617720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461772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34440" y="459028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第五步：定义视角和景别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50392" y="5157216"/>
            <a:ext cx="19050" cy="14630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57200" y="5303520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57200" y="5303520"/>
            <a:ext cx="54864" cy="658368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685800" y="5422392"/>
            <a:ext cx="365760" cy="365760"/>
          </a:xfrm>
          <a:prstGeom prst="ellipse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5800" y="542239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34440" y="53949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第六步：添加风格和质量修饰词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模块03 · 分镜设计与提示词工程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负面提示词使用策略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5349240" cy="475488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5349240" cy="381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600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8B5CF6"/>
                </a:solidFill>
                <a:latin typeface="Microsoft YaHei"/>
              </a:defRPr>
            </a:pPr>
            <a:r>
              <a:t>始终使用（基础层）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103120"/>
            <a:ext cx="1097280" cy="254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20" y="2432304"/>
            <a:ext cx="164592" cy="164592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237744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low quality, worst quality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2935224"/>
            <a:ext cx="164592" cy="164592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288036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blurry, out of focus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3438144"/>
            <a:ext cx="164592" cy="164592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338328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deformed, disfigured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3941064"/>
            <a:ext cx="164592" cy="164592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388620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extra limbs, missing fingers</a:t>
            </a:r>
          </a:p>
        </p:txBody>
      </p:sp>
      <p:sp>
        <p:nvSpPr>
          <p:cNvPr id="19" name="Oval 18"/>
          <p:cNvSpPr/>
          <p:nvPr/>
        </p:nvSpPr>
        <p:spPr>
          <a:xfrm>
            <a:off x="731520" y="4443984"/>
            <a:ext cx="164592" cy="164592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43891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text, watermark, signature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1371600"/>
            <a:ext cx="5349240" cy="475488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63640" y="1371600"/>
            <a:ext cx="5349240" cy="381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60" y="1600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8B5CF6"/>
                </a:solidFill>
                <a:latin typeface="Microsoft YaHei"/>
              </a:defRPr>
            </a:pPr>
            <a:r>
              <a:t>按场景添加（场景层）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37960" y="2103120"/>
            <a:ext cx="1097280" cy="254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537960" y="2432304"/>
            <a:ext cx="164592" cy="164592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0" y="237744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动作场景：bad anatomy, static pose</a:t>
            </a:r>
          </a:p>
        </p:txBody>
      </p:sp>
      <p:sp>
        <p:nvSpPr>
          <p:cNvPr id="27" name="Oval 26"/>
          <p:cNvSpPr/>
          <p:nvPr/>
        </p:nvSpPr>
        <p:spPr>
          <a:xfrm>
            <a:off x="6537960" y="2935224"/>
            <a:ext cx="164592" cy="164592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0" y="288036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情感场景：stiff pose, robotic expression</a:t>
            </a:r>
          </a:p>
        </p:txBody>
      </p:sp>
      <p:sp>
        <p:nvSpPr>
          <p:cNvPr id="29" name="Oval 28"/>
          <p:cNvSpPr/>
          <p:nvPr/>
        </p:nvSpPr>
        <p:spPr>
          <a:xfrm>
            <a:off x="6537960" y="3438144"/>
            <a:ext cx="164592" cy="164592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0" y="338328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特写场景：plastic skin, uncanny valley</a:t>
            </a:r>
          </a:p>
        </p:txBody>
      </p:sp>
      <p:sp>
        <p:nvSpPr>
          <p:cNvPr id="31" name="Oval 30"/>
          <p:cNvSpPr/>
          <p:nvPr/>
        </p:nvSpPr>
        <p:spPr>
          <a:xfrm>
            <a:off x="6537960" y="3941064"/>
            <a:ext cx="164592" cy="164592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0" y="388620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场景展示：flat lighting, cluttered</a:t>
            </a:r>
          </a:p>
        </p:txBody>
      </p:sp>
      <p:sp>
        <p:nvSpPr>
          <p:cNvPr id="33" name="Oval 32"/>
          <p:cNvSpPr/>
          <p:nvPr/>
        </p:nvSpPr>
        <p:spPr>
          <a:xfrm>
            <a:off x="6537960" y="4443984"/>
            <a:ext cx="164592" cy="164592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0" y="43891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⚠️ 不要堆砌过多，限制AI创作空间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模块03 · 分镜设计与提示词工程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Master Reference设计规范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" cy="6858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1463040"/>
            <a:ext cx="320040" cy="32004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6304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4401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分辨率至少1024×1024，推荐2048×2048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093976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093976"/>
            <a:ext cx="54864" cy="6858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85800" y="2276856"/>
            <a:ext cx="320040" cy="32004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276856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2253996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背景：纯白色或浅灰色（便于AI提取特征）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2907792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2907792"/>
            <a:ext cx="54864" cy="6858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3090672"/>
            <a:ext cx="320040" cy="32004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090672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06781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视角：正面或3/4侧面，展示最多面部信息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3721608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3721608"/>
            <a:ext cx="54864" cy="6858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85800" y="3904488"/>
            <a:ext cx="320040" cy="32004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3904488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38816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姿势：自然站立或T-pose，中性表情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4535424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4535424"/>
            <a:ext cx="54864" cy="6858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85800" y="4718304"/>
            <a:ext cx="320040" cy="32004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4718304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8720" y="469544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必须包含：完整全身、面部清晰、服装完整、发型完整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34924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5349240"/>
            <a:ext cx="54864" cy="6858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85800" y="5532120"/>
            <a:ext cx="320040" cy="32004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553212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88720" y="55092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附带角色描述卡片：姓名、年龄、发色、瞳色、标志性特征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模块03 · 分镜设计与提示词工程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导演式分镜思维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" cy="6858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1463040"/>
            <a:ext cx="320040" cy="32004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6304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4401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三个核心问题：传递什么信息？唤起什么情绪？在节奏中什么位置？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093976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093976"/>
            <a:ext cx="54864" cy="6858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85800" y="2276856"/>
            <a:ext cx="320040" cy="32004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276856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2253996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闪回技巧：柔化边缘+不同色调+颗粒感+虚线边框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2907792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2907792"/>
            <a:ext cx="54864" cy="6858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3090672"/>
            <a:ext cx="320040" cy="32004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090672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06781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正反打：角色A过肩看B → B过肩看A → A近景反应 → B近景反应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3721608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3721608"/>
            <a:ext cx="54864" cy="6858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85800" y="3904488"/>
            <a:ext cx="320040" cy="32004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3904488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38816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时间压缩（蒙太奇）：4-6小格展示时间节点变化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4535424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4535424"/>
            <a:ext cx="54864" cy="6858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85800" y="4718304"/>
            <a:ext cx="320040" cy="32004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4718304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8720" y="469544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时间扩展（慢动作）：一个动作拆分3-4帧展示不同阶段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34924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5349240"/>
            <a:ext cx="54864" cy="6858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85800" y="5532120"/>
            <a:ext cx="320040" cy="32004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553212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88720" y="55092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留白与悬念：大面积空白暗示孤独，画格外元素暗示威胁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模块03 · 分镜设计与提示词工程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🛠️ 本模块实操任务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426464"/>
            <a:ext cx="320040" cy="320040"/>
          </a:xfrm>
          <a:prstGeom prst="roundRect">
            <a:avLst/>
          </a:prstGeom>
          <a:noFill/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371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0B981"/>
                </a:solidFill>
                <a:latin typeface="Microsoft YaHei"/>
              </a:defRPr>
            </a:pPr>
            <a:r>
              <a:t>#1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3716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用五种景别为同一场景各写一组AI提示词并对比效果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084832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0080" y="2231136"/>
            <a:ext cx="320040" cy="320040"/>
          </a:xfrm>
          <a:prstGeom prst="roundRect">
            <a:avLst/>
          </a:prstGeom>
          <a:noFill/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17627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0B981"/>
                </a:solidFill>
                <a:latin typeface="Microsoft YaHei"/>
              </a:defRPr>
            </a:pPr>
            <a:r>
              <a:t>#2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2176272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用六要素框架为3个场景编写完整提示词并生成图片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889504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3035808"/>
            <a:ext cx="320040" cy="320040"/>
          </a:xfrm>
          <a:prstGeom prst="roundRect">
            <a:avLst/>
          </a:prstGeom>
          <a:noFill/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980944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0B981"/>
                </a:solidFill>
                <a:latin typeface="Microsoft YaHei"/>
              </a:defRPr>
            </a:pPr>
            <a:r>
              <a:t>#3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2980944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建立个人提示词模板库（动作/情感/特写/场景各1个模板）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694176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0080" y="3840480"/>
            <a:ext cx="320040" cy="320040"/>
          </a:xfrm>
          <a:prstGeom prst="roundRect">
            <a:avLst/>
          </a:prstGeom>
          <a:noFill/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785616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0B981"/>
                </a:solidFill>
                <a:latin typeface="Microsoft YaHei"/>
              </a:defRPr>
            </a:pPr>
            <a:r>
              <a:t>#4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3785616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用Drawstory或即梦AI制作一个4格分镜页面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498848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40080" y="4645152"/>
            <a:ext cx="320040" cy="320040"/>
          </a:xfrm>
          <a:prstGeom prst="roundRect">
            <a:avLst/>
          </a:prstGeom>
          <a:noFill/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59028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0B981"/>
                </a:solidFill>
                <a:latin typeface="Microsoft YaHei"/>
              </a:defRPr>
            </a:pPr>
            <a:r>
              <a:t>#5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54480" y="4590288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为你的漫剧主角制作一张Master Reference角色参考图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303520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40080" y="5449824"/>
            <a:ext cx="320040" cy="320040"/>
          </a:xfrm>
          <a:prstGeom prst="roundRect">
            <a:avLst/>
          </a:prstGeom>
          <a:noFill/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97280" y="53949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0B981"/>
                </a:solidFill>
                <a:latin typeface="Microsoft YaHei"/>
              </a:defRPr>
            </a:pPr>
            <a:r>
              <a:t>#6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54480" y="53949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完成一集15个镜头的完整分镜设计（含提示词）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模块03 · 分镜设计与提示词工程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181447" y="1645920"/>
            <a:ext cx="1828800" cy="182880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181447" y="192024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F0F4FC"/>
                </a:solidFill>
                <a:latin typeface="Microsoft YaHei"/>
              </a:defRPr>
            </a:pPr>
            <a:r>
              <a:t>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840480"/>
            <a:ext cx="12191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0F4FC"/>
                </a:solidFill>
                <a:latin typeface="Microsoft YaHei"/>
              </a:defRPr>
            </a:pPr>
            <a:r>
              <a:t>本模块结束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4663440"/>
            <a:ext cx="2103120" cy="254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493776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AEC4"/>
                </a:solidFill>
                <a:latin typeface="Microsoft YaHei"/>
              </a:defRPr>
            </a:pPr>
            <a:r>
              <a:t>下一模块：即梦AI深度精通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59436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07090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